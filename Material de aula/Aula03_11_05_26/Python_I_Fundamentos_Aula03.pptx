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Masters/slideMaster1.xml" ContentType="application/vnd.openxmlformats-officedocument.presentationml.slideMaster+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88" r:id="rId3"/>
    <p:sldId id="257" r:id="rId4"/>
    <p:sldId id="267" r:id="rId5"/>
    <p:sldId id="258" r:id="rId6"/>
    <p:sldId id="259" r:id="rId7"/>
    <p:sldId id="268" r:id="rId8"/>
    <p:sldId id="275" r:id="rId9"/>
    <p:sldId id="274" r:id="rId10"/>
    <p:sldId id="276" r:id="rId11"/>
    <p:sldId id="284" r:id="rId12"/>
    <p:sldId id="285" r:id="rId13"/>
    <p:sldId id="270" r:id="rId14"/>
    <p:sldId id="282" r:id="rId15"/>
    <p:sldId id="283" r:id="rId16"/>
    <p:sldId id="272" r:id="rId17"/>
    <p:sldId id="273" r:id="rId18"/>
    <p:sldId id="281" r:id="rId19"/>
    <p:sldId id="269" r:id="rId20"/>
    <p:sldId id="278" r:id="rId21"/>
    <p:sldId id="271" r:id="rId22"/>
    <p:sldId id="280" r:id="rId23"/>
    <p:sldId id="286" r:id="rId24"/>
    <p:sldId id="260" r:id="rId25"/>
    <p:sldId id="289" r:id="rId26"/>
    <p:sldId id="290" r:id="rId27"/>
    <p:sldId id="292" r:id="rId28"/>
    <p:sldId id="293" r:id="rId29"/>
    <p:sldId id="294" r:id="rId30"/>
    <p:sldId id="297" r:id="rId31"/>
    <p:sldId id="295" r:id="rId32"/>
    <p:sldId id="296" r:id="rId33"/>
    <p:sldId id="306" r:id="rId34"/>
    <p:sldId id="305" r:id="rId35"/>
    <p:sldId id="298" r:id="rId36"/>
    <p:sldId id="299" r:id="rId37"/>
    <p:sldId id="300" r:id="rId38"/>
    <p:sldId id="301" r:id="rId39"/>
    <p:sldId id="302" r:id="rId40"/>
    <p:sldId id="303" r:id="rId41"/>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9" d="100"/>
          <a:sy n="49" d="100"/>
        </p:scale>
        <p:origin x="870"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39940" y="1930401"/>
            <a:ext cx="11767544" cy="4439441"/>
          </a:xfrm>
        </p:spPr>
        <p:txBody>
          <a:bodyPr anchor="b"/>
          <a:lstStyle>
            <a:lvl1pPr>
              <a:defRPr sz="9600"/>
            </a:lvl1pPr>
          </a:lstStyle>
          <a:p>
            <a:r>
              <a:rPr lang="pt-BR"/>
              <a:t>Clique para editar o título Mestre</a:t>
            </a:r>
            <a:endParaRPr lang="en-US" dirty="0"/>
          </a:p>
        </p:txBody>
      </p:sp>
      <p:sp>
        <p:nvSpPr>
          <p:cNvPr id="3" name="Subtitle 2"/>
          <p:cNvSpPr>
            <a:spLocks noGrp="1"/>
          </p:cNvSpPr>
          <p:nvPr>
            <p:ph type="subTitle" idx="1"/>
          </p:nvPr>
        </p:nvSpPr>
        <p:spPr>
          <a:xfrm>
            <a:off x="1539940" y="6369840"/>
            <a:ext cx="11767544" cy="1148560"/>
          </a:xfrm>
        </p:spPr>
        <p:txBody>
          <a:bodyPr anchor="t"/>
          <a:lstStyle>
            <a:lvl1pPr marL="0" indent="0" algn="l">
              <a:buNone/>
              <a:defRPr cap="all">
                <a:solidFill>
                  <a:schemeClr val="bg2">
                    <a:lumMod val="40000"/>
                    <a:lumOff val="60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4065844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353756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1539942" y="3815645"/>
            <a:ext cx="11767543" cy="2554196"/>
          </a:xfrm>
        </p:spPr>
        <p:txBody>
          <a:bodyPr anchor="b"/>
          <a:lstStyle>
            <a:lvl1pPr algn="l">
              <a:defRPr sz="5333" b="0" cap="none"/>
            </a:lvl1pPr>
          </a:lstStyle>
          <a:p>
            <a:r>
              <a:rPr lang="pt-BR"/>
              <a:t>Clique para editar o título Mestre</a:t>
            </a:r>
            <a:endParaRPr lang="en-US" dirty="0"/>
          </a:p>
        </p:txBody>
      </p:sp>
      <p:sp>
        <p:nvSpPr>
          <p:cNvPr id="3" name="Text Placeholder 2"/>
          <p:cNvSpPr>
            <a:spLocks noGrp="1"/>
          </p:cNvSpPr>
          <p:nvPr>
            <p:ph type="body" idx="1"/>
          </p:nvPr>
        </p:nvSpPr>
        <p:spPr>
          <a:xfrm>
            <a:off x="1539940" y="6369841"/>
            <a:ext cx="11767544" cy="1147200"/>
          </a:xfrm>
        </p:spPr>
        <p:txBody>
          <a:bodyPr anchor="t"/>
          <a:lstStyle>
            <a:lvl1pPr marL="0" indent="0" algn="l">
              <a:buNone/>
              <a:defRPr sz="2667" cap="all">
                <a:solidFill>
                  <a:schemeClr val="bg2">
                    <a:lumMod val="40000"/>
                    <a:lumOff val="60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881026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sz="half" idx="1"/>
          </p:nvPr>
        </p:nvSpPr>
        <p:spPr>
          <a:xfrm>
            <a:off x="1471084" y="2747434"/>
            <a:ext cx="5861785" cy="5594351"/>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7539325" y="2741457"/>
            <a:ext cx="5861788" cy="5600327"/>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429717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1471084" y="2540000"/>
            <a:ext cx="58617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4" name="Content Placeholder 3"/>
          <p:cNvSpPr>
            <a:spLocks noGrp="1"/>
          </p:cNvSpPr>
          <p:nvPr>
            <p:ph sz="half" idx="2"/>
          </p:nvPr>
        </p:nvSpPr>
        <p:spPr>
          <a:xfrm>
            <a:off x="1471084" y="3352800"/>
            <a:ext cx="5861785" cy="4988984"/>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7539328" y="2540000"/>
            <a:ext cx="5861785"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6" name="Content Placeholder 5"/>
          <p:cNvSpPr>
            <a:spLocks noGrp="1"/>
          </p:cNvSpPr>
          <p:nvPr>
            <p:ph sz="quarter" idx="4"/>
          </p:nvPr>
        </p:nvSpPr>
        <p:spPr>
          <a:xfrm>
            <a:off x="7539328" y="3352800"/>
            <a:ext cx="5861785" cy="4988984"/>
          </a:xfrm>
        </p:spPr>
        <p:txBody>
          <a:bodyPr>
            <a:normAutofit/>
          </a:bodyPr>
          <a:lstStyle>
            <a:lvl1pPr>
              <a:defRPr sz="2400"/>
            </a:lvl1pPr>
            <a:lvl2pPr>
              <a:defRPr sz="2133"/>
            </a:lvl2pPr>
            <a:lvl3pPr>
              <a:defRPr sz="1867"/>
            </a:lvl3pPr>
            <a:lvl4pPr>
              <a:defRPr sz="16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25325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7" name="Date Placeholder 2"/>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316077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515941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37" y="1930400"/>
            <a:ext cx="4534752" cy="1930400"/>
          </a:xfrm>
        </p:spPr>
        <p:txBody>
          <a:bodyPr anchor="b"/>
          <a:lstStyle>
            <a:lvl1pPr algn="l">
              <a:defRPr sz="3200" b="0"/>
            </a:lvl1pPr>
          </a:lstStyle>
          <a:p>
            <a:r>
              <a:rPr lang="pt-BR"/>
              <a:t>Clique para editar o título Mestre</a:t>
            </a:r>
            <a:endParaRPr lang="en-US" dirty="0"/>
          </a:p>
        </p:txBody>
      </p:sp>
      <p:sp>
        <p:nvSpPr>
          <p:cNvPr id="3" name="Content Placeholder 2"/>
          <p:cNvSpPr>
            <a:spLocks noGrp="1"/>
          </p:cNvSpPr>
          <p:nvPr>
            <p:ph idx="1"/>
          </p:nvPr>
        </p:nvSpPr>
        <p:spPr>
          <a:xfrm>
            <a:off x="6379489" y="1930400"/>
            <a:ext cx="6927996" cy="6096000"/>
          </a:xfrm>
        </p:spPr>
        <p:txBody>
          <a:bodyPr anchor="ctr">
            <a:normAutofit/>
          </a:bodyPr>
          <a:lstStyle>
            <a:lvl1pPr>
              <a:defRPr sz="2667"/>
            </a:lvl1pPr>
            <a:lvl2pPr>
              <a:defRPr sz="2400"/>
            </a:lvl2pPr>
            <a:lvl3pPr>
              <a:defRPr sz="2133"/>
            </a:lvl3pPr>
            <a:lvl4pPr>
              <a:defRPr sz="1867"/>
            </a:lvl4pPr>
            <a:lvl5pPr>
              <a:defRPr sz="1867"/>
            </a:lvl5pPr>
            <a:lvl6pPr>
              <a:defRPr sz="1867"/>
            </a:lvl6pPr>
            <a:lvl7pPr>
              <a:defRPr sz="1867"/>
            </a:lvl7pPr>
            <a:lvl8pPr>
              <a:defRPr sz="1867"/>
            </a:lvl8pPr>
            <a:lvl9pPr>
              <a:defRPr sz="1867"/>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539938" y="4172374"/>
            <a:ext cx="4534751" cy="3860799"/>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7"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712400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8543" y="2472256"/>
            <a:ext cx="6790541" cy="2099744"/>
          </a:xfrm>
        </p:spPr>
        <p:txBody>
          <a:bodyPr anchor="b">
            <a:normAutofit/>
          </a:bodyPr>
          <a:lstStyle>
            <a:lvl1pPr algn="l">
              <a:defRPr sz="48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9266061" y="1524000"/>
            <a:ext cx="4267200" cy="6096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4" name="Text Placeholder 3"/>
          <p:cNvSpPr>
            <a:spLocks noGrp="1"/>
          </p:cNvSpPr>
          <p:nvPr>
            <p:ph type="body" sz="half" idx="2"/>
          </p:nvPr>
        </p:nvSpPr>
        <p:spPr>
          <a:xfrm>
            <a:off x="1539939" y="4876800"/>
            <a:ext cx="6779972" cy="1828800"/>
          </a:xfrm>
        </p:spPr>
        <p:txBody>
          <a:bodyPr>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917657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42" y="6400783"/>
            <a:ext cx="11767543" cy="755651"/>
          </a:xfrm>
        </p:spPr>
        <p:txBody>
          <a:bodyPr anchor="b">
            <a:normAutofit/>
          </a:bodyPr>
          <a:lstStyle>
            <a:lvl1pPr algn="l">
              <a:defRPr sz="32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1539940" y="914400"/>
            <a:ext cx="11767544" cy="485422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4" name="Text Placeholder 3"/>
          <p:cNvSpPr>
            <a:spLocks noGrp="1"/>
          </p:cNvSpPr>
          <p:nvPr>
            <p:ph type="body" sz="half" idx="2"/>
          </p:nvPr>
        </p:nvSpPr>
        <p:spPr>
          <a:xfrm>
            <a:off x="1539942" y="7156433"/>
            <a:ext cx="11767541" cy="658283"/>
          </a:xfrm>
        </p:spPr>
        <p:txBody>
          <a:bodyPr>
            <a:normAutofit/>
          </a:bodyPr>
          <a:lstStyle>
            <a:lvl1pPr marL="0" indent="0">
              <a:buNone/>
              <a:defRPr sz="16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Date Placeholder 4"/>
          <p:cNvSpPr>
            <a:spLocks noGrp="1"/>
          </p:cNvSpPr>
          <p:nvPr>
            <p:ph type="dt" sz="half" idx="10"/>
          </p:nvPr>
        </p:nvSpPr>
        <p:spPr/>
        <p:txBody>
          <a:bodyPr/>
          <a:lstStyle/>
          <a:p>
            <a:fld id="{1D8BD707-D9CF-40AE-B4C6-C98DA3205C09}" type="datetimeFigureOut">
              <a:rPr lang="en-US" smtClean="0"/>
              <a:pPr/>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5915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539940" y="1930400"/>
            <a:ext cx="11767545" cy="2641600"/>
          </a:xfrm>
        </p:spPr>
        <p:txBody>
          <a:bodyPr/>
          <a:lstStyle>
            <a:lvl1pPr>
              <a:defRPr sz="6400"/>
            </a:lvl1pPr>
          </a:lstStyle>
          <a:p>
            <a:r>
              <a:rPr lang="pt-BR"/>
              <a:t>Clique para editar o título Mestre</a:t>
            </a:r>
            <a:endParaRPr lang="en-US" dirty="0"/>
          </a:p>
        </p:txBody>
      </p:sp>
      <p:sp>
        <p:nvSpPr>
          <p:cNvPr id="8" name="Text Placeholder 3"/>
          <p:cNvSpPr>
            <a:spLocks noGrp="1"/>
          </p:cNvSpPr>
          <p:nvPr>
            <p:ph type="body" sz="half" idx="2"/>
          </p:nvPr>
        </p:nvSpPr>
        <p:spPr>
          <a:xfrm>
            <a:off x="1539940" y="4876800"/>
            <a:ext cx="11767545" cy="3149600"/>
          </a:xfrm>
        </p:spPr>
        <p:txBody>
          <a:bodyPr anchor="ctr">
            <a:normAutofit/>
          </a:bodyPr>
          <a:lstStyle>
            <a:lvl1pPr marL="0" indent="0">
              <a:buNone/>
              <a:defRPr sz="24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071420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2099736" y="1930400"/>
            <a:ext cx="10665753" cy="3097832"/>
          </a:xfrm>
        </p:spPr>
        <p:txBody>
          <a:bodyPr/>
          <a:lstStyle>
            <a:lvl1pPr>
              <a:defRPr sz="6400"/>
            </a:lvl1pPr>
          </a:lstStyle>
          <a:p>
            <a:r>
              <a:rPr lang="pt-BR"/>
              <a:t>Clique para editar o título Mestre</a:t>
            </a:r>
            <a:endParaRPr lang="en-US" dirty="0"/>
          </a:p>
        </p:txBody>
      </p:sp>
      <p:sp>
        <p:nvSpPr>
          <p:cNvPr id="11" name="Text Placeholder 3"/>
          <p:cNvSpPr>
            <a:spLocks noGrp="1"/>
          </p:cNvSpPr>
          <p:nvPr>
            <p:ph type="body" sz="half" idx="14"/>
          </p:nvPr>
        </p:nvSpPr>
        <p:spPr>
          <a:xfrm>
            <a:off x="2573867" y="5028232"/>
            <a:ext cx="9706199" cy="456232"/>
          </a:xfrm>
        </p:spPr>
        <p:txBody>
          <a:bodyPr vert="horz" lIns="91440" tIns="45720" rIns="91440" bIns="45720" rtlCol="0" anchor="t">
            <a:normAutofit/>
          </a:bodyPr>
          <a:lstStyle>
            <a:lvl1pPr marL="0" indent="0">
              <a:buNone/>
              <a:defRPr lang="en-US" sz="1867" b="0" i="0" kern="1200" cap="small" dirty="0">
                <a:solidFill>
                  <a:schemeClr val="bg2">
                    <a:lumMod val="40000"/>
                    <a:lumOff val="60000"/>
                  </a:schemeClr>
                </a:solidFill>
                <a:latin typeface="+mj-lt"/>
                <a:ea typeface="+mj-ea"/>
                <a:cs typeface="+mj-cs"/>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marL="0" lvl="0" indent="0">
              <a:buNone/>
            </a:pPr>
            <a:r>
              <a:rPr lang="pt-BR"/>
              <a:t>Clique para editar os estilos de texto Mestres</a:t>
            </a:r>
          </a:p>
        </p:txBody>
      </p:sp>
      <p:sp>
        <p:nvSpPr>
          <p:cNvPr id="10" name="Text Placeholder 3"/>
          <p:cNvSpPr>
            <a:spLocks noGrp="1"/>
          </p:cNvSpPr>
          <p:nvPr>
            <p:ph type="body" sz="half" idx="2"/>
          </p:nvPr>
        </p:nvSpPr>
        <p:spPr>
          <a:xfrm>
            <a:off x="1539940" y="5800876"/>
            <a:ext cx="11767545" cy="2235200"/>
          </a:xfrm>
        </p:spPr>
        <p:txBody>
          <a:bodyPr anchor="ctr">
            <a:normAutofit/>
          </a:bodyPr>
          <a:lstStyle>
            <a:lvl1pPr marL="0" indent="0">
              <a:buNone/>
              <a:defRPr sz="2400"/>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
        <p:nvSpPr>
          <p:cNvPr id="12" name="TextBox 11"/>
          <p:cNvSpPr txBox="1"/>
          <p:nvPr/>
        </p:nvSpPr>
        <p:spPr>
          <a:xfrm>
            <a:off x="1197727" y="1295004"/>
            <a:ext cx="1069216" cy="2595454"/>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6266" dirty="0"/>
              <a:t>“</a:t>
            </a:r>
          </a:p>
        </p:txBody>
      </p:sp>
      <p:sp>
        <p:nvSpPr>
          <p:cNvPr id="15" name="TextBox 14"/>
          <p:cNvSpPr txBox="1"/>
          <p:nvPr/>
        </p:nvSpPr>
        <p:spPr>
          <a:xfrm>
            <a:off x="12440653" y="3485050"/>
            <a:ext cx="1069216" cy="2595454"/>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6266" dirty="0"/>
              <a:t>”</a:t>
            </a:r>
          </a:p>
        </p:txBody>
      </p:sp>
    </p:spTree>
    <p:extLst>
      <p:ext uri="{BB962C8B-B14F-4D97-AF65-F5344CB8AC3E}">
        <p14:creationId xmlns:p14="http://schemas.microsoft.com/office/powerpoint/2010/main" val="7367403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539939" y="4165601"/>
            <a:ext cx="11767547" cy="2204240"/>
          </a:xfrm>
        </p:spPr>
        <p:txBody>
          <a:bodyPr anchor="b"/>
          <a:lstStyle>
            <a:lvl1pPr algn="l">
              <a:defRPr sz="5333" b="0" cap="none"/>
            </a:lvl1pPr>
          </a:lstStyle>
          <a:p>
            <a:r>
              <a:rPr lang="pt-BR"/>
              <a:t>Clique para editar o título Mestre</a:t>
            </a:r>
            <a:endParaRPr lang="en-US" dirty="0"/>
          </a:p>
        </p:txBody>
      </p:sp>
      <p:sp>
        <p:nvSpPr>
          <p:cNvPr id="3" name="Text Placeholder 2"/>
          <p:cNvSpPr>
            <a:spLocks noGrp="1"/>
          </p:cNvSpPr>
          <p:nvPr>
            <p:ph type="body" idx="1"/>
          </p:nvPr>
        </p:nvSpPr>
        <p:spPr>
          <a:xfrm>
            <a:off x="1539940" y="6369841"/>
            <a:ext cx="11767545" cy="1147200"/>
          </a:xfrm>
        </p:spPr>
        <p:txBody>
          <a:bodyPr anchor="t"/>
          <a:lstStyle>
            <a:lvl1pPr marL="0" indent="0" algn="l">
              <a:buNone/>
              <a:defRPr sz="2667" cap="none">
                <a:solidFill>
                  <a:schemeClr val="bg2">
                    <a:lumMod val="40000"/>
                    <a:lumOff val="60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612882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na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600"/>
            </a:lvl1pPr>
          </a:lstStyle>
          <a:p>
            <a:r>
              <a:rPr lang="pt-BR"/>
              <a:t>Clique para editar o título Mestre</a:t>
            </a:r>
            <a:endParaRPr lang="en-US" dirty="0"/>
          </a:p>
        </p:txBody>
      </p:sp>
      <p:sp>
        <p:nvSpPr>
          <p:cNvPr id="3" name="Text Placeholder 2"/>
          <p:cNvSpPr>
            <a:spLocks noGrp="1"/>
          </p:cNvSpPr>
          <p:nvPr>
            <p:ph type="body" idx="1"/>
          </p:nvPr>
        </p:nvSpPr>
        <p:spPr>
          <a:xfrm>
            <a:off x="843929" y="2641600"/>
            <a:ext cx="3929155"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16" name="Text Placeholder 3"/>
          <p:cNvSpPr>
            <a:spLocks noGrp="1"/>
          </p:cNvSpPr>
          <p:nvPr>
            <p:ph type="body" sz="half" idx="15"/>
          </p:nvPr>
        </p:nvSpPr>
        <p:spPr>
          <a:xfrm>
            <a:off x="869951" y="3556000"/>
            <a:ext cx="3903133"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Text Placeholder 4"/>
          <p:cNvSpPr>
            <a:spLocks noGrp="1"/>
          </p:cNvSpPr>
          <p:nvPr>
            <p:ph type="body" sz="quarter" idx="3"/>
          </p:nvPr>
        </p:nvSpPr>
        <p:spPr>
          <a:xfrm>
            <a:off x="5178213" y="2641600"/>
            <a:ext cx="3914988"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19" name="Text Placeholder 3"/>
          <p:cNvSpPr>
            <a:spLocks noGrp="1"/>
          </p:cNvSpPr>
          <p:nvPr>
            <p:ph type="body" sz="half" idx="16"/>
          </p:nvPr>
        </p:nvSpPr>
        <p:spPr>
          <a:xfrm>
            <a:off x="5164141" y="3556000"/>
            <a:ext cx="3929059"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14" name="Text Placeholder 4"/>
          <p:cNvSpPr>
            <a:spLocks noGrp="1"/>
          </p:cNvSpPr>
          <p:nvPr>
            <p:ph type="body" sz="quarter" idx="13"/>
          </p:nvPr>
        </p:nvSpPr>
        <p:spPr>
          <a:xfrm>
            <a:off x="9499601" y="2641600"/>
            <a:ext cx="39094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20" name="Text Placeholder 3"/>
          <p:cNvSpPr>
            <a:spLocks noGrp="1"/>
          </p:cNvSpPr>
          <p:nvPr>
            <p:ph type="body" sz="half" idx="17"/>
          </p:nvPr>
        </p:nvSpPr>
        <p:spPr>
          <a:xfrm>
            <a:off x="9499601" y="3556000"/>
            <a:ext cx="3909484" cy="4785784"/>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cxnSp>
        <p:nvCxnSpPr>
          <p:cNvPr id="17" name="Straight Connector 16"/>
          <p:cNvCxnSpPr/>
          <p:nvPr/>
        </p:nvCxnSpPr>
        <p:spPr>
          <a:xfrm>
            <a:off x="4968189" y="2844800"/>
            <a:ext cx="0" cy="52832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9282969" y="2844800"/>
            <a:ext cx="0" cy="5289176"/>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5757067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unas de Image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5600"/>
            </a:lvl1pPr>
          </a:lstStyle>
          <a:p>
            <a:r>
              <a:rPr lang="pt-BR"/>
              <a:t>Clique para editar o título Mestre</a:t>
            </a:r>
            <a:endParaRPr lang="en-US" dirty="0"/>
          </a:p>
        </p:txBody>
      </p:sp>
      <p:sp>
        <p:nvSpPr>
          <p:cNvPr id="3" name="Text Placeholder 2"/>
          <p:cNvSpPr>
            <a:spLocks noGrp="1"/>
          </p:cNvSpPr>
          <p:nvPr>
            <p:ph type="body" idx="1"/>
          </p:nvPr>
        </p:nvSpPr>
        <p:spPr>
          <a:xfrm>
            <a:off x="869951" y="5667932"/>
            <a:ext cx="3920067"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29" name="Picture Placeholder 2"/>
          <p:cNvSpPr>
            <a:spLocks noGrp="1" noChangeAspect="1"/>
          </p:cNvSpPr>
          <p:nvPr>
            <p:ph type="pic" idx="15"/>
          </p:nvPr>
        </p:nvSpPr>
        <p:spPr>
          <a:xfrm>
            <a:off x="869951" y="2946400"/>
            <a:ext cx="3920067"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2" name="Text Placeholder 3"/>
          <p:cNvSpPr>
            <a:spLocks noGrp="1"/>
          </p:cNvSpPr>
          <p:nvPr>
            <p:ph type="body" sz="half" idx="18"/>
          </p:nvPr>
        </p:nvSpPr>
        <p:spPr>
          <a:xfrm>
            <a:off x="869951" y="6436282"/>
            <a:ext cx="3920067"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5" name="Text Placeholder 4"/>
          <p:cNvSpPr>
            <a:spLocks noGrp="1"/>
          </p:cNvSpPr>
          <p:nvPr>
            <p:ph type="body" sz="quarter" idx="3"/>
          </p:nvPr>
        </p:nvSpPr>
        <p:spPr>
          <a:xfrm>
            <a:off x="5185834" y="5667932"/>
            <a:ext cx="3907367"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30" name="Picture Placeholder 2"/>
          <p:cNvSpPr>
            <a:spLocks noGrp="1" noChangeAspect="1"/>
          </p:cNvSpPr>
          <p:nvPr>
            <p:ph type="pic" idx="21"/>
          </p:nvPr>
        </p:nvSpPr>
        <p:spPr>
          <a:xfrm>
            <a:off x="5185833" y="2946400"/>
            <a:ext cx="3907367"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3" name="Text Placeholder 3"/>
          <p:cNvSpPr>
            <a:spLocks noGrp="1"/>
          </p:cNvSpPr>
          <p:nvPr>
            <p:ph type="body" sz="half" idx="19"/>
          </p:nvPr>
        </p:nvSpPr>
        <p:spPr>
          <a:xfrm>
            <a:off x="5184030" y="6436281"/>
            <a:ext cx="3912541"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sp>
        <p:nvSpPr>
          <p:cNvPr id="14" name="Text Placeholder 4"/>
          <p:cNvSpPr>
            <a:spLocks noGrp="1"/>
          </p:cNvSpPr>
          <p:nvPr>
            <p:ph type="body" sz="quarter" idx="13"/>
          </p:nvPr>
        </p:nvSpPr>
        <p:spPr>
          <a:xfrm>
            <a:off x="9499601" y="5667932"/>
            <a:ext cx="3909484" cy="768349"/>
          </a:xfrm>
        </p:spPr>
        <p:txBody>
          <a:bodyPr anchor="b">
            <a:noAutofit/>
          </a:bodyPr>
          <a:lstStyle>
            <a:lvl1pPr marL="0" indent="0">
              <a:buNone/>
              <a:defRPr sz="3200" b="0">
                <a:solidFill>
                  <a:schemeClr val="bg2">
                    <a:lumMod val="40000"/>
                    <a:lumOff val="60000"/>
                  </a:schemeClr>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pt-BR"/>
              <a:t>Clique para editar os estilos de texto Mestres</a:t>
            </a:r>
          </a:p>
        </p:txBody>
      </p:sp>
      <p:sp>
        <p:nvSpPr>
          <p:cNvPr id="31" name="Picture Placeholder 2"/>
          <p:cNvSpPr>
            <a:spLocks noGrp="1" noChangeAspect="1"/>
          </p:cNvSpPr>
          <p:nvPr>
            <p:ph type="pic" idx="22"/>
          </p:nvPr>
        </p:nvSpPr>
        <p:spPr>
          <a:xfrm>
            <a:off x="9499599" y="2946400"/>
            <a:ext cx="3909484" cy="203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pt-BR"/>
              <a:t>Clique no ícone para adicionar uma imagem</a:t>
            </a:r>
            <a:endParaRPr lang="en-US" dirty="0"/>
          </a:p>
        </p:txBody>
      </p:sp>
      <p:sp>
        <p:nvSpPr>
          <p:cNvPr id="24" name="Text Placeholder 3"/>
          <p:cNvSpPr>
            <a:spLocks noGrp="1"/>
          </p:cNvSpPr>
          <p:nvPr>
            <p:ph type="body" sz="half" idx="20"/>
          </p:nvPr>
        </p:nvSpPr>
        <p:spPr>
          <a:xfrm>
            <a:off x="9499434" y="6436278"/>
            <a:ext cx="3914663" cy="878919"/>
          </a:xfrm>
        </p:spPr>
        <p:txBody>
          <a:bodyPr anchor="t">
            <a:normAutofit/>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pt-BR"/>
              <a:t>Clique para editar os estilos de texto Mestres</a:t>
            </a:r>
          </a:p>
        </p:txBody>
      </p:sp>
      <p:cxnSp>
        <p:nvCxnSpPr>
          <p:cNvPr id="19" name="Straight Connector 18"/>
          <p:cNvCxnSpPr/>
          <p:nvPr/>
        </p:nvCxnSpPr>
        <p:spPr>
          <a:xfrm>
            <a:off x="4968189" y="2844800"/>
            <a:ext cx="0" cy="52832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9282969" y="2844800"/>
            <a:ext cx="0" cy="5289176"/>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2830071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nchorCtr="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1966172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072284" y="573618"/>
            <a:ext cx="2336801" cy="7768167"/>
          </a:xfrm>
        </p:spPr>
        <p:txBody>
          <a:bodyPr vert="eaVert" anchor="b" anchorCtr="0"/>
          <a:lstStyle/>
          <a:p>
            <a:r>
              <a:rPr lang="pt-BR"/>
              <a:t>Clique para editar o título Mestre</a:t>
            </a:r>
            <a:endParaRPr lang="en-US" dirty="0"/>
          </a:p>
        </p:txBody>
      </p:sp>
      <p:sp>
        <p:nvSpPr>
          <p:cNvPr id="3" name="Vertical Text Placeholder 2"/>
          <p:cNvSpPr>
            <a:spLocks noGrp="1"/>
          </p:cNvSpPr>
          <p:nvPr>
            <p:ph type="body" orient="vert" idx="1"/>
          </p:nvPr>
        </p:nvSpPr>
        <p:spPr>
          <a:xfrm>
            <a:off x="869951" y="1183219"/>
            <a:ext cx="9897532" cy="715856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706911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3559581"/>
            <a:ext cx="5382683" cy="5584420"/>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3856464"/>
            <a:ext cx="2029883" cy="3153937"/>
          </a:xfrm>
          <a:prstGeom prst="rect">
            <a:avLst/>
          </a:prstGeom>
        </p:spPr>
      </p:pic>
      <p:sp>
        <p:nvSpPr>
          <p:cNvPr id="16" name="Oval 15"/>
          <p:cNvSpPr/>
          <p:nvPr/>
        </p:nvSpPr>
        <p:spPr>
          <a:xfrm>
            <a:off x="11478683"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10665884" y="1"/>
            <a:ext cx="2137849" cy="1521876"/>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11474504" y="8128000"/>
            <a:ext cx="1324979" cy="1016000"/>
          </a:xfrm>
          <a:prstGeom prst="rect">
            <a:avLst/>
          </a:prstGeom>
        </p:spPr>
      </p:pic>
      <p:sp>
        <p:nvSpPr>
          <p:cNvPr id="14" name="Rectangle 13"/>
          <p:cNvSpPr/>
          <p:nvPr/>
        </p:nvSpPr>
        <p:spPr>
          <a:xfrm>
            <a:off x="13917083"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Title Placeholder 1"/>
          <p:cNvSpPr>
            <a:spLocks noGrp="1"/>
          </p:cNvSpPr>
          <p:nvPr>
            <p:ph type="title"/>
          </p:nvPr>
        </p:nvSpPr>
        <p:spPr>
          <a:xfrm>
            <a:off x="861482" y="603624"/>
            <a:ext cx="12539631" cy="1867373"/>
          </a:xfrm>
          <a:prstGeom prst="rect">
            <a:avLst/>
          </a:prstGeom>
        </p:spPr>
        <p:txBody>
          <a:bodyPr vert="horz" lIns="91440" tIns="45720" rIns="91440" bIns="45720" rtlCol="0" anchor="t">
            <a:noAutofit/>
          </a:bodyPr>
          <a:lstStyle/>
          <a:p>
            <a:r>
              <a:rPr lang="pt-BR"/>
              <a:t>Clique para editar o título Mestre</a:t>
            </a:r>
            <a:endParaRPr lang="en-US" dirty="0"/>
          </a:p>
        </p:txBody>
      </p:sp>
      <p:sp>
        <p:nvSpPr>
          <p:cNvPr id="3" name="Text Placeholder 2"/>
          <p:cNvSpPr>
            <a:spLocks noGrp="1"/>
          </p:cNvSpPr>
          <p:nvPr>
            <p:ph type="body" idx="1"/>
          </p:nvPr>
        </p:nvSpPr>
        <p:spPr>
          <a:xfrm>
            <a:off x="1471084" y="2737225"/>
            <a:ext cx="11928721" cy="5593975"/>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rot="5400000">
            <a:off x="13540853" y="2387602"/>
            <a:ext cx="1320799" cy="406399"/>
          </a:xfrm>
          <a:prstGeom prst="rect">
            <a:avLst/>
          </a:prstGeom>
        </p:spPr>
        <p:txBody>
          <a:bodyPr vert="horz" lIns="91440" tIns="45720" rIns="91440" bIns="45720" rtlCol="0" anchor="t"/>
          <a:lstStyle>
            <a:lvl1pPr algn="l">
              <a:defRPr sz="1467" b="0" i="0">
                <a:solidFill>
                  <a:schemeClr val="tx1">
                    <a:tint val="75000"/>
                    <a:alpha val="60000"/>
                  </a:schemeClr>
                </a:solidFill>
              </a:defRPr>
            </a:lvl1pPr>
          </a:lstStyle>
          <a:p>
            <a:fld id="{1D8BD707-D9CF-40AE-B4C6-C98DA3205C09}" type="datetimeFigureOut">
              <a:rPr lang="en-US" smtClean="0"/>
              <a:pPr/>
              <a:t>5/11/2026</a:t>
            </a:fld>
            <a:endParaRPr lang="en-US"/>
          </a:p>
        </p:txBody>
      </p:sp>
      <p:sp>
        <p:nvSpPr>
          <p:cNvPr id="5" name="Footer Placeholder 4"/>
          <p:cNvSpPr>
            <a:spLocks noGrp="1"/>
          </p:cNvSpPr>
          <p:nvPr>
            <p:ph type="ftr" sz="quarter" idx="3"/>
          </p:nvPr>
        </p:nvSpPr>
        <p:spPr>
          <a:xfrm rot="5400000">
            <a:off x="11935432" y="4300397"/>
            <a:ext cx="5146393" cy="406401"/>
          </a:xfrm>
          <a:prstGeom prst="rect">
            <a:avLst/>
          </a:prstGeom>
        </p:spPr>
        <p:txBody>
          <a:bodyPr vert="horz" lIns="91440" tIns="45720" rIns="91440" bIns="45720" rtlCol="0" anchor="b"/>
          <a:lstStyle>
            <a:lvl1pPr algn="l">
              <a:defRPr sz="1467"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3803387" y="394306"/>
            <a:ext cx="1117599" cy="1023583"/>
          </a:xfrm>
          <a:prstGeom prst="rect">
            <a:avLst/>
          </a:prstGeom>
        </p:spPr>
        <p:txBody>
          <a:bodyPr vert="horz" lIns="91440" tIns="45720" rIns="91440" bIns="45720" rtlCol="0" anchor="b"/>
          <a:lstStyle>
            <a:lvl1pPr algn="ctr">
              <a:defRPr sz="3733" b="0" i="0">
                <a:solidFill>
                  <a:schemeClr val="tx1">
                    <a:tint val="75000"/>
                  </a:schemeClr>
                </a:solidFill>
              </a:defRPr>
            </a:lvl1pPr>
          </a:lstStyle>
          <a:p>
            <a:fld id="{B6F15528-21DE-4FAA-801E-634DDDAF4B2B}" type="slidenum">
              <a:rPr lang="en-US" smtClean="0"/>
              <a:pPr/>
              <a:t>‹nº›</a:t>
            </a:fld>
            <a:endParaRPr lang="en-US"/>
          </a:p>
        </p:txBody>
      </p:sp>
    </p:spTree>
    <p:extLst>
      <p:ext uri="{BB962C8B-B14F-4D97-AF65-F5344CB8AC3E}">
        <p14:creationId xmlns:p14="http://schemas.microsoft.com/office/powerpoint/2010/main" val="399735955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609585" rtl="0" eaLnBrk="1" latinLnBrk="0" hangingPunct="1">
        <a:spcBef>
          <a:spcPct val="0"/>
        </a:spcBef>
        <a:buNone/>
        <a:defRPr sz="56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457189" indent="-457189" algn="l" defTabSz="609585" rtl="0" eaLnBrk="1" latinLnBrk="0" hangingPunct="1">
        <a:spcBef>
          <a:spcPts val="1333"/>
        </a:spcBef>
        <a:spcAft>
          <a:spcPts val="0"/>
        </a:spcAft>
        <a:buClr>
          <a:schemeClr val="bg2">
            <a:lumMod val="40000"/>
            <a:lumOff val="60000"/>
          </a:schemeClr>
        </a:buClr>
        <a:buSzPct val="80000"/>
        <a:buFont typeface="Wingdings 3" charset="2"/>
        <a:buChar char=""/>
        <a:defRPr sz="2667" b="0" i="0" kern="1200">
          <a:solidFill>
            <a:schemeClr val="tx1"/>
          </a:solidFill>
          <a:latin typeface="+mj-lt"/>
          <a:ea typeface="+mj-ea"/>
          <a:cs typeface="+mj-cs"/>
        </a:defRPr>
      </a:lvl1pPr>
      <a:lvl2pPr marL="990575" indent="-380990" algn="l" defTabSz="609585" rtl="0" eaLnBrk="1" latinLnBrk="0" hangingPunct="1">
        <a:spcBef>
          <a:spcPts val="1333"/>
        </a:spcBef>
        <a:spcAft>
          <a:spcPts val="0"/>
        </a:spcAft>
        <a:buClr>
          <a:schemeClr val="bg2">
            <a:lumMod val="40000"/>
            <a:lumOff val="60000"/>
          </a:schemeClr>
        </a:buClr>
        <a:buSzPct val="80000"/>
        <a:buFont typeface="Wingdings 3" charset="2"/>
        <a:buChar char=""/>
        <a:defRPr sz="2400" b="0" i="0" kern="1200">
          <a:solidFill>
            <a:schemeClr val="tx1"/>
          </a:solidFill>
          <a:latin typeface="+mj-lt"/>
          <a:ea typeface="+mj-ea"/>
          <a:cs typeface="+mj-cs"/>
        </a:defRPr>
      </a:lvl2pPr>
      <a:lvl3pPr marL="1523962"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2133" b="0" i="0" kern="1200">
          <a:solidFill>
            <a:schemeClr val="tx1"/>
          </a:solidFill>
          <a:latin typeface="+mj-lt"/>
          <a:ea typeface="+mj-ea"/>
          <a:cs typeface="+mj-cs"/>
        </a:defRPr>
      </a:lvl3pPr>
      <a:lvl4pPr marL="2133547"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4pPr>
      <a:lvl5pPr marL="2743131"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5pPr>
      <a:lvl6pPr marL="3341250"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6pPr>
      <a:lvl7pPr marL="3962301"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7pPr>
      <a:lvl8pPr marL="4571886"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8pPr>
      <a:lvl9pPr marL="5181470" indent="-304792" algn="l" defTabSz="609585" rtl="0" eaLnBrk="1" latinLnBrk="0" hangingPunct="1">
        <a:spcBef>
          <a:spcPts val="1333"/>
        </a:spcBef>
        <a:spcAft>
          <a:spcPts val="0"/>
        </a:spcAft>
        <a:buClr>
          <a:schemeClr val="bg2">
            <a:lumMod val="40000"/>
            <a:lumOff val="60000"/>
          </a:schemeClr>
        </a:buClr>
        <a:buSzPct val="80000"/>
        <a:buFont typeface="Wingdings 3" charset="2"/>
        <a:buChar char=""/>
        <a:defRPr sz="1867" b="0" i="0" kern="1200">
          <a:solidFill>
            <a:schemeClr val="tx1"/>
          </a:solidFill>
          <a:latin typeface="+mj-lt"/>
          <a:ea typeface="+mj-ea"/>
          <a:cs typeface="+mj-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5.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3.jpeg"/><Relationship Id="rId5"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png"/><Relationship Id="rId7"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30.png"/></Relationships>
</file>

<file path=ppt/slides/_rels/slide3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png"/><Relationship Id="rId7"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png"/><Relationship Id="rId7" Type="http://schemas.openxmlformats.org/officeDocument/2006/relationships/image" Target="../media/image3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png"/><Relationship Id="rId7"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r="871"/>
          <a:stretch>
            <a:fillRect/>
          </a:stretch>
        </p:blipFill>
        <p:spPr>
          <a:xfrm>
            <a:off x="20" y="1709"/>
            <a:ext cx="16255980" cy="91422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B7F5EF03-23EF-3B4C-AA4C-218966E08D68}"/>
              </a:ext>
            </a:extLst>
          </p:cNvPr>
          <p:cNvSpPr txBox="1"/>
          <p:nvPr/>
        </p:nvSpPr>
        <p:spPr>
          <a:xfrm>
            <a:off x="1193800" y="1295400"/>
            <a:ext cx="11811000" cy="707886"/>
          </a:xfrm>
          <a:prstGeom prst="rect">
            <a:avLst/>
          </a:prstGeom>
          <a:noFill/>
        </p:spPr>
        <p:txBody>
          <a:bodyPr wrap="square">
            <a:spAutoFit/>
          </a:bodyPr>
          <a:lstStyle/>
          <a:p>
            <a:r>
              <a:rPr lang="pt-BR" sz="4000" dirty="0">
                <a:solidFill>
                  <a:srgbClr val="FFC000"/>
                </a:solidFill>
              </a:rPr>
              <a:t>ATENÇÃO – CONTROLE DE FREQUÊNCIA</a:t>
            </a:r>
          </a:p>
        </p:txBody>
      </p:sp>
      <p:sp>
        <p:nvSpPr>
          <p:cNvPr id="5" name="CaixaDeTexto 4">
            <a:extLst>
              <a:ext uri="{FF2B5EF4-FFF2-40B4-BE49-F238E27FC236}">
                <a16:creationId xmlns:a16="http://schemas.microsoft.com/office/drawing/2014/main" id="{1B2EDAC6-F105-1128-3C6A-A66959D8BFF7}"/>
              </a:ext>
            </a:extLst>
          </p:cNvPr>
          <p:cNvSpPr txBox="1"/>
          <p:nvPr/>
        </p:nvSpPr>
        <p:spPr>
          <a:xfrm>
            <a:off x="1346200" y="2743200"/>
            <a:ext cx="12268200" cy="5262979"/>
          </a:xfrm>
          <a:prstGeom prst="rect">
            <a:avLst/>
          </a:prstGeom>
          <a:noFill/>
        </p:spPr>
        <p:txBody>
          <a:bodyPr wrap="square">
            <a:spAutoFit/>
          </a:bodyPr>
          <a:lstStyle/>
          <a:p>
            <a:pPr>
              <a:buNone/>
            </a:pPr>
            <a:r>
              <a:rPr lang="pt-BR" sz="2800" dirty="0"/>
              <a:t> O curso possui carga horária total de 36 horas.</a:t>
            </a:r>
          </a:p>
          <a:p>
            <a:pPr>
              <a:buNone/>
            </a:pPr>
            <a:endParaRPr lang="pt-BR" sz="2800" dirty="0"/>
          </a:p>
          <a:p>
            <a:pPr>
              <a:buNone/>
            </a:pPr>
            <a:r>
              <a:rPr lang="pt-BR" sz="2800" dirty="0"/>
              <a:t> O limite máximo de faltas permitido é de </a:t>
            </a:r>
            <a:r>
              <a:rPr lang="pt-BR" sz="2800" dirty="0">
                <a:solidFill>
                  <a:srgbClr val="FFC000"/>
                </a:solidFill>
              </a:rPr>
              <a:t>25% </a:t>
            </a:r>
            <a:r>
              <a:rPr lang="pt-BR" sz="2800" dirty="0"/>
              <a:t>da carga horária, o que corresponde a:</a:t>
            </a:r>
            <a:br>
              <a:rPr lang="pt-BR" sz="2800" dirty="0"/>
            </a:br>
            <a:r>
              <a:rPr lang="pt-BR" sz="2800" dirty="0"/>
              <a:t> até </a:t>
            </a:r>
            <a:r>
              <a:rPr lang="pt-BR" sz="2800" dirty="0">
                <a:solidFill>
                  <a:srgbClr val="FFC000"/>
                </a:solidFill>
              </a:rPr>
              <a:t>9 horas </a:t>
            </a:r>
            <a:r>
              <a:rPr lang="pt-BR" sz="2800" dirty="0"/>
              <a:t>de ausência no total</a:t>
            </a:r>
          </a:p>
          <a:p>
            <a:pPr>
              <a:buNone/>
            </a:pPr>
            <a:endParaRPr lang="pt-BR" sz="2800" dirty="0"/>
          </a:p>
          <a:p>
            <a:pPr>
              <a:buNone/>
            </a:pPr>
            <a:r>
              <a:rPr lang="pt-BR" sz="2800" dirty="0"/>
              <a:t> Isso equivale a </a:t>
            </a:r>
            <a:r>
              <a:rPr lang="pt-BR" sz="2800" dirty="0">
                <a:solidFill>
                  <a:srgbClr val="FFC000"/>
                </a:solidFill>
              </a:rPr>
              <a:t>2</a:t>
            </a:r>
            <a:r>
              <a:rPr lang="pt-BR" sz="2800" dirty="0"/>
              <a:t> dias de aula apenas.</a:t>
            </a:r>
          </a:p>
          <a:p>
            <a:pPr>
              <a:buNone/>
            </a:pPr>
            <a:endParaRPr lang="pt-BR" sz="2800" dirty="0"/>
          </a:p>
          <a:p>
            <a:pPr>
              <a:buNone/>
            </a:pPr>
            <a:r>
              <a:rPr lang="pt-BR" sz="2800" dirty="0"/>
              <a:t> Ultrapassar esse limite resulta em reprovação automática por falta</a:t>
            </a:r>
          </a:p>
          <a:p>
            <a:pPr>
              <a:buNone/>
            </a:pPr>
            <a:endParaRPr lang="pt-BR" sz="2800" dirty="0"/>
          </a:p>
          <a:p>
            <a:pPr>
              <a:buNone/>
            </a:pPr>
            <a:r>
              <a:rPr lang="pt-BR" sz="2800" dirty="0">
                <a:solidFill>
                  <a:srgbClr val="FFC000"/>
                </a:solidFill>
              </a:rPr>
              <a:t> Mantenha sua frequência e acompanhe todas as aulas com atenção.</a:t>
            </a:r>
          </a:p>
        </p:txBody>
      </p:sp>
    </p:spTree>
    <p:extLst>
      <p:ext uri="{BB962C8B-B14F-4D97-AF65-F5344CB8AC3E}">
        <p14:creationId xmlns:p14="http://schemas.microsoft.com/office/powerpoint/2010/main" val="42066355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pic>
        <p:nvPicPr>
          <p:cNvPr id="3" name="Picture 8">
            <a:extLst>
              <a:ext uri="{FF2B5EF4-FFF2-40B4-BE49-F238E27FC236}">
                <a16:creationId xmlns:a16="http://schemas.microsoft.com/office/drawing/2014/main" id="{293DE365-550F-D965-CBCD-24ED51303D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27000" y="8077200"/>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3120D92-3E8F-70FD-C04C-6F1B81F137B1}"/>
            </a:ext>
          </a:extLst>
        </p:cNvPr>
        <p:cNvGrpSpPr/>
        <p:nvPr/>
      </p:nvGrpSpPr>
      <p:grpSpPr>
        <a:xfrm>
          <a:off x="0" y="0"/>
          <a:ext cx="0" cy="0"/>
          <a:chOff x="0" y="0"/>
          <a:chExt cx="0" cy="0"/>
        </a:xfrm>
      </p:grpSpPr>
      <p:pic>
        <p:nvPicPr>
          <p:cNvPr id="1032" name="Picture 1031">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034" name="Picture 1033">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036" name="Oval 1035">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038" name="Picture 1037">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040" name="Picture 1039">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1042" name="Rectangle 1041">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1044" name="Rectangle 1043">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046"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71166" y="-2097"/>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1027" name="Picture 3" descr="Python Programming Language - 10B@sic">
            <a:extLst>
              <a:ext uri="{FF2B5EF4-FFF2-40B4-BE49-F238E27FC236}">
                <a16:creationId xmlns:a16="http://schemas.microsoft.com/office/drawing/2014/main" id="{DCBB5D24-3F42-D1CD-1576-B3882F4786F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14901" r="30713"/>
          <a:stretch>
            <a:fillRect/>
          </a:stretch>
        </p:blipFill>
        <p:spPr bwMode="auto">
          <a:xfrm>
            <a:off x="4" y="10"/>
            <a:ext cx="6630798" cy="9143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a:noFill/>
          <a:extLst>
            <a:ext uri="{909E8E84-426E-40DD-AFC4-6F175D3DCCD1}">
              <a14:hiddenFill xmlns:a14="http://schemas.microsoft.com/office/drawing/2010/main">
                <a:solidFill>
                  <a:srgbClr val="FFFFFF"/>
                </a:solidFill>
              </a14:hiddenFill>
            </a:ext>
          </a:extLst>
        </p:spPr>
      </p:pic>
      <p:sp>
        <p:nvSpPr>
          <p:cNvPr id="1048" name="Rectangle 1047">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Rectangle 1">
            <a:extLst>
              <a:ext uri="{FF2B5EF4-FFF2-40B4-BE49-F238E27FC236}">
                <a16:creationId xmlns:a16="http://schemas.microsoft.com/office/drawing/2014/main" id="{71D926B7-BA56-8379-55F2-F9AEACA656DA}"/>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err="1">
                <a:ln>
                  <a:noFill/>
                </a:ln>
                <a:solidFill>
                  <a:srgbClr val="FFC000"/>
                </a:solidFill>
                <a:effectLst/>
                <a:latin typeface="+mj-lt"/>
                <a:ea typeface="+mj-ea"/>
                <a:cs typeface="+mj-cs"/>
              </a:rPr>
              <a:t>Linguagem</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interpretada</a:t>
            </a:r>
            <a:r>
              <a:rPr kumimoji="0" lang="en-US" altLang="pt-BR" sz="2400" b="1" u="none" strike="noStrike" cap="none" normalizeH="0" baseline="0" dirty="0">
                <a:ln>
                  <a:noFill/>
                </a:ln>
                <a:solidFill>
                  <a:srgbClr val="FFC000"/>
                </a:solidFill>
                <a:effectLst/>
                <a:latin typeface="+mj-lt"/>
                <a:ea typeface="+mj-ea"/>
                <a:cs typeface="+mj-cs"/>
              </a:rPr>
              <a:t> e </a:t>
            </a:r>
            <a:r>
              <a:rPr kumimoji="0" lang="en-US" altLang="pt-BR" sz="2400" b="1" u="none" strike="noStrike" cap="none" normalizeH="0" baseline="0" dirty="0" err="1">
                <a:ln>
                  <a:noFill/>
                </a:ln>
                <a:solidFill>
                  <a:srgbClr val="FFC000"/>
                </a:solidFill>
                <a:effectLst/>
                <a:latin typeface="+mj-lt"/>
                <a:ea typeface="+mj-ea"/>
                <a:cs typeface="+mj-cs"/>
              </a:rPr>
              <a:t>fracamente</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tipada</a:t>
            </a:r>
            <a:r>
              <a:rPr kumimoji="0" lang="en-US" altLang="pt-BR" sz="2400" b="1" u="none" strike="noStrike" cap="none" normalizeH="0" baseline="0" dirty="0">
                <a:ln>
                  <a:noFill/>
                </a:ln>
                <a:solidFill>
                  <a:srgbClr val="FFC000"/>
                </a:solidFill>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err="1">
                <a:ln>
                  <a:noFill/>
                </a:ln>
                <a:solidFill>
                  <a:srgbClr val="FFC000"/>
                </a:solidFill>
                <a:effectLst/>
                <a:latin typeface="+mj-lt"/>
                <a:ea typeface="+mj-ea"/>
                <a:cs typeface="+mj-cs"/>
              </a:rPr>
              <a:t>Multiplataforma</a:t>
            </a:r>
            <a:r>
              <a:rPr kumimoji="0" lang="en-US" altLang="pt-BR" sz="2400" b="1" u="none" strike="noStrike" cap="none" normalizeH="0" baseline="0" dirty="0">
                <a:ln>
                  <a:noFill/>
                </a:ln>
                <a:solidFill>
                  <a:srgbClr val="FFC000"/>
                </a:solidFill>
                <a:effectLst/>
                <a:latin typeface="+mj-lt"/>
                <a:ea typeface="+mj-ea"/>
                <a:cs typeface="+mj-cs"/>
              </a:rPr>
              <a:t>: Web, Mobile e Desktop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a:ln>
                  <a:noFill/>
                </a:ln>
                <a:solidFill>
                  <a:srgbClr val="FFC000"/>
                </a:solidFill>
                <a:effectLst/>
                <a:latin typeface="+mj-lt"/>
                <a:ea typeface="+mj-ea"/>
                <a:cs typeface="+mj-cs"/>
              </a:rPr>
              <a:t>Pode ser </a:t>
            </a:r>
            <a:r>
              <a:rPr kumimoji="0" lang="en-US" altLang="pt-BR" sz="2400" b="1" u="none" strike="noStrike" cap="none" normalizeH="0" baseline="0" dirty="0" err="1">
                <a:ln>
                  <a:noFill/>
                </a:ln>
                <a:solidFill>
                  <a:srgbClr val="FFC000"/>
                </a:solidFill>
                <a:effectLst/>
                <a:latin typeface="+mj-lt"/>
                <a:ea typeface="+mj-ea"/>
                <a:cs typeface="+mj-cs"/>
              </a:rPr>
              <a:t>executada</a:t>
            </a:r>
            <a:r>
              <a:rPr kumimoji="0" lang="en-US" altLang="pt-BR" sz="2400" b="1" u="none" strike="noStrike" cap="none" normalizeH="0" baseline="0" dirty="0">
                <a:ln>
                  <a:noFill/>
                </a:ln>
                <a:solidFill>
                  <a:srgbClr val="FFC000"/>
                </a:solidFill>
                <a:effectLst/>
                <a:latin typeface="+mj-lt"/>
                <a:ea typeface="+mj-ea"/>
                <a:cs typeface="+mj-cs"/>
              </a:rPr>
              <a:t> via terminal </a:t>
            </a:r>
            <a:r>
              <a:rPr kumimoji="0" lang="en-US" altLang="pt-BR" sz="2400" b="1" u="none" strike="noStrike" cap="none" normalizeH="0" baseline="0" dirty="0" err="1">
                <a:ln>
                  <a:noFill/>
                </a:ln>
                <a:solidFill>
                  <a:srgbClr val="FFC000"/>
                </a:solidFill>
                <a:effectLst/>
                <a:latin typeface="+mj-lt"/>
                <a:ea typeface="+mj-ea"/>
                <a:cs typeface="+mj-cs"/>
              </a:rPr>
              <a:t>ou</a:t>
            </a:r>
            <a:r>
              <a:rPr kumimoji="0" lang="en-US" altLang="pt-BR" sz="2400" b="1" u="none" strike="noStrike" cap="none" normalizeH="0" baseline="0" dirty="0">
                <a:ln>
                  <a:noFill/>
                </a:ln>
                <a:solidFill>
                  <a:srgbClr val="FFC000"/>
                </a:solidFill>
                <a:effectLst/>
                <a:latin typeface="+mj-lt"/>
                <a:ea typeface="+mj-ea"/>
                <a:cs typeface="+mj-cs"/>
              </a:rPr>
              <a:t> </a:t>
            </a:r>
            <a:r>
              <a:rPr kumimoji="0" lang="en-US" altLang="pt-BR" sz="2400" b="1" u="none" strike="noStrike" cap="none" normalizeH="0" baseline="0" dirty="0" err="1">
                <a:ln>
                  <a:noFill/>
                </a:ln>
                <a:solidFill>
                  <a:srgbClr val="FFC000"/>
                </a:solidFill>
                <a:effectLst/>
                <a:latin typeface="+mj-lt"/>
                <a:ea typeface="+mj-ea"/>
                <a:cs typeface="+mj-cs"/>
              </a:rPr>
              <a:t>servidores</a:t>
            </a:r>
            <a:r>
              <a:rPr kumimoji="0" lang="en-US" altLang="pt-BR" sz="2400" b="1" u="none" strike="noStrike" cap="none" normalizeH="0" baseline="0" dirty="0">
                <a:ln>
                  <a:noFill/>
                </a:ln>
                <a:solidFill>
                  <a:srgbClr val="FFC000"/>
                </a:solidFill>
                <a:effectLst/>
                <a:latin typeface="+mj-lt"/>
                <a:ea typeface="+mj-ea"/>
                <a:cs typeface="+mj-cs"/>
              </a:rPr>
              <a:t> web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r>
              <a:rPr kumimoji="0" lang="en-US" altLang="pt-BR" sz="2400" b="1" u="none" strike="noStrike" cap="none" normalizeH="0" baseline="0" dirty="0">
                <a:ln>
                  <a:noFill/>
                </a:ln>
                <a:solidFill>
                  <a:srgbClr val="FFC000"/>
                </a:solidFill>
                <a:effectLst/>
                <a:latin typeface="+mj-lt"/>
                <a:ea typeface="+mj-ea"/>
                <a:cs typeface="+mj-cs"/>
              </a:rPr>
              <a:t>Grande </a:t>
            </a:r>
            <a:r>
              <a:rPr kumimoji="0" lang="en-US" altLang="pt-BR" sz="2400" b="1" u="none" strike="noStrike" cap="none" normalizeH="0" baseline="0" dirty="0" err="1">
                <a:ln>
                  <a:noFill/>
                </a:ln>
                <a:solidFill>
                  <a:srgbClr val="FFC000"/>
                </a:solidFill>
                <a:effectLst/>
                <a:latin typeface="+mj-lt"/>
                <a:ea typeface="+mj-ea"/>
                <a:cs typeface="+mj-cs"/>
              </a:rPr>
              <a:t>comunidade</a:t>
            </a:r>
            <a:r>
              <a:rPr kumimoji="0" lang="en-US" altLang="pt-BR" sz="2400" b="1" u="none" strike="noStrike" cap="none" normalizeH="0" baseline="0" dirty="0">
                <a:ln>
                  <a:noFill/>
                </a:ln>
                <a:solidFill>
                  <a:srgbClr val="FFC000"/>
                </a:solidFill>
                <a:effectLst/>
                <a:latin typeface="+mj-lt"/>
                <a:ea typeface="+mj-ea"/>
                <a:cs typeface="+mj-cs"/>
              </a:rPr>
              <a:t> de </a:t>
            </a:r>
            <a:r>
              <a:rPr kumimoji="0" lang="en-US" altLang="pt-BR" sz="2400" b="1" u="none" strike="noStrike" cap="none" normalizeH="0" baseline="0" dirty="0" err="1">
                <a:ln>
                  <a:noFill/>
                </a:ln>
                <a:solidFill>
                  <a:srgbClr val="FFC000"/>
                </a:solidFill>
                <a:effectLst/>
                <a:latin typeface="+mj-lt"/>
                <a:ea typeface="+mj-ea"/>
                <a:cs typeface="+mj-cs"/>
              </a:rPr>
              <a:t>desenvolvedores</a:t>
            </a:r>
            <a:r>
              <a:rPr kumimoji="0" lang="en-US" altLang="pt-BR" sz="2400" b="1" u="none" strike="noStrike" cap="none" normalizeH="0" baseline="0" dirty="0">
                <a:ln>
                  <a:noFill/>
                </a:ln>
                <a:solidFill>
                  <a:srgbClr val="FFC000"/>
                </a:solidFill>
                <a:effectLst/>
                <a:latin typeface="+mj-lt"/>
                <a:ea typeface="+mj-ea"/>
                <a:cs typeface="+mj-cs"/>
              </a:rPr>
              <a:t> </a:t>
            </a:r>
          </a:p>
          <a:p>
            <a:pPr marL="342900" marR="0" lvl="0" indent="-342900" fontAlgn="base">
              <a:spcBef>
                <a:spcPts val="1000"/>
              </a:spcBef>
              <a:buClr>
                <a:schemeClr val="bg2">
                  <a:lumMod val="40000"/>
                  <a:lumOff val="60000"/>
                </a:schemeClr>
              </a:buClr>
              <a:buSzPct val="80000"/>
              <a:buFont typeface="Arial" panose="020B0604020202020204" pitchFamily="34" charset="0"/>
              <a:buChar char="•"/>
              <a:tabLst/>
            </a:pPr>
            <a:endParaRPr kumimoji="0" lang="en-US" altLang="pt-BR" sz="2400" b="1" u="none" strike="noStrike" cap="none" normalizeH="0" baseline="0" dirty="0">
              <a:ln>
                <a:noFill/>
              </a:ln>
              <a:solidFill>
                <a:srgbClr val="FFC000"/>
              </a:solidFill>
              <a:effectLst/>
              <a:latin typeface="+mj-lt"/>
              <a:ea typeface="+mj-ea"/>
              <a:cs typeface="+mj-cs"/>
            </a:endParaRPr>
          </a:p>
          <a:p>
            <a:pPr marL="342900" indent="-342900" fontAlgn="base">
              <a:spcBef>
                <a:spcPts val="1000"/>
              </a:spcBef>
              <a:buClr>
                <a:schemeClr val="bg2">
                  <a:lumMod val="40000"/>
                  <a:lumOff val="60000"/>
                </a:schemeClr>
              </a:buClr>
              <a:buSzPct val="80000"/>
              <a:buFont typeface="Arial" panose="020B0604020202020204" pitchFamily="34" charset="0"/>
              <a:buChar char="•"/>
            </a:pPr>
            <a:r>
              <a:rPr lang="pt-BR" sz="2400" b="1" dirty="0">
                <a:solidFill>
                  <a:srgbClr val="FFC000"/>
                </a:solidFill>
                <a:latin typeface="+mj-lt"/>
                <a:ea typeface="+mj-ea"/>
                <a:cs typeface="+mj-cs"/>
              </a:rPr>
              <a:t>Compatível com Windows, Linux, Unix e Mac</a:t>
            </a:r>
            <a:endParaRPr lang="en-US" altLang="pt-BR" sz="2400" b="1" dirty="0">
              <a:solidFill>
                <a:srgbClr val="FFC000"/>
              </a:solidFill>
              <a:latin typeface="+mj-lt"/>
              <a:ea typeface="+mj-ea"/>
              <a:cs typeface="+mj-cs"/>
            </a:endParaRPr>
          </a:p>
        </p:txBody>
      </p:sp>
      <p:pic>
        <p:nvPicPr>
          <p:cNvPr id="2" name="Picture 8">
            <a:extLst>
              <a:ext uri="{FF2B5EF4-FFF2-40B4-BE49-F238E27FC236}">
                <a16:creationId xmlns:a16="http://schemas.microsoft.com/office/drawing/2014/main" id="{73B2EF49-C8DA-A4BB-58F7-2A48E97E5FE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8356600" y="580268"/>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2645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94E2F3B-E34D-F642-D4DF-A6EC914638E8}"/>
            </a:ext>
          </a:extLst>
        </p:cNvPr>
        <p:cNvGrpSpPr/>
        <p:nvPr/>
      </p:nvGrpSpPr>
      <p:grpSpPr>
        <a:xfrm>
          <a:off x="0" y="0"/>
          <a:ext cx="0" cy="0"/>
          <a:chOff x="0" y="0"/>
          <a:chExt cx="0" cy="0"/>
        </a:xfrm>
      </p:grpSpPr>
      <p:pic>
        <p:nvPicPr>
          <p:cNvPr id="2102" name="Picture 2101">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2104" name="Picture 2103">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2106" name="Oval 2105">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108" name="Picture 2107">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110" name="Picture 2109">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112" name="Rectangle 2111">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6C438859-0D92-A0E4-0B0A-DE829DA2B94F}"/>
              </a:ext>
            </a:extLst>
          </p:cNvPr>
          <p:cNvSpPr txBox="1"/>
          <p:nvPr/>
        </p:nvSpPr>
        <p:spPr>
          <a:xfrm>
            <a:off x="229673" y="109393"/>
            <a:ext cx="7655020" cy="2633173"/>
          </a:xfrm>
          <a:prstGeom prst="rect">
            <a:avLst/>
          </a:prstGeom>
        </p:spPr>
        <p:txBody>
          <a:bodyPr vert="horz" lIns="91440" tIns="45720" rIns="91440" bIns="45720" rtlCol="0" anchor="b">
            <a:normAutofit fontScale="92500" lnSpcReduction="20000"/>
          </a:bodyPr>
          <a:lstStyle/>
          <a:p>
            <a:pPr algn="ctr">
              <a:spcBef>
                <a:spcPct val="0"/>
              </a:spcBef>
              <a:spcAft>
                <a:spcPts val="600"/>
              </a:spcAft>
            </a:pPr>
            <a:r>
              <a:rPr lang="en-US" sz="6700" dirty="0" err="1">
                <a:solidFill>
                  <a:schemeClr val="tx2"/>
                </a:solidFill>
                <a:latin typeface="+mj-lt"/>
                <a:ea typeface="+mj-ea"/>
                <a:cs typeface="+mj-cs"/>
              </a:rPr>
              <a:t>Configurando</a:t>
            </a:r>
            <a:r>
              <a:rPr lang="en-US" sz="6700" dirty="0">
                <a:solidFill>
                  <a:schemeClr val="tx2"/>
                </a:solidFill>
                <a:latin typeface="+mj-lt"/>
                <a:ea typeface="+mj-ea"/>
                <a:cs typeface="+mj-cs"/>
              </a:rPr>
              <a:t> o </a:t>
            </a:r>
            <a:r>
              <a:rPr lang="en-US" sz="6700" dirty="0" err="1">
                <a:solidFill>
                  <a:schemeClr val="tx2"/>
                </a:solidFill>
                <a:latin typeface="+mj-lt"/>
                <a:ea typeface="+mj-ea"/>
                <a:cs typeface="+mj-cs"/>
              </a:rPr>
              <a:t>Ambiente</a:t>
            </a:r>
            <a:r>
              <a:rPr lang="en-US" sz="6700" dirty="0">
                <a:solidFill>
                  <a:schemeClr val="tx2"/>
                </a:solidFill>
                <a:latin typeface="+mj-lt"/>
                <a:ea typeface="+mj-ea"/>
                <a:cs typeface="+mj-cs"/>
              </a:rPr>
              <a:t> de </a:t>
            </a:r>
            <a:r>
              <a:rPr lang="en-US" sz="6700" dirty="0" err="1">
                <a:solidFill>
                  <a:schemeClr val="tx2"/>
                </a:solidFill>
                <a:latin typeface="+mj-lt"/>
                <a:ea typeface="+mj-ea"/>
                <a:cs typeface="+mj-cs"/>
              </a:rPr>
              <a:t>Desenvolvimento</a:t>
            </a:r>
            <a:endParaRPr lang="en-US" sz="6700" dirty="0">
              <a:solidFill>
                <a:schemeClr val="tx2"/>
              </a:solidFill>
              <a:latin typeface="+mj-lt"/>
              <a:ea typeface="+mj-ea"/>
              <a:cs typeface="+mj-cs"/>
            </a:endParaRPr>
          </a:p>
        </p:txBody>
      </p:sp>
      <p:sp>
        <p:nvSpPr>
          <p:cNvPr id="2114" name="Freeform: Shape 2113">
            <a:extLst>
              <a:ext uri="{FF2B5EF4-FFF2-40B4-BE49-F238E27FC236}">
                <a16:creationId xmlns:a16="http://schemas.microsoft.com/office/drawing/2014/main" id="{BC9CB508-FF90-4201-B852-19409B06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753100" y="641099"/>
            <a:ext cx="9144001" cy="7861804"/>
          </a:xfrm>
          <a:custGeom>
            <a:avLst/>
            <a:gdLst>
              <a:gd name="connsiteX0" fmla="*/ 6858001 w 6858001"/>
              <a:gd name="connsiteY0" fmla="*/ 1177 h 5896353"/>
              <a:gd name="connsiteX1" fmla="*/ 6858001 w 6858001"/>
              <a:gd name="connsiteY1" fmla="*/ 1344715 h 5896353"/>
              <a:gd name="connsiteX2" fmla="*/ 6858000 w 6858001"/>
              <a:gd name="connsiteY2" fmla="*/ 1344715 h 5896353"/>
              <a:gd name="connsiteX3" fmla="*/ 6858000 w 6858001"/>
              <a:gd name="connsiteY3" fmla="*/ 5896353 h 5896353"/>
              <a:gd name="connsiteX4" fmla="*/ 0 w 6858001"/>
              <a:gd name="connsiteY4" fmla="*/ 5896352 h 5896353"/>
              <a:gd name="connsiteX5" fmla="*/ 0 w 6858001"/>
              <a:gd name="connsiteY5" fmla="*/ 904460 h 5896353"/>
              <a:gd name="connsiteX6" fmla="*/ 1 w 6858001"/>
              <a:gd name="connsiteY6" fmla="*/ 904460 h 5896353"/>
              <a:gd name="connsiteX7" fmla="*/ 1 w 6858001"/>
              <a:gd name="connsiteY7" fmla="*/ 0 h 5896353"/>
              <a:gd name="connsiteX8" fmla="*/ 40463 w 6858001"/>
              <a:gd name="connsiteY8" fmla="*/ 5883 h 5896353"/>
              <a:gd name="connsiteX9" fmla="*/ 159107 w 6858001"/>
              <a:gd name="connsiteY9" fmla="*/ 23196 h 5896353"/>
              <a:gd name="connsiteX10" fmla="*/ 245518 w 6858001"/>
              <a:gd name="connsiteY10" fmla="*/ 35299 h 5896353"/>
              <a:gd name="connsiteX11" fmla="*/ 348388 w 6858001"/>
              <a:gd name="connsiteY11" fmla="*/ 48073 h 5896353"/>
              <a:gd name="connsiteX12" fmla="*/ 470460 w 6858001"/>
              <a:gd name="connsiteY12" fmla="*/ 63369 h 5896353"/>
              <a:gd name="connsiteX13" fmla="*/ 605563 w 6858001"/>
              <a:gd name="connsiteY13" fmla="*/ 79506 h 5896353"/>
              <a:gd name="connsiteX14" fmla="*/ 757810 w 6858001"/>
              <a:gd name="connsiteY14" fmla="*/ 96483 h 5896353"/>
              <a:gd name="connsiteX15" fmla="*/ 923774 w 6858001"/>
              <a:gd name="connsiteY15" fmla="*/ 114469 h 5896353"/>
              <a:gd name="connsiteX16" fmla="*/ 1104139 w 6858001"/>
              <a:gd name="connsiteY16" fmla="*/ 132454 h 5896353"/>
              <a:gd name="connsiteX17" fmla="*/ 1296163 w 6858001"/>
              <a:gd name="connsiteY17" fmla="*/ 150776 h 5896353"/>
              <a:gd name="connsiteX18" fmla="*/ 1503275 w 6858001"/>
              <a:gd name="connsiteY18" fmla="*/ 167753 h 5896353"/>
              <a:gd name="connsiteX19" fmla="*/ 1719988 w 6858001"/>
              <a:gd name="connsiteY19" fmla="*/ 184058 h 5896353"/>
              <a:gd name="connsiteX20" fmla="*/ 1949045 w 6858001"/>
              <a:gd name="connsiteY20" fmla="*/ 198849 h 5896353"/>
              <a:gd name="connsiteX21" fmla="*/ 2187703 w 6858001"/>
              <a:gd name="connsiteY21" fmla="*/ 212969 h 5896353"/>
              <a:gd name="connsiteX22" fmla="*/ 2436649 w 6858001"/>
              <a:gd name="connsiteY22" fmla="*/ 226248 h 5896353"/>
              <a:gd name="connsiteX23" fmla="*/ 2564208 w 6858001"/>
              <a:gd name="connsiteY23" fmla="*/ 230955 h 5896353"/>
              <a:gd name="connsiteX24" fmla="*/ 2694509 w 6858001"/>
              <a:gd name="connsiteY24" fmla="*/ 236165 h 5896353"/>
              <a:gd name="connsiteX25" fmla="*/ 2826868 w 6858001"/>
              <a:gd name="connsiteY25" fmla="*/ 241040 h 5896353"/>
              <a:gd name="connsiteX26" fmla="*/ 2959914 w 6858001"/>
              <a:gd name="connsiteY26" fmla="*/ 244234 h 5896353"/>
              <a:gd name="connsiteX27" fmla="*/ 3095702 w 6858001"/>
              <a:gd name="connsiteY27" fmla="*/ 247091 h 5896353"/>
              <a:gd name="connsiteX28" fmla="*/ 3232862 w 6858001"/>
              <a:gd name="connsiteY28" fmla="*/ 250117 h 5896353"/>
              <a:gd name="connsiteX29" fmla="*/ 3372765 w 6858001"/>
              <a:gd name="connsiteY29" fmla="*/ 252134 h 5896353"/>
              <a:gd name="connsiteX30" fmla="*/ 3514040 w 6858001"/>
              <a:gd name="connsiteY30" fmla="*/ 252134 h 5896353"/>
              <a:gd name="connsiteX31" fmla="*/ 3656686 w 6858001"/>
              <a:gd name="connsiteY31" fmla="*/ 253142 h 5896353"/>
              <a:gd name="connsiteX32" fmla="*/ 3800704 w 6858001"/>
              <a:gd name="connsiteY32" fmla="*/ 252134 h 5896353"/>
              <a:gd name="connsiteX33" fmla="*/ 3946780 w 6858001"/>
              <a:gd name="connsiteY33" fmla="*/ 250117 h 5896353"/>
              <a:gd name="connsiteX34" fmla="*/ 4092855 w 6858001"/>
              <a:gd name="connsiteY34" fmla="*/ 248268 h 5896353"/>
              <a:gd name="connsiteX35" fmla="*/ 4240988 w 6858001"/>
              <a:gd name="connsiteY35" fmla="*/ 244234 h 5896353"/>
              <a:gd name="connsiteX36" fmla="*/ 4390492 w 6858001"/>
              <a:gd name="connsiteY36" fmla="*/ 240032 h 5896353"/>
              <a:gd name="connsiteX37" fmla="*/ 4539997 w 6858001"/>
              <a:gd name="connsiteY37" fmla="*/ 235157 h 5896353"/>
              <a:gd name="connsiteX38" fmla="*/ 4690873 w 6858001"/>
              <a:gd name="connsiteY38" fmla="*/ 228266 h 5896353"/>
              <a:gd name="connsiteX39" fmla="*/ 4843120 w 6858001"/>
              <a:gd name="connsiteY39" fmla="*/ 220029 h 5896353"/>
              <a:gd name="connsiteX40" fmla="*/ 4996054 w 6858001"/>
              <a:gd name="connsiteY40" fmla="*/ 212129 h 5896353"/>
              <a:gd name="connsiteX41" fmla="*/ 5148987 w 6858001"/>
              <a:gd name="connsiteY41" fmla="*/ 202044 h 5896353"/>
              <a:gd name="connsiteX42" fmla="*/ 5303978 w 6858001"/>
              <a:gd name="connsiteY42" fmla="*/ 189941 h 5896353"/>
              <a:gd name="connsiteX43" fmla="*/ 5456911 w 6858001"/>
              <a:gd name="connsiteY43" fmla="*/ 177839 h 5896353"/>
              <a:gd name="connsiteX44" fmla="*/ 5612588 w 6858001"/>
              <a:gd name="connsiteY44" fmla="*/ 163887 h 5896353"/>
              <a:gd name="connsiteX45" fmla="*/ 5768950 w 6858001"/>
              <a:gd name="connsiteY45" fmla="*/ 148591 h 5896353"/>
              <a:gd name="connsiteX46" fmla="*/ 5923255 w 6858001"/>
              <a:gd name="connsiteY46" fmla="*/ 132455 h 5896353"/>
              <a:gd name="connsiteX47" fmla="*/ 6079618 w 6858001"/>
              <a:gd name="connsiteY47" fmla="*/ 113629 h 5896353"/>
              <a:gd name="connsiteX48" fmla="*/ 6235294 w 6858001"/>
              <a:gd name="connsiteY48" fmla="*/ 93458 h 5896353"/>
              <a:gd name="connsiteX49" fmla="*/ 6391657 w 6858001"/>
              <a:gd name="connsiteY49" fmla="*/ 73455 h 5896353"/>
              <a:gd name="connsiteX50" fmla="*/ 6547333 w 6858001"/>
              <a:gd name="connsiteY50" fmla="*/ 50091 h 5896353"/>
              <a:gd name="connsiteX51" fmla="*/ 6702324 w 6858001"/>
              <a:gd name="connsiteY51" fmla="*/ 26222 h 589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896353">
                <a:moveTo>
                  <a:pt x="6858001" y="1177"/>
                </a:moveTo>
                <a:lnTo>
                  <a:pt x="6858001" y="1344715"/>
                </a:lnTo>
                <a:lnTo>
                  <a:pt x="6858000" y="1344715"/>
                </a:lnTo>
                <a:lnTo>
                  <a:pt x="6858000" y="5896353"/>
                </a:lnTo>
                <a:lnTo>
                  <a:pt x="0" y="5896352"/>
                </a:lnTo>
                <a:lnTo>
                  <a:pt x="0" y="904460"/>
                </a:lnTo>
                <a:lnTo>
                  <a:pt x="1" y="904460"/>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116" name="Freeform 8">
            <a:extLst>
              <a:ext uri="{FF2B5EF4-FFF2-40B4-BE49-F238E27FC236}">
                <a16:creationId xmlns:a16="http://schemas.microsoft.com/office/drawing/2014/main" id="{67B72EB2-444A-42B0-BE12-6EA274B22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9932" y="-1"/>
            <a:ext cx="745962"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118" name="Rectangle 2117">
            <a:extLst>
              <a:ext uri="{FF2B5EF4-FFF2-40B4-BE49-F238E27FC236}">
                <a16:creationId xmlns:a16="http://schemas.microsoft.com/office/drawing/2014/main" id="{769CD228-D5CA-4C29-A9D1-4C919760B0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52" name="Picture 4" descr="Setup Python Development Environment in Visual Studio Code | Knowledge  Kitchen">
            <a:extLst>
              <a:ext uri="{FF2B5EF4-FFF2-40B4-BE49-F238E27FC236}">
                <a16:creationId xmlns:a16="http://schemas.microsoft.com/office/drawing/2014/main" id="{6D137CC4-B7F5-37C6-E652-A2FB1C3BA22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9780844" y="1930400"/>
            <a:ext cx="3560887" cy="171812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54" name="Picture 6" descr="Visual Studio Code: um poderoso editor de código para qualquer ambiente |  by Marco Paulo Ollivier | Coder Club | Medium">
            <a:extLst>
              <a:ext uri="{FF2B5EF4-FFF2-40B4-BE49-F238E27FC236}">
                <a16:creationId xmlns:a16="http://schemas.microsoft.com/office/drawing/2014/main" id="{75ED00AB-5B7A-136C-E33F-12E6CFA7BD69}"/>
              </a:ext>
            </a:extLst>
          </p:cNvPr>
          <p:cNvPicPr>
            <a:picLocks noChangeAspect="1" noChangeArrowheads="1"/>
          </p:cNvPicPr>
          <p:nvPr/>
        </p:nvPicPr>
        <p:blipFill>
          <a:blip r:embed="rId8">
            <a:extLst>
              <a:ext uri="{28A0092B-C50C-407E-A947-70E740481C1C}">
                <a14:useLocalDpi xmlns:a14="http://schemas.microsoft.com/office/drawing/2010/main" val="0"/>
              </a:ext>
            </a:extLst>
          </a:blip>
          <a:stretch>
            <a:fillRect/>
          </a:stretch>
        </p:blipFill>
        <p:spPr bwMode="auto">
          <a:xfrm>
            <a:off x="9743163" y="3871782"/>
            <a:ext cx="3636249" cy="1718128"/>
          </a:xfrm>
          <a:prstGeom prst="rect">
            <a:avLst/>
          </a:prstGeom>
          <a:noFill/>
          <a:effectLst/>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CD6F71B4-AA46-A8F6-D2F2-D7B3D80BCCF9}"/>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a:off x="9597982" y="6082073"/>
            <a:ext cx="3913632" cy="1154521"/>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4B7D137C-F26F-9A3B-CED3-5F7C9EAB8885}"/>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
        <p:nvSpPr>
          <p:cNvPr id="5" name="CaixaDeTexto 4">
            <a:extLst>
              <a:ext uri="{FF2B5EF4-FFF2-40B4-BE49-F238E27FC236}">
                <a16:creationId xmlns:a16="http://schemas.microsoft.com/office/drawing/2014/main" id="{49114B84-DCDD-BF85-9AFE-2419FDDA84E9}"/>
              </a:ext>
            </a:extLst>
          </p:cNvPr>
          <p:cNvSpPr txBox="1"/>
          <p:nvPr/>
        </p:nvSpPr>
        <p:spPr>
          <a:xfrm>
            <a:off x="400720" y="3370189"/>
            <a:ext cx="7655020" cy="4439441"/>
          </a:xfrm>
          <a:prstGeom prst="rect">
            <a:avLst/>
          </a:prstGeom>
        </p:spPr>
        <p:txBody>
          <a:bodyPr vert="horz" lIns="91440" tIns="45720" rIns="91440" bIns="45720" rtlCol="0" anchor="b">
            <a:normAutofit/>
          </a:bodyPr>
          <a:lstStyle/>
          <a:p>
            <a:r>
              <a:rPr lang="pt-BR" sz="3600" b="1" dirty="0"/>
              <a:t>Aula 01: Ambiente e comandos básicos</a:t>
            </a:r>
          </a:p>
          <a:p>
            <a:endParaRPr lang="pt-BR" sz="3600" b="1" dirty="0"/>
          </a:p>
          <a:p>
            <a:r>
              <a:rPr lang="pt-BR" sz="3600" dirty="0"/>
              <a:t>Configuração do Python e </a:t>
            </a:r>
            <a:r>
              <a:rPr lang="pt-BR" sz="3600" dirty="0" err="1"/>
              <a:t>VSCode</a:t>
            </a:r>
            <a:r>
              <a:rPr lang="pt-BR" sz="3600" dirty="0"/>
              <a:t> </a:t>
            </a:r>
          </a:p>
          <a:p>
            <a:endParaRPr lang="pt-BR" sz="3600" dirty="0"/>
          </a:p>
          <a:p>
            <a:pPr algn="ctr">
              <a:spcBef>
                <a:spcPct val="0"/>
              </a:spcBef>
              <a:spcAft>
                <a:spcPts val="600"/>
              </a:spcAft>
            </a:pPr>
            <a:endParaRPr lang="en-US" sz="3200" dirty="0">
              <a:solidFill>
                <a:schemeClr val="tx2"/>
              </a:solidFill>
              <a:latin typeface="+mj-lt"/>
              <a:ea typeface="+mj-ea"/>
              <a:cs typeface="+mj-cs"/>
            </a:endParaRPr>
          </a:p>
        </p:txBody>
      </p:sp>
    </p:spTree>
    <p:extLst>
      <p:ext uri="{BB962C8B-B14F-4D97-AF65-F5344CB8AC3E}">
        <p14:creationId xmlns:p14="http://schemas.microsoft.com/office/powerpoint/2010/main" val="3108113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a:extLst>
              <a:ext uri="{FF2B5EF4-FFF2-40B4-BE49-F238E27FC236}">
                <a16:creationId xmlns:a16="http://schemas.microsoft.com/office/drawing/2014/main" id="{39049EA8-DD6C-CF74-4FF6-842E9A46FE32}"/>
              </a:ext>
            </a:extLst>
          </p:cNvPr>
          <p:cNvSpPr txBox="1"/>
          <p:nvPr/>
        </p:nvSpPr>
        <p:spPr>
          <a:xfrm>
            <a:off x="965200" y="2057400"/>
            <a:ext cx="13868400" cy="4154984"/>
          </a:xfrm>
          <a:prstGeom prst="rect">
            <a:avLst/>
          </a:prstGeom>
          <a:noFill/>
        </p:spPr>
        <p:txBody>
          <a:bodyPr wrap="square" rtlCol="0">
            <a:spAutoFit/>
          </a:bodyPr>
          <a:lstStyle/>
          <a:p>
            <a:pPr algn="ctr"/>
            <a:r>
              <a:rPr lang="pt-BR" sz="8800" b="1" dirty="0">
                <a:solidFill>
                  <a:srgbClr val="FFC000"/>
                </a:solidFill>
              </a:rPr>
              <a:t>O QUE É </a:t>
            </a:r>
          </a:p>
          <a:p>
            <a:pPr algn="ctr"/>
            <a:r>
              <a:rPr lang="pt-BR" sz="8800" b="1" dirty="0">
                <a:solidFill>
                  <a:srgbClr val="FFC000"/>
                </a:solidFill>
              </a:rPr>
              <a:t>LÓGICA DE PROGRAMAÇÃO???</a:t>
            </a:r>
          </a:p>
        </p:txBody>
      </p:sp>
    </p:spTree>
    <p:extLst>
      <p:ext uri="{BB962C8B-B14F-4D97-AF65-F5344CB8AC3E}">
        <p14:creationId xmlns:p14="http://schemas.microsoft.com/office/powerpoint/2010/main" val="14616665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0" name="Rectangle 14">
            <a:extLst>
              <a:ext uri="{FF2B5EF4-FFF2-40B4-BE49-F238E27FC236}">
                <a16:creationId xmlns:a16="http://schemas.microsoft.com/office/drawing/2014/main" id="{7B0A5210-2F29-4D85-A400-9C79B13FC1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6">
            <a:extLst>
              <a:ext uri="{FF2B5EF4-FFF2-40B4-BE49-F238E27FC236}">
                <a16:creationId xmlns:a16="http://schemas.microsoft.com/office/drawing/2014/main" id="{B0611BBE-2B4A-4DA2-B8A9-CD877B8762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noFill/>
          <a:ln w="22225">
            <a:solidFill>
              <a:srgbClr val="F290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m 4">
            <a:extLst>
              <a:ext uri="{FF2B5EF4-FFF2-40B4-BE49-F238E27FC236}">
                <a16:creationId xmlns:a16="http://schemas.microsoft.com/office/drawing/2014/main" id="{FCD5031D-2313-F547-30E2-5889C2668137}"/>
              </a:ext>
            </a:extLst>
          </p:cNvPr>
          <p:cNvPicPr>
            <a:picLocks noChangeAspect="1"/>
          </p:cNvPicPr>
          <p:nvPr/>
        </p:nvPicPr>
        <p:blipFill>
          <a:blip r:embed="rId3">
            <a:extLst>
              <a:ext uri="{28A0092B-C50C-407E-A947-70E740481C1C}">
                <a14:useLocalDpi xmlns:a14="http://schemas.microsoft.com/office/drawing/2010/main" val="0"/>
              </a:ext>
            </a:extLst>
          </a:blip>
          <a:srcRect t="5629" r="-1" b="17835"/>
          <a:stretch>
            <a:fillRect/>
          </a:stretch>
        </p:blipFill>
        <p:spPr>
          <a:xfrm>
            <a:off x="857956" y="857956"/>
            <a:ext cx="14540088" cy="7428088"/>
          </a:xfrm>
          <a:prstGeom prst="rect">
            <a:avLst/>
          </a:prstGeom>
        </p:spPr>
      </p:pic>
      <p:sp>
        <p:nvSpPr>
          <p:cNvPr id="19" name="Rectangle 18">
            <a:extLst>
              <a:ext uri="{FF2B5EF4-FFF2-40B4-BE49-F238E27FC236}">
                <a16:creationId xmlns:a16="http://schemas.microsoft.com/office/drawing/2014/main" id="{91091950-5655-45D2-858E-FE8CBE07C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3858736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ADBA51B6-1531-28A4-B9A1-8BC230FA5980}"/>
            </a:ext>
          </a:extLst>
        </p:cNvPr>
        <p:cNvGrpSpPr/>
        <p:nvPr/>
      </p:nvGrpSpPr>
      <p:grpSpPr>
        <a:xfrm>
          <a:off x="0" y="0"/>
          <a:ext cx="0" cy="0"/>
          <a:chOff x="0" y="0"/>
          <a:chExt cx="0" cy="0"/>
        </a:xfrm>
      </p:grpSpPr>
      <p:sp>
        <p:nvSpPr>
          <p:cNvPr id="30" name="Rectangle 25">
            <a:extLst>
              <a:ext uri="{FF2B5EF4-FFF2-40B4-BE49-F238E27FC236}">
                <a16:creationId xmlns:a16="http://schemas.microsoft.com/office/drawing/2014/main" id="{DFB3CEA1-88D9-42FB-88ED-1E9807FE6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6016" y="640080"/>
            <a:ext cx="14983968" cy="786384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Imagem 2">
            <a:extLst>
              <a:ext uri="{FF2B5EF4-FFF2-40B4-BE49-F238E27FC236}">
                <a16:creationId xmlns:a16="http://schemas.microsoft.com/office/drawing/2014/main" id="{65C0229B-9BA9-BAFB-3F4C-86EAC8D97C46}"/>
              </a:ext>
            </a:extLst>
          </p:cNvPr>
          <p:cNvPicPr>
            <a:picLocks noChangeAspect="1"/>
          </p:cNvPicPr>
          <p:nvPr/>
        </p:nvPicPr>
        <p:blipFill>
          <a:blip r:embed="rId3"/>
          <a:stretch>
            <a:fillRect/>
          </a:stretch>
        </p:blipFill>
        <p:spPr>
          <a:xfrm>
            <a:off x="1583429" y="857956"/>
            <a:ext cx="13089141" cy="7428088"/>
          </a:xfrm>
          <a:prstGeom prst="rect">
            <a:avLst/>
          </a:prstGeom>
        </p:spPr>
      </p:pic>
      <p:sp>
        <p:nvSpPr>
          <p:cNvPr id="31" name="Rectangle 27">
            <a:extLst>
              <a:ext uri="{FF2B5EF4-FFF2-40B4-BE49-F238E27FC236}">
                <a16:creationId xmlns:a16="http://schemas.microsoft.com/office/drawing/2014/main" id="{9A6C928E-4252-4F33-8C34-E50A12A317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2982296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a 1">
            <a:extLst>
              <a:ext uri="{FF2B5EF4-FFF2-40B4-BE49-F238E27FC236}">
                <a16:creationId xmlns:a16="http://schemas.microsoft.com/office/drawing/2014/main" id="{8E791D81-1466-1A15-EC65-2B4D429B2160}"/>
              </a:ext>
            </a:extLst>
          </p:cNvPr>
          <p:cNvGraphicFramePr>
            <a:graphicFrameLocks noGrp="1"/>
          </p:cNvGraphicFramePr>
          <p:nvPr>
            <p:extLst>
              <p:ext uri="{D42A27DB-BD31-4B8C-83A1-F6EECF244321}">
                <p14:modId xmlns:p14="http://schemas.microsoft.com/office/powerpoint/2010/main" val="1511520117"/>
              </p:ext>
            </p:extLst>
          </p:nvPr>
        </p:nvGraphicFramePr>
        <p:xfrm>
          <a:off x="1471613" y="4208145"/>
          <a:ext cx="11928474" cy="3017520"/>
        </p:xfrm>
        <a:graphic>
          <a:graphicData uri="http://schemas.openxmlformats.org/drawingml/2006/table">
            <a:tbl>
              <a:tblPr/>
              <a:tblGrid>
                <a:gridCol w="5964237">
                  <a:extLst>
                    <a:ext uri="{9D8B030D-6E8A-4147-A177-3AD203B41FA5}">
                      <a16:colId xmlns:a16="http://schemas.microsoft.com/office/drawing/2014/main" val="211511605"/>
                    </a:ext>
                  </a:extLst>
                </a:gridCol>
                <a:gridCol w="5964237">
                  <a:extLst>
                    <a:ext uri="{9D8B030D-6E8A-4147-A177-3AD203B41FA5}">
                      <a16:colId xmlns:a16="http://schemas.microsoft.com/office/drawing/2014/main" val="3499503803"/>
                    </a:ext>
                  </a:extLst>
                </a:gridCol>
              </a:tblGrid>
              <a:tr h="457200">
                <a:tc>
                  <a:txBody>
                    <a:bodyPr/>
                    <a:lstStyle/>
                    <a:p>
                      <a:pPr>
                        <a:buNone/>
                      </a:pPr>
                      <a:r>
                        <a:rPr lang="pt-BR" sz="2800">
                          <a:solidFill>
                            <a:srgbClr val="FFC000"/>
                          </a:solidFill>
                          <a:latin typeface="Courier New" panose="02070309020205020404" pitchFamily="49" charset="0"/>
                        </a:rPr>
                        <a:t>+</a:t>
                      </a:r>
                      <a:endParaRPr lang="pt-BR" sz="2800">
                        <a:solidFill>
                          <a:srgbClr val="FFC000"/>
                        </a:solidFill>
                      </a:endParaRPr>
                    </a:p>
                  </a:txBody>
                  <a:tcPr anchor="ctr">
                    <a:lnL>
                      <a:noFill/>
                    </a:lnL>
                    <a:lnR>
                      <a:noFill/>
                    </a:lnR>
                    <a:lnT>
                      <a:noFill/>
                    </a:lnT>
                    <a:lnB>
                      <a:noFill/>
                    </a:lnB>
                    <a:noFill/>
                  </a:tcPr>
                </a:tc>
                <a:tc>
                  <a:txBody>
                    <a:bodyPr/>
                    <a:lstStyle/>
                    <a:p>
                      <a:pPr>
                        <a:buNone/>
                      </a:pPr>
                      <a:r>
                        <a:rPr lang="pt-BR" sz="2800" dirty="0">
                          <a:solidFill>
                            <a:srgbClr val="FFC000"/>
                          </a:solidFill>
                          <a:latin typeface="Courier New" panose="02070309020205020404" pitchFamily="49" charset="0"/>
                        </a:rPr>
                        <a:t>,</a:t>
                      </a:r>
                      <a:endParaRPr lang="pt-BR" sz="2800" dirty="0">
                        <a:solidFill>
                          <a:srgbClr val="FFC000"/>
                        </a:solidFill>
                      </a:endParaRPr>
                    </a:p>
                  </a:txBody>
                  <a:tcPr anchor="ctr">
                    <a:lnL>
                      <a:noFill/>
                    </a:lnL>
                    <a:lnR>
                      <a:noFill/>
                    </a:lnR>
                    <a:lnT>
                      <a:noFill/>
                    </a:lnT>
                    <a:lnB>
                      <a:noFill/>
                    </a:lnB>
                    <a:noFill/>
                  </a:tcPr>
                </a:tc>
                <a:extLst>
                  <a:ext uri="{0D108BD9-81ED-4DB2-BD59-A6C34878D82A}">
                    <a16:rowId xmlns:a16="http://schemas.microsoft.com/office/drawing/2014/main" val="3247276015"/>
                  </a:ext>
                </a:extLst>
              </a:tr>
              <a:tr h="457200">
                <a:tc>
                  <a:txBody>
                    <a:bodyPr/>
                    <a:lstStyle/>
                    <a:p>
                      <a:pPr>
                        <a:buNone/>
                      </a:pPr>
                      <a:r>
                        <a:rPr lang="pt-BR" sz="2800"/>
                        <a:t>Junta strings (concatena)</a:t>
                      </a:r>
                    </a:p>
                  </a:txBody>
                  <a:tcPr anchor="ctr">
                    <a:lnL>
                      <a:noFill/>
                    </a:lnL>
                    <a:lnR>
                      <a:noFill/>
                    </a:lnR>
                    <a:lnT>
                      <a:noFill/>
                    </a:lnT>
                    <a:lnB>
                      <a:noFill/>
                    </a:lnB>
                    <a:noFill/>
                  </a:tcPr>
                </a:tc>
                <a:tc>
                  <a:txBody>
                    <a:bodyPr/>
                    <a:lstStyle/>
                    <a:p>
                      <a:pPr>
                        <a:buNone/>
                      </a:pPr>
                      <a:r>
                        <a:rPr lang="pt-BR" sz="2800"/>
                        <a:t>Passa vários valores para o print</a:t>
                      </a:r>
                    </a:p>
                  </a:txBody>
                  <a:tcPr anchor="ctr">
                    <a:lnL>
                      <a:noFill/>
                    </a:lnL>
                    <a:lnR>
                      <a:noFill/>
                    </a:lnR>
                    <a:lnT>
                      <a:noFill/>
                    </a:lnT>
                    <a:lnB>
                      <a:noFill/>
                    </a:lnB>
                    <a:noFill/>
                  </a:tcPr>
                </a:tc>
                <a:extLst>
                  <a:ext uri="{0D108BD9-81ED-4DB2-BD59-A6C34878D82A}">
                    <a16:rowId xmlns:a16="http://schemas.microsoft.com/office/drawing/2014/main" val="3328421372"/>
                  </a:ext>
                </a:extLst>
              </a:tr>
              <a:tr h="457200">
                <a:tc>
                  <a:txBody>
                    <a:bodyPr/>
                    <a:lstStyle/>
                    <a:p>
                      <a:pPr>
                        <a:buNone/>
                      </a:pPr>
                      <a:r>
                        <a:rPr lang="pt-BR" sz="2800"/>
                        <a:t>Precisa converter números</a:t>
                      </a:r>
                    </a:p>
                  </a:txBody>
                  <a:tcPr anchor="ctr">
                    <a:lnL>
                      <a:noFill/>
                    </a:lnL>
                    <a:lnR>
                      <a:noFill/>
                    </a:lnR>
                    <a:lnT>
                      <a:noFill/>
                    </a:lnT>
                    <a:lnB>
                      <a:noFill/>
                    </a:lnB>
                    <a:noFill/>
                  </a:tcPr>
                </a:tc>
                <a:tc>
                  <a:txBody>
                    <a:bodyPr/>
                    <a:lstStyle/>
                    <a:p>
                      <a:pPr>
                        <a:buNone/>
                      </a:pPr>
                      <a:r>
                        <a:rPr lang="pt-BR" sz="2800"/>
                        <a:t>Não precisa converter</a:t>
                      </a:r>
                    </a:p>
                  </a:txBody>
                  <a:tcPr anchor="ctr">
                    <a:lnL>
                      <a:noFill/>
                    </a:lnL>
                    <a:lnR>
                      <a:noFill/>
                    </a:lnR>
                    <a:lnT>
                      <a:noFill/>
                    </a:lnT>
                    <a:lnB>
                      <a:noFill/>
                    </a:lnB>
                    <a:noFill/>
                  </a:tcPr>
                </a:tc>
                <a:extLst>
                  <a:ext uri="{0D108BD9-81ED-4DB2-BD59-A6C34878D82A}">
                    <a16:rowId xmlns:a16="http://schemas.microsoft.com/office/drawing/2014/main" val="3454539720"/>
                  </a:ext>
                </a:extLst>
              </a:tr>
              <a:tr h="822960">
                <a:tc>
                  <a:txBody>
                    <a:bodyPr/>
                    <a:lstStyle/>
                    <a:p>
                      <a:pPr>
                        <a:buNone/>
                      </a:pPr>
                      <a:r>
                        <a:rPr lang="pt-BR" sz="2800"/>
                        <a:t>Não adiciona espaços automaticamente</a:t>
                      </a:r>
                    </a:p>
                  </a:txBody>
                  <a:tcPr anchor="ctr">
                    <a:lnL>
                      <a:noFill/>
                    </a:lnL>
                    <a:lnR>
                      <a:noFill/>
                    </a:lnR>
                    <a:lnT>
                      <a:noFill/>
                    </a:lnT>
                    <a:lnB>
                      <a:noFill/>
                    </a:lnB>
                    <a:noFill/>
                  </a:tcPr>
                </a:tc>
                <a:tc>
                  <a:txBody>
                    <a:bodyPr/>
                    <a:lstStyle/>
                    <a:p>
                      <a:pPr>
                        <a:buNone/>
                      </a:pPr>
                      <a:r>
                        <a:rPr lang="pt-BR" sz="2800"/>
                        <a:t>Adiciona espaços automaticamente</a:t>
                      </a:r>
                    </a:p>
                  </a:txBody>
                  <a:tcPr anchor="ctr">
                    <a:lnL>
                      <a:noFill/>
                    </a:lnL>
                    <a:lnR>
                      <a:noFill/>
                    </a:lnR>
                    <a:lnT>
                      <a:noFill/>
                    </a:lnT>
                    <a:lnB>
                      <a:noFill/>
                    </a:lnB>
                    <a:noFill/>
                  </a:tcPr>
                </a:tc>
                <a:extLst>
                  <a:ext uri="{0D108BD9-81ED-4DB2-BD59-A6C34878D82A}">
                    <a16:rowId xmlns:a16="http://schemas.microsoft.com/office/drawing/2014/main" val="3726787008"/>
                  </a:ext>
                </a:extLst>
              </a:tr>
              <a:tr h="457200">
                <a:tc>
                  <a:txBody>
                    <a:bodyPr/>
                    <a:lstStyle/>
                    <a:p>
                      <a:pPr>
                        <a:buNone/>
                      </a:pPr>
                      <a:r>
                        <a:rPr lang="pt-BR" sz="2800"/>
                        <a:t>Mais rígido</a:t>
                      </a:r>
                    </a:p>
                  </a:txBody>
                  <a:tcPr anchor="ctr">
                    <a:lnL>
                      <a:noFill/>
                    </a:lnL>
                    <a:lnR>
                      <a:noFill/>
                    </a:lnR>
                    <a:lnT>
                      <a:noFill/>
                    </a:lnT>
                    <a:lnB>
                      <a:noFill/>
                    </a:lnB>
                    <a:noFill/>
                  </a:tcPr>
                </a:tc>
                <a:tc>
                  <a:txBody>
                    <a:bodyPr/>
                    <a:lstStyle/>
                    <a:p>
                      <a:pPr>
                        <a:buNone/>
                      </a:pPr>
                      <a:r>
                        <a:rPr lang="pt-BR" sz="2800" dirty="0"/>
                        <a:t>Mais flexível</a:t>
                      </a:r>
                    </a:p>
                  </a:txBody>
                  <a:tcPr anchor="ctr">
                    <a:lnL>
                      <a:noFill/>
                    </a:lnL>
                    <a:lnR>
                      <a:noFill/>
                    </a:lnR>
                    <a:lnT>
                      <a:noFill/>
                    </a:lnT>
                    <a:lnB>
                      <a:noFill/>
                    </a:lnB>
                    <a:noFill/>
                  </a:tcPr>
                </a:tc>
                <a:extLst>
                  <a:ext uri="{0D108BD9-81ED-4DB2-BD59-A6C34878D82A}">
                    <a16:rowId xmlns:a16="http://schemas.microsoft.com/office/drawing/2014/main" val="3381721396"/>
                  </a:ext>
                </a:extLst>
              </a:tr>
            </a:tbl>
          </a:graphicData>
        </a:graphic>
      </p:graphicFrame>
      <p:sp>
        <p:nvSpPr>
          <p:cNvPr id="4" name="CaixaDeTexto 3">
            <a:extLst>
              <a:ext uri="{FF2B5EF4-FFF2-40B4-BE49-F238E27FC236}">
                <a16:creationId xmlns:a16="http://schemas.microsoft.com/office/drawing/2014/main" id="{B3A21BFE-8400-20B6-9E7C-819D0CE5D77F}"/>
              </a:ext>
            </a:extLst>
          </p:cNvPr>
          <p:cNvSpPr txBox="1"/>
          <p:nvPr/>
        </p:nvSpPr>
        <p:spPr>
          <a:xfrm>
            <a:off x="1471613" y="2286000"/>
            <a:ext cx="12599987" cy="954107"/>
          </a:xfrm>
          <a:prstGeom prst="rect">
            <a:avLst/>
          </a:prstGeom>
          <a:noFill/>
        </p:spPr>
        <p:txBody>
          <a:bodyPr wrap="square">
            <a:spAutoFit/>
          </a:bodyPr>
          <a:lstStyle/>
          <a:p>
            <a:r>
              <a:rPr lang="pt-BR" sz="2800" dirty="0"/>
              <a:t>Em Python, </a:t>
            </a:r>
            <a:r>
              <a:rPr lang="pt-BR" sz="2800" b="1" dirty="0">
                <a:solidFill>
                  <a:srgbClr val="FFC000"/>
                </a:solidFill>
                <a:latin typeface="Courier New" panose="02070309020205020404" pitchFamily="49" charset="0"/>
              </a:rPr>
              <a:t>,</a:t>
            </a:r>
            <a:r>
              <a:rPr lang="pt-BR" sz="2800" b="1" dirty="0">
                <a:solidFill>
                  <a:srgbClr val="FFC000"/>
                </a:solidFill>
              </a:rPr>
              <a:t> (vírgula)</a:t>
            </a:r>
            <a:r>
              <a:rPr lang="pt-BR" sz="2800" dirty="0">
                <a:solidFill>
                  <a:srgbClr val="FFC000"/>
                </a:solidFill>
              </a:rPr>
              <a:t> </a:t>
            </a:r>
            <a:r>
              <a:rPr lang="pt-BR" sz="2800" dirty="0"/>
              <a:t>e </a:t>
            </a:r>
            <a:r>
              <a:rPr lang="pt-BR" sz="2800" b="1" dirty="0">
                <a:solidFill>
                  <a:srgbClr val="FFC000"/>
                </a:solidFill>
                <a:latin typeface="Courier New" panose="02070309020205020404" pitchFamily="49" charset="0"/>
              </a:rPr>
              <a:t>+</a:t>
            </a:r>
            <a:r>
              <a:rPr lang="pt-BR" sz="2800" b="1" dirty="0">
                <a:solidFill>
                  <a:srgbClr val="FFC000"/>
                </a:solidFill>
              </a:rPr>
              <a:t> (mais)</a:t>
            </a:r>
            <a:r>
              <a:rPr lang="pt-BR" sz="2800" dirty="0">
                <a:solidFill>
                  <a:srgbClr val="FFC000"/>
                </a:solidFill>
              </a:rPr>
              <a:t> </a:t>
            </a:r>
            <a:r>
              <a:rPr lang="pt-BR" sz="2800" dirty="0"/>
              <a:t>podem ser usados para “juntar” informações no </a:t>
            </a:r>
            <a:r>
              <a:rPr lang="pt-BR" sz="2800" dirty="0">
                <a:latin typeface="Courier New" panose="02070309020205020404" pitchFamily="49" charset="0"/>
              </a:rPr>
              <a:t>print()</a:t>
            </a:r>
            <a:r>
              <a:rPr lang="pt-BR" sz="2800" dirty="0"/>
              <a:t>, mas funcionam de formas bem diferentes.</a:t>
            </a:r>
          </a:p>
        </p:txBody>
      </p:sp>
    </p:spTree>
    <p:extLst>
      <p:ext uri="{BB962C8B-B14F-4D97-AF65-F5344CB8AC3E}">
        <p14:creationId xmlns:p14="http://schemas.microsoft.com/office/powerpoint/2010/main" val="3609634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824B4F6D-FED0-F303-8A94-1CB15AED0584}"/>
              </a:ext>
            </a:extLst>
          </p:cNvPr>
          <p:cNvPicPr>
            <a:picLocks noChangeAspect="1"/>
          </p:cNvPicPr>
          <p:nvPr/>
        </p:nvPicPr>
        <p:blipFill>
          <a:blip r:embed="rId2"/>
          <a:stretch>
            <a:fillRect/>
          </a:stretch>
        </p:blipFill>
        <p:spPr>
          <a:xfrm>
            <a:off x="1041400" y="2057400"/>
            <a:ext cx="12496800" cy="5367424"/>
          </a:xfrm>
          <a:prstGeom prst="rect">
            <a:avLst/>
          </a:prstGeom>
        </p:spPr>
      </p:pic>
      <p:sp>
        <p:nvSpPr>
          <p:cNvPr id="4" name="CaixaDeTexto 3">
            <a:extLst>
              <a:ext uri="{FF2B5EF4-FFF2-40B4-BE49-F238E27FC236}">
                <a16:creationId xmlns:a16="http://schemas.microsoft.com/office/drawing/2014/main" id="{A445DE67-623F-A914-F42C-33646F5EF7F2}"/>
              </a:ext>
            </a:extLst>
          </p:cNvPr>
          <p:cNvSpPr txBox="1"/>
          <p:nvPr/>
        </p:nvSpPr>
        <p:spPr>
          <a:xfrm>
            <a:off x="938213" y="1192908"/>
            <a:ext cx="12599987" cy="523220"/>
          </a:xfrm>
          <a:prstGeom prst="rect">
            <a:avLst/>
          </a:prstGeom>
          <a:noFill/>
        </p:spPr>
        <p:txBody>
          <a:bodyPr wrap="square">
            <a:spAutoFit/>
          </a:bodyPr>
          <a:lstStyle/>
          <a:p>
            <a:r>
              <a:rPr lang="pt-BR" sz="2800" dirty="0"/>
              <a:t>Criar esse arquivo </a:t>
            </a:r>
            <a:r>
              <a:rPr lang="pt-BR" sz="2800" dirty="0">
                <a:solidFill>
                  <a:srgbClr val="FFC000"/>
                </a:solidFill>
              </a:rPr>
              <a:t>concatenação.py </a:t>
            </a:r>
            <a:r>
              <a:rPr lang="pt-BR" sz="2800" dirty="0"/>
              <a:t>e testar esse código...</a:t>
            </a:r>
          </a:p>
        </p:txBody>
      </p:sp>
    </p:spTree>
    <p:extLst>
      <p:ext uri="{BB962C8B-B14F-4D97-AF65-F5344CB8AC3E}">
        <p14:creationId xmlns:p14="http://schemas.microsoft.com/office/powerpoint/2010/main" val="4041543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417F4E21-4252-34F2-584E-C691C404CC81}"/>
              </a:ext>
            </a:extLst>
          </p:cNvPr>
          <p:cNvSpPr txBox="1"/>
          <p:nvPr/>
        </p:nvSpPr>
        <p:spPr>
          <a:xfrm>
            <a:off x="8989477" y="839021"/>
            <a:ext cx="4410325" cy="2189315"/>
          </a:xfrm>
          <a:prstGeom prst="rect">
            <a:avLst/>
          </a:prstGeom>
        </p:spPr>
        <p:txBody>
          <a:bodyPr vert="horz" lIns="91440" tIns="45720" rIns="91440" bIns="45720" rtlCol="0" anchor="t">
            <a:normAutofit/>
          </a:bodyPr>
          <a:lstStyle/>
          <a:p>
            <a:pPr algn="ctr">
              <a:spcBef>
                <a:spcPct val="0"/>
              </a:spcBef>
              <a:spcAft>
                <a:spcPts val="600"/>
              </a:spcAft>
            </a:pPr>
            <a:r>
              <a:rPr lang="en-US" sz="4200" dirty="0" err="1">
                <a:solidFill>
                  <a:schemeClr val="tx2"/>
                </a:solidFill>
                <a:latin typeface="+mj-lt"/>
                <a:ea typeface="+mj-ea"/>
                <a:cs typeface="+mj-cs"/>
              </a:rPr>
              <a:t>Variáveis</a:t>
            </a:r>
            <a:r>
              <a:rPr lang="en-US" sz="4200" dirty="0">
                <a:solidFill>
                  <a:schemeClr val="tx2"/>
                </a:solidFill>
                <a:latin typeface="+mj-lt"/>
                <a:ea typeface="+mj-ea"/>
                <a:cs typeface="+mj-cs"/>
              </a:rPr>
              <a:t> </a:t>
            </a:r>
            <a:r>
              <a:rPr lang="en-US" sz="4200" dirty="0" err="1">
                <a:solidFill>
                  <a:schemeClr val="tx2"/>
                </a:solidFill>
                <a:latin typeface="+mj-lt"/>
                <a:ea typeface="+mj-ea"/>
                <a:cs typeface="+mj-cs"/>
              </a:rPr>
              <a:t>em</a:t>
            </a:r>
            <a:r>
              <a:rPr lang="en-US" sz="4200" dirty="0">
                <a:solidFill>
                  <a:schemeClr val="tx2"/>
                </a:solidFill>
                <a:latin typeface="+mj-lt"/>
                <a:ea typeface="+mj-ea"/>
                <a:cs typeface="+mj-cs"/>
              </a:rPr>
              <a:t> Python</a:t>
            </a:r>
          </a:p>
        </p:txBody>
      </p:sp>
      <p:pic>
        <p:nvPicPr>
          <p:cNvPr id="9" name="Imagem 8">
            <a:extLst>
              <a:ext uri="{FF2B5EF4-FFF2-40B4-BE49-F238E27FC236}">
                <a16:creationId xmlns:a16="http://schemas.microsoft.com/office/drawing/2014/main" id="{6A4C304C-27D4-B45D-E6DC-5C7C909E5C49}"/>
              </a:ext>
            </a:extLst>
          </p:cNvPr>
          <p:cNvPicPr>
            <a:picLocks noChangeAspect="1"/>
          </p:cNvPicPr>
          <p:nvPr/>
        </p:nvPicPr>
        <p:blipFill>
          <a:blip r:embed="rId7"/>
          <a:srcRect r="12244" b="-1"/>
          <a:stretch>
            <a:fillRect/>
          </a:stretch>
        </p:blipFill>
        <p:spPr>
          <a:xfrm>
            <a:off x="-2" y="10"/>
            <a:ext cx="8125875" cy="9143990"/>
          </a:xfrm>
          <a:prstGeom prst="rect">
            <a:avLst/>
          </a:prstGeom>
        </p:spPr>
      </p:pic>
      <p:sp>
        <p:nvSpPr>
          <p:cNvPr id="5" name="CaixaDeTexto 4">
            <a:extLst>
              <a:ext uri="{FF2B5EF4-FFF2-40B4-BE49-F238E27FC236}">
                <a16:creationId xmlns:a16="http://schemas.microsoft.com/office/drawing/2014/main" id="{C355376F-32E5-A0D6-B7AA-86FB6B51C6B6}"/>
              </a:ext>
            </a:extLst>
          </p:cNvPr>
          <p:cNvSpPr txBox="1"/>
          <p:nvPr/>
        </p:nvSpPr>
        <p:spPr>
          <a:xfrm>
            <a:off x="8403193" y="2621263"/>
            <a:ext cx="7467600" cy="5079998"/>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sz="2000" b="1" dirty="0">
                <a:latin typeface="+mj-lt"/>
                <a:ea typeface="+mj-ea"/>
                <a:cs typeface="+mj-cs"/>
              </a:rPr>
              <a:t>O </a:t>
            </a:r>
            <a:r>
              <a:rPr lang="en-US" sz="2000" b="1" dirty="0" err="1">
                <a:latin typeface="+mj-lt"/>
                <a:ea typeface="+mj-ea"/>
                <a:cs typeface="+mj-cs"/>
              </a:rPr>
              <a:t>que</a:t>
            </a:r>
            <a:r>
              <a:rPr lang="en-US" sz="2000" b="1" dirty="0">
                <a:latin typeface="+mj-lt"/>
                <a:ea typeface="+mj-ea"/>
                <a:cs typeface="+mj-cs"/>
              </a:rPr>
              <a:t> </a:t>
            </a:r>
            <a:r>
              <a:rPr lang="en-US" sz="2000" b="1" dirty="0" err="1">
                <a:latin typeface="+mj-lt"/>
                <a:ea typeface="+mj-ea"/>
                <a:cs typeface="+mj-cs"/>
              </a:rPr>
              <a:t>são</a:t>
            </a:r>
            <a:r>
              <a:rPr lang="en-US" sz="2000" b="1" dirty="0">
                <a:latin typeface="+mj-lt"/>
                <a:ea typeface="+mj-ea"/>
                <a:cs typeface="+mj-cs"/>
              </a:rPr>
              <a:t> </a:t>
            </a:r>
            <a:r>
              <a:rPr lang="en-US" sz="2000" b="1" dirty="0" err="1">
                <a:latin typeface="+mj-lt"/>
                <a:ea typeface="+mj-ea"/>
                <a:cs typeface="+mj-cs"/>
              </a:rPr>
              <a:t>Variáveis</a:t>
            </a:r>
            <a:r>
              <a:rPr lang="en-US" sz="2000" b="1" dirty="0">
                <a:latin typeface="+mj-lt"/>
                <a:ea typeface="+mj-ea"/>
                <a:cs typeface="+mj-cs"/>
              </a:rPr>
              <a:t>?</a:t>
            </a:r>
          </a:p>
          <a:p>
            <a:pPr>
              <a:spcBef>
                <a:spcPts val="1000"/>
              </a:spcBef>
              <a:buClr>
                <a:schemeClr val="bg2">
                  <a:lumMod val="40000"/>
                  <a:lumOff val="60000"/>
                </a:schemeClr>
              </a:buClr>
              <a:buSzPct val="80000"/>
            </a:pPr>
            <a:endParaRPr lang="en-US" b="1" dirty="0">
              <a:solidFill>
                <a:srgbClr val="FFC000"/>
              </a:solidFill>
              <a:latin typeface="+mj-lt"/>
              <a:ea typeface="+mj-ea"/>
              <a:cs typeface="+mj-cs"/>
            </a:endParaRP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São </a:t>
            </a:r>
            <a:r>
              <a:rPr lang="en-US" b="1" dirty="0" err="1">
                <a:solidFill>
                  <a:srgbClr val="FFC000"/>
                </a:solidFill>
                <a:latin typeface="+mj-lt"/>
                <a:ea typeface="+mj-ea"/>
                <a:cs typeface="+mj-cs"/>
              </a:rPr>
              <a:t>espaços</a:t>
            </a:r>
            <a:r>
              <a:rPr lang="en-US" b="1" dirty="0">
                <a:solidFill>
                  <a:srgbClr val="FFC000"/>
                </a:solidFill>
                <a:latin typeface="+mj-lt"/>
                <a:ea typeface="+mj-ea"/>
                <a:cs typeface="+mj-cs"/>
              </a:rPr>
              <a:t> </a:t>
            </a:r>
            <a:r>
              <a:rPr lang="en-US" b="1" dirty="0" err="1">
                <a:solidFill>
                  <a:srgbClr val="FFC000"/>
                </a:solidFill>
                <a:latin typeface="+mj-lt"/>
                <a:ea typeface="+mj-ea"/>
                <a:cs typeface="+mj-cs"/>
              </a:rPr>
              <a:t>na</a:t>
            </a:r>
            <a:r>
              <a:rPr lang="en-US" b="1" dirty="0">
                <a:solidFill>
                  <a:srgbClr val="FFC000"/>
                </a:solidFill>
                <a:latin typeface="+mj-lt"/>
                <a:ea typeface="+mj-ea"/>
                <a:cs typeface="+mj-cs"/>
              </a:rPr>
              <a:t> </a:t>
            </a:r>
            <a:r>
              <a:rPr lang="en-US" b="1" dirty="0" err="1">
                <a:solidFill>
                  <a:srgbClr val="FFC000"/>
                </a:solidFill>
                <a:latin typeface="+mj-lt"/>
                <a:ea typeface="+mj-ea"/>
                <a:cs typeface="+mj-cs"/>
              </a:rPr>
              <a:t>memória</a:t>
            </a:r>
            <a:r>
              <a:rPr lang="en-US" b="1" dirty="0">
                <a:solidFill>
                  <a:srgbClr val="FFC000"/>
                </a:solidFill>
                <a:latin typeface="+mj-lt"/>
                <a:ea typeface="+mj-ea"/>
                <a:cs typeface="+mj-cs"/>
              </a:rPr>
              <a:t> do </a:t>
            </a:r>
            <a:r>
              <a:rPr lang="en-US" b="1" dirty="0" err="1">
                <a:solidFill>
                  <a:srgbClr val="FFC000"/>
                </a:solidFill>
                <a:latin typeface="+mj-lt"/>
                <a:ea typeface="+mj-ea"/>
                <a:cs typeface="+mj-cs"/>
              </a:rPr>
              <a:t>computador</a:t>
            </a:r>
            <a:r>
              <a:rPr lang="en-US" b="1" dirty="0">
                <a:solidFill>
                  <a:srgbClr val="FFC000"/>
                </a:solidFill>
                <a:latin typeface="+mj-lt"/>
                <a:ea typeface="+mj-ea"/>
                <a:cs typeface="+mj-cs"/>
              </a:rPr>
              <a:t>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Usadas para </a:t>
            </a:r>
            <a:r>
              <a:rPr lang="en-US" b="1" dirty="0" err="1">
                <a:solidFill>
                  <a:srgbClr val="FFC000"/>
                </a:solidFill>
                <a:latin typeface="+mj-lt"/>
                <a:ea typeface="+mj-ea"/>
                <a:cs typeface="+mj-cs"/>
              </a:rPr>
              <a:t>armazenar</a:t>
            </a:r>
            <a:r>
              <a:rPr lang="en-US" b="1" dirty="0">
                <a:solidFill>
                  <a:srgbClr val="FFC000"/>
                </a:solidFill>
                <a:latin typeface="+mj-lt"/>
                <a:ea typeface="+mj-ea"/>
                <a:cs typeface="+mj-cs"/>
              </a:rPr>
              <a:t> dados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err="1">
                <a:solidFill>
                  <a:srgbClr val="FFC000"/>
                </a:solidFill>
                <a:latin typeface="+mj-lt"/>
                <a:ea typeface="+mj-ea"/>
                <a:cs typeface="+mj-cs"/>
              </a:rPr>
              <a:t>Podem</a:t>
            </a:r>
            <a:r>
              <a:rPr lang="en-US" b="1" dirty="0">
                <a:solidFill>
                  <a:srgbClr val="FFC000"/>
                </a:solidFill>
                <a:latin typeface="+mj-lt"/>
                <a:ea typeface="+mj-ea"/>
                <a:cs typeface="+mj-cs"/>
              </a:rPr>
              <a:t> mudar </a:t>
            </a:r>
            <a:r>
              <a:rPr lang="en-US" b="1" dirty="0" err="1">
                <a:solidFill>
                  <a:srgbClr val="FFC000"/>
                </a:solidFill>
                <a:latin typeface="+mj-lt"/>
                <a:ea typeface="+mj-ea"/>
                <a:cs typeface="+mj-cs"/>
              </a:rPr>
              <a:t>durante</a:t>
            </a:r>
            <a:r>
              <a:rPr lang="en-US" b="1" dirty="0">
                <a:solidFill>
                  <a:srgbClr val="FFC000"/>
                </a:solidFill>
                <a:latin typeface="+mj-lt"/>
                <a:ea typeface="+mj-ea"/>
                <a:cs typeface="+mj-cs"/>
              </a:rPr>
              <a:t> a </a:t>
            </a:r>
            <a:r>
              <a:rPr lang="en-US" b="1" dirty="0" err="1">
                <a:solidFill>
                  <a:srgbClr val="FFC000"/>
                </a:solidFill>
                <a:latin typeface="+mj-lt"/>
                <a:ea typeface="+mj-ea"/>
                <a:cs typeface="+mj-cs"/>
              </a:rPr>
              <a:t>execução</a:t>
            </a:r>
            <a:r>
              <a:rPr lang="en-US" b="1" dirty="0">
                <a:solidFill>
                  <a:srgbClr val="FFC000"/>
                </a:solidFill>
                <a:latin typeface="+mj-lt"/>
                <a:ea typeface="+mj-ea"/>
                <a:cs typeface="+mj-cs"/>
              </a:rPr>
              <a:t> do </a:t>
            </a:r>
            <a:r>
              <a:rPr lang="en-US" b="1" dirty="0" err="1">
                <a:solidFill>
                  <a:srgbClr val="FFC000"/>
                </a:solidFill>
                <a:latin typeface="+mj-lt"/>
                <a:ea typeface="+mj-ea"/>
                <a:cs typeface="+mj-cs"/>
              </a:rPr>
              <a:t>programa</a:t>
            </a:r>
            <a:r>
              <a:rPr lang="en-US" b="1" dirty="0">
                <a:solidFill>
                  <a:srgbClr val="FFC000"/>
                </a:solidFill>
                <a:latin typeface="+mj-lt"/>
                <a:ea typeface="+mj-ea"/>
                <a:cs typeface="+mj-cs"/>
              </a:rPr>
              <a:t> </a:t>
            </a:r>
          </a:p>
          <a:p>
            <a:pPr marL="285750" indent="-285750">
              <a:spcBef>
                <a:spcPts val="1000"/>
              </a:spcBef>
              <a:buClr>
                <a:schemeClr val="bg2">
                  <a:lumMod val="40000"/>
                  <a:lumOff val="60000"/>
                </a:schemeClr>
              </a:buClr>
              <a:buSzPct val="80000"/>
              <a:buFont typeface="Arial" panose="020B0604020202020204" pitchFamily="34" charset="0"/>
              <a:buChar char="•"/>
            </a:pPr>
            <a:r>
              <a:rPr lang="en-US" b="1" dirty="0">
                <a:solidFill>
                  <a:srgbClr val="FFC000"/>
                </a:solidFill>
                <a:latin typeface="+mj-lt"/>
                <a:ea typeface="+mj-ea"/>
                <a:cs typeface="+mj-cs"/>
              </a:rPr>
              <a:t>Cada </a:t>
            </a:r>
            <a:r>
              <a:rPr lang="en-US" b="1" dirty="0" err="1">
                <a:solidFill>
                  <a:srgbClr val="FFC000"/>
                </a:solidFill>
                <a:latin typeface="+mj-lt"/>
                <a:ea typeface="+mj-ea"/>
                <a:cs typeface="+mj-cs"/>
              </a:rPr>
              <a:t>variável</a:t>
            </a:r>
            <a:r>
              <a:rPr lang="en-US" b="1" dirty="0">
                <a:solidFill>
                  <a:srgbClr val="FFC000"/>
                </a:solidFill>
                <a:latin typeface="+mj-lt"/>
                <a:ea typeface="+mj-ea"/>
                <a:cs typeface="+mj-cs"/>
              </a:rPr>
              <a:t> </a:t>
            </a:r>
            <a:r>
              <a:rPr lang="en-US" b="1" dirty="0" err="1">
                <a:solidFill>
                  <a:srgbClr val="FFC000"/>
                </a:solidFill>
                <a:latin typeface="+mj-lt"/>
                <a:ea typeface="+mj-ea"/>
                <a:cs typeface="+mj-cs"/>
              </a:rPr>
              <a:t>possui</a:t>
            </a:r>
            <a:r>
              <a:rPr lang="en-US" b="1" dirty="0">
                <a:solidFill>
                  <a:srgbClr val="FFC000"/>
                </a:solidFill>
                <a:latin typeface="+mj-lt"/>
                <a:ea typeface="+mj-ea"/>
                <a:cs typeface="+mj-cs"/>
              </a:rPr>
              <a:t> um </a:t>
            </a:r>
            <a:r>
              <a:rPr lang="en-US" b="1" dirty="0" err="1">
                <a:solidFill>
                  <a:srgbClr val="FFC000"/>
                </a:solidFill>
                <a:latin typeface="+mj-lt"/>
                <a:ea typeface="+mj-ea"/>
                <a:cs typeface="+mj-cs"/>
              </a:rPr>
              <a:t>nome</a:t>
            </a:r>
            <a:endParaRPr lang="pt-BR" altLang="pt-BR" dirty="0">
              <a:solidFill>
                <a:srgbClr val="FFC000"/>
              </a:solidFill>
              <a:latin typeface="Arial" panose="020B0604020202020204" pitchFamily="34" charset="0"/>
            </a:endParaRPr>
          </a:p>
          <a:p>
            <a:pPr marL="285750" lvl="0" indent="-285750" fontAlgn="base">
              <a:spcBef>
                <a:spcPts val="1000"/>
              </a:spcBef>
              <a:spcAft>
                <a:spcPct val="0"/>
              </a:spcAft>
              <a:buClr>
                <a:schemeClr val="bg2">
                  <a:lumMod val="40000"/>
                  <a:lumOff val="60000"/>
                </a:schemeClr>
              </a:buClr>
              <a:buSzPct val="80000"/>
              <a:buFont typeface="Arial" panose="020B0604020202020204" pitchFamily="34" charset="0"/>
              <a:buChar char="•"/>
            </a:pPr>
            <a:r>
              <a:rPr lang="pt-BR" altLang="pt-BR" b="1" dirty="0">
                <a:solidFill>
                  <a:srgbClr val="FFC000"/>
                </a:solidFill>
                <a:latin typeface="+mj-lt"/>
                <a:ea typeface="+mj-ea"/>
                <a:cs typeface="+mj-cs"/>
              </a:rPr>
              <a:t>Python é dinamicamente </a:t>
            </a:r>
            <a:r>
              <a:rPr lang="pt-BR" altLang="pt-BR" b="1" dirty="0" err="1">
                <a:solidFill>
                  <a:srgbClr val="FFC000"/>
                </a:solidFill>
                <a:latin typeface="+mj-lt"/>
                <a:ea typeface="+mj-ea"/>
                <a:cs typeface="+mj-cs"/>
              </a:rPr>
              <a:t>tipado</a:t>
            </a:r>
            <a:r>
              <a:rPr lang="pt-BR" altLang="pt-BR" b="1" dirty="0">
                <a:solidFill>
                  <a:srgbClr val="FFC000"/>
                </a:solidFill>
                <a:latin typeface="+mj-lt"/>
                <a:ea typeface="+mj-ea"/>
                <a:cs typeface="+mj-cs"/>
              </a:rPr>
              <a:t> (não precisa declarar tipo)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sp>
        <p:nvSpPr>
          <p:cNvPr id="17" name="CaixaDeTexto 16">
            <a:extLst>
              <a:ext uri="{FF2B5EF4-FFF2-40B4-BE49-F238E27FC236}">
                <a16:creationId xmlns:a16="http://schemas.microsoft.com/office/drawing/2014/main" id="{E5743203-850E-1B3D-4FAE-FE81EEBAEDFE}"/>
              </a:ext>
            </a:extLst>
          </p:cNvPr>
          <p:cNvSpPr txBox="1"/>
          <p:nvPr/>
        </p:nvSpPr>
        <p:spPr>
          <a:xfrm>
            <a:off x="8408273" y="6049903"/>
            <a:ext cx="8125968" cy="2369880"/>
          </a:xfrm>
          <a:prstGeom prst="rect">
            <a:avLst/>
          </a:prstGeom>
          <a:noFill/>
        </p:spPr>
        <p:txBody>
          <a:bodyPr wrap="square">
            <a:spAutoFit/>
          </a:bodyPr>
          <a:lstStyle/>
          <a:p>
            <a:pPr>
              <a:buNone/>
            </a:pPr>
            <a:r>
              <a:rPr lang="pt-BR" sz="2000" b="1" dirty="0"/>
              <a:t>Regras de nomenclatura (nomes de variáveis)</a:t>
            </a:r>
          </a:p>
          <a:p>
            <a:pPr>
              <a:buNone/>
            </a:pPr>
            <a:endParaRPr lang="pt-BR" sz="2000" b="1" dirty="0"/>
          </a:p>
          <a:p>
            <a:pPr>
              <a:buNone/>
            </a:pPr>
            <a:r>
              <a:rPr lang="pt-BR" dirty="0"/>
              <a:t>✔ Devem começar com letra ou </a:t>
            </a:r>
            <a:r>
              <a:rPr lang="pt-BR" dirty="0">
                <a:latin typeface="Courier New" panose="02070309020205020404" pitchFamily="49" charset="0"/>
              </a:rPr>
              <a:t>_</a:t>
            </a:r>
            <a:br>
              <a:rPr lang="pt-BR" dirty="0"/>
            </a:br>
            <a:r>
              <a:rPr lang="pt-BR" dirty="0"/>
              <a:t>✔ Não podem começar com números</a:t>
            </a:r>
            <a:br>
              <a:rPr lang="pt-BR" dirty="0"/>
            </a:br>
            <a:r>
              <a:rPr lang="pt-BR" dirty="0"/>
              <a:t>✔ Não podem conter espaços</a:t>
            </a:r>
            <a:br>
              <a:rPr lang="pt-BR" dirty="0"/>
            </a:br>
            <a:r>
              <a:rPr lang="pt-BR" dirty="0"/>
              <a:t>✔ Não podem usar caracteres especiais (@, !, %, etc.)</a:t>
            </a:r>
            <a:br>
              <a:rPr lang="pt-BR" dirty="0"/>
            </a:br>
            <a:r>
              <a:rPr lang="pt-BR" dirty="0"/>
              <a:t>✔ Python diferencia maiúsculas e minúsculas</a:t>
            </a:r>
            <a:br>
              <a:rPr lang="pt-BR" dirty="0"/>
            </a:br>
            <a:r>
              <a:rPr lang="pt-BR" dirty="0"/>
              <a:t>✔ Não podem ser palavras reservadas (</a:t>
            </a:r>
            <a:r>
              <a:rPr lang="pt-BR" dirty="0" err="1"/>
              <a:t>ex</a:t>
            </a:r>
            <a:r>
              <a:rPr lang="pt-BR" dirty="0"/>
              <a:t>: </a:t>
            </a:r>
            <a:r>
              <a:rPr lang="pt-BR" dirty="0" err="1"/>
              <a:t>if</a:t>
            </a:r>
            <a:r>
              <a:rPr lang="pt-BR" dirty="0"/>
              <a:t>, </a:t>
            </a:r>
            <a:r>
              <a:rPr lang="pt-BR" dirty="0" err="1"/>
              <a:t>while</a:t>
            </a:r>
            <a:r>
              <a:rPr lang="pt-BR" dirty="0"/>
              <a:t>, print)</a:t>
            </a:r>
          </a:p>
        </p:txBody>
      </p:sp>
    </p:spTree>
    <p:extLst>
      <p:ext uri="{BB962C8B-B14F-4D97-AF65-F5344CB8AC3E}">
        <p14:creationId xmlns:p14="http://schemas.microsoft.com/office/powerpoint/2010/main" val="891947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a:extLst>
              <a:ext uri="{FF2B5EF4-FFF2-40B4-BE49-F238E27FC236}">
                <a16:creationId xmlns:a16="http://schemas.microsoft.com/office/drawing/2014/main" id="{5088EA60-2B23-BA9D-78A2-6486B684B1DC}"/>
              </a:ext>
            </a:extLst>
          </p:cNvPr>
          <p:cNvSpPr txBox="1"/>
          <p:nvPr/>
        </p:nvSpPr>
        <p:spPr>
          <a:xfrm>
            <a:off x="508000" y="1066800"/>
            <a:ext cx="8128000" cy="738664"/>
          </a:xfrm>
          <a:prstGeom prst="rect">
            <a:avLst/>
          </a:prstGeom>
          <a:noFill/>
        </p:spPr>
        <p:txBody>
          <a:bodyPr wrap="square">
            <a:spAutoFit/>
          </a:bodyPr>
          <a:lstStyle/>
          <a:p>
            <a:r>
              <a:rPr lang="pt-BR" sz="4200" dirty="0">
                <a:solidFill>
                  <a:schemeClr val="tx2"/>
                </a:solidFill>
                <a:latin typeface="+mj-lt"/>
                <a:ea typeface="+mj-ea"/>
                <a:cs typeface="+mj-cs"/>
              </a:rPr>
              <a:t>Tipos de Dados em Python</a:t>
            </a:r>
          </a:p>
        </p:txBody>
      </p:sp>
      <p:sp>
        <p:nvSpPr>
          <p:cNvPr id="6" name="CaixaDeTexto 5">
            <a:extLst>
              <a:ext uri="{FF2B5EF4-FFF2-40B4-BE49-F238E27FC236}">
                <a16:creationId xmlns:a16="http://schemas.microsoft.com/office/drawing/2014/main" id="{5E24FBE1-1C08-FFC5-5F8B-BDB3DB41CA5E}"/>
              </a:ext>
            </a:extLst>
          </p:cNvPr>
          <p:cNvSpPr txBox="1"/>
          <p:nvPr/>
        </p:nvSpPr>
        <p:spPr>
          <a:xfrm>
            <a:off x="510032" y="2208091"/>
            <a:ext cx="11351768" cy="2246769"/>
          </a:xfrm>
          <a:prstGeom prst="rect">
            <a:avLst/>
          </a:prstGeom>
          <a:noFill/>
        </p:spPr>
        <p:txBody>
          <a:bodyPr wrap="square">
            <a:spAutoFit/>
          </a:bodyPr>
          <a:lstStyle/>
          <a:p>
            <a:pPr>
              <a:buNone/>
            </a:pPr>
            <a:r>
              <a:rPr lang="pt-BR" sz="2000" b="1" dirty="0"/>
              <a:t>Tipos Numéricos</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int</a:t>
            </a:r>
            <a:r>
              <a:rPr lang="pt-BR" sz="2000" b="1" dirty="0"/>
              <a:t> → números inteiros (</a:t>
            </a:r>
            <a:r>
              <a:rPr lang="pt-BR" sz="2000" b="1" dirty="0" err="1">
                <a:solidFill>
                  <a:srgbClr val="FFC000"/>
                </a:solidFill>
              </a:rPr>
              <a:t>ex</a:t>
            </a:r>
            <a:r>
              <a:rPr lang="pt-BR" sz="2000" b="1" dirty="0">
                <a:solidFill>
                  <a:srgbClr val="FFC000"/>
                </a:solidFill>
              </a:rPr>
              <a:t>: 10, -5</a:t>
            </a:r>
            <a:r>
              <a:rPr lang="pt-BR" sz="2000" b="1" dirty="0"/>
              <a:t>) - </a:t>
            </a:r>
            <a:r>
              <a:rPr lang="pt-BR" sz="2000" dirty="0"/>
              <a:t>Não tem limite fixo definido</a:t>
            </a:r>
            <a:endParaRPr lang="pt-BR" sz="2000" b="1" dirty="0"/>
          </a:p>
          <a:p>
            <a:pPr>
              <a:buFont typeface="Arial" panose="020B0604020202020204" pitchFamily="34" charset="0"/>
              <a:buChar char="•"/>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float</a:t>
            </a:r>
            <a:r>
              <a:rPr lang="pt-BR" sz="2000" b="1" dirty="0"/>
              <a:t> → números decimais (</a:t>
            </a:r>
            <a:r>
              <a:rPr lang="pt-BR" sz="2000" b="1" dirty="0" err="1">
                <a:solidFill>
                  <a:srgbClr val="FFC000"/>
                </a:solidFill>
              </a:rPr>
              <a:t>ex</a:t>
            </a:r>
            <a:r>
              <a:rPr lang="pt-BR" sz="2000" b="1" dirty="0">
                <a:solidFill>
                  <a:srgbClr val="FFC000"/>
                </a:solidFill>
              </a:rPr>
              <a:t>: 3.14</a:t>
            </a:r>
            <a:r>
              <a:rPr lang="pt-BR" sz="2000" b="1" dirty="0"/>
              <a:t>) - </a:t>
            </a:r>
            <a:r>
              <a:rPr lang="pt-BR" sz="2000" dirty="0"/>
              <a:t>Precisão: cerca de </a:t>
            </a:r>
            <a:r>
              <a:rPr lang="pt-BR" sz="2000" b="1" dirty="0"/>
              <a:t>15 a 17 dígitos</a:t>
            </a:r>
          </a:p>
          <a:p>
            <a:pPr>
              <a:buFont typeface="Arial" panose="020B0604020202020204" pitchFamily="34" charset="0"/>
              <a:buChar char="•"/>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complex</a:t>
            </a:r>
            <a:r>
              <a:rPr lang="pt-BR" sz="2000" b="1" dirty="0"/>
              <a:t> → números complexos (</a:t>
            </a:r>
            <a:r>
              <a:rPr lang="pt-BR" sz="2000" b="1" dirty="0" err="1">
                <a:solidFill>
                  <a:srgbClr val="FFC000"/>
                </a:solidFill>
              </a:rPr>
              <a:t>ex</a:t>
            </a:r>
            <a:r>
              <a:rPr lang="pt-BR" sz="2000" b="1" dirty="0">
                <a:solidFill>
                  <a:srgbClr val="FFC000"/>
                </a:solidFill>
              </a:rPr>
              <a:t>: 2 + 3j</a:t>
            </a:r>
            <a:r>
              <a:rPr lang="pt-BR" sz="2000" b="1" dirty="0"/>
              <a:t>) </a:t>
            </a:r>
          </a:p>
        </p:txBody>
      </p:sp>
      <p:sp>
        <p:nvSpPr>
          <p:cNvPr id="12" name="CaixaDeTexto 11">
            <a:extLst>
              <a:ext uri="{FF2B5EF4-FFF2-40B4-BE49-F238E27FC236}">
                <a16:creationId xmlns:a16="http://schemas.microsoft.com/office/drawing/2014/main" id="{D120FAFF-0020-2BCF-F427-D0590D7A6D16}"/>
              </a:ext>
            </a:extLst>
          </p:cNvPr>
          <p:cNvSpPr txBox="1"/>
          <p:nvPr/>
        </p:nvSpPr>
        <p:spPr>
          <a:xfrm>
            <a:off x="7975600" y="5968663"/>
            <a:ext cx="8125968" cy="2554545"/>
          </a:xfrm>
          <a:prstGeom prst="rect">
            <a:avLst/>
          </a:prstGeom>
          <a:noFill/>
        </p:spPr>
        <p:txBody>
          <a:bodyPr wrap="square">
            <a:spAutoFit/>
          </a:bodyPr>
          <a:lstStyle/>
          <a:p>
            <a:pPr>
              <a:buNone/>
            </a:pPr>
            <a:r>
              <a:rPr lang="pt-BR" sz="2000" b="1" dirty="0"/>
              <a:t>Quando usar </a:t>
            </a:r>
            <a:r>
              <a:rPr lang="pt-BR" sz="2000" b="1" dirty="0" err="1">
                <a:solidFill>
                  <a:srgbClr val="FFC000"/>
                </a:solidFill>
                <a:latin typeface="Courier New" panose="02070309020205020404" pitchFamily="49" charset="0"/>
              </a:rPr>
              <a:t>complex</a:t>
            </a:r>
            <a:r>
              <a:rPr lang="pt-BR" sz="2000" b="1" dirty="0"/>
              <a:t>?</a:t>
            </a:r>
          </a:p>
          <a:p>
            <a:pPr>
              <a:buNone/>
            </a:pPr>
            <a:r>
              <a:rPr lang="pt-BR" sz="2000" b="1" dirty="0"/>
              <a:t>Você usa números complexos quando trabalha com cálculos mais avançados, como:</a:t>
            </a:r>
          </a:p>
          <a:p>
            <a:pPr>
              <a:buNone/>
            </a:pPr>
            <a:endParaRPr lang="pt-BR" sz="2000" b="1" dirty="0"/>
          </a:p>
          <a:p>
            <a:pPr>
              <a:buFont typeface="Arial" panose="020B0604020202020204" pitchFamily="34" charset="0"/>
              <a:buChar char="•"/>
            </a:pPr>
            <a:r>
              <a:rPr lang="pt-BR" sz="2000" b="1" dirty="0"/>
              <a:t> Engenharia elétrica </a:t>
            </a:r>
            <a:r>
              <a:rPr lang="pt-BR" sz="2000" b="1" dirty="0">
                <a:solidFill>
                  <a:srgbClr val="FFC000"/>
                </a:solidFill>
              </a:rPr>
              <a:t>(análise de circuitos) </a:t>
            </a:r>
          </a:p>
          <a:p>
            <a:pPr>
              <a:buFont typeface="Arial" panose="020B0604020202020204" pitchFamily="34" charset="0"/>
              <a:buChar char="•"/>
            </a:pPr>
            <a:r>
              <a:rPr lang="pt-BR" sz="2000" b="1" dirty="0"/>
              <a:t> Sinais e ondas </a:t>
            </a:r>
            <a:r>
              <a:rPr lang="pt-BR" sz="2000" b="1" dirty="0">
                <a:solidFill>
                  <a:srgbClr val="FFC000"/>
                </a:solidFill>
              </a:rPr>
              <a:t>(frequência) </a:t>
            </a:r>
          </a:p>
          <a:p>
            <a:pPr>
              <a:buFont typeface="Arial" panose="020B0604020202020204" pitchFamily="34" charset="0"/>
              <a:buChar char="•"/>
            </a:pPr>
            <a:r>
              <a:rPr lang="pt-BR" sz="2000" b="1" dirty="0"/>
              <a:t> Matemática avançada </a:t>
            </a:r>
          </a:p>
          <a:p>
            <a:pPr>
              <a:buFont typeface="Arial" panose="020B0604020202020204" pitchFamily="34" charset="0"/>
              <a:buChar char="•"/>
            </a:pPr>
            <a:r>
              <a:rPr lang="pt-BR" sz="2000" b="1" dirty="0"/>
              <a:t> Algumas áreas de gráficos e simulações</a:t>
            </a:r>
          </a:p>
        </p:txBody>
      </p:sp>
      <p:cxnSp>
        <p:nvCxnSpPr>
          <p:cNvPr id="14" name="Conector de Seta Reta 13">
            <a:extLst>
              <a:ext uri="{FF2B5EF4-FFF2-40B4-BE49-F238E27FC236}">
                <a16:creationId xmlns:a16="http://schemas.microsoft.com/office/drawing/2014/main" id="{6A9DDF18-C212-354C-6F07-37F9410AB671}"/>
              </a:ext>
            </a:extLst>
          </p:cNvPr>
          <p:cNvCxnSpPr>
            <a:cxnSpLocks/>
          </p:cNvCxnSpPr>
          <p:nvPr/>
        </p:nvCxnSpPr>
        <p:spPr>
          <a:xfrm>
            <a:off x="5994400" y="4330550"/>
            <a:ext cx="3962400" cy="1638113"/>
          </a:xfrm>
          <a:prstGeom prst="straightConnector1">
            <a:avLst/>
          </a:prstGeom>
          <a:ln>
            <a:solidFill>
              <a:srgbClr val="FFC000"/>
            </a:solidFill>
            <a:tailEnd type="triangle"/>
          </a:ln>
          <a:effectLst>
            <a:outerShdw blurRad="50800" dist="38100" dir="13500000" algn="b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19" name="Imagem 18">
            <a:extLst>
              <a:ext uri="{FF2B5EF4-FFF2-40B4-BE49-F238E27FC236}">
                <a16:creationId xmlns:a16="http://schemas.microsoft.com/office/drawing/2014/main" id="{0D111549-EE8E-DD43-4629-D9E5BD843B31}"/>
              </a:ext>
            </a:extLst>
          </p:cNvPr>
          <p:cNvPicPr>
            <a:picLocks noChangeAspect="1"/>
          </p:cNvPicPr>
          <p:nvPr/>
        </p:nvPicPr>
        <p:blipFill>
          <a:blip r:embed="rId2"/>
          <a:stretch>
            <a:fillRect/>
          </a:stretch>
        </p:blipFill>
        <p:spPr>
          <a:xfrm>
            <a:off x="588026" y="5486400"/>
            <a:ext cx="6560870" cy="2819400"/>
          </a:xfrm>
          <a:prstGeom prst="rect">
            <a:avLst/>
          </a:prstGeom>
        </p:spPr>
      </p:pic>
    </p:spTree>
    <p:extLst>
      <p:ext uri="{BB962C8B-B14F-4D97-AF65-F5344CB8AC3E}">
        <p14:creationId xmlns:p14="http://schemas.microsoft.com/office/powerpoint/2010/main" val="2500183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92D91-E2B8-102B-F1EC-09F16B9FD016}"/>
            </a:ext>
          </a:extLst>
        </p:cNvPr>
        <p:cNvGrpSpPr/>
        <p:nvPr/>
      </p:nvGrpSpPr>
      <p:grpSpPr>
        <a:xfrm>
          <a:off x="0" y="0"/>
          <a:ext cx="0" cy="0"/>
          <a:chOff x="0" y="0"/>
          <a:chExt cx="0" cy="0"/>
        </a:xfrm>
      </p:grpSpPr>
      <p:sp>
        <p:nvSpPr>
          <p:cNvPr id="4" name="CaixaDeTexto 3">
            <a:extLst>
              <a:ext uri="{FF2B5EF4-FFF2-40B4-BE49-F238E27FC236}">
                <a16:creationId xmlns:a16="http://schemas.microsoft.com/office/drawing/2014/main" id="{89BB3624-03BE-2A41-623A-169FCE95F548}"/>
              </a:ext>
            </a:extLst>
          </p:cNvPr>
          <p:cNvSpPr txBox="1"/>
          <p:nvPr/>
        </p:nvSpPr>
        <p:spPr>
          <a:xfrm>
            <a:off x="508000" y="1066800"/>
            <a:ext cx="8128000" cy="738664"/>
          </a:xfrm>
          <a:prstGeom prst="rect">
            <a:avLst/>
          </a:prstGeom>
          <a:noFill/>
        </p:spPr>
        <p:txBody>
          <a:bodyPr wrap="square">
            <a:spAutoFit/>
          </a:bodyPr>
          <a:lstStyle/>
          <a:p>
            <a:r>
              <a:rPr lang="pt-BR" sz="4200" dirty="0">
                <a:solidFill>
                  <a:schemeClr val="tx2"/>
                </a:solidFill>
                <a:latin typeface="+mj-lt"/>
                <a:ea typeface="+mj-ea"/>
                <a:cs typeface="+mj-cs"/>
              </a:rPr>
              <a:t>Tipos de Dados em Python</a:t>
            </a:r>
          </a:p>
        </p:txBody>
      </p:sp>
      <p:sp>
        <p:nvSpPr>
          <p:cNvPr id="8" name="CaixaDeTexto 7">
            <a:extLst>
              <a:ext uri="{FF2B5EF4-FFF2-40B4-BE49-F238E27FC236}">
                <a16:creationId xmlns:a16="http://schemas.microsoft.com/office/drawing/2014/main" id="{1B8EFAD2-E4D4-EEF9-D98D-65A99114B886}"/>
              </a:ext>
            </a:extLst>
          </p:cNvPr>
          <p:cNvSpPr txBox="1"/>
          <p:nvPr/>
        </p:nvSpPr>
        <p:spPr>
          <a:xfrm>
            <a:off x="584200" y="2667000"/>
            <a:ext cx="8125968" cy="1015663"/>
          </a:xfrm>
          <a:prstGeom prst="rect">
            <a:avLst/>
          </a:prstGeom>
          <a:noFill/>
        </p:spPr>
        <p:txBody>
          <a:bodyPr wrap="square">
            <a:spAutoFit/>
          </a:bodyPr>
          <a:lstStyle/>
          <a:p>
            <a:pPr>
              <a:buNone/>
            </a:pPr>
            <a:r>
              <a:rPr lang="pt-BR" sz="2000" b="1" dirty="0"/>
              <a:t>Tipo Texto</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str</a:t>
            </a:r>
            <a:r>
              <a:rPr lang="pt-BR" sz="2000" b="1" dirty="0"/>
              <a:t> → cadeias de caracteres </a:t>
            </a:r>
            <a:r>
              <a:rPr lang="pt-BR" sz="2000" b="1" dirty="0">
                <a:solidFill>
                  <a:srgbClr val="FFC000"/>
                </a:solidFill>
              </a:rPr>
              <a:t>(</a:t>
            </a:r>
            <a:r>
              <a:rPr lang="pt-BR" sz="2000" b="1" dirty="0" err="1">
                <a:solidFill>
                  <a:srgbClr val="FFC000"/>
                </a:solidFill>
              </a:rPr>
              <a:t>ex</a:t>
            </a:r>
            <a:r>
              <a:rPr lang="pt-BR" sz="2000" b="1" dirty="0">
                <a:solidFill>
                  <a:srgbClr val="FFC000"/>
                </a:solidFill>
              </a:rPr>
              <a:t>: "Olá")</a:t>
            </a:r>
          </a:p>
        </p:txBody>
      </p:sp>
      <p:sp>
        <p:nvSpPr>
          <p:cNvPr id="10" name="CaixaDeTexto 9">
            <a:extLst>
              <a:ext uri="{FF2B5EF4-FFF2-40B4-BE49-F238E27FC236}">
                <a16:creationId xmlns:a16="http://schemas.microsoft.com/office/drawing/2014/main" id="{1EC5AA34-2123-A2C3-D5D6-552B052DB6FC}"/>
              </a:ext>
            </a:extLst>
          </p:cNvPr>
          <p:cNvSpPr txBox="1"/>
          <p:nvPr/>
        </p:nvSpPr>
        <p:spPr>
          <a:xfrm>
            <a:off x="7508240" y="2564993"/>
            <a:ext cx="8125968" cy="1631216"/>
          </a:xfrm>
          <a:prstGeom prst="rect">
            <a:avLst/>
          </a:prstGeom>
          <a:noFill/>
        </p:spPr>
        <p:txBody>
          <a:bodyPr wrap="square">
            <a:spAutoFit/>
          </a:bodyPr>
          <a:lstStyle/>
          <a:p>
            <a:pPr>
              <a:buNone/>
            </a:pPr>
            <a:r>
              <a:rPr lang="pt-BR" sz="2000" b="1" dirty="0"/>
              <a:t>Tipo Booleano</a:t>
            </a:r>
          </a:p>
          <a:p>
            <a:pPr>
              <a:buNone/>
            </a:pPr>
            <a:endParaRPr lang="pt-BR" sz="2000" b="1" dirty="0"/>
          </a:p>
          <a:p>
            <a:pPr>
              <a:buFont typeface="Arial" panose="020B0604020202020204" pitchFamily="34" charset="0"/>
              <a:buChar char="•"/>
            </a:pPr>
            <a:r>
              <a:rPr lang="pt-BR" sz="2000" b="1" dirty="0" err="1">
                <a:solidFill>
                  <a:srgbClr val="FFC000"/>
                </a:solidFill>
                <a:latin typeface="Courier New" panose="02070309020205020404" pitchFamily="49" charset="0"/>
              </a:rPr>
              <a:t>bool</a:t>
            </a:r>
            <a:r>
              <a:rPr lang="pt-BR" sz="2000" b="1" dirty="0"/>
              <a:t> → valores lógicos </a:t>
            </a:r>
          </a:p>
          <a:p>
            <a:pPr marL="742950" lvl="1" indent="-285750">
              <a:buFont typeface="Arial" panose="020B0604020202020204" pitchFamily="34" charset="0"/>
              <a:buChar char="•"/>
            </a:pPr>
            <a:r>
              <a:rPr lang="pt-BR" sz="2000" b="1" dirty="0" err="1">
                <a:solidFill>
                  <a:srgbClr val="FFC000"/>
                </a:solidFill>
                <a:latin typeface="Courier New" panose="02070309020205020404" pitchFamily="49" charset="0"/>
              </a:rPr>
              <a:t>True</a:t>
            </a:r>
            <a:r>
              <a:rPr lang="pt-BR" sz="2000" b="1" dirty="0">
                <a:solidFill>
                  <a:srgbClr val="FFC000"/>
                </a:solidFill>
              </a:rPr>
              <a:t> </a:t>
            </a:r>
          </a:p>
          <a:p>
            <a:pPr marL="742950" lvl="1" indent="-285750">
              <a:buFont typeface="Arial" panose="020B0604020202020204" pitchFamily="34" charset="0"/>
              <a:buChar char="•"/>
            </a:pPr>
            <a:r>
              <a:rPr lang="pt-BR" sz="2000" b="1" dirty="0">
                <a:solidFill>
                  <a:srgbClr val="FFC000"/>
                </a:solidFill>
                <a:latin typeface="Courier New" panose="02070309020205020404" pitchFamily="49" charset="0"/>
              </a:rPr>
              <a:t>False</a:t>
            </a:r>
            <a:endParaRPr lang="pt-BR" sz="2000" b="1" dirty="0">
              <a:solidFill>
                <a:srgbClr val="FFC000"/>
              </a:solidFill>
            </a:endParaRPr>
          </a:p>
        </p:txBody>
      </p:sp>
      <p:pic>
        <p:nvPicPr>
          <p:cNvPr id="3" name="Imagem 2">
            <a:extLst>
              <a:ext uri="{FF2B5EF4-FFF2-40B4-BE49-F238E27FC236}">
                <a16:creationId xmlns:a16="http://schemas.microsoft.com/office/drawing/2014/main" id="{599D1B08-0667-CAA4-5CD9-04CADDCFECBA}"/>
              </a:ext>
            </a:extLst>
          </p:cNvPr>
          <p:cNvPicPr>
            <a:picLocks noChangeAspect="1"/>
          </p:cNvPicPr>
          <p:nvPr/>
        </p:nvPicPr>
        <p:blipFill>
          <a:blip r:embed="rId2"/>
          <a:stretch>
            <a:fillRect/>
          </a:stretch>
        </p:blipFill>
        <p:spPr>
          <a:xfrm>
            <a:off x="595376" y="4919162"/>
            <a:ext cx="10439400" cy="3743519"/>
          </a:xfrm>
          <a:prstGeom prst="rect">
            <a:avLst/>
          </a:prstGeom>
        </p:spPr>
      </p:pic>
    </p:spTree>
    <p:extLst>
      <p:ext uri="{BB962C8B-B14F-4D97-AF65-F5344CB8AC3E}">
        <p14:creationId xmlns:p14="http://schemas.microsoft.com/office/powerpoint/2010/main" val="2279096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D00960A-368C-8A53-977C-7E32C673C952}"/>
            </a:ext>
          </a:extLst>
        </p:cNvPr>
        <p:cNvGrpSpPr/>
        <p:nvPr/>
      </p:nvGrpSpPr>
      <p:grpSpPr>
        <a:xfrm>
          <a:off x="0" y="0"/>
          <a:ext cx="0" cy="0"/>
          <a:chOff x="0" y="0"/>
          <a:chExt cx="0" cy="0"/>
        </a:xfrm>
      </p:grpSpPr>
      <p:pic>
        <p:nvPicPr>
          <p:cNvPr id="44" name="Picture 43">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46" name="Picture 45">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48" name="Oval 47">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0" name="Picture 49">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52" name="Picture 51">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54" name="Rectangle 53">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6" name="Rectangle 55">
            <a:extLst>
              <a:ext uri="{FF2B5EF4-FFF2-40B4-BE49-F238E27FC236}">
                <a16:creationId xmlns:a16="http://schemas.microsoft.com/office/drawing/2014/main" id="{C0B13FF8-2B3C-4BC1-B3E4-254B3F8C3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5FB78228-B47D-6050-C552-B52FC70D8312}"/>
              </a:ext>
            </a:extLst>
          </p:cNvPr>
          <p:cNvSpPr txBox="1"/>
          <p:nvPr/>
        </p:nvSpPr>
        <p:spPr>
          <a:xfrm>
            <a:off x="846964" y="839021"/>
            <a:ext cx="4155586" cy="7459405"/>
          </a:xfrm>
          <a:prstGeom prst="rect">
            <a:avLst/>
          </a:prstGeom>
        </p:spPr>
        <p:txBody>
          <a:bodyPr vert="horz" lIns="91440" tIns="45720" rIns="91440" bIns="45720" rtlCol="0" anchor="ctr">
            <a:normAutofit/>
          </a:bodyPr>
          <a:lstStyle/>
          <a:p>
            <a:pPr>
              <a:spcBef>
                <a:spcPct val="0"/>
              </a:spcBef>
              <a:spcAft>
                <a:spcPts val="600"/>
              </a:spcAft>
            </a:pPr>
            <a:r>
              <a:rPr lang="en-US" sz="6400" b="0" i="0" kern="1200" dirty="0" err="1">
                <a:solidFill>
                  <a:srgbClr val="EBEBEB"/>
                </a:solidFill>
                <a:latin typeface="+mj-lt"/>
                <a:ea typeface="+mj-ea"/>
                <a:cs typeface="+mj-cs"/>
              </a:rPr>
              <a:t>Variáveis</a:t>
            </a:r>
            <a:endParaRPr lang="en-US" sz="6400" b="0" i="0" kern="1200" dirty="0">
              <a:solidFill>
                <a:srgbClr val="EBEBEB"/>
              </a:solidFill>
              <a:latin typeface="+mj-lt"/>
              <a:ea typeface="+mj-ea"/>
              <a:cs typeface="+mj-cs"/>
            </a:endParaRPr>
          </a:p>
        </p:txBody>
      </p:sp>
      <p:sp>
        <p:nvSpPr>
          <p:cNvPr id="58" name="Freeform 7">
            <a:extLst>
              <a:ext uri="{FF2B5EF4-FFF2-40B4-BE49-F238E27FC236}">
                <a16:creationId xmlns:a16="http://schemas.microsoft.com/office/drawing/2014/main" id="{B9C1207E-FFD8-4821-AFE6-71C7243609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64146"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60" name="Freeform: Shape 59">
            <a:extLst>
              <a:ext uri="{FF2B5EF4-FFF2-40B4-BE49-F238E27FC236}">
                <a16:creationId xmlns:a16="http://schemas.microsoft.com/office/drawing/2014/main" id="{2B199503-2632-490F-8EB2-759D88708F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330207" y="-781793"/>
            <a:ext cx="9144001" cy="10707588"/>
          </a:xfrm>
          <a:custGeom>
            <a:avLst/>
            <a:gdLst>
              <a:gd name="connsiteX0" fmla="*/ 6858001 w 6858001"/>
              <a:gd name="connsiteY0" fmla="*/ 1177 h 8030691"/>
              <a:gd name="connsiteX1" fmla="*/ 6858001 w 6858001"/>
              <a:gd name="connsiteY1" fmla="*/ 1344715 h 8030691"/>
              <a:gd name="connsiteX2" fmla="*/ 6858000 w 6858001"/>
              <a:gd name="connsiteY2" fmla="*/ 1344715 h 8030691"/>
              <a:gd name="connsiteX3" fmla="*/ 6858000 w 6858001"/>
              <a:gd name="connsiteY3" fmla="*/ 8030691 h 8030691"/>
              <a:gd name="connsiteX4" fmla="*/ 0 w 6858001"/>
              <a:gd name="connsiteY4" fmla="*/ 8030690 h 8030691"/>
              <a:gd name="connsiteX5" fmla="*/ 0 w 6858001"/>
              <a:gd name="connsiteY5" fmla="*/ 477747 h 8030691"/>
              <a:gd name="connsiteX6" fmla="*/ 1 w 6858001"/>
              <a:gd name="connsiteY6" fmla="*/ 477747 h 8030691"/>
              <a:gd name="connsiteX7" fmla="*/ 1 w 6858001"/>
              <a:gd name="connsiteY7" fmla="*/ 0 h 8030691"/>
              <a:gd name="connsiteX8" fmla="*/ 40463 w 6858001"/>
              <a:gd name="connsiteY8" fmla="*/ 5883 h 8030691"/>
              <a:gd name="connsiteX9" fmla="*/ 159107 w 6858001"/>
              <a:gd name="connsiteY9" fmla="*/ 23196 h 8030691"/>
              <a:gd name="connsiteX10" fmla="*/ 245518 w 6858001"/>
              <a:gd name="connsiteY10" fmla="*/ 35299 h 8030691"/>
              <a:gd name="connsiteX11" fmla="*/ 348388 w 6858001"/>
              <a:gd name="connsiteY11" fmla="*/ 48074 h 8030691"/>
              <a:gd name="connsiteX12" fmla="*/ 470460 w 6858001"/>
              <a:gd name="connsiteY12" fmla="*/ 63370 h 8030691"/>
              <a:gd name="connsiteX13" fmla="*/ 605563 w 6858001"/>
              <a:gd name="connsiteY13" fmla="*/ 79507 h 8030691"/>
              <a:gd name="connsiteX14" fmla="*/ 757810 w 6858001"/>
              <a:gd name="connsiteY14" fmla="*/ 96484 h 8030691"/>
              <a:gd name="connsiteX15" fmla="*/ 923774 w 6858001"/>
              <a:gd name="connsiteY15" fmla="*/ 114469 h 8030691"/>
              <a:gd name="connsiteX16" fmla="*/ 1104139 w 6858001"/>
              <a:gd name="connsiteY16" fmla="*/ 132455 h 8030691"/>
              <a:gd name="connsiteX17" fmla="*/ 1296163 w 6858001"/>
              <a:gd name="connsiteY17" fmla="*/ 150776 h 8030691"/>
              <a:gd name="connsiteX18" fmla="*/ 1503275 w 6858001"/>
              <a:gd name="connsiteY18" fmla="*/ 167753 h 8030691"/>
              <a:gd name="connsiteX19" fmla="*/ 1719988 w 6858001"/>
              <a:gd name="connsiteY19" fmla="*/ 184058 h 8030691"/>
              <a:gd name="connsiteX20" fmla="*/ 1949045 w 6858001"/>
              <a:gd name="connsiteY20" fmla="*/ 198850 h 8030691"/>
              <a:gd name="connsiteX21" fmla="*/ 2187703 w 6858001"/>
              <a:gd name="connsiteY21" fmla="*/ 212969 h 8030691"/>
              <a:gd name="connsiteX22" fmla="*/ 2436649 w 6858001"/>
              <a:gd name="connsiteY22" fmla="*/ 226249 h 8030691"/>
              <a:gd name="connsiteX23" fmla="*/ 2564208 w 6858001"/>
              <a:gd name="connsiteY23" fmla="*/ 230955 h 8030691"/>
              <a:gd name="connsiteX24" fmla="*/ 2694509 w 6858001"/>
              <a:gd name="connsiteY24" fmla="*/ 236166 h 8030691"/>
              <a:gd name="connsiteX25" fmla="*/ 2826869 w 6858001"/>
              <a:gd name="connsiteY25" fmla="*/ 241040 h 8030691"/>
              <a:gd name="connsiteX26" fmla="*/ 2959914 w 6858001"/>
              <a:gd name="connsiteY26" fmla="*/ 244234 h 8030691"/>
              <a:gd name="connsiteX27" fmla="*/ 3095702 w 6858001"/>
              <a:gd name="connsiteY27" fmla="*/ 247092 h 8030691"/>
              <a:gd name="connsiteX28" fmla="*/ 3232862 w 6858001"/>
              <a:gd name="connsiteY28" fmla="*/ 250117 h 8030691"/>
              <a:gd name="connsiteX29" fmla="*/ 3372766 w 6858001"/>
              <a:gd name="connsiteY29" fmla="*/ 252134 h 8030691"/>
              <a:gd name="connsiteX30" fmla="*/ 3514040 w 6858001"/>
              <a:gd name="connsiteY30" fmla="*/ 252134 h 8030691"/>
              <a:gd name="connsiteX31" fmla="*/ 3656686 w 6858001"/>
              <a:gd name="connsiteY31" fmla="*/ 253143 h 8030691"/>
              <a:gd name="connsiteX32" fmla="*/ 3800705 w 6858001"/>
              <a:gd name="connsiteY32" fmla="*/ 252134 h 8030691"/>
              <a:gd name="connsiteX33" fmla="*/ 3946780 w 6858001"/>
              <a:gd name="connsiteY33" fmla="*/ 250117 h 8030691"/>
              <a:gd name="connsiteX34" fmla="*/ 4092856 w 6858001"/>
              <a:gd name="connsiteY34" fmla="*/ 248268 h 8030691"/>
              <a:gd name="connsiteX35" fmla="*/ 4240988 w 6858001"/>
              <a:gd name="connsiteY35" fmla="*/ 244234 h 8030691"/>
              <a:gd name="connsiteX36" fmla="*/ 4390492 w 6858001"/>
              <a:gd name="connsiteY36" fmla="*/ 240032 h 8030691"/>
              <a:gd name="connsiteX37" fmla="*/ 4539997 w 6858001"/>
              <a:gd name="connsiteY37" fmla="*/ 235157 h 8030691"/>
              <a:gd name="connsiteX38" fmla="*/ 4690873 w 6858001"/>
              <a:gd name="connsiteY38" fmla="*/ 228266 h 8030691"/>
              <a:gd name="connsiteX39" fmla="*/ 4843120 w 6858001"/>
              <a:gd name="connsiteY39" fmla="*/ 220029 h 8030691"/>
              <a:gd name="connsiteX40" fmla="*/ 4996054 w 6858001"/>
              <a:gd name="connsiteY40" fmla="*/ 212129 h 8030691"/>
              <a:gd name="connsiteX41" fmla="*/ 5148987 w 6858001"/>
              <a:gd name="connsiteY41" fmla="*/ 202044 h 8030691"/>
              <a:gd name="connsiteX42" fmla="*/ 5303978 w 6858001"/>
              <a:gd name="connsiteY42" fmla="*/ 189941 h 8030691"/>
              <a:gd name="connsiteX43" fmla="*/ 5456911 w 6858001"/>
              <a:gd name="connsiteY43" fmla="*/ 177839 h 8030691"/>
              <a:gd name="connsiteX44" fmla="*/ 5612588 w 6858001"/>
              <a:gd name="connsiteY44" fmla="*/ 163887 h 8030691"/>
              <a:gd name="connsiteX45" fmla="*/ 5768950 w 6858001"/>
              <a:gd name="connsiteY45" fmla="*/ 148591 h 8030691"/>
              <a:gd name="connsiteX46" fmla="*/ 5923255 w 6858001"/>
              <a:gd name="connsiteY46" fmla="*/ 132455 h 8030691"/>
              <a:gd name="connsiteX47" fmla="*/ 6079618 w 6858001"/>
              <a:gd name="connsiteY47" fmla="*/ 113629 h 8030691"/>
              <a:gd name="connsiteX48" fmla="*/ 6235294 w 6858001"/>
              <a:gd name="connsiteY48" fmla="*/ 93458 h 8030691"/>
              <a:gd name="connsiteX49" fmla="*/ 6391657 w 6858001"/>
              <a:gd name="connsiteY49" fmla="*/ 73455 h 8030691"/>
              <a:gd name="connsiteX50" fmla="*/ 6547333 w 6858001"/>
              <a:gd name="connsiteY50" fmla="*/ 50091 h 8030691"/>
              <a:gd name="connsiteX51" fmla="*/ 6702324 w 6858001"/>
              <a:gd name="connsiteY51" fmla="*/ 26222 h 8030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8030691">
                <a:moveTo>
                  <a:pt x="6858001" y="1177"/>
                </a:moveTo>
                <a:lnTo>
                  <a:pt x="6858001" y="1344715"/>
                </a:lnTo>
                <a:lnTo>
                  <a:pt x="6858000" y="1344715"/>
                </a:lnTo>
                <a:lnTo>
                  <a:pt x="6858000" y="8030691"/>
                </a:lnTo>
                <a:lnTo>
                  <a:pt x="0" y="8030690"/>
                </a:lnTo>
                <a:lnTo>
                  <a:pt x="0" y="477747"/>
                </a:lnTo>
                <a:lnTo>
                  <a:pt x="1" y="477747"/>
                </a:lnTo>
                <a:lnTo>
                  <a:pt x="1" y="0"/>
                </a:lnTo>
                <a:lnTo>
                  <a:pt x="40463" y="5883"/>
                </a:lnTo>
                <a:lnTo>
                  <a:pt x="159107" y="23196"/>
                </a:lnTo>
                <a:lnTo>
                  <a:pt x="245518" y="35299"/>
                </a:lnTo>
                <a:lnTo>
                  <a:pt x="348388" y="48074"/>
                </a:lnTo>
                <a:lnTo>
                  <a:pt x="470460" y="63370"/>
                </a:lnTo>
                <a:lnTo>
                  <a:pt x="605563" y="79507"/>
                </a:lnTo>
                <a:lnTo>
                  <a:pt x="757810" y="96484"/>
                </a:lnTo>
                <a:lnTo>
                  <a:pt x="923774" y="114469"/>
                </a:lnTo>
                <a:lnTo>
                  <a:pt x="1104139" y="132455"/>
                </a:lnTo>
                <a:lnTo>
                  <a:pt x="1296163" y="150776"/>
                </a:lnTo>
                <a:lnTo>
                  <a:pt x="1503275" y="167753"/>
                </a:lnTo>
                <a:lnTo>
                  <a:pt x="1719988" y="184058"/>
                </a:lnTo>
                <a:lnTo>
                  <a:pt x="1949045" y="198850"/>
                </a:lnTo>
                <a:lnTo>
                  <a:pt x="2187703" y="212969"/>
                </a:lnTo>
                <a:lnTo>
                  <a:pt x="2436649" y="226249"/>
                </a:lnTo>
                <a:lnTo>
                  <a:pt x="2564208" y="230955"/>
                </a:lnTo>
                <a:lnTo>
                  <a:pt x="2694509" y="236166"/>
                </a:lnTo>
                <a:lnTo>
                  <a:pt x="2826869" y="241040"/>
                </a:lnTo>
                <a:lnTo>
                  <a:pt x="2959914" y="244234"/>
                </a:lnTo>
                <a:lnTo>
                  <a:pt x="3095702" y="247092"/>
                </a:lnTo>
                <a:lnTo>
                  <a:pt x="3232862" y="250117"/>
                </a:lnTo>
                <a:lnTo>
                  <a:pt x="3372766" y="252134"/>
                </a:lnTo>
                <a:lnTo>
                  <a:pt x="3514040" y="252134"/>
                </a:lnTo>
                <a:lnTo>
                  <a:pt x="3656686" y="253143"/>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ln>
            <a:noFill/>
          </a:ln>
        </p:spPr>
        <p:txBody>
          <a:bodyPr/>
          <a:lstStyle/>
          <a:p>
            <a:endParaRPr lang="pt-BR"/>
          </a:p>
        </p:txBody>
      </p:sp>
      <p:sp>
        <p:nvSpPr>
          <p:cNvPr id="62" name="Rectangle 61">
            <a:extLst>
              <a:ext uri="{FF2B5EF4-FFF2-40B4-BE49-F238E27FC236}">
                <a16:creationId xmlns:a16="http://schemas.microsoft.com/office/drawing/2014/main" id="{F11C7CB4-0228-486A-931A-262ABB670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EDFAFD16-AAA9-D70F-970A-57F3E534471C}"/>
              </a:ext>
            </a:extLst>
          </p:cNvPr>
          <p:cNvSpPr txBox="1"/>
          <p:nvPr/>
        </p:nvSpPr>
        <p:spPr>
          <a:xfrm>
            <a:off x="6731269" y="1880612"/>
            <a:ext cx="8661129" cy="2513528"/>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pPr>
            <a:r>
              <a:rPr lang="en-US" sz="2400" b="1" dirty="0">
                <a:latin typeface="+mj-lt"/>
                <a:ea typeface="+mj-ea"/>
                <a:cs typeface="+mj-cs"/>
              </a:rPr>
              <a:t>Boas práticas de nomes</a:t>
            </a:r>
          </a:p>
          <a:p>
            <a:pPr>
              <a:lnSpc>
                <a:spcPct val="90000"/>
              </a:lnSpc>
              <a:spcBef>
                <a:spcPts val="1000"/>
              </a:spcBef>
              <a:buClr>
                <a:schemeClr val="bg2">
                  <a:lumMod val="40000"/>
                  <a:lumOff val="60000"/>
                </a:schemeClr>
              </a:buClr>
              <a:buSzPct val="80000"/>
              <a:buFont typeface="Wingdings 3" charset="2"/>
              <a:buChar char=""/>
            </a:pPr>
            <a:endParaRPr lang="en-US" dirty="0">
              <a:latin typeface="+mj-lt"/>
              <a:ea typeface="+mj-ea"/>
              <a:cs typeface="+mj-cs"/>
            </a:endParaRPr>
          </a:p>
          <a:p>
            <a:pPr>
              <a:lnSpc>
                <a:spcPct val="90000"/>
              </a:lnSpc>
              <a:spcBef>
                <a:spcPts val="1000"/>
              </a:spcBef>
              <a:buClr>
                <a:schemeClr val="bg2">
                  <a:lumMod val="40000"/>
                  <a:lumOff val="60000"/>
                </a:schemeClr>
              </a:buClr>
              <a:buSzPct val="80000"/>
            </a:pPr>
            <a:r>
              <a:rPr lang="en-US" b="1" dirty="0">
                <a:latin typeface="+mj-lt"/>
                <a:ea typeface="+mj-ea"/>
                <a:cs typeface="+mj-cs"/>
              </a:rPr>
              <a:t>✔ Usar nomes descritivos</a:t>
            </a:r>
          </a:p>
          <a:p>
            <a:pPr>
              <a:lnSpc>
                <a:spcPct val="90000"/>
              </a:lnSpc>
              <a:spcBef>
                <a:spcPts val="1000"/>
              </a:spcBef>
              <a:buClr>
                <a:schemeClr val="bg2">
                  <a:lumMod val="40000"/>
                  <a:lumOff val="60000"/>
                </a:schemeClr>
              </a:buClr>
              <a:buSzPct val="80000"/>
            </a:pPr>
            <a:br>
              <a:rPr lang="en-US" b="1" dirty="0">
                <a:latin typeface="+mj-lt"/>
                <a:ea typeface="+mj-ea"/>
                <a:cs typeface="+mj-cs"/>
              </a:rPr>
            </a:br>
            <a:r>
              <a:rPr lang="en-US" b="1" dirty="0">
                <a:latin typeface="+mj-lt"/>
                <a:ea typeface="+mj-ea"/>
                <a:cs typeface="+mj-cs"/>
              </a:rPr>
              <a:t>✔ Usar </a:t>
            </a:r>
            <a:r>
              <a:rPr lang="en-US" b="1" dirty="0">
                <a:solidFill>
                  <a:srgbClr val="FFC000"/>
                </a:solidFill>
                <a:latin typeface="+mj-lt"/>
                <a:ea typeface="+mj-ea"/>
                <a:cs typeface="+mj-cs"/>
              </a:rPr>
              <a:t>snake_case </a:t>
            </a:r>
            <a:r>
              <a:rPr lang="en-US" b="1" dirty="0">
                <a:latin typeface="+mj-lt"/>
                <a:ea typeface="+mj-ea"/>
                <a:cs typeface="+mj-cs"/>
              </a:rPr>
              <a:t>(padrão Python)</a:t>
            </a:r>
          </a:p>
          <a:p>
            <a:pPr>
              <a:lnSpc>
                <a:spcPct val="90000"/>
              </a:lnSpc>
              <a:spcBef>
                <a:spcPts val="1000"/>
              </a:spcBef>
              <a:buClr>
                <a:schemeClr val="bg2">
                  <a:lumMod val="40000"/>
                  <a:lumOff val="60000"/>
                </a:schemeClr>
              </a:buClr>
              <a:buSzPct val="80000"/>
            </a:pPr>
            <a:br>
              <a:rPr lang="en-US" b="1" dirty="0">
                <a:latin typeface="+mj-lt"/>
                <a:ea typeface="+mj-ea"/>
                <a:cs typeface="+mj-cs"/>
              </a:rPr>
            </a:br>
            <a:r>
              <a:rPr lang="en-US" b="1" dirty="0">
                <a:latin typeface="+mj-lt"/>
                <a:ea typeface="+mj-ea"/>
                <a:cs typeface="+mj-cs"/>
              </a:rPr>
              <a:t>✔ Evitar abreviações confusas</a:t>
            </a:r>
          </a:p>
        </p:txBody>
      </p:sp>
      <p:pic>
        <p:nvPicPr>
          <p:cNvPr id="7" name="Imagem 6">
            <a:extLst>
              <a:ext uri="{FF2B5EF4-FFF2-40B4-BE49-F238E27FC236}">
                <a16:creationId xmlns:a16="http://schemas.microsoft.com/office/drawing/2014/main" id="{30BB7675-CDF7-CB61-7C6B-FA2816734FB1}"/>
              </a:ext>
            </a:extLst>
          </p:cNvPr>
          <p:cNvPicPr>
            <a:picLocks noChangeAspect="1"/>
          </p:cNvPicPr>
          <p:nvPr/>
        </p:nvPicPr>
        <p:blipFill>
          <a:blip r:embed="rId6"/>
          <a:stretch>
            <a:fillRect/>
          </a:stretch>
        </p:blipFill>
        <p:spPr>
          <a:xfrm>
            <a:off x="6731269" y="4749860"/>
            <a:ext cx="8661129" cy="3226270"/>
          </a:xfrm>
          <a:prstGeom prst="rect">
            <a:avLst/>
          </a:prstGeom>
          <a:effectLst/>
        </p:spPr>
      </p:pic>
    </p:spTree>
    <p:extLst>
      <p:ext uri="{BB962C8B-B14F-4D97-AF65-F5344CB8AC3E}">
        <p14:creationId xmlns:p14="http://schemas.microsoft.com/office/powerpoint/2010/main" val="1494476233"/>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D4B4485E-99E9-6C0F-77E7-251F3DE00DAE}"/>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021EA20D-57C7-C0B1-9A3A-7934AAFF7F7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6" name="Picture 15">
            <a:extLst>
              <a:ext uri="{FF2B5EF4-FFF2-40B4-BE49-F238E27FC236}">
                <a16:creationId xmlns:a16="http://schemas.microsoft.com/office/drawing/2014/main" id="{EF4AD721-22FE-8296-7AFB-6DE04242742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8" name="Oval 17">
            <a:extLst>
              <a:ext uri="{FF2B5EF4-FFF2-40B4-BE49-F238E27FC236}">
                <a16:creationId xmlns:a16="http://schemas.microsoft.com/office/drawing/2014/main" id="{08BB9411-21A1-D076-7272-61D0B3D091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20" name="Picture 19">
            <a:extLst>
              <a:ext uri="{FF2B5EF4-FFF2-40B4-BE49-F238E27FC236}">
                <a16:creationId xmlns:a16="http://schemas.microsoft.com/office/drawing/2014/main" id="{DCCF79B4-5017-8054-2A16-C37D104EBA5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2" name="Picture 21">
            <a:extLst>
              <a:ext uri="{FF2B5EF4-FFF2-40B4-BE49-F238E27FC236}">
                <a16:creationId xmlns:a16="http://schemas.microsoft.com/office/drawing/2014/main" id="{9A42EF07-66EC-A70C-AEF6-EACED835EC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4" name="Rectangle 23">
            <a:extLst>
              <a:ext uri="{FF2B5EF4-FFF2-40B4-BE49-F238E27FC236}">
                <a16:creationId xmlns:a16="http://schemas.microsoft.com/office/drawing/2014/main" id="{95C25B32-EB48-A9C4-9260-8573A1DA03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8D1C19FA-079C-E892-36C3-D5A86949CED5}"/>
              </a:ext>
            </a:extLst>
          </p:cNvPr>
          <p:cNvSpPr txBox="1"/>
          <p:nvPr/>
        </p:nvSpPr>
        <p:spPr>
          <a:xfrm>
            <a:off x="385207" y="1382965"/>
            <a:ext cx="7183797" cy="2189315"/>
          </a:xfrm>
          <a:prstGeom prst="rect">
            <a:avLst/>
          </a:prstGeom>
        </p:spPr>
        <p:txBody>
          <a:bodyPr vert="horz" lIns="91440" tIns="45720" rIns="91440" bIns="45720" rtlCol="0" anchor="t">
            <a:normAutofit/>
          </a:bodyPr>
          <a:lstStyle/>
          <a:p>
            <a:pPr algn="ctr">
              <a:spcBef>
                <a:spcPct val="0"/>
              </a:spcBef>
              <a:spcAft>
                <a:spcPts val="600"/>
              </a:spcAft>
            </a:pPr>
            <a:r>
              <a:rPr lang="en-US" sz="4200" dirty="0" err="1">
                <a:solidFill>
                  <a:schemeClr val="tx2"/>
                </a:solidFill>
                <a:latin typeface="+mj-lt"/>
                <a:ea typeface="+mj-ea"/>
                <a:cs typeface="+mj-cs"/>
              </a:rPr>
              <a:t>Constantes</a:t>
            </a:r>
            <a:r>
              <a:rPr lang="en-US" sz="4200" dirty="0">
                <a:solidFill>
                  <a:schemeClr val="tx2"/>
                </a:solidFill>
                <a:latin typeface="+mj-lt"/>
                <a:ea typeface="+mj-ea"/>
                <a:cs typeface="+mj-cs"/>
              </a:rPr>
              <a:t> </a:t>
            </a:r>
            <a:r>
              <a:rPr lang="en-US" sz="4200" dirty="0" err="1">
                <a:solidFill>
                  <a:schemeClr val="tx2"/>
                </a:solidFill>
                <a:latin typeface="+mj-lt"/>
                <a:ea typeface="+mj-ea"/>
                <a:cs typeface="+mj-cs"/>
              </a:rPr>
              <a:t>em</a:t>
            </a:r>
            <a:r>
              <a:rPr lang="en-US" sz="4200" dirty="0">
                <a:solidFill>
                  <a:schemeClr val="tx2"/>
                </a:solidFill>
                <a:latin typeface="+mj-lt"/>
                <a:ea typeface="+mj-ea"/>
                <a:cs typeface="+mj-cs"/>
              </a:rPr>
              <a:t> Python</a:t>
            </a:r>
          </a:p>
        </p:txBody>
      </p:sp>
      <p:sp>
        <p:nvSpPr>
          <p:cNvPr id="5" name="CaixaDeTexto 4">
            <a:extLst>
              <a:ext uri="{FF2B5EF4-FFF2-40B4-BE49-F238E27FC236}">
                <a16:creationId xmlns:a16="http://schemas.microsoft.com/office/drawing/2014/main" id="{5588D673-2D1E-C655-1B7E-35DDEBC82E15}"/>
              </a:ext>
            </a:extLst>
          </p:cNvPr>
          <p:cNvSpPr txBox="1"/>
          <p:nvPr/>
        </p:nvSpPr>
        <p:spPr>
          <a:xfrm>
            <a:off x="7954211" y="3454401"/>
            <a:ext cx="8058300" cy="5079998"/>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sz="2000" b="1" dirty="0">
                <a:latin typeface="+mj-lt"/>
                <a:ea typeface="+mj-ea"/>
                <a:cs typeface="+mj-cs"/>
              </a:rPr>
              <a:t>O </a:t>
            </a:r>
            <a:r>
              <a:rPr lang="en-US" sz="2000" b="1" dirty="0" err="1">
                <a:latin typeface="+mj-lt"/>
                <a:ea typeface="+mj-ea"/>
                <a:cs typeface="+mj-cs"/>
              </a:rPr>
              <a:t>que</a:t>
            </a:r>
            <a:r>
              <a:rPr lang="en-US" sz="2000" b="1" dirty="0">
                <a:latin typeface="+mj-lt"/>
                <a:ea typeface="+mj-ea"/>
                <a:cs typeface="+mj-cs"/>
              </a:rPr>
              <a:t> </a:t>
            </a:r>
            <a:r>
              <a:rPr lang="en-US" sz="2000" b="1" dirty="0" err="1">
                <a:latin typeface="+mj-lt"/>
                <a:ea typeface="+mj-ea"/>
                <a:cs typeface="+mj-cs"/>
              </a:rPr>
              <a:t>são</a:t>
            </a:r>
            <a:r>
              <a:rPr lang="en-US" sz="2000" b="1" dirty="0">
                <a:latin typeface="+mj-lt"/>
                <a:ea typeface="+mj-ea"/>
                <a:cs typeface="+mj-cs"/>
              </a:rPr>
              <a:t> </a:t>
            </a:r>
            <a:r>
              <a:rPr lang="en-US" sz="2000" b="1" dirty="0" err="1">
                <a:latin typeface="+mj-lt"/>
                <a:ea typeface="+mj-ea"/>
                <a:cs typeface="+mj-cs"/>
              </a:rPr>
              <a:t>Constantes</a:t>
            </a:r>
            <a:r>
              <a:rPr lang="en-US" sz="2000" b="1" dirty="0">
                <a:latin typeface="+mj-lt"/>
                <a:ea typeface="+mj-ea"/>
                <a:cs typeface="+mj-cs"/>
              </a:rPr>
              <a:t>?</a:t>
            </a:r>
          </a:p>
          <a:p>
            <a:pPr marL="342900" indent="-342900">
              <a:spcBef>
                <a:spcPts val="1000"/>
              </a:spcBef>
              <a:buClr>
                <a:schemeClr val="bg2">
                  <a:lumMod val="40000"/>
                  <a:lumOff val="60000"/>
                </a:schemeClr>
              </a:buClr>
              <a:buSzPct val="80000"/>
              <a:buFont typeface="Arial" panose="020B0604020202020204" pitchFamily="34" charset="0"/>
              <a:buChar char="•"/>
            </a:pPr>
            <a:endParaRPr lang="en-US" b="1" dirty="0">
              <a:solidFill>
                <a:srgbClr val="FFC000"/>
              </a:solidFill>
              <a:latin typeface="+mj-lt"/>
              <a:ea typeface="+mj-ea"/>
              <a:cs typeface="+mj-cs"/>
            </a:endParaRP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São valores que não deveriam ser alterados durante o programa</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Python não possui constantes reais (apenas por convenção)</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Usa-se letras maiúsculas para indicar constantes</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Exemplo: </a:t>
            </a:r>
            <a:r>
              <a:rPr lang="pt-BR" b="1" dirty="0"/>
              <a:t>PI = 3.14, MAX_USUARIOS = 100</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O Python permite alterar esses valores mesmo assim</a:t>
            </a:r>
          </a:p>
          <a:p>
            <a:pPr marL="342900" indent="-342900">
              <a:spcBef>
                <a:spcPts val="1000"/>
              </a:spcBef>
              <a:buClr>
                <a:schemeClr val="bg2">
                  <a:lumMod val="40000"/>
                  <a:lumOff val="60000"/>
                </a:schemeClr>
              </a:buClr>
              <a:buSzPct val="80000"/>
              <a:buFont typeface="Arial" panose="020B0604020202020204" pitchFamily="34" charset="0"/>
              <a:buChar char="•"/>
            </a:pPr>
            <a:r>
              <a:rPr lang="pt-BR" b="1" dirty="0">
                <a:solidFill>
                  <a:srgbClr val="FFC000"/>
                </a:solidFill>
              </a:rPr>
              <a:t>São usadas para representar dados fixos no programa</a:t>
            </a:r>
            <a:endParaRPr lang="en-US" b="1" dirty="0">
              <a:solidFill>
                <a:srgbClr val="FFC000"/>
              </a:solidFill>
              <a:latin typeface="+mj-lt"/>
              <a:ea typeface="+mj-ea"/>
              <a:cs typeface="+mj-cs"/>
            </a:endParaRPr>
          </a:p>
        </p:txBody>
      </p:sp>
      <p:pic>
        <p:nvPicPr>
          <p:cNvPr id="4" name="Imagem 3">
            <a:extLst>
              <a:ext uri="{FF2B5EF4-FFF2-40B4-BE49-F238E27FC236}">
                <a16:creationId xmlns:a16="http://schemas.microsoft.com/office/drawing/2014/main" id="{0EA69811-7DCC-A86D-8B85-373618E7BE3B}"/>
              </a:ext>
            </a:extLst>
          </p:cNvPr>
          <p:cNvPicPr>
            <a:picLocks noChangeAspect="1"/>
          </p:cNvPicPr>
          <p:nvPr/>
        </p:nvPicPr>
        <p:blipFill>
          <a:blip r:embed="rId7"/>
          <a:stretch>
            <a:fillRect/>
          </a:stretch>
        </p:blipFill>
        <p:spPr>
          <a:xfrm>
            <a:off x="284797" y="4923262"/>
            <a:ext cx="7286239" cy="3153938"/>
          </a:xfrm>
          <a:prstGeom prst="rect">
            <a:avLst/>
          </a:prstGeom>
        </p:spPr>
      </p:pic>
    </p:spTree>
    <p:extLst>
      <p:ext uri="{BB962C8B-B14F-4D97-AF65-F5344CB8AC3E}">
        <p14:creationId xmlns:p14="http://schemas.microsoft.com/office/powerpoint/2010/main" val="4281861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D85D5AA8-773B-469A-8802-9645A4DC9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m 3">
            <a:extLst>
              <a:ext uri="{FF2B5EF4-FFF2-40B4-BE49-F238E27FC236}">
                <a16:creationId xmlns:a16="http://schemas.microsoft.com/office/drawing/2014/main" id="{364534E1-9354-C852-BB47-F4E7F4378C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2871" y="857956"/>
            <a:ext cx="11128222" cy="7428088"/>
          </a:xfrm>
          <a:prstGeom prst="rect">
            <a:avLst/>
          </a:prstGeom>
          <a:ln>
            <a:noFill/>
          </a:ln>
          <a:effectLst>
            <a:outerShdw blurRad="292100" dist="139700" dir="2700000" algn="tl" rotWithShape="0">
              <a:srgbClr val="333333">
                <a:alpha val="65000"/>
              </a:srgbClr>
            </a:outerShdw>
          </a:effectLst>
        </p:spPr>
      </p:pic>
      <p:sp>
        <p:nvSpPr>
          <p:cNvPr id="18" name="Rectangle 17">
            <a:extLst>
              <a:ext uri="{FF2B5EF4-FFF2-40B4-BE49-F238E27FC236}">
                <a16:creationId xmlns:a16="http://schemas.microsoft.com/office/drawing/2014/main" id="{C75AF42C-C556-454E-B2D3-2C917CB812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Tree>
    <p:extLst>
      <p:ext uri="{BB962C8B-B14F-4D97-AF65-F5344CB8AC3E}">
        <p14:creationId xmlns:p14="http://schemas.microsoft.com/office/powerpoint/2010/main" val="1709094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57B9B4-C7C9-D633-89B7-E67204C851B4}"/>
            </a:ext>
          </a:extLst>
        </p:cNvPr>
        <p:cNvGrpSpPr/>
        <p:nvPr/>
      </p:nvGrpSpPr>
      <p:grpSpPr>
        <a:xfrm>
          <a:off x="0" y="0"/>
          <a:ext cx="0" cy="0"/>
          <a:chOff x="0" y="0"/>
          <a:chExt cx="0" cy="0"/>
        </a:xfrm>
      </p:grpSpPr>
      <p:pic>
        <p:nvPicPr>
          <p:cNvPr id="3079" name="Picture 3078">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081" name="Picture 3080">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083" name="Oval 3082">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085" name="Picture 3084">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087" name="Picture 3086">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089" name="Rectangle 3088">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091" name="Rectangle 3090">
            <a:extLst>
              <a:ext uri="{FF2B5EF4-FFF2-40B4-BE49-F238E27FC236}">
                <a16:creationId xmlns:a16="http://schemas.microsoft.com/office/drawing/2014/main" id="{49076D5E-68ED-4CD1-A04F-E7934EBFA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093" name="Rectangle 3092">
            <a:extLst>
              <a:ext uri="{FF2B5EF4-FFF2-40B4-BE49-F238E27FC236}">
                <a16:creationId xmlns:a16="http://schemas.microsoft.com/office/drawing/2014/main" id="{21BE0A6B-EBF8-4301-B1AE-F6A1C4003E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408" y="0"/>
            <a:ext cx="10070592" cy="9144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95" name="Rounded Rectangle 9">
            <a:extLst>
              <a:ext uri="{FF2B5EF4-FFF2-40B4-BE49-F238E27FC236}">
                <a16:creationId xmlns:a16="http://schemas.microsoft.com/office/drawing/2014/main" id="{03C06118-B3FE-4B51-80A1-B82C2E9F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584" y="646176"/>
            <a:ext cx="8778797" cy="7652249"/>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GitHub - rbolsoni/Resolucao-exercicios-python-Udemy: Resolução dos  exercícios do curso de programação em Python - Do básico ao avançado - Geek  Academy - Udemy · GitHub">
            <a:extLst>
              <a:ext uri="{FF2B5EF4-FFF2-40B4-BE49-F238E27FC236}">
                <a16:creationId xmlns:a16="http://schemas.microsoft.com/office/drawing/2014/main" id="{740D4CEE-0CCD-69AA-FA37-F49E779269F9}"/>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7477758" y="2354933"/>
            <a:ext cx="7486447" cy="4229842"/>
          </a:xfrm>
          <a:prstGeom prst="rect">
            <a:avLst/>
          </a:prstGeom>
          <a:noFill/>
          <a:effectLst/>
          <a:extLst>
            <a:ext uri="{909E8E84-426E-40DD-AFC4-6F175D3DCCD1}">
              <a14:hiddenFill xmlns:a14="http://schemas.microsoft.com/office/drawing/2010/main">
                <a:solidFill>
                  <a:srgbClr val="FFFFFF"/>
                </a:solidFill>
              </a14:hiddenFill>
            </a:ext>
          </a:extLst>
        </p:spPr>
      </p:pic>
      <p:sp>
        <p:nvSpPr>
          <p:cNvPr id="3097" name="Rectangle 3096">
            <a:extLst>
              <a:ext uri="{FF2B5EF4-FFF2-40B4-BE49-F238E27FC236}">
                <a16:creationId xmlns:a16="http://schemas.microsoft.com/office/drawing/2014/main" id="{172BE3F8-96D6-4535-9AE4-694DC4F5B1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CaixaDeTexto 1">
            <a:extLst>
              <a:ext uri="{FF2B5EF4-FFF2-40B4-BE49-F238E27FC236}">
                <a16:creationId xmlns:a16="http://schemas.microsoft.com/office/drawing/2014/main" id="{4FC9D4DE-C96C-6351-25B8-A5CAEC030CB4}"/>
              </a:ext>
            </a:extLst>
          </p:cNvPr>
          <p:cNvSpPr txBox="1"/>
          <p:nvPr/>
        </p:nvSpPr>
        <p:spPr>
          <a:xfrm>
            <a:off x="328358" y="646176"/>
            <a:ext cx="6036050" cy="8108033"/>
          </a:xfrm>
          <a:prstGeom prst="rect">
            <a:avLst/>
          </a:prstGeom>
        </p:spPr>
        <p:txBody>
          <a:bodyPr vert="horz" lIns="91440" tIns="45720" rIns="91440" bIns="45720" rtlCol="0">
            <a:normAutofit fontScale="25000" lnSpcReduction="20000"/>
          </a:bodyPr>
          <a:lstStyle/>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Capítulo</a:t>
            </a:r>
            <a:r>
              <a:rPr lang="en-US" sz="8000" b="1" dirty="0">
                <a:solidFill>
                  <a:srgbClr val="FFFFFF"/>
                </a:solidFill>
                <a:latin typeface="+mj-lt"/>
                <a:ea typeface="+mj-ea"/>
                <a:cs typeface="+mj-cs"/>
              </a:rPr>
              <a:t> 1: </a:t>
            </a:r>
            <a:r>
              <a:rPr lang="en-US" sz="8000" b="1" dirty="0">
                <a:solidFill>
                  <a:srgbClr val="FFC000"/>
                </a:solidFill>
                <a:latin typeface="+mj-lt"/>
                <a:ea typeface="+mj-ea"/>
                <a:cs typeface="+mj-cs"/>
              </a:rPr>
              <a:t>Atividade01</a:t>
            </a: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Crie</a:t>
            </a:r>
            <a:r>
              <a:rPr lang="en-US" sz="8000" b="1" dirty="0">
                <a:solidFill>
                  <a:srgbClr val="FFFFFF"/>
                </a:solidFill>
                <a:latin typeface="+mj-lt"/>
                <a:ea typeface="+mj-ea"/>
                <a:cs typeface="+mj-cs"/>
              </a:rPr>
              <a:t> um </a:t>
            </a:r>
            <a:r>
              <a:rPr lang="en-US" sz="8000" b="1" dirty="0" err="1">
                <a:solidFill>
                  <a:srgbClr val="FFFFFF"/>
                </a:solidFill>
                <a:latin typeface="+mj-lt"/>
                <a:ea typeface="+mj-ea"/>
                <a:cs typeface="+mj-cs"/>
              </a:rPr>
              <a:t>programa</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que</a:t>
            </a:r>
            <a:r>
              <a:rPr lang="en-US" sz="8000" b="1" dirty="0">
                <a:solidFill>
                  <a:srgbClr val="FFFFFF"/>
                </a:solidFill>
                <a:latin typeface="+mj-lt"/>
                <a:ea typeface="+mj-ea"/>
                <a:cs typeface="+mj-cs"/>
              </a:rPr>
              <a:t>:</a:t>
            </a: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Pergunte</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ao</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usuário</a:t>
            </a:r>
            <a:r>
              <a:rPr lang="en-US" sz="8000" b="1" dirty="0">
                <a:solidFill>
                  <a:srgbClr val="FFFFFF"/>
                </a:solidFill>
                <a:latin typeface="+mj-lt"/>
                <a:ea typeface="+mj-ea"/>
                <a:cs typeface="+mj-cs"/>
              </a:rPr>
              <a:t>: </a:t>
            </a:r>
          </a:p>
          <a:p>
            <a:pPr lvl="1">
              <a:lnSpc>
                <a:spcPct val="90000"/>
              </a:lnSpc>
              <a:spcBef>
                <a:spcPts val="1000"/>
              </a:spcBef>
              <a:buClr>
                <a:schemeClr val="bg2">
                  <a:lumMod val="40000"/>
                  <a:lumOff val="60000"/>
                </a:schemeClr>
              </a:buClr>
              <a:buSzPct val="80000"/>
            </a:pPr>
            <a:r>
              <a:rPr lang="en-US" sz="8000" b="1" dirty="0">
                <a:solidFill>
                  <a:srgbClr val="FFC000"/>
                </a:solidFill>
                <a:latin typeface="+mj-lt"/>
                <a:ea typeface="+mj-ea"/>
                <a:cs typeface="+mj-cs"/>
              </a:rPr>
              <a:t>Nome </a:t>
            </a:r>
          </a:p>
          <a:p>
            <a:pPr lvl="1">
              <a:lnSpc>
                <a:spcPct val="90000"/>
              </a:lnSpc>
              <a:spcBef>
                <a:spcPts val="1000"/>
              </a:spcBef>
              <a:buClr>
                <a:schemeClr val="bg2">
                  <a:lumMod val="40000"/>
                  <a:lumOff val="60000"/>
                </a:schemeClr>
              </a:buClr>
              <a:buSzPct val="80000"/>
            </a:pPr>
            <a:r>
              <a:rPr lang="en-US" sz="8000" b="1" dirty="0" err="1">
                <a:solidFill>
                  <a:srgbClr val="FFC000"/>
                </a:solidFill>
                <a:latin typeface="+mj-lt"/>
                <a:ea typeface="+mj-ea"/>
                <a:cs typeface="+mj-cs"/>
              </a:rPr>
              <a:t>Idade</a:t>
            </a:r>
            <a:r>
              <a:rPr lang="en-US" sz="8000" b="1" dirty="0">
                <a:solidFill>
                  <a:srgbClr val="FFC000"/>
                </a:solidFill>
                <a:latin typeface="+mj-lt"/>
                <a:ea typeface="+mj-ea"/>
                <a:cs typeface="+mj-cs"/>
              </a:rPr>
              <a:t> </a:t>
            </a:r>
          </a:p>
          <a:p>
            <a:pPr lvl="1">
              <a:lnSpc>
                <a:spcPct val="90000"/>
              </a:lnSpc>
              <a:spcBef>
                <a:spcPts val="1000"/>
              </a:spcBef>
              <a:buClr>
                <a:schemeClr val="bg2">
                  <a:lumMod val="40000"/>
                  <a:lumOff val="60000"/>
                </a:schemeClr>
              </a:buClr>
              <a:buSzPct val="80000"/>
            </a:pPr>
            <a:r>
              <a:rPr lang="en-US" sz="8000" b="1" dirty="0" err="1">
                <a:solidFill>
                  <a:srgbClr val="FFC000"/>
                </a:solidFill>
                <a:latin typeface="+mj-lt"/>
                <a:ea typeface="+mj-ea"/>
                <a:cs typeface="+mj-cs"/>
              </a:rPr>
              <a:t>Cidade</a:t>
            </a:r>
            <a:r>
              <a:rPr lang="en-US" sz="8000" b="1" dirty="0">
                <a:solidFill>
                  <a:srgbClr val="FFC000"/>
                </a:solidFill>
                <a:latin typeface="+mj-lt"/>
                <a:ea typeface="+mj-ea"/>
                <a:cs typeface="+mj-cs"/>
              </a:rPr>
              <a:t> </a:t>
            </a:r>
          </a:p>
          <a:p>
            <a:pPr lvl="1">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a:solidFill>
                  <a:srgbClr val="FFFFFF"/>
                </a:solidFill>
              </a:rPr>
              <a:t> - </a:t>
            </a:r>
            <a:r>
              <a:rPr lang="en-US" sz="8000" b="1" dirty="0">
                <a:solidFill>
                  <a:srgbClr val="FFC000"/>
                </a:solidFill>
              </a:rPr>
              <a:t>Salve o </a:t>
            </a:r>
            <a:r>
              <a:rPr lang="en-US" sz="8000" b="1" dirty="0" err="1">
                <a:solidFill>
                  <a:srgbClr val="FFC000"/>
                </a:solidFill>
              </a:rPr>
              <a:t>arquivo</a:t>
            </a:r>
            <a:r>
              <a:rPr lang="en-US" sz="8000" b="1" dirty="0">
                <a:solidFill>
                  <a:srgbClr val="FFC000"/>
                </a:solidFill>
              </a:rPr>
              <a:t> com o </a:t>
            </a:r>
            <a:r>
              <a:rPr lang="en-US" sz="8000" b="1" dirty="0" err="1">
                <a:solidFill>
                  <a:srgbClr val="FFC000"/>
                </a:solidFill>
              </a:rPr>
              <a:t>nome</a:t>
            </a:r>
            <a:r>
              <a:rPr lang="en-US" sz="8000" b="1" dirty="0">
                <a:solidFill>
                  <a:srgbClr val="FFC000"/>
                </a:solidFill>
              </a:rPr>
              <a:t> </a:t>
            </a:r>
            <a:r>
              <a:rPr lang="en-US" sz="8000" b="1" dirty="0">
                <a:solidFill>
                  <a:schemeClr val="bg1"/>
                </a:solidFill>
              </a:rPr>
              <a:t>cap1_atv01.py</a:t>
            </a:r>
          </a:p>
          <a:p>
            <a:pPr>
              <a:lnSpc>
                <a:spcPct val="90000"/>
              </a:lnSpc>
              <a:spcBef>
                <a:spcPts val="1000"/>
              </a:spcBef>
              <a:buClr>
                <a:schemeClr val="bg2">
                  <a:lumMod val="40000"/>
                  <a:lumOff val="60000"/>
                </a:schemeClr>
              </a:buClr>
              <a:buSzPct val="80000"/>
            </a:pPr>
            <a:r>
              <a:rPr lang="en-US" sz="8000" b="1" dirty="0">
                <a:solidFill>
                  <a:srgbClr val="FFFFFF"/>
                </a:solidFill>
              </a:rPr>
              <a:t> - </a:t>
            </a:r>
            <a:r>
              <a:rPr lang="en-US" sz="8000" b="1" dirty="0" err="1">
                <a:solidFill>
                  <a:srgbClr val="FFC000"/>
                </a:solidFill>
              </a:rPr>
              <a:t>Exiba</a:t>
            </a:r>
            <a:r>
              <a:rPr lang="en-US" sz="8000" b="1" dirty="0">
                <a:solidFill>
                  <a:srgbClr val="FFC000"/>
                </a:solidFill>
              </a:rPr>
              <a:t> </a:t>
            </a:r>
            <a:r>
              <a:rPr lang="en-US" sz="8000" b="1" dirty="0" err="1">
                <a:solidFill>
                  <a:srgbClr val="FFC000"/>
                </a:solidFill>
              </a:rPr>
              <a:t>uma</a:t>
            </a:r>
            <a:r>
              <a:rPr lang="en-US" sz="8000" b="1" dirty="0">
                <a:solidFill>
                  <a:srgbClr val="FFC000"/>
                </a:solidFill>
              </a:rPr>
              <a:t> </a:t>
            </a:r>
            <a:r>
              <a:rPr lang="en-US" sz="8000" b="1" dirty="0" err="1">
                <a:solidFill>
                  <a:srgbClr val="FFC000"/>
                </a:solidFill>
              </a:rPr>
              <a:t>mensagem</a:t>
            </a:r>
            <a:r>
              <a:rPr lang="en-US" sz="8000" b="1" dirty="0">
                <a:solidFill>
                  <a:srgbClr val="FFC000"/>
                </a:solidFill>
              </a:rPr>
              <a:t> final</a:t>
            </a:r>
          </a:p>
          <a:p>
            <a:pPr>
              <a:lnSpc>
                <a:spcPct val="90000"/>
              </a:lnSpc>
              <a:spcBef>
                <a:spcPts val="1000"/>
              </a:spcBef>
              <a:buClr>
                <a:schemeClr val="bg2">
                  <a:lumMod val="40000"/>
                  <a:lumOff val="60000"/>
                </a:schemeClr>
              </a:buClr>
              <a:buSzPct val="80000"/>
            </a:pPr>
            <a:r>
              <a:rPr lang="en-US" sz="8000" b="1" dirty="0">
                <a:solidFill>
                  <a:srgbClr val="FFC000"/>
                </a:solidFill>
              </a:rPr>
              <a:t> - Use </a:t>
            </a:r>
            <a:r>
              <a:rPr lang="en-US" sz="8000" b="1" dirty="0" err="1">
                <a:solidFill>
                  <a:srgbClr val="FFC000"/>
                </a:solidFill>
              </a:rPr>
              <a:t>comentários</a:t>
            </a:r>
            <a:r>
              <a:rPr lang="en-US" sz="8000" b="1" dirty="0">
                <a:solidFill>
                  <a:srgbClr val="FFC000"/>
                </a:solidFill>
              </a:rPr>
              <a:t> </a:t>
            </a:r>
            <a:r>
              <a:rPr lang="en-US" sz="8000" b="1" dirty="0" err="1">
                <a:solidFill>
                  <a:srgbClr val="FFC000"/>
                </a:solidFill>
              </a:rPr>
              <a:t>explicando</a:t>
            </a:r>
            <a:r>
              <a:rPr lang="en-US" sz="8000" b="1" dirty="0">
                <a:solidFill>
                  <a:srgbClr val="FFC000"/>
                </a:solidFill>
              </a:rPr>
              <a:t> </a:t>
            </a:r>
            <a:r>
              <a:rPr lang="en-US" sz="8000" b="1" dirty="0" err="1">
                <a:solidFill>
                  <a:srgbClr val="FFC000"/>
                </a:solidFill>
              </a:rPr>
              <a:t>cada</a:t>
            </a:r>
            <a:r>
              <a:rPr lang="en-US" sz="8000" b="1" dirty="0">
                <a:solidFill>
                  <a:srgbClr val="FFC000"/>
                </a:solidFill>
              </a:rPr>
              <a:t> </a:t>
            </a:r>
            <a:r>
              <a:rPr lang="en-US" sz="8000" b="1" dirty="0" err="1">
                <a:solidFill>
                  <a:srgbClr val="FFC000"/>
                </a:solidFill>
              </a:rPr>
              <a:t>parte</a:t>
            </a:r>
            <a:r>
              <a:rPr lang="en-US" sz="8000" b="1" dirty="0">
                <a:solidFill>
                  <a:srgbClr val="FFC000"/>
                </a:solidFill>
              </a:rPr>
              <a:t> </a:t>
            </a:r>
          </a:p>
          <a:p>
            <a:pPr>
              <a:lnSpc>
                <a:spcPct val="90000"/>
              </a:lnSpc>
              <a:spcBef>
                <a:spcPts val="1000"/>
              </a:spcBef>
              <a:buClr>
                <a:schemeClr val="bg2">
                  <a:lumMod val="40000"/>
                  <a:lumOff val="60000"/>
                </a:schemeClr>
              </a:buClr>
              <a:buSzPct val="80000"/>
            </a:pPr>
            <a:endParaRPr lang="en-US" sz="8000" b="1" dirty="0">
              <a:solidFill>
                <a:srgbClr val="FFC000"/>
              </a:solidFill>
              <a:latin typeface="+mj-lt"/>
              <a:ea typeface="+mj-ea"/>
              <a:cs typeface="+mj-cs"/>
            </a:endParaRPr>
          </a:p>
          <a:p>
            <a:pPr>
              <a:lnSpc>
                <a:spcPct val="90000"/>
              </a:lnSpc>
              <a:spcBef>
                <a:spcPts val="1000"/>
              </a:spcBef>
              <a:buClr>
                <a:schemeClr val="bg2">
                  <a:lumMod val="40000"/>
                  <a:lumOff val="60000"/>
                </a:schemeClr>
              </a:buClr>
              <a:buSzPct val="80000"/>
            </a:pPr>
            <a:endParaRPr lang="en-US" sz="8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err="1">
                <a:solidFill>
                  <a:srgbClr val="FFFFFF"/>
                </a:solidFill>
                <a:latin typeface="+mj-lt"/>
                <a:ea typeface="+mj-ea"/>
                <a:cs typeface="+mj-cs"/>
              </a:rPr>
              <a:t>Exemplo</a:t>
            </a:r>
            <a:r>
              <a:rPr lang="en-US" sz="8000" b="1" dirty="0">
                <a:solidFill>
                  <a:srgbClr val="FFFFFF"/>
                </a:solidFill>
                <a:latin typeface="+mj-lt"/>
                <a:ea typeface="+mj-ea"/>
                <a:cs typeface="+mj-cs"/>
              </a:rPr>
              <a:t> </a:t>
            </a:r>
            <a:r>
              <a:rPr lang="en-US" sz="8000" b="1" dirty="0" err="1">
                <a:solidFill>
                  <a:srgbClr val="FFFFFF"/>
                </a:solidFill>
                <a:latin typeface="+mj-lt"/>
                <a:ea typeface="+mj-ea"/>
                <a:cs typeface="+mj-cs"/>
              </a:rPr>
              <a:t>esperado</a:t>
            </a:r>
            <a:r>
              <a:rPr lang="en-US" sz="8000" b="1" dirty="0">
                <a:solidFill>
                  <a:srgbClr val="FFFFFF"/>
                </a:solidFill>
                <a:latin typeface="+mj-lt"/>
                <a:ea typeface="+mj-ea"/>
                <a:cs typeface="+mj-cs"/>
              </a:rPr>
              <a:t>:</a:t>
            </a: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en-US" sz="8000" b="1" dirty="0">
                <a:solidFill>
                  <a:srgbClr val="FFC000"/>
                </a:solidFill>
                <a:latin typeface="+mj-lt"/>
                <a:ea typeface="+mj-ea"/>
                <a:cs typeface="+mj-cs"/>
              </a:rPr>
              <a:t>Olá João!</a:t>
            </a:r>
            <a:br>
              <a:rPr lang="en-US" sz="8000" b="1" dirty="0">
                <a:solidFill>
                  <a:srgbClr val="FFC000"/>
                </a:solidFill>
                <a:latin typeface="+mj-lt"/>
                <a:ea typeface="+mj-ea"/>
                <a:cs typeface="+mj-cs"/>
              </a:rPr>
            </a:br>
            <a:r>
              <a:rPr lang="en-US" sz="8000" b="1" dirty="0" err="1">
                <a:solidFill>
                  <a:srgbClr val="FFC000"/>
                </a:solidFill>
                <a:latin typeface="+mj-lt"/>
                <a:ea typeface="+mj-ea"/>
                <a:cs typeface="+mj-cs"/>
              </a:rPr>
              <a:t>Você</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tem</a:t>
            </a:r>
            <a:r>
              <a:rPr lang="en-US" sz="8000" b="1" dirty="0">
                <a:solidFill>
                  <a:srgbClr val="FFC000"/>
                </a:solidFill>
                <a:latin typeface="+mj-lt"/>
                <a:ea typeface="+mj-ea"/>
                <a:cs typeface="+mj-cs"/>
              </a:rPr>
              <a:t> 20 </a:t>
            </a:r>
            <a:r>
              <a:rPr lang="en-US" sz="8000" b="1" dirty="0" err="1">
                <a:solidFill>
                  <a:srgbClr val="FFC000"/>
                </a:solidFill>
                <a:latin typeface="+mj-lt"/>
                <a:ea typeface="+mj-ea"/>
                <a:cs typeface="+mj-cs"/>
              </a:rPr>
              <a:t>anos</a:t>
            </a:r>
            <a:r>
              <a:rPr lang="en-US" sz="8000" b="1" dirty="0">
                <a:solidFill>
                  <a:srgbClr val="FFC000"/>
                </a:solidFill>
                <a:latin typeface="+mj-lt"/>
                <a:ea typeface="+mj-ea"/>
                <a:cs typeface="+mj-cs"/>
              </a:rPr>
              <a:t> e mora </a:t>
            </a:r>
            <a:r>
              <a:rPr lang="en-US" sz="8000" b="1" dirty="0" err="1">
                <a:solidFill>
                  <a:srgbClr val="FFC000"/>
                </a:solidFill>
                <a:latin typeface="+mj-lt"/>
                <a:ea typeface="+mj-ea"/>
                <a:cs typeface="+mj-cs"/>
              </a:rPr>
              <a:t>em</a:t>
            </a:r>
            <a:r>
              <a:rPr lang="en-US" sz="8000" b="1" dirty="0">
                <a:solidFill>
                  <a:srgbClr val="FFC000"/>
                </a:solidFill>
                <a:latin typeface="+mj-lt"/>
                <a:ea typeface="+mj-ea"/>
                <a:cs typeface="+mj-cs"/>
              </a:rPr>
              <a:t> São Paulo.</a:t>
            </a:r>
            <a:br>
              <a:rPr lang="en-US" sz="8000" b="1" dirty="0">
                <a:solidFill>
                  <a:srgbClr val="FFC000"/>
                </a:solidFill>
                <a:latin typeface="+mj-lt"/>
                <a:ea typeface="+mj-ea"/>
                <a:cs typeface="+mj-cs"/>
              </a:rPr>
            </a:br>
            <a:r>
              <a:rPr lang="en-US" sz="8000" b="1" dirty="0">
                <a:solidFill>
                  <a:srgbClr val="FFC000"/>
                </a:solidFill>
                <a:latin typeface="+mj-lt"/>
                <a:ea typeface="+mj-ea"/>
                <a:cs typeface="+mj-cs"/>
              </a:rPr>
              <a:t>Bem-</a:t>
            </a:r>
            <a:r>
              <a:rPr lang="en-US" sz="8000" b="1" dirty="0" err="1">
                <a:solidFill>
                  <a:srgbClr val="FFC000"/>
                </a:solidFill>
                <a:latin typeface="+mj-lt"/>
                <a:ea typeface="+mj-ea"/>
                <a:cs typeface="+mj-cs"/>
              </a:rPr>
              <a:t>vindo</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ao</a:t>
            </a:r>
            <a:r>
              <a:rPr lang="en-US" sz="8000" b="1" dirty="0">
                <a:solidFill>
                  <a:srgbClr val="FFC000"/>
                </a:solidFill>
                <a:latin typeface="+mj-lt"/>
                <a:ea typeface="+mj-ea"/>
                <a:cs typeface="+mj-cs"/>
              </a:rPr>
              <a:t> </a:t>
            </a:r>
            <a:r>
              <a:rPr lang="en-US" sz="8000" b="1" dirty="0" err="1">
                <a:solidFill>
                  <a:srgbClr val="FFC000"/>
                </a:solidFill>
                <a:latin typeface="+mj-lt"/>
                <a:ea typeface="+mj-ea"/>
                <a:cs typeface="+mj-cs"/>
              </a:rPr>
              <a:t>mundo</a:t>
            </a:r>
            <a:r>
              <a:rPr lang="en-US" sz="8000" b="1" dirty="0">
                <a:solidFill>
                  <a:srgbClr val="FFC000"/>
                </a:solidFill>
                <a:latin typeface="+mj-lt"/>
                <a:ea typeface="+mj-ea"/>
                <a:cs typeface="+mj-cs"/>
              </a:rPr>
              <a:t> da </a:t>
            </a:r>
            <a:r>
              <a:rPr lang="en-US" sz="8000" b="1" dirty="0" err="1">
                <a:solidFill>
                  <a:srgbClr val="FFC000"/>
                </a:solidFill>
                <a:latin typeface="+mj-lt"/>
                <a:ea typeface="+mj-ea"/>
                <a:cs typeface="+mj-cs"/>
              </a:rPr>
              <a:t>programação</a:t>
            </a:r>
            <a:r>
              <a:rPr lang="en-US" sz="8000" b="1" dirty="0">
                <a:solidFill>
                  <a:srgbClr val="FFC000"/>
                </a:solidFill>
                <a:latin typeface="+mj-lt"/>
                <a:ea typeface="+mj-ea"/>
                <a:cs typeface="+mj-cs"/>
              </a:rPr>
              <a:t> Python!</a:t>
            </a: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endParaRPr lang="en-US" sz="8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buFont typeface="Wingdings 3" charset="2"/>
              <a:buChar char=""/>
            </a:pPr>
            <a:endParaRPr lang="en-US" sz="1400" dirty="0">
              <a:solidFill>
                <a:srgbClr val="FFFFFF"/>
              </a:solidFill>
              <a:latin typeface="+mj-lt"/>
              <a:ea typeface="+mj-ea"/>
              <a:cs typeface="+mj-cs"/>
            </a:endParaRPr>
          </a:p>
        </p:txBody>
      </p:sp>
      <p:sp>
        <p:nvSpPr>
          <p:cNvPr id="4" name="CaixaDeTexto 3">
            <a:extLst>
              <a:ext uri="{FF2B5EF4-FFF2-40B4-BE49-F238E27FC236}">
                <a16:creationId xmlns:a16="http://schemas.microsoft.com/office/drawing/2014/main" id="{BB226ECD-DCBE-3F3E-6582-648FA8F20087}"/>
              </a:ext>
            </a:extLst>
          </p:cNvPr>
          <p:cNvSpPr txBox="1"/>
          <p:nvPr/>
        </p:nvSpPr>
        <p:spPr>
          <a:xfrm>
            <a:off x="194714" y="760938"/>
            <a:ext cx="7655020" cy="4439441"/>
          </a:xfrm>
          <a:prstGeom prst="rect">
            <a:avLst/>
          </a:prstGeom>
        </p:spPr>
        <p:txBody>
          <a:bodyPr vert="horz" lIns="91440" tIns="45720" rIns="91440" bIns="45720" rtlCol="0" anchor="b">
            <a:normAutofit/>
          </a:bodyPr>
          <a:lstStyle/>
          <a:p>
            <a:pPr algn="ctr">
              <a:spcBef>
                <a:spcPct val="0"/>
              </a:spcBef>
              <a:spcAft>
                <a:spcPts val="600"/>
              </a:spcAft>
            </a:pPr>
            <a:endParaRPr lang="en-US" sz="6700" dirty="0">
              <a:solidFill>
                <a:schemeClr val="tx2"/>
              </a:solidFill>
              <a:latin typeface="+mj-lt"/>
              <a:ea typeface="+mj-ea"/>
              <a:cs typeface="+mj-cs"/>
            </a:endParaRPr>
          </a:p>
        </p:txBody>
      </p:sp>
      <p:sp>
        <p:nvSpPr>
          <p:cNvPr id="3" name="Rectangle 1">
            <a:extLst>
              <a:ext uri="{FF2B5EF4-FFF2-40B4-BE49-F238E27FC236}">
                <a16:creationId xmlns:a16="http://schemas.microsoft.com/office/drawing/2014/main" id="{08512E9D-47E9-2AA4-721A-CA381EB09FF7}"/>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Tree>
    <p:extLst>
      <p:ext uri="{BB962C8B-B14F-4D97-AF65-F5344CB8AC3E}">
        <p14:creationId xmlns:p14="http://schemas.microsoft.com/office/powerpoint/2010/main" val="2678311637"/>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1B68C77-138E-4BF7-A276-BD0C78A4219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2" name="Picture 11">
            <a:extLst>
              <a:ext uri="{FF2B5EF4-FFF2-40B4-BE49-F238E27FC236}">
                <a16:creationId xmlns:a16="http://schemas.microsoft.com/office/drawing/2014/main" id="{7C268552-D473-46ED-B1B8-422042C4DEF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4" name="Oval 13">
            <a:extLst>
              <a:ext uri="{FF2B5EF4-FFF2-40B4-BE49-F238E27FC236}">
                <a16:creationId xmlns:a16="http://schemas.microsoft.com/office/drawing/2014/main" id="{4AC0CD9D-7610-4620-93B4-798CCD9AB5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6" name="Picture 15">
            <a:extLst>
              <a:ext uri="{FF2B5EF4-FFF2-40B4-BE49-F238E27FC236}">
                <a16:creationId xmlns:a16="http://schemas.microsoft.com/office/drawing/2014/main" id="{B9238B3E-24AA-439A-B527-6C5DF6D7214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8" name="Picture 17">
            <a:extLst>
              <a:ext uri="{FF2B5EF4-FFF2-40B4-BE49-F238E27FC236}">
                <a16:creationId xmlns:a16="http://schemas.microsoft.com/office/drawing/2014/main" id="{69F01145-BEA3-4CBF-AA21-10077B948C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0" name="Rectangle 19">
            <a:extLst>
              <a:ext uri="{FF2B5EF4-FFF2-40B4-BE49-F238E27FC236}">
                <a16:creationId xmlns:a16="http://schemas.microsoft.com/office/drawing/2014/main" id="{DE4D62F9-188E-4530-84C2-24BDEE4BEB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2" name="Rectangle 21">
            <a:extLst>
              <a:ext uri="{FF2B5EF4-FFF2-40B4-BE49-F238E27FC236}">
                <a16:creationId xmlns:a16="http://schemas.microsoft.com/office/drawing/2014/main" id="{F3F4807A-5068-4492-8025-D75F320E9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9A09ED3A-F973-7826-5B48-A275B115C943}"/>
              </a:ext>
            </a:extLst>
          </p:cNvPr>
          <p:cNvSpPr txBox="1"/>
          <p:nvPr/>
        </p:nvSpPr>
        <p:spPr>
          <a:xfrm>
            <a:off x="9357630" y="3434442"/>
            <a:ext cx="6128644" cy="1360716"/>
          </a:xfrm>
          <a:prstGeom prst="rect">
            <a:avLst/>
          </a:prstGeom>
        </p:spPr>
        <p:txBody>
          <a:bodyPr vert="horz" lIns="91440" tIns="45720" rIns="91440" bIns="45720" rtlCol="0" anchor="b">
            <a:normAutofit/>
          </a:bodyPr>
          <a:lstStyle/>
          <a:p>
            <a:pPr>
              <a:lnSpc>
                <a:spcPct val="90000"/>
              </a:lnSpc>
              <a:spcBef>
                <a:spcPct val="0"/>
              </a:spcBef>
              <a:spcAft>
                <a:spcPts val="600"/>
              </a:spcAft>
              <a:buClr>
                <a:schemeClr val="bg2">
                  <a:lumMod val="40000"/>
                  <a:lumOff val="60000"/>
                </a:schemeClr>
              </a:buClr>
              <a:buSzPct val="80000"/>
            </a:pPr>
            <a:r>
              <a:rPr lang="en-US" sz="7200" b="0" i="0" kern="1200" dirty="0" err="1">
                <a:solidFill>
                  <a:srgbClr val="EBEBEB"/>
                </a:solidFill>
                <a:latin typeface="+mj-lt"/>
                <a:ea typeface="+mj-ea"/>
                <a:cs typeface="+mj-cs"/>
              </a:rPr>
              <a:t>Atividade</a:t>
            </a:r>
            <a:r>
              <a:rPr lang="en-US" sz="7200" b="0" i="0" kern="1200" dirty="0">
                <a:solidFill>
                  <a:srgbClr val="EBEBEB"/>
                </a:solidFill>
                <a:latin typeface="+mj-lt"/>
                <a:ea typeface="+mj-ea"/>
                <a:cs typeface="+mj-cs"/>
              </a:rPr>
              <a:t> 01</a:t>
            </a:r>
          </a:p>
        </p:txBody>
      </p:sp>
      <p:sp>
        <p:nvSpPr>
          <p:cNvPr id="24" name="Freeform 36">
            <a:extLst>
              <a:ext uri="{FF2B5EF4-FFF2-40B4-BE49-F238E27FC236}">
                <a16:creationId xmlns:a16="http://schemas.microsoft.com/office/drawing/2014/main" id="{B24996F8-180C-4DCB-8A26-DFA336CDE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6619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7" name="Freeform: Shape 25">
            <a:extLst>
              <a:ext uri="{FF2B5EF4-FFF2-40B4-BE49-F238E27FC236}">
                <a16:creationId xmlns:a16="http://schemas.microsoft.com/office/drawing/2014/main" id="{D8B22DE2-C518-4F77-BE90-E1B6B1909D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91947" y="-91947"/>
            <a:ext cx="9144001" cy="9327891"/>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txBody>
          <a:bodyPr/>
          <a:lstStyle/>
          <a:p>
            <a:endParaRPr lang="pt-BR"/>
          </a:p>
        </p:txBody>
      </p:sp>
      <p:sp>
        <p:nvSpPr>
          <p:cNvPr id="38" name="Rectangle 27">
            <a:extLst>
              <a:ext uri="{FF2B5EF4-FFF2-40B4-BE49-F238E27FC236}">
                <a16:creationId xmlns:a16="http://schemas.microsoft.com/office/drawing/2014/main" id="{630182B0-3559-41D5-9EBC-0BD86BEDA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 name="Imagem 4">
            <a:extLst>
              <a:ext uri="{FF2B5EF4-FFF2-40B4-BE49-F238E27FC236}">
                <a16:creationId xmlns:a16="http://schemas.microsoft.com/office/drawing/2014/main" id="{17BABB47-BC8C-A5F8-2884-2BA120C217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8691" y="2159000"/>
            <a:ext cx="7267409" cy="4850995"/>
          </a:xfrm>
          <a:prstGeom prst="rect">
            <a:avLst/>
          </a:prstGeom>
          <a:effectLst/>
        </p:spPr>
      </p:pic>
    </p:spTree>
    <p:extLst>
      <p:ext uri="{BB962C8B-B14F-4D97-AF65-F5344CB8AC3E}">
        <p14:creationId xmlns:p14="http://schemas.microsoft.com/office/powerpoint/2010/main" val="1687592288"/>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A1C2ED-A286-7F9E-1641-E303A3D8FA71}"/>
            </a:ext>
          </a:extLst>
        </p:cNvPr>
        <p:cNvGrpSpPr/>
        <p:nvPr/>
      </p:nvGrpSpPr>
      <p:grpSpPr>
        <a:xfrm>
          <a:off x="0" y="0"/>
          <a:ext cx="0" cy="0"/>
          <a:chOff x="0" y="0"/>
          <a:chExt cx="0" cy="0"/>
        </a:xfrm>
      </p:grpSpPr>
      <p:pic>
        <p:nvPicPr>
          <p:cNvPr id="3079" name="Picture 3078">
            <a:extLst>
              <a:ext uri="{FF2B5EF4-FFF2-40B4-BE49-F238E27FC236}">
                <a16:creationId xmlns:a16="http://schemas.microsoft.com/office/drawing/2014/main" id="{75549318-7EFA-F472-ED6A-51A1B96878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081" name="Picture 3080">
            <a:extLst>
              <a:ext uri="{FF2B5EF4-FFF2-40B4-BE49-F238E27FC236}">
                <a16:creationId xmlns:a16="http://schemas.microsoft.com/office/drawing/2014/main" id="{21C68C59-9A9F-1748-8AB1-D246FE4B5B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083" name="Oval 3082">
            <a:extLst>
              <a:ext uri="{FF2B5EF4-FFF2-40B4-BE49-F238E27FC236}">
                <a16:creationId xmlns:a16="http://schemas.microsoft.com/office/drawing/2014/main" id="{DFF9001F-F3BE-03FE-EDE4-CD855C439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085" name="Picture 3084">
            <a:extLst>
              <a:ext uri="{FF2B5EF4-FFF2-40B4-BE49-F238E27FC236}">
                <a16:creationId xmlns:a16="http://schemas.microsoft.com/office/drawing/2014/main" id="{7ACB3C2A-F074-A7C4-BD04-C617BC59D5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3087" name="Picture 3086">
            <a:extLst>
              <a:ext uri="{FF2B5EF4-FFF2-40B4-BE49-F238E27FC236}">
                <a16:creationId xmlns:a16="http://schemas.microsoft.com/office/drawing/2014/main" id="{66482DCB-DE19-C0B8-2A13-8F4562A93BC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3089" name="Rectangle 3088">
            <a:extLst>
              <a:ext uri="{FF2B5EF4-FFF2-40B4-BE49-F238E27FC236}">
                <a16:creationId xmlns:a16="http://schemas.microsoft.com/office/drawing/2014/main" id="{B0E38C02-9CA1-662D-996F-22153A59DE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091" name="Rectangle 3090">
            <a:extLst>
              <a:ext uri="{FF2B5EF4-FFF2-40B4-BE49-F238E27FC236}">
                <a16:creationId xmlns:a16="http://schemas.microsoft.com/office/drawing/2014/main" id="{90EBE168-55F3-9706-D92E-22FE6A1733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093" name="Rectangle 3092">
            <a:extLst>
              <a:ext uri="{FF2B5EF4-FFF2-40B4-BE49-F238E27FC236}">
                <a16:creationId xmlns:a16="http://schemas.microsoft.com/office/drawing/2014/main" id="{25B21A62-1946-875A-DF65-BF6C7E19A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85408" y="0"/>
            <a:ext cx="10070592" cy="9144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95" name="Rounded Rectangle 9">
            <a:extLst>
              <a:ext uri="{FF2B5EF4-FFF2-40B4-BE49-F238E27FC236}">
                <a16:creationId xmlns:a16="http://schemas.microsoft.com/office/drawing/2014/main" id="{590C26AA-23A4-FDAE-7C81-83A8B8E751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31584" y="646176"/>
            <a:ext cx="8778797" cy="7652249"/>
          </a:xfrm>
          <a:prstGeom prst="roundRect">
            <a:avLst>
              <a:gd name="adj" fmla="val 0"/>
            </a:avLst>
          </a:prstGeom>
          <a:ln w="12700">
            <a:solidFill>
              <a:schemeClr val="bg2"/>
            </a:solidFill>
          </a:ln>
          <a:effectLst>
            <a:outerShdw blurRad="50800" dist="50800" dir="5400000" algn="tl" rotWithShape="0">
              <a:srgbClr val="000000">
                <a:alpha val="4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GitHub - rbolsoni/Resolucao-exercicios-python-Udemy: Resolução dos  exercícios do curso de programação em Python - Do básico ao avançado - Geek  Academy - Udemy · GitHub">
            <a:extLst>
              <a:ext uri="{FF2B5EF4-FFF2-40B4-BE49-F238E27FC236}">
                <a16:creationId xmlns:a16="http://schemas.microsoft.com/office/drawing/2014/main" id="{90E276CA-D3DC-2630-8B77-8DF9F5185310}"/>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7477758" y="2354933"/>
            <a:ext cx="7486447" cy="4229842"/>
          </a:xfrm>
          <a:prstGeom prst="rect">
            <a:avLst/>
          </a:prstGeom>
          <a:noFill/>
          <a:effectLst/>
          <a:extLst>
            <a:ext uri="{909E8E84-426E-40DD-AFC4-6F175D3DCCD1}">
              <a14:hiddenFill xmlns:a14="http://schemas.microsoft.com/office/drawing/2010/main">
                <a:solidFill>
                  <a:srgbClr val="FFFFFF"/>
                </a:solidFill>
              </a14:hiddenFill>
            </a:ext>
          </a:extLst>
        </p:spPr>
      </p:pic>
      <p:sp>
        <p:nvSpPr>
          <p:cNvPr id="3097" name="Rectangle 3096">
            <a:extLst>
              <a:ext uri="{FF2B5EF4-FFF2-40B4-BE49-F238E27FC236}">
                <a16:creationId xmlns:a16="http://schemas.microsoft.com/office/drawing/2014/main" id="{8BBF0B65-CE32-EA97-9752-B9A344BA4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 name="CaixaDeTexto 1">
            <a:extLst>
              <a:ext uri="{FF2B5EF4-FFF2-40B4-BE49-F238E27FC236}">
                <a16:creationId xmlns:a16="http://schemas.microsoft.com/office/drawing/2014/main" id="{5018FD31-70A1-569C-0C72-DD0C1064C543}"/>
              </a:ext>
            </a:extLst>
          </p:cNvPr>
          <p:cNvSpPr txBox="1"/>
          <p:nvPr/>
        </p:nvSpPr>
        <p:spPr>
          <a:xfrm>
            <a:off x="215939" y="760938"/>
            <a:ext cx="5969469" cy="8108033"/>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pPr>
            <a:r>
              <a:rPr lang="pt-BR" sz="2400" b="1" dirty="0">
                <a:solidFill>
                  <a:srgbClr val="FFFFFF"/>
                </a:solidFill>
                <a:latin typeface="+mj-lt"/>
                <a:ea typeface="+mj-ea"/>
                <a:cs typeface="+mj-cs"/>
              </a:rPr>
              <a:t>Capítulo 1: </a:t>
            </a:r>
            <a:r>
              <a:rPr lang="pt-BR" sz="2400" b="1" dirty="0">
                <a:solidFill>
                  <a:srgbClr val="FFC000"/>
                </a:solidFill>
                <a:latin typeface="+mj-lt"/>
                <a:ea typeface="+mj-ea"/>
                <a:cs typeface="+mj-cs"/>
              </a:rPr>
              <a:t>Atividade 02</a:t>
            </a:r>
          </a:p>
          <a:p>
            <a:pPr>
              <a:lnSpc>
                <a:spcPct val="90000"/>
              </a:lnSpc>
              <a:spcBef>
                <a:spcPts val="1000"/>
              </a:spcBef>
              <a:buClr>
                <a:schemeClr val="bg2">
                  <a:lumMod val="40000"/>
                  <a:lumOff val="60000"/>
                </a:schemeClr>
              </a:buClr>
              <a:buSzPct val="80000"/>
            </a:pPr>
            <a:endParaRPr lang="pt-BR" sz="24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pt-BR" sz="2400" b="1" dirty="0">
                <a:solidFill>
                  <a:srgbClr val="FFFFFF"/>
                </a:solidFill>
                <a:latin typeface="+mj-lt"/>
                <a:ea typeface="+mj-ea"/>
                <a:cs typeface="+mj-cs"/>
              </a:rPr>
              <a:t>Crie um programa que:</a:t>
            </a:r>
          </a:p>
          <a:p>
            <a:pPr>
              <a:lnSpc>
                <a:spcPct val="90000"/>
              </a:lnSpc>
              <a:spcBef>
                <a:spcPts val="1000"/>
              </a:spcBef>
              <a:buClr>
                <a:schemeClr val="bg2">
                  <a:lumMod val="40000"/>
                  <a:lumOff val="60000"/>
                </a:schemeClr>
              </a:buClr>
              <a:buSzPct val="80000"/>
            </a:pPr>
            <a:endParaRPr lang="pt-BR" sz="2000" b="1"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Solicite ao usuário dois números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Realize a soma desses números </a:t>
            </a:r>
          </a:p>
          <a:p>
            <a:pPr>
              <a:lnSpc>
                <a:spcPct val="90000"/>
              </a:lnSpc>
              <a:spcBef>
                <a:spcPts val="1000"/>
              </a:spcBef>
              <a:buClr>
                <a:schemeClr val="bg2">
                  <a:lumMod val="40000"/>
                  <a:lumOff val="60000"/>
                </a:schemeClr>
              </a:buClr>
              <a:buSzPct val="80000"/>
            </a:pPr>
            <a:r>
              <a:rPr lang="pt-BR" sz="2400" b="1" dirty="0">
                <a:solidFill>
                  <a:srgbClr val="FFC000"/>
                </a:solidFill>
              </a:rPr>
              <a:t>Utilize variáveis para armazenar os valores informados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Exiba o resultado da soma </a:t>
            </a:r>
          </a:p>
          <a:p>
            <a:pPr>
              <a:lnSpc>
                <a:spcPct val="90000"/>
              </a:lnSpc>
              <a:spcBef>
                <a:spcPts val="1000"/>
              </a:spcBef>
              <a:buClr>
                <a:schemeClr val="bg2">
                  <a:lumMod val="40000"/>
                  <a:lumOff val="60000"/>
                </a:schemeClr>
              </a:buClr>
              <a:buSzPct val="80000"/>
            </a:pPr>
            <a:r>
              <a:rPr lang="pt-BR" sz="2400" b="1" dirty="0">
                <a:solidFill>
                  <a:srgbClr val="FFC000"/>
                </a:solidFill>
                <a:latin typeface="+mj-lt"/>
                <a:ea typeface="+mj-ea"/>
                <a:cs typeface="+mj-cs"/>
              </a:rPr>
              <a:t>Salve o arquivo com o nome </a:t>
            </a:r>
            <a:r>
              <a:rPr lang="pt-BR" sz="2400" b="1" dirty="0">
                <a:solidFill>
                  <a:schemeClr val="bg1"/>
                </a:solidFill>
                <a:latin typeface="+mj-lt"/>
                <a:ea typeface="+mj-ea"/>
                <a:cs typeface="+mj-cs"/>
              </a:rPr>
              <a:t>cap02_atv01.py </a:t>
            </a:r>
          </a:p>
          <a:p>
            <a:pPr>
              <a:lnSpc>
                <a:spcPct val="90000"/>
              </a:lnSpc>
              <a:spcBef>
                <a:spcPts val="1000"/>
              </a:spcBef>
              <a:buClr>
                <a:schemeClr val="bg2">
                  <a:lumMod val="40000"/>
                  <a:lumOff val="60000"/>
                </a:schemeClr>
              </a:buClr>
              <a:buSzPct val="80000"/>
            </a:pPr>
            <a:endParaRPr lang="pt-BR" sz="2400" b="1" dirty="0">
              <a:solidFill>
                <a:schemeClr val="bg1"/>
              </a:solidFill>
              <a:latin typeface="+mj-lt"/>
              <a:ea typeface="+mj-ea"/>
              <a:cs typeface="+mj-cs"/>
            </a:endParaRPr>
          </a:p>
          <a:p>
            <a:pPr>
              <a:lnSpc>
                <a:spcPct val="90000"/>
              </a:lnSpc>
              <a:spcBef>
                <a:spcPts val="1000"/>
              </a:spcBef>
              <a:buClr>
                <a:schemeClr val="bg2">
                  <a:lumMod val="40000"/>
                  <a:lumOff val="60000"/>
                </a:schemeClr>
              </a:buClr>
              <a:buSzPct val="80000"/>
            </a:pPr>
            <a:endParaRPr lang="en-US" sz="4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pPr>
            <a:endParaRPr lang="en-US" sz="4000" dirty="0">
              <a:solidFill>
                <a:srgbClr val="FFFFFF"/>
              </a:solidFill>
              <a:latin typeface="+mj-lt"/>
              <a:ea typeface="+mj-ea"/>
              <a:cs typeface="+mj-cs"/>
            </a:endParaRPr>
          </a:p>
          <a:p>
            <a:pPr>
              <a:lnSpc>
                <a:spcPct val="90000"/>
              </a:lnSpc>
              <a:spcBef>
                <a:spcPts val="1000"/>
              </a:spcBef>
              <a:buClr>
                <a:schemeClr val="bg2">
                  <a:lumMod val="40000"/>
                  <a:lumOff val="60000"/>
                </a:schemeClr>
              </a:buClr>
              <a:buSzPct val="80000"/>
              <a:buFont typeface="Wingdings 3" charset="2"/>
              <a:buChar char=""/>
            </a:pPr>
            <a:endParaRPr lang="en-US" sz="600" dirty="0">
              <a:solidFill>
                <a:srgbClr val="FFFFFF"/>
              </a:solidFill>
              <a:latin typeface="+mj-lt"/>
              <a:ea typeface="+mj-ea"/>
              <a:cs typeface="+mj-cs"/>
            </a:endParaRPr>
          </a:p>
        </p:txBody>
      </p:sp>
      <p:sp>
        <p:nvSpPr>
          <p:cNvPr id="4" name="CaixaDeTexto 3">
            <a:extLst>
              <a:ext uri="{FF2B5EF4-FFF2-40B4-BE49-F238E27FC236}">
                <a16:creationId xmlns:a16="http://schemas.microsoft.com/office/drawing/2014/main" id="{FAA755B3-C4AB-BFB7-5127-F16C34ADD288}"/>
              </a:ext>
            </a:extLst>
          </p:cNvPr>
          <p:cNvSpPr txBox="1"/>
          <p:nvPr/>
        </p:nvSpPr>
        <p:spPr>
          <a:xfrm>
            <a:off x="194714" y="760938"/>
            <a:ext cx="7655020" cy="4439441"/>
          </a:xfrm>
          <a:prstGeom prst="rect">
            <a:avLst/>
          </a:prstGeom>
        </p:spPr>
        <p:txBody>
          <a:bodyPr vert="horz" lIns="91440" tIns="45720" rIns="91440" bIns="45720" rtlCol="0" anchor="b">
            <a:normAutofit/>
          </a:bodyPr>
          <a:lstStyle/>
          <a:p>
            <a:pPr algn="ctr">
              <a:spcBef>
                <a:spcPct val="0"/>
              </a:spcBef>
              <a:spcAft>
                <a:spcPts val="600"/>
              </a:spcAft>
            </a:pPr>
            <a:endParaRPr lang="en-US" sz="6700" dirty="0">
              <a:solidFill>
                <a:schemeClr val="tx2"/>
              </a:solidFill>
              <a:latin typeface="+mj-lt"/>
              <a:ea typeface="+mj-ea"/>
              <a:cs typeface="+mj-cs"/>
            </a:endParaRPr>
          </a:p>
        </p:txBody>
      </p:sp>
      <p:sp>
        <p:nvSpPr>
          <p:cNvPr id="3" name="Rectangle 1">
            <a:extLst>
              <a:ext uri="{FF2B5EF4-FFF2-40B4-BE49-F238E27FC236}">
                <a16:creationId xmlns:a16="http://schemas.microsoft.com/office/drawing/2014/main" id="{E55D91EE-DF4B-A8B7-5500-65F86B7A49EB}"/>
              </a:ext>
            </a:extLst>
          </p:cNvPr>
          <p:cNvSpPr>
            <a:spLocks noChangeArrowheads="1"/>
          </p:cNvSpPr>
          <p:nvPr/>
        </p:nvSpPr>
        <p:spPr bwMode="auto">
          <a:xfrm>
            <a:off x="6756400" y="1775013"/>
            <a:ext cx="8762000" cy="55939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R="0" lvl="0" fontAlgn="base">
              <a:spcBef>
                <a:spcPts val="1000"/>
              </a:spcBef>
              <a:buClr>
                <a:schemeClr val="bg2">
                  <a:lumMod val="40000"/>
                  <a:lumOff val="60000"/>
                </a:schemeClr>
              </a:buClr>
              <a:buSzPct val="80000"/>
              <a:tabLst/>
            </a:pPr>
            <a:r>
              <a:rPr kumimoji="0" lang="en-US" altLang="pt-BR" sz="2800" u="none" strike="noStrike" cap="none" normalizeH="0" baseline="0" dirty="0">
                <a:ln>
                  <a:noFill/>
                </a:ln>
                <a:effectLst/>
                <a:latin typeface="+mj-lt"/>
                <a:ea typeface="+mj-ea"/>
                <a:cs typeface="+mj-cs"/>
              </a:rPr>
              <a:t> </a:t>
            </a:r>
          </a:p>
        </p:txBody>
      </p:sp>
      <p:sp>
        <p:nvSpPr>
          <p:cNvPr id="6" name="CaixaDeTexto 5">
            <a:extLst>
              <a:ext uri="{FF2B5EF4-FFF2-40B4-BE49-F238E27FC236}">
                <a16:creationId xmlns:a16="http://schemas.microsoft.com/office/drawing/2014/main" id="{474FD64A-425C-1C63-7C3D-E7B86B83EA36}"/>
              </a:ext>
            </a:extLst>
          </p:cNvPr>
          <p:cNvSpPr txBox="1"/>
          <p:nvPr/>
        </p:nvSpPr>
        <p:spPr>
          <a:xfrm>
            <a:off x="208938" y="6360835"/>
            <a:ext cx="8125968" cy="1938992"/>
          </a:xfrm>
          <a:prstGeom prst="rect">
            <a:avLst/>
          </a:prstGeom>
          <a:noFill/>
        </p:spPr>
        <p:txBody>
          <a:bodyPr wrap="square">
            <a:spAutoFit/>
          </a:bodyPr>
          <a:lstStyle/>
          <a:p>
            <a:pPr>
              <a:buNone/>
            </a:pPr>
            <a:r>
              <a:rPr lang="pt-BR" sz="2000" b="1" dirty="0">
                <a:solidFill>
                  <a:schemeClr val="bg1"/>
                </a:solidFill>
              </a:rPr>
              <a:t>Exemplo esperado:</a:t>
            </a:r>
          </a:p>
          <a:p>
            <a:pPr>
              <a:buNone/>
            </a:pPr>
            <a:endParaRPr lang="pt-BR" sz="2000" b="1" dirty="0">
              <a:solidFill>
                <a:srgbClr val="FFC000"/>
              </a:solidFill>
            </a:endParaRPr>
          </a:p>
          <a:p>
            <a:pPr>
              <a:buNone/>
            </a:pPr>
            <a:r>
              <a:rPr lang="pt-BR" sz="2000" b="1" dirty="0">
                <a:solidFill>
                  <a:srgbClr val="FFC000"/>
                </a:solidFill>
              </a:rPr>
              <a:t>Informe o primeiro número: 10</a:t>
            </a:r>
            <a:br>
              <a:rPr lang="pt-BR" sz="2000" b="1" dirty="0">
                <a:solidFill>
                  <a:srgbClr val="FFC000"/>
                </a:solidFill>
              </a:rPr>
            </a:br>
            <a:r>
              <a:rPr lang="pt-BR" sz="2000" b="1" dirty="0">
                <a:solidFill>
                  <a:srgbClr val="FFC000"/>
                </a:solidFill>
              </a:rPr>
              <a:t>Informe o segundo número: 5</a:t>
            </a:r>
          </a:p>
          <a:p>
            <a:pPr>
              <a:buNone/>
            </a:pPr>
            <a:endParaRPr lang="pt-BR" sz="2000" b="1" dirty="0">
              <a:solidFill>
                <a:srgbClr val="FFC000"/>
              </a:solidFill>
            </a:endParaRPr>
          </a:p>
          <a:p>
            <a:pPr>
              <a:buNone/>
            </a:pPr>
            <a:r>
              <a:rPr lang="pt-BR" sz="2000" b="1" dirty="0">
                <a:solidFill>
                  <a:srgbClr val="FFC000"/>
                </a:solidFill>
              </a:rPr>
              <a:t>A soma é = 15</a:t>
            </a:r>
          </a:p>
        </p:txBody>
      </p:sp>
    </p:spTree>
    <p:extLst>
      <p:ext uri="{BB962C8B-B14F-4D97-AF65-F5344CB8AC3E}">
        <p14:creationId xmlns:p14="http://schemas.microsoft.com/office/powerpoint/2010/main" val="1807475147"/>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5BAC11-7858-278C-D091-4E5C9CF7726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FCE9F2B9-6D36-5D11-1A42-AD3F0003E8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2" name="Picture 11">
            <a:extLst>
              <a:ext uri="{FF2B5EF4-FFF2-40B4-BE49-F238E27FC236}">
                <a16:creationId xmlns:a16="http://schemas.microsoft.com/office/drawing/2014/main" id="{AB0E5FA9-4585-92FB-1520-FDB8FBFBAC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4" name="Oval 13">
            <a:extLst>
              <a:ext uri="{FF2B5EF4-FFF2-40B4-BE49-F238E27FC236}">
                <a16:creationId xmlns:a16="http://schemas.microsoft.com/office/drawing/2014/main" id="{157F028F-C7E1-62E3-7193-06E8063D7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6" name="Picture 15">
            <a:extLst>
              <a:ext uri="{FF2B5EF4-FFF2-40B4-BE49-F238E27FC236}">
                <a16:creationId xmlns:a16="http://schemas.microsoft.com/office/drawing/2014/main" id="{986EB21E-FD51-DC99-794A-833B570B1A1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18" name="Picture 17">
            <a:extLst>
              <a:ext uri="{FF2B5EF4-FFF2-40B4-BE49-F238E27FC236}">
                <a16:creationId xmlns:a16="http://schemas.microsoft.com/office/drawing/2014/main" id="{2A9A3EA3-BA52-4CA8-A4A3-5941970A8F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0" name="Rectangle 19">
            <a:extLst>
              <a:ext uri="{FF2B5EF4-FFF2-40B4-BE49-F238E27FC236}">
                <a16:creationId xmlns:a16="http://schemas.microsoft.com/office/drawing/2014/main" id="{FA055EAF-80CC-088B-AE79-04754BFF8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22" name="Rectangle 21">
            <a:extLst>
              <a:ext uri="{FF2B5EF4-FFF2-40B4-BE49-F238E27FC236}">
                <a16:creationId xmlns:a16="http://schemas.microsoft.com/office/drawing/2014/main" id="{8FDF37A0-0182-D329-008F-570B9DBAA9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6256000" cy="9144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 name="CaixaDeTexto 2">
            <a:extLst>
              <a:ext uri="{FF2B5EF4-FFF2-40B4-BE49-F238E27FC236}">
                <a16:creationId xmlns:a16="http://schemas.microsoft.com/office/drawing/2014/main" id="{F314C983-7E7F-9CD8-79DA-A15B7E7F1148}"/>
              </a:ext>
            </a:extLst>
          </p:cNvPr>
          <p:cNvSpPr txBox="1"/>
          <p:nvPr/>
        </p:nvSpPr>
        <p:spPr>
          <a:xfrm>
            <a:off x="9357630" y="3434442"/>
            <a:ext cx="6128644" cy="1360716"/>
          </a:xfrm>
          <a:prstGeom prst="rect">
            <a:avLst/>
          </a:prstGeom>
        </p:spPr>
        <p:txBody>
          <a:bodyPr vert="horz" lIns="91440" tIns="45720" rIns="91440" bIns="45720" rtlCol="0" anchor="b">
            <a:normAutofit/>
          </a:bodyPr>
          <a:lstStyle/>
          <a:p>
            <a:pPr>
              <a:lnSpc>
                <a:spcPct val="90000"/>
              </a:lnSpc>
              <a:spcBef>
                <a:spcPct val="0"/>
              </a:spcBef>
              <a:spcAft>
                <a:spcPts val="600"/>
              </a:spcAft>
              <a:buClr>
                <a:schemeClr val="bg2">
                  <a:lumMod val="40000"/>
                  <a:lumOff val="60000"/>
                </a:schemeClr>
              </a:buClr>
              <a:buSzPct val="80000"/>
            </a:pPr>
            <a:r>
              <a:rPr lang="en-US" sz="7200" b="0" i="0" kern="1200" dirty="0" err="1">
                <a:solidFill>
                  <a:srgbClr val="EBEBEB"/>
                </a:solidFill>
                <a:latin typeface="+mj-lt"/>
                <a:ea typeface="+mj-ea"/>
                <a:cs typeface="+mj-cs"/>
              </a:rPr>
              <a:t>Atividade</a:t>
            </a:r>
            <a:r>
              <a:rPr lang="en-US" sz="7200" b="0" i="0" kern="1200" dirty="0">
                <a:solidFill>
                  <a:srgbClr val="EBEBEB"/>
                </a:solidFill>
                <a:latin typeface="+mj-lt"/>
                <a:ea typeface="+mj-ea"/>
                <a:cs typeface="+mj-cs"/>
              </a:rPr>
              <a:t> 02</a:t>
            </a:r>
          </a:p>
        </p:txBody>
      </p:sp>
      <p:sp>
        <p:nvSpPr>
          <p:cNvPr id="24" name="Freeform 36">
            <a:extLst>
              <a:ext uri="{FF2B5EF4-FFF2-40B4-BE49-F238E27FC236}">
                <a16:creationId xmlns:a16="http://schemas.microsoft.com/office/drawing/2014/main" id="{0B3F6608-DA5C-2DF6-32DA-76ADEF6D38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866194"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useBgFill="1">
        <p:nvSpPr>
          <p:cNvPr id="37" name="Freeform: Shape 25">
            <a:extLst>
              <a:ext uri="{FF2B5EF4-FFF2-40B4-BE49-F238E27FC236}">
                <a16:creationId xmlns:a16="http://schemas.microsoft.com/office/drawing/2014/main" id="{49B7C135-9C1F-40A1-09D3-BEBC07E306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400000" flipH="1">
            <a:off x="91947" y="-91947"/>
            <a:ext cx="9144001" cy="9327891"/>
          </a:xfrm>
          <a:custGeom>
            <a:avLst/>
            <a:gdLst>
              <a:gd name="connsiteX0" fmla="*/ 6858001 w 6858001"/>
              <a:gd name="connsiteY0" fmla="*/ 1344715 h 6995918"/>
              <a:gd name="connsiteX1" fmla="*/ 6858001 w 6858001"/>
              <a:gd name="connsiteY1" fmla="*/ 1177 h 6995918"/>
              <a:gd name="connsiteX2" fmla="*/ 6702324 w 6858001"/>
              <a:gd name="connsiteY2" fmla="*/ 26222 h 6995918"/>
              <a:gd name="connsiteX3" fmla="*/ 6547333 w 6858001"/>
              <a:gd name="connsiteY3" fmla="*/ 50091 h 6995918"/>
              <a:gd name="connsiteX4" fmla="*/ 6391657 w 6858001"/>
              <a:gd name="connsiteY4" fmla="*/ 73455 h 6995918"/>
              <a:gd name="connsiteX5" fmla="*/ 6235294 w 6858001"/>
              <a:gd name="connsiteY5" fmla="*/ 93458 h 6995918"/>
              <a:gd name="connsiteX6" fmla="*/ 6079618 w 6858001"/>
              <a:gd name="connsiteY6" fmla="*/ 113629 h 6995918"/>
              <a:gd name="connsiteX7" fmla="*/ 5923255 w 6858001"/>
              <a:gd name="connsiteY7" fmla="*/ 132455 h 6995918"/>
              <a:gd name="connsiteX8" fmla="*/ 5768950 w 6858001"/>
              <a:gd name="connsiteY8" fmla="*/ 148591 h 6995918"/>
              <a:gd name="connsiteX9" fmla="*/ 5612588 w 6858001"/>
              <a:gd name="connsiteY9" fmla="*/ 163887 h 6995918"/>
              <a:gd name="connsiteX10" fmla="*/ 5456911 w 6858001"/>
              <a:gd name="connsiteY10" fmla="*/ 177839 h 6995918"/>
              <a:gd name="connsiteX11" fmla="*/ 5303978 w 6858001"/>
              <a:gd name="connsiteY11" fmla="*/ 189941 h 6995918"/>
              <a:gd name="connsiteX12" fmla="*/ 5148987 w 6858001"/>
              <a:gd name="connsiteY12" fmla="*/ 202044 h 6995918"/>
              <a:gd name="connsiteX13" fmla="*/ 4996054 w 6858001"/>
              <a:gd name="connsiteY13" fmla="*/ 212129 h 6995918"/>
              <a:gd name="connsiteX14" fmla="*/ 4843120 w 6858001"/>
              <a:gd name="connsiteY14" fmla="*/ 220029 h 6995918"/>
              <a:gd name="connsiteX15" fmla="*/ 4690873 w 6858001"/>
              <a:gd name="connsiteY15" fmla="*/ 228266 h 6995918"/>
              <a:gd name="connsiteX16" fmla="*/ 4539997 w 6858001"/>
              <a:gd name="connsiteY16" fmla="*/ 235157 h 6995918"/>
              <a:gd name="connsiteX17" fmla="*/ 4390492 w 6858001"/>
              <a:gd name="connsiteY17" fmla="*/ 240032 h 6995918"/>
              <a:gd name="connsiteX18" fmla="*/ 4240988 w 6858001"/>
              <a:gd name="connsiteY18" fmla="*/ 244234 h 6995918"/>
              <a:gd name="connsiteX19" fmla="*/ 4092855 w 6858001"/>
              <a:gd name="connsiteY19" fmla="*/ 248268 h 6995918"/>
              <a:gd name="connsiteX20" fmla="*/ 3946780 w 6858001"/>
              <a:gd name="connsiteY20" fmla="*/ 250117 h 6995918"/>
              <a:gd name="connsiteX21" fmla="*/ 3800704 w 6858001"/>
              <a:gd name="connsiteY21" fmla="*/ 252134 h 6995918"/>
              <a:gd name="connsiteX22" fmla="*/ 3656686 w 6858001"/>
              <a:gd name="connsiteY22" fmla="*/ 253143 h 6995918"/>
              <a:gd name="connsiteX23" fmla="*/ 3514040 w 6858001"/>
              <a:gd name="connsiteY23" fmla="*/ 252134 h 6995918"/>
              <a:gd name="connsiteX24" fmla="*/ 3372765 w 6858001"/>
              <a:gd name="connsiteY24" fmla="*/ 252134 h 6995918"/>
              <a:gd name="connsiteX25" fmla="*/ 3232862 w 6858001"/>
              <a:gd name="connsiteY25" fmla="*/ 250117 h 6995918"/>
              <a:gd name="connsiteX26" fmla="*/ 3095702 w 6858001"/>
              <a:gd name="connsiteY26" fmla="*/ 247092 h 6995918"/>
              <a:gd name="connsiteX27" fmla="*/ 2959914 w 6858001"/>
              <a:gd name="connsiteY27" fmla="*/ 244234 h 6995918"/>
              <a:gd name="connsiteX28" fmla="*/ 2826868 w 6858001"/>
              <a:gd name="connsiteY28" fmla="*/ 241040 h 6995918"/>
              <a:gd name="connsiteX29" fmla="*/ 2694509 w 6858001"/>
              <a:gd name="connsiteY29" fmla="*/ 236166 h 6995918"/>
              <a:gd name="connsiteX30" fmla="*/ 2564208 w 6858001"/>
              <a:gd name="connsiteY30" fmla="*/ 230955 h 6995918"/>
              <a:gd name="connsiteX31" fmla="*/ 2436649 w 6858001"/>
              <a:gd name="connsiteY31" fmla="*/ 226249 h 6995918"/>
              <a:gd name="connsiteX32" fmla="*/ 2187703 w 6858001"/>
              <a:gd name="connsiteY32" fmla="*/ 212969 h 6995918"/>
              <a:gd name="connsiteX33" fmla="*/ 1949045 w 6858001"/>
              <a:gd name="connsiteY33" fmla="*/ 198850 h 6995918"/>
              <a:gd name="connsiteX34" fmla="*/ 1719988 w 6858001"/>
              <a:gd name="connsiteY34" fmla="*/ 184058 h 6995918"/>
              <a:gd name="connsiteX35" fmla="*/ 1503275 w 6858001"/>
              <a:gd name="connsiteY35" fmla="*/ 167753 h 6995918"/>
              <a:gd name="connsiteX36" fmla="*/ 1296163 w 6858001"/>
              <a:gd name="connsiteY36" fmla="*/ 150776 h 6995918"/>
              <a:gd name="connsiteX37" fmla="*/ 1104139 w 6858001"/>
              <a:gd name="connsiteY37" fmla="*/ 132455 h 6995918"/>
              <a:gd name="connsiteX38" fmla="*/ 923774 w 6858001"/>
              <a:gd name="connsiteY38" fmla="*/ 114469 h 6995918"/>
              <a:gd name="connsiteX39" fmla="*/ 757810 w 6858001"/>
              <a:gd name="connsiteY39" fmla="*/ 96484 h 6995918"/>
              <a:gd name="connsiteX40" fmla="*/ 605563 w 6858001"/>
              <a:gd name="connsiteY40" fmla="*/ 79507 h 6995918"/>
              <a:gd name="connsiteX41" fmla="*/ 470460 w 6858001"/>
              <a:gd name="connsiteY41" fmla="*/ 63370 h 6995918"/>
              <a:gd name="connsiteX42" fmla="*/ 348388 w 6858001"/>
              <a:gd name="connsiteY42" fmla="*/ 48074 h 6995918"/>
              <a:gd name="connsiteX43" fmla="*/ 245518 w 6858001"/>
              <a:gd name="connsiteY43" fmla="*/ 35299 h 6995918"/>
              <a:gd name="connsiteX44" fmla="*/ 159107 w 6858001"/>
              <a:gd name="connsiteY44" fmla="*/ 23197 h 6995918"/>
              <a:gd name="connsiteX45" fmla="*/ 40463 w 6858001"/>
              <a:gd name="connsiteY45" fmla="*/ 5883 h 6995918"/>
              <a:gd name="connsiteX46" fmla="*/ 1 w 6858001"/>
              <a:gd name="connsiteY46" fmla="*/ 0 h 6995918"/>
              <a:gd name="connsiteX47" fmla="*/ 1 w 6858001"/>
              <a:gd name="connsiteY47" fmla="*/ 905354 h 6995918"/>
              <a:gd name="connsiteX48" fmla="*/ 0 w 6858001"/>
              <a:gd name="connsiteY48" fmla="*/ 905354 h 6995918"/>
              <a:gd name="connsiteX49" fmla="*/ 0 w 6858001"/>
              <a:gd name="connsiteY49" fmla="*/ 6995918 h 6995918"/>
              <a:gd name="connsiteX50" fmla="*/ 6858000 w 6858001"/>
              <a:gd name="connsiteY50" fmla="*/ 6995918 h 6995918"/>
              <a:gd name="connsiteX51" fmla="*/ 6858000 w 6858001"/>
              <a:gd name="connsiteY51" fmla="*/ 1344715 h 699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95918">
                <a:moveTo>
                  <a:pt x="6858001" y="1344715"/>
                </a:moveTo>
                <a:lnTo>
                  <a:pt x="6858001" y="1177"/>
                </a:lnTo>
                <a:lnTo>
                  <a:pt x="6702324" y="26222"/>
                </a:lnTo>
                <a:lnTo>
                  <a:pt x="6547333" y="50091"/>
                </a:lnTo>
                <a:lnTo>
                  <a:pt x="6391657" y="73455"/>
                </a:lnTo>
                <a:lnTo>
                  <a:pt x="6235294" y="93458"/>
                </a:lnTo>
                <a:lnTo>
                  <a:pt x="6079618" y="113629"/>
                </a:lnTo>
                <a:lnTo>
                  <a:pt x="5923255" y="132455"/>
                </a:lnTo>
                <a:lnTo>
                  <a:pt x="5768950" y="148591"/>
                </a:lnTo>
                <a:lnTo>
                  <a:pt x="5612588" y="163887"/>
                </a:lnTo>
                <a:lnTo>
                  <a:pt x="5456911" y="177839"/>
                </a:lnTo>
                <a:lnTo>
                  <a:pt x="5303978" y="189941"/>
                </a:lnTo>
                <a:lnTo>
                  <a:pt x="5148987" y="202044"/>
                </a:lnTo>
                <a:lnTo>
                  <a:pt x="4996054" y="212129"/>
                </a:lnTo>
                <a:lnTo>
                  <a:pt x="4843120" y="220029"/>
                </a:lnTo>
                <a:lnTo>
                  <a:pt x="4690873" y="228266"/>
                </a:lnTo>
                <a:lnTo>
                  <a:pt x="4539997" y="235157"/>
                </a:lnTo>
                <a:lnTo>
                  <a:pt x="4390492" y="240032"/>
                </a:lnTo>
                <a:lnTo>
                  <a:pt x="4240988" y="244234"/>
                </a:lnTo>
                <a:lnTo>
                  <a:pt x="4092855" y="248268"/>
                </a:lnTo>
                <a:lnTo>
                  <a:pt x="3946780" y="250117"/>
                </a:lnTo>
                <a:lnTo>
                  <a:pt x="3800704" y="252134"/>
                </a:lnTo>
                <a:lnTo>
                  <a:pt x="3656686" y="253143"/>
                </a:lnTo>
                <a:lnTo>
                  <a:pt x="3514040" y="252134"/>
                </a:lnTo>
                <a:lnTo>
                  <a:pt x="3372765" y="252134"/>
                </a:lnTo>
                <a:lnTo>
                  <a:pt x="3232862" y="250117"/>
                </a:lnTo>
                <a:lnTo>
                  <a:pt x="3095702" y="247092"/>
                </a:lnTo>
                <a:lnTo>
                  <a:pt x="2959914" y="244234"/>
                </a:lnTo>
                <a:lnTo>
                  <a:pt x="2826868" y="241040"/>
                </a:lnTo>
                <a:lnTo>
                  <a:pt x="2694509" y="236166"/>
                </a:lnTo>
                <a:lnTo>
                  <a:pt x="2564208" y="230955"/>
                </a:lnTo>
                <a:lnTo>
                  <a:pt x="2436649" y="226249"/>
                </a:lnTo>
                <a:lnTo>
                  <a:pt x="2187703" y="212969"/>
                </a:lnTo>
                <a:lnTo>
                  <a:pt x="1949045" y="198850"/>
                </a:lnTo>
                <a:lnTo>
                  <a:pt x="1719988" y="184058"/>
                </a:lnTo>
                <a:lnTo>
                  <a:pt x="1503275" y="167753"/>
                </a:lnTo>
                <a:lnTo>
                  <a:pt x="1296163" y="150776"/>
                </a:lnTo>
                <a:lnTo>
                  <a:pt x="1104139" y="132455"/>
                </a:lnTo>
                <a:lnTo>
                  <a:pt x="923774" y="114469"/>
                </a:lnTo>
                <a:lnTo>
                  <a:pt x="757810" y="96484"/>
                </a:lnTo>
                <a:lnTo>
                  <a:pt x="605563" y="79507"/>
                </a:lnTo>
                <a:lnTo>
                  <a:pt x="470460" y="63370"/>
                </a:lnTo>
                <a:lnTo>
                  <a:pt x="348388" y="48074"/>
                </a:lnTo>
                <a:lnTo>
                  <a:pt x="245518" y="35299"/>
                </a:lnTo>
                <a:lnTo>
                  <a:pt x="159107" y="23197"/>
                </a:lnTo>
                <a:lnTo>
                  <a:pt x="40463" y="5883"/>
                </a:lnTo>
                <a:lnTo>
                  <a:pt x="1" y="0"/>
                </a:lnTo>
                <a:lnTo>
                  <a:pt x="1" y="905354"/>
                </a:lnTo>
                <a:lnTo>
                  <a:pt x="0" y="905354"/>
                </a:lnTo>
                <a:lnTo>
                  <a:pt x="0" y="6995918"/>
                </a:lnTo>
                <a:lnTo>
                  <a:pt x="6858000" y="6995918"/>
                </a:lnTo>
                <a:lnTo>
                  <a:pt x="6858000" y="1344715"/>
                </a:lnTo>
                <a:close/>
              </a:path>
            </a:pathLst>
          </a:custGeom>
          <a:ln>
            <a:noFill/>
          </a:ln>
        </p:spPr>
        <p:txBody>
          <a:bodyPr/>
          <a:lstStyle/>
          <a:p>
            <a:endParaRPr lang="pt-BR"/>
          </a:p>
        </p:txBody>
      </p:sp>
      <p:sp>
        <p:nvSpPr>
          <p:cNvPr id="38" name="Rectangle 27">
            <a:extLst>
              <a:ext uri="{FF2B5EF4-FFF2-40B4-BE49-F238E27FC236}">
                <a16:creationId xmlns:a16="http://schemas.microsoft.com/office/drawing/2014/main" id="{17378C1B-0CBA-21C7-5D54-37196E715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5" name="Imagem 4">
            <a:extLst>
              <a:ext uri="{FF2B5EF4-FFF2-40B4-BE49-F238E27FC236}">
                <a16:creationId xmlns:a16="http://schemas.microsoft.com/office/drawing/2014/main" id="{142ADE68-D089-4AB5-76D0-249CB5F0230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98691" y="2159000"/>
            <a:ext cx="7267409" cy="4850995"/>
          </a:xfrm>
          <a:prstGeom prst="rect">
            <a:avLst/>
          </a:prstGeom>
          <a:effectLst/>
        </p:spPr>
      </p:pic>
    </p:spTree>
    <p:extLst>
      <p:ext uri="{BB962C8B-B14F-4D97-AF65-F5344CB8AC3E}">
        <p14:creationId xmlns:p14="http://schemas.microsoft.com/office/powerpoint/2010/main" val="2790212994"/>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FD5ABF9C-A102-5CB8-9349-EA96BF21372D}"/>
              </a:ext>
            </a:extLst>
          </p:cNvPr>
          <p:cNvSpPr txBox="1"/>
          <p:nvPr/>
        </p:nvSpPr>
        <p:spPr>
          <a:xfrm>
            <a:off x="660400" y="914400"/>
            <a:ext cx="8125968" cy="461665"/>
          </a:xfrm>
          <a:prstGeom prst="rect">
            <a:avLst/>
          </a:prstGeom>
          <a:noFill/>
        </p:spPr>
        <p:txBody>
          <a:bodyPr wrap="square">
            <a:spAutoFit/>
          </a:bodyPr>
          <a:lstStyle/>
          <a:p>
            <a:r>
              <a:rPr lang="pt-BR" sz="2400" b="1" dirty="0"/>
              <a:t>CONVERSÃO DE TIPOS EM PYTHON</a:t>
            </a:r>
          </a:p>
        </p:txBody>
      </p:sp>
      <p:sp>
        <p:nvSpPr>
          <p:cNvPr id="5" name="CaixaDeTexto 4">
            <a:extLst>
              <a:ext uri="{FF2B5EF4-FFF2-40B4-BE49-F238E27FC236}">
                <a16:creationId xmlns:a16="http://schemas.microsoft.com/office/drawing/2014/main" id="{570D5C9D-6350-D908-8C06-7461D8EA59E9}"/>
              </a:ext>
            </a:extLst>
          </p:cNvPr>
          <p:cNvSpPr txBox="1"/>
          <p:nvPr/>
        </p:nvSpPr>
        <p:spPr>
          <a:xfrm>
            <a:off x="660400" y="1773703"/>
            <a:ext cx="5943600" cy="1200329"/>
          </a:xfrm>
          <a:prstGeom prst="rect">
            <a:avLst/>
          </a:prstGeom>
          <a:noFill/>
        </p:spPr>
        <p:txBody>
          <a:bodyPr wrap="square">
            <a:spAutoFit/>
          </a:bodyPr>
          <a:lstStyle/>
          <a:p>
            <a:pPr>
              <a:buNone/>
            </a:pPr>
            <a:r>
              <a:rPr lang="pt-BR" b="1" dirty="0"/>
              <a:t>O que é conversão de dados?</a:t>
            </a:r>
          </a:p>
          <a:p>
            <a:pPr>
              <a:buNone/>
            </a:pPr>
            <a:endParaRPr lang="pt-BR" b="1" dirty="0"/>
          </a:p>
          <a:p>
            <a:pPr>
              <a:buNone/>
            </a:pPr>
            <a:r>
              <a:rPr lang="pt-BR" dirty="0"/>
              <a:t>É quando transformamos um tipo de dado em outro (</a:t>
            </a:r>
            <a:r>
              <a:rPr lang="pt-BR" dirty="0" err="1"/>
              <a:t>ex</a:t>
            </a:r>
            <a:r>
              <a:rPr lang="pt-BR" dirty="0"/>
              <a:t>: texto → número).</a:t>
            </a:r>
          </a:p>
        </p:txBody>
      </p:sp>
      <p:sp>
        <p:nvSpPr>
          <p:cNvPr id="7" name="CaixaDeTexto 6">
            <a:extLst>
              <a:ext uri="{FF2B5EF4-FFF2-40B4-BE49-F238E27FC236}">
                <a16:creationId xmlns:a16="http://schemas.microsoft.com/office/drawing/2014/main" id="{4B1A4AB2-E424-4F64-1121-61BD07E9A5DC}"/>
              </a:ext>
            </a:extLst>
          </p:cNvPr>
          <p:cNvSpPr txBox="1"/>
          <p:nvPr/>
        </p:nvSpPr>
        <p:spPr>
          <a:xfrm>
            <a:off x="6832600" y="1728233"/>
            <a:ext cx="4572000" cy="1200329"/>
          </a:xfrm>
          <a:prstGeom prst="rect">
            <a:avLst/>
          </a:prstGeom>
          <a:noFill/>
        </p:spPr>
        <p:txBody>
          <a:bodyPr wrap="square">
            <a:spAutoFit/>
          </a:bodyPr>
          <a:lstStyle/>
          <a:p>
            <a:pPr>
              <a:buNone/>
            </a:pPr>
            <a:r>
              <a:rPr lang="pt-BR" b="1" dirty="0"/>
              <a:t>Importante</a:t>
            </a:r>
          </a:p>
          <a:p>
            <a:pPr>
              <a:buNone/>
            </a:pPr>
            <a:endParaRPr lang="pt-BR" b="1" dirty="0"/>
          </a:p>
          <a:p>
            <a:pPr>
              <a:buNone/>
            </a:pPr>
            <a:r>
              <a:rPr lang="pt-BR" dirty="0"/>
              <a:t>O </a:t>
            </a:r>
            <a:r>
              <a:rPr lang="pt-BR" dirty="0">
                <a:latin typeface="Courier New" panose="02070309020205020404" pitchFamily="49" charset="0"/>
              </a:rPr>
              <a:t>input()</a:t>
            </a:r>
            <a:r>
              <a:rPr lang="pt-BR" dirty="0"/>
              <a:t> sempre retorna </a:t>
            </a:r>
            <a:r>
              <a:rPr lang="pt-BR" b="1" dirty="0"/>
              <a:t>texto (</a:t>
            </a:r>
            <a:r>
              <a:rPr lang="pt-BR" b="1" dirty="0" err="1"/>
              <a:t>str</a:t>
            </a:r>
            <a:r>
              <a:rPr lang="pt-BR" b="1" dirty="0"/>
              <a:t>)</a:t>
            </a:r>
            <a:r>
              <a:rPr lang="pt-BR" dirty="0"/>
              <a:t>, mesmo que o usuário digite números.</a:t>
            </a:r>
          </a:p>
        </p:txBody>
      </p:sp>
      <p:sp>
        <p:nvSpPr>
          <p:cNvPr id="8" name="Rectangle 1">
            <a:extLst>
              <a:ext uri="{FF2B5EF4-FFF2-40B4-BE49-F238E27FC236}">
                <a16:creationId xmlns:a16="http://schemas.microsoft.com/office/drawing/2014/main" id="{9E2A822A-AAF4-2377-C164-93B3CA0D2541}"/>
              </a:ext>
            </a:extLst>
          </p:cNvPr>
          <p:cNvSpPr>
            <a:spLocks noChangeArrowheads="1"/>
          </p:cNvSpPr>
          <p:nvPr/>
        </p:nvSpPr>
        <p:spPr bwMode="auto">
          <a:xfrm>
            <a:off x="528212" y="6019800"/>
            <a:ext cx="14401800"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int</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inteiro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float</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decimal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str</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texto </a:t>
            </a:r>
            <a:endParaRPr kumimoji="0" lang="pt-BR" altLang="pt-BR"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2400" b="0" i="0" u="none" strike="noStrike" cap="none" normalizeH="0" baseline="0" dirty="0" err="1">
                <a:ln>
                  <a:noFill/>
                </a:ln>
                <a:solidFill>
                  <a:srgbClr val="FFC000"/>
                </a:solidFill>
                <a:effectLst/>
                <a:latin typeface="Arial Unicode MS" panose="020B0604020202020204" pitchFamily="34" charset="-128"/>
              </a:rPr>
              <a:t>bool</a:t>
            </a:r>
            <a:r>
              <a:rPr kumimoji="0" lang="pt-BR" altLang="pt-BR" sz="2400" b="0" i="0" u="none" strike="noStrike" cap="none" normalizeH="0" baseline="0" dirty="0">
                <a:ln>
                  <a:noFill/>
                </a:ln>
                <a:solidFill>
                  <a:srgbClr val="FFC000"/>
                </a:solidFill>
                <a:effectLst/>
                <a:latin typeface="Arial Unicode MS" panose="020B0604020202020204" pitchFamily="34" charset="-128"/>
              </a:rPr>
              <a:t>()</a:t>
            </a:r>
            <a:r>
              <a:rPr kumimoji="0" lang="pt-BR" altLang="pt-BR" sz="2400" b="0" i="0" u="none" strike="noStrike" cap="none" normalizeH="0" baseline="0" dirty="0">
                <a:ln>
                  <a:noFill/>
                </a:ln>
                <a:solidFill>
                  <a:srgbClr val="FFC000"/>
                </a:solidFill>
                <a:effectLst/>
              </a:rPr>
              <a:t> </a:t>
            </a:r>
            <a:r>
              <a:rPr kumimoji="0" lang="pt-BR" altLang="pt-BR" sz="2400" b="0" i="0" u="none" strike="noStrike" cap="none" normalizeH="0" baseline="0" dirty="0">
                <a:ln>
                  <a:noFill/>
                </a:ln>
                <a:solidFill>
                  <a:schemeClr val="tx1"/>
                </a:solidFill>
                <a:effectLst/>
              </a:rPr>
              <a:t>→ verdadeiro/falso </a:t>
            </a:r>
            <a:endParaRPr lang="pt-BR" altLang="pt-BR" sz="32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pt-BR" altLang="pt-BR"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pt-BR" altLang="pt-BR" sz="3200" b="0" i="0" u="none" strike="noStrike" cap="none" normalizeH="0" baseline="0" dirty="0">
                <a:ln>
                  <a:noFill/>
                </a:ln>
                <a:solidFill>
                  <a:srgbClr val="FFC000"/>
                </a:solidFill>
                <a:effectLst/>
                <a:latin typeface="Arial" panose="020B0604020202020204" pitchFamily="34" charset="0"/>
              </a:rPr>
              <a:t>Conversão é essencial para cálculos com entrada de dados </a:t>
            </a:r>
          </a:p>
        </p:txBody>
      </p:sp>
      <p:pic>
        <p:nvPicPr>
          <p:cNvPr id="10" name="Imagem 9">
            <a:extLst>
              <a:ext uri="{FF2B5EF4-FFF2-40B4-BE49-F238E27FC236}">
                <a16:creationId xmlns:a16="http://schemas.microsoft.com/office/drawing/2014/main" id="{F1089BD3-9031-ECD5-CDE6-21C6E12199C9}"/>
              </a:ext>
            </a:extLst>
          </p:cNvPr>
          <p:cNvPicPr>
            <a:picLocks noChangeAspect="1"/>
          </p:cNvPicPr>
          <p:nvPr/>
        </p:nvPicPr>
        <p:blipFill>
          <a:blip r:embed="rId2"/>
          <a:stretch>
            <a:fillRect/>
          </a:stretch>
        </p:blipFill>
        <p:spPr>
          <a:xfrm>
            <a:off x="660400" y="3186011"/>
            <a:ext cx="8326012" cy="2562583"/>
          </a:xfrm>
          <a:prstGeom prst="rect">
            <a:avLst/>
          </a:prstGeom>
        </p:spPr>
      </p:pic>
    </p:spTree>
    <p:extLst>
      <p:ext uri="{BB962C8B-B14F-4D97-AF65-F5344CB8AC3E}">
        <p14:creationId xmlns:p14="http://schemas.microsoft.com/office/powerpoint/2010/main" val="33679977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57E09-C045-69ED-901A-D9FA5FE20E25}"/>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02C99884-8FA6-2606-C478-E9D72A380584}"/>
              </a:ext>
            </a:extLst>
          </p:cNvPr>
          <p:cNvPicPr>
            <a:picLocks noChangeAspect="1"/>
          </p:cNvPicPr>
          <p:nvPr/>
        </p:nvPicPr>
        <p:blipFill>
          <a:blip r:embed="rId2"/>
          <a:stretch>
            <a:fillRect/>
          </a:stretch>
        </p:blipFill>
        <p:spPr>
          <a:xfrm>
            <a:off x="584200" y="533400"/>
            <a:ext cx="7010400" cy="2151029"/>
          </a:xfrm>
          <a:prstGeom prst="rect">
            <a:avLst/>
          </a:prstGeom>
        </p:spPr>
      </p:pic>
      <p:sp>
        <p:nvSpPr>
          <p:cNvPr id="6" name="CaixaDeTexto 5">
            <a:extLst>
              <a:ext uri="{FF2B5EF4-FFF2-40B4-BE49-F238E27FC236}">
                <a16:creationId xmlns:a16="http://schemas.microsoft.com/office/drawing/2014/main" id="{E11A9001-CAFD-F6C3-FCF1-CD76432C23C2}"/>
              </a:ext>
            </a:extLst>
          </p:cNvPr>
          <p:cNvSpPr txBox="1"/>
          <p:nvPr/>
        </p:nvSpPr>
        <p:spPr>
          <a:xfrm>
            <a:off x="584200" y="3657600"/>
            <a:ext cx="15316200" cy="2708434"/>
          </a:xfrm>
          <a:prstGeom prst="rect">
            <a:avLst/>
          </a:prstGeom>
          <a:noFill/>
        </p:spPr>
        <p:txBody>
          <a:bodyPr wrap="square">
            <a:spAutoFit/>
          </a:bodyPr>
          <a:lstStyle/>
          <a:p>
            <a:r>
              <a:rPr lang="pt-BR" sz="3200" b="1" dirty="0"/>
              <a:t>Estruturas Condicionais </a:t>
            </a:r>
          </a:p>
          <a:p>
            <a:endParaRPr lang="pt-BR" dirty="0"/>
          </a:p>
          <a:p>
            <a:pPr algn="just"/>
            <a:r>
              <a:rPr lang="pt-BR" sz="2400" b="1" dirty="0"/>
              <a:t>Neste capítulo você vai aprender a usar </a:t>
            </a:r>
            <a:r>
              <a:rPr lang="pt-BR" sz="2400" b="1" dirty="0">
                <a:solidFill>
                  <a:srgbClr val="FFC000"/>
                </a:solidFill>
              </a:rPr>
              <a:t>estruturas</a:t>
            </a:r>
            <a:r>
              <a:rPr lang="pt-BR" sz="2400" b="1" dirty="0"/>
              <a:t> </a:t>
            </a:r>
            <a:r>
              <a:rPr lang="pt-BR" sz="2400" b="1" dirty="0">
                <a:solidFill>
                  <a:srgbClr val="FFC000"/>
                </a:solidFill>
              </a:rPr>
              <a:t>condicionais</a:t>
            </a:r>
            <a:r>
              <a:rPr lang="pt-BR" sz="2400" b="1" dirty="0"/>
              <a:t> para tomadas de decisão, toda tomada de decisão parte de uma condição lógica. </a:t>
            </a:r>
          </a:p>
          <a:p>
            <a:pPr algn="just"/>
            <a:endParaRPr lang="pt-BR" sz="2400" b="1" dirty="0"/>
          </a:p>
          <a:p>
            <a:pPr algn="just"/>
            <a:r>
              <a:rPr lang="pt-BR" sz="2400" b="1" dirty="0"/>
              <a:t>No Python a decisão simples que seria apenas verdadeiro ou falso usamos o comando </a:t>
            </a:r>
            <a:r>
              <a:rPr lang="pt-BR" sz="2400" b="1" dirty="0" err="1">
                <a:solidFill>
                  <a:srgbClr val="FFC000"/>
                </a:solidFill>
              </a:rPr>
              <a:t>if</a:t>
            </a:r>
            <a:r>
              <a:rPr lang="pt-BR" sz="2400" b="1" dirty="0">
                <a:solidFill>
                  <a:srgbClr val="FFC000"/>
                </a:solidFill>
              </a:rPr>
              <a:t> /</a:t>
            </a:r>
            <a:r>
              <a:rPr lang="pt-BR" sz="2400" b="1" dirty="0" err="1">
                <a:solidFill>
                  <a:srgbClr val="FFC000"/>
                </a:solidFill>
              </a:rPr>
              <a:t>else</a:t>
            </a:r>
            <a:r>
              <a:rPr lang="pt-BR" sz="2400" b="1" dirty="0">
                <a:solidFill>
                  <a:srgbClr val="FFC000"/>
                </a:solidFill>
              </a:rPr>
              <a:t> </a:t>
            </a:r>
            <a:r>
              <a:rPr lang="pt-BR" sz="2400" b="1" dirty="0"/>
              <a:t>e para quando precisamos de mais que duas opções de decisão podemos usar o </a:t>
            </a:r>
            <a:r>
              <a:rPr lang="pt-BR" sz="2400" b="1" dirty="0" err="1">
                <a:solidFill>
                  <a:srgbClr val="FFC000"/>
                </a:solidFill>
              </a:rPr>
              <a:t>if</a:t>
            </a:r>
            <a:r>
              <a:rPr lang="pt-BR" sz="2400" b="1" dirty="0">
                <a:solidFill>
                  <a:srgbClr val="FFC000"/>
                </a:solidFill>
              </a:rPr>
              <a:t> / </a:t>
            </a:r>
            <a:r>
              <a:rPr lang="pt-BR" sz="2400" b="1" dirty="0" err="1">
                <a:solidFill>
                  <a:srgbClr val="FFC000"/>
                </a:solidFill>
              </a:rPr>
              <a:t>elif</a:t>
            </a:r>
            <a:r>
              <a:rPr lang="pt-BR" sz="2400" b="1" dirty="0">
                <a:solidFill>
                  <a:srgbClr val="FFC000"/>
                </a:solidFill>
              </a:rPr>
              <a:t> / </a:t>
            </a:r>
            <a:r>
              <a:rPr lang="pt-BR" sz="2400" b="1" dirty="0" err="1">
                <a:solidFill>
                  <a:srgbClr val="FFC000"/>
                </a:solidFill>
              </a:rPr>
              <a:t>else</a:t>
            </a:r>
            <a:r>
              <a:rPr lang="pt-BR" sz="2400" b="1" dirty="0"/>
              <a:t>.</a:t>
            </a:r>
          </a:p>
        </p:txBody>
      </p:sp>
    </p:spTree>
    <p:extLst>
      <p:ext uri="{BB962C8B-B14F-4D97-AF65-F5344CB8AC3E}">
        <p14:creationId xmlns:p14="http://schemas.microsoft.com/office/powerpoint/2010/main" val="3234079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2F5F3-223D-36A3-583C-CD19EDEC68B8}"/>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1D03ADBF-1ED5-132E-E849-738CC0E87A24}"/>
              </a:ext>
            </a:extLst>
          </p:cNvPr>
          <p:cNvPicPr>
            <a:picLocks noChangeAspect="1"/>
          </p:cNvPicPr>
          <p:nvPr/>
        </p:nvPicPr>
        <p:blipFill>
          <a:blip r:embed="rId2"/>
          <a:stretch>
            <a:fillRect/>
          </a:stretch>
        </p:blipFill>
        <p:spPr>
          <a:xfrm>
            <a:off x="584200" y="533400"/>
            <a:ext cx="7010400" cy="2151029"/>
          </a:xfrm>
          <a:prstGeom prst="rect">
            <a:avLst/>
          </a:prstGeom>
        </p:spPr>
      </p:pic>
      <p:sp>
        <p:nvSpPr>
          <p:cNvPr id="6" name="CaixaDeTexto 5">
            <a:extLst>
              <a:ext uri="{FF2B5EF4-FFF2-40B4-BE49-F238E27FC236}">
                <a16:creationId xmlns:a16="http://schemas.microsoft.com/office/drawing/2014/main" id="{4BD318BE-63A1-8A9A-7B21-A4305F2E50FF}"/>
              </a:ext>
            </a:extLst>
          </p:cNvPr>
          <p:cNvSpPr txBox="1"/>
          <p:nvPr/>
        </p:nvSpPr>
        <p:spPr>
          <a:xfrm>
            <a:off x="584200" y="3657600"/>
            <a:ext cx="15316200" cy="3970318"/>
          </a:xfrm>
          <a:prstGeom prst="rect">
            <a:avLst/>
          </a:prstGeom>
          <a:noFill/>
        </p:spPr>
        <p:txBody>
          <a:bodyPr wrap="square">
            <a:spAutoFit/>
          </a:bodyPr>
          <a:lstStyle/>
          <a:p>
            <a:r>
              <a:rPr lang="pt-BR" sz="2800" b="1" dirty="0"/>
              <a:t>Objetivos: </a:t>
            </a:r>
          </a:p>
          <a:p>
            <a:endParaRPr lang="pt-BR" sz="2800" b="1" dirty="0"/>
          </a:p>
          <a:p>
            <a:r>
              <a:rPr lang="pt-BR" sz="2800" b="1" dirty="0"/>
              <a:t> Criar estruturas condicionais de decisão simples e complexas usando </a:t>
            </a:r>
            <a:r>
              <a:rPr lang="pt-BR" sz="2800" b="1" dirty="0" err="1"/>
              <a:t>if</a:t>
            </a:r>
            <a:r>
              <a:rPr lang="pt-BR" sz="2800" b="1" dirty="0"/>
              <a:t> / </a:t>
            </a:r>
            <a:r>
              <a:rPr lang="pt-BR" sz="2800" b="1" dirty="0" err="1"/>
              <a:t>elif</a:t>
            </a:r>
            <a:r>
              <a:rPr lang="pt-BR" sz="2800" b="1" dirty="0"/>
              <a:t> / </a:t>
            </a:r>
            <a:r>
              <a:rPr lang="pt-BR" sz="2800" b="1" dirty="0" err="1"/>
              <a:t>else</a:t>
            </a:r>
            <a:r>
              <a:rPr lang="pt-BR" sz="2800" b="1" dirty="0"/>
              <a:t>.</a:t>
            </a:r>
          </a:p>
          <a:p>
            <a:r>
              <a:rPr lang="pt-BR" sz="2800" b="1" dirty="0"/>
              <a:t> </a:t>
            </a:r>
          </a:p>
          <a:p>
            <a:r>
              <a:rPr lang="pt-BR" sz="2800" b="1" dirty="0"/>
              <a:t> Conhecer os operadores básicos de comparação do teste lógico de um </a:t>
            </a:r>
            <a:r>
              <a:rPr lang="pt-BR" sz="2800" b="1" dirty="0" err="1"/>
              <a:t>if</a:t>
            </a:r>
            <a:r>
              <a:rPr lang="pt-BR" sz="2800" b="1" dirty="0"/>
              <a:t>. </a:t>
            </a:r>
          </a:p>
          <a:p>
            <a:endParaRPr lang="pt-BR" sz="2800" b="1" dirty="0"/>
          </a:p>
          <a:p>
            <a:r>
              <a:rPr lang="pt-BR" sz="2800" b="1" dirty="0"/>
              <a:t> Utilizar um </a:t>
            </a:r>
            <a:r>
              <a:rPr lang="pt-BR" sz="2800" b="1" dirty="0" err="1"/>
              <a:t>if</a:t>
            </a:r>
            <a:r>
              <a:rPr lang="pt-BR" sz="2800" b="1" dirty="0"/>
              <a:t> aninhado. </a:t>
            </a:r>
          </a:p>
          <a:p>
            <a:endParaRPr lang="pt-BR" sz="2800" b="1" dirty="0"/>
          </a:p>
          <a:p>
            <a:r>
              <a:rPr lang="pt-BR" sz="2800" b="1" dirty="0"/>
              <a:t> Saber construir um </a:t>
            </a:r>
            <a:r>
              <a:rPr lang="pt-BR" sz="2800" b="1" dirty="0" err="1"/>
              <a:t>if</a:t>
            </a:r>
            <a:r>
              <a:rPr lang="pt-BR" sz="2800" b="1" dirty="0"/>
              <a:t> ternário, </a:t>
            </a:r>
            <a:r>
              <a:rPr lang="pt-BR" sz="2800" b="1" dirty="0" err="1"/>
              <a:t>if</a:t>
            </a:r>
            <a:r>
              <a:rPr lang="pt-BR" sz="2800" b="1" dirty="0"/>
              <a:t> escrito em uma linha apenas.</a:t>
            </a:r>
            <a:endParaRPr lang="pt-BR" sz="2000" b="1" dirty="0"/>
          </a:p>
        </p:txBody>
      </p:sp>
    </p:spTree>
    <p:extLst>
      <p:ext uri="{BB962C8B-B14F-4D97-AF65-F5344CB8AC3E}">
        <p14:creationId xmlns:p14="http://schemas.microsoft.com/office/powerpoint/2010/main" val="3428280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C92B2-02F5-3D7D-F84F-5C2F97CCF470}"/>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B75A34E6-C06C-6F7B-E883-5085CC0FE54C}"/>
              </a:ext>
            </a:extLst>
          </p:cNvPr>
          <p:cNvPicPr>
            <a:picLocks noChangeAspect="1"/>
          </p:cNvPicPr>
          <p:nvPr/>
        </p:nvPicPr>
        <p:blipFill>
          <a:blip r:embed="rId2"/>
          <a:stretch>
            <a:fillRect/>
          </a:stretch>
        </p:blipFill>
        <p:spPr>
          <a:xfrm>
            <a:off x="584200" y="533400"/>
            <a:ext cx="7010400" cy="2151029"/>
          </a:xfrm>
          <a:prstGeom prst="rect">
            <a:avLst/>
          </a:prstGeom>
        </p:spPr>
      </p:pic>
      <p:sp>
        <p:nvSpPr>
          <p:cNvPr id="3" name="CaixaDeTexto 2">
            <a:extLst>
              <a:ext uri="{FF2B5EF4-FFF2-40B4-BE49-F238E27FC236}">
                <a16:creationId xmlns:a16="http://schemas.microsoft.com/office/drawing/2014/main" id="{47C0379A-A1CD-7DAC-0903-2CF295AAFE0B}"/>
              </a:ext>
            </a:extLst>
          </p:cNvPr>
          <p:cNvSpPr txBox="1"/>
          <p:nvPr/>
        </p:nvSpPr>
        <p:spPr>
          <a:xfrm>
            <a:off x="610616" y="2971800"/>
            <a:ext cx="10363200" cy="1754326"/>
          </a:xfrm>
          <a:prstGeom prst="rect">
            <a:avLst/>
          </a:prstGeom>
          <a:noFill/>
        </p:spPr>
        <p:txBody>
          <a:bodyPr wrap="square">
            <a:spAutoFit/>
          </a:bodyPr>
          <a:lstStyle/>
          <a:p>
            <a:r>
              <a:rPr lang="pt-BR" sz="3600" b="1" dirty="0">
                <a:solidFill>
                  <a:srgbClr val="FFC000"/>
                </a:solidFill>
              </a:rPr>
              <a:t>Vamos praticar...</a:t>
            </a:r>
          </a:p>
          <a:p>
            <a:endParaRPr lang="pt-BR" sz="3600" b="1" dirty="0">
              <a:solidFill>
                <a:srgbClr val="FFC000"/>
              </a:solidFill>
            </a:endParaRPr>
          </a:p>
          <a:p>
            <a:r>
              <a:rPr lang="pt-BR" sz="3600" b="1" dirty="0">
                <a:solidFill>
                  <a:srgbClr val="FFC000"/>
                </a:solidFill>
              </a:rPr>
              <a:t>Atividade 1 – Verificar Número Par e Ímpar</a:t>
            </a:r>
          </a:p>
        </p:txBody>
      </p:sp>
      <p:sp>
        <p:nvSpPr>
          <p:cNvPr id="5" name="CaixaDeTexto 4">
            <a:extLst>
              <a:ext uri="{FF2B5EF4-FFF2-40B4-BE49-F238E27FC236}">
                <a16:creationId xmlns:a16="http://schemas.microsoft.com/office/drawing/2014/main" id="{E0E4EC3B-36E0-ABEF-DF65-ABFEA321E0C6}"/>
              </a:ext>
            </a:extLst>
          </p:cNvPr>
          <p:cNvSpPr txBox="1"/>
          <p:nvPr/>
        </p:nvSpPr>
        <p:spPr>
          <a:xfrm>
            <a:off x="584200" y="5022641"/>
            <a:ext cx="14908784" cy="3231654"/>
          </a:xfrm>
          <a:prstGeom prst="rect">
            <a:avLst/>
          </a:prstGeom>
          <a:noFill/>
        </p:spPr>
        <p:txBody>
          <a:bodyPr wrap="square">
            <a:spAutoFit/>
          </a:bodyPr>
          <a:lstStyle/>
          <a:p>
            <a:r>
              <a:rPr lang="pt-BR" b="1" dirty="0"/>
              <a:t>Objetivo: Nesta atividade você vai usar uma estrutura de decisão (</a:t>
            </a:r>
            <a:r>
              <a:rPr lang="pt-BR" b="1" dirty="0" err="1"/>
              <a:t>if</a:t>
            </a:r>
            <a:r>
              <a:rPr lang="pt-BR" b="1" dirty="0"/>
              <a:t> / </a:t>
            </a:r>
            <a:r>
              <a:rPr lang="pt-BR" b="1" dirty="0" err="1"/>
              <a:t>else</a:t>
            </a:r>
            <a:r>
              <a:rPr lang="pt-BR" b="1" dirty="0"/>
              <a:t>) para verificar se um número é par ou ímpar. </a:t>
            </a:r>
          </a:p>
          <a:p>
            <a:endParaRPr lang="pt-BR" b="1" dirty="0"/>
          </a:p>
          <a:p>
            <a:r>
              <a:rPr lang="pt-BR" b="1" dirty="0"/>
              <a:t>Comandos utilizados: Comando </a:t>
            </a:r>
            <a:r>
              <a:rPr lang="pt-BR" b="1" dirty="0" err="1">
                <a:solidFill>
                  <a:srgbClr val="FFC000"/>
                </a:solidFill>
              </a:rPr>
              <a:t>If</a:t>
            </a:r>
            <a:r>
              <a:rPr lang="pt-BR" b="1" dirty="0"/>
              <a:t>, operador </a:t>
            </a:r>
            <a:r>
              <a:rPr lang="pt-BR" b="1" dirty="0">
                <a:solidFill>
                  <a:srgbClr val="FFC000"/>
                </a:solidFill>
              </a:rPr>
              <a:t>%</a:t>
            </a:r>
            <a:r>
              <a:rPr lang="pt-BR" b="1" dirty="0"/>
              <a:t> (retorna o resto da divisão entre operandos) </a:t>
            </a:r>
            <a:r>
              <a:rPr lang="pt-BR" b="1" dirty="0" err="1">
                <a:solidFill>
                  <a:srgbClr val="FFC000"/>
                </a:solidFill>
              </a:rPr>
              <a:t>If</a:t>
            </a:r>
            <a:r>
              <a:rPr lang="pt-BR" b="1" dirty="0">
                <a:solidFill>
                  <a:srgbClr val="FFC000"/>
                </a:solidFill>
              </a:rPr>
              <a:t> / </a:t>
            </a:r>
            <a:r>
              <a:rPr lang="pt-BR" b="1" dirty="0" err="1">
                <a:solidFill>
                  <a:srgbClr val="FFC000"/>
                </a:solidFill>
              </a:rPr>
              <a:t>else</a:t>
            </a:r>
            <a:r>
              <a:rPr lang="pt-BR" b="1" dirty="0">
                <a:solidFill>
                  <a:srgbClr val="FFC000"/>
                </a:solidFill>
              </a:rPr>
              <a:t> </a:t>
            </a:r>
          </a:p>
          <a:p>
            <a:endParaRPr lang="pt-BR" b="1" dirty="0"/>
          </a:p>
          <a:p>
            <a:r>
              <a:rPr lang="pt-BR" sz="2400" b="1" dirty="0">
                <a:solidFill>
                  <a:srgbClr val="FFC000"/>
                </a:solidFill>
              </a:rPr>
              <a:t>  </a:t>
            </a:r>
            <a:r>
              <a:rPr lang="pt-BR" sz="2400" b="1" dirty="0" err="1">
                <a:solidFill>
                  <a:srgbClr val="FFC000"/>
                </a:solidFill>
              </a:rPr>
              <a:t>If</a:t>
            </a:r>
            <a:r>
              <a:rPr lang="pt-BR" sz="2400" b="1" dirty="0">
                <a:solidFill>
                  <a:srgbClr val="FFC000"/>
                </a:solidFill>
              </a:rPr>
              <a:t> (teste lógico): </a:t>
            </a:r>
          </a:p>
          <a:p>
            <a:r>
              <a:rPr lang="pt-BR" sz="2400" b="1" dirty="0">
                <a:solidFill>
                  <a:srgbClr val="FFC000"/>
                </a:solidFill>
              </a:rPr>
              <a:t>     #código para condição verdadeira do teste, tem que ser indentado.</a:t>
            </a:r>
          </a:p>
          <a:p>
            <a:r>
              <a:rPr lang="pt-BR" sz="2400" b="1" dirty="0">
                <a:solidFill>
                  <a:srgbClr val="FFC000"/>
                </a:solidFill>
              </a:rPr>
              <a:t>  </a:t>
            </a:r>
            <a:r>
              <a:rPr lang="pt-BR" sz="2400" b="1" dirty="0" err="1">
                <a:solidFill>
                  <a:srgbClr val="FFC000"/>
                </a:solidFill>
              </a:rPr>
              <a:t>else</a:t>
            </a:r>
            <a:r>
              <a:rPr lang="pt-BR" sz="2400" b="1" dirty="0">
                <a:solidFill>
                  <a:srgbClr val="FFC000"/>
                </a:solidFill>
              </a:rPr>
              <a:t>: </a:t>
            </a:r>
          </a:p>
          <a:p>
            <a:r>
              <a:rPr lang="pt-BR" sz="2400" b="1" dirty="0">
                <a:solidFill>
                  <a:srgbClr val="FFC000"/>
                </a:solidFill>
              </a:rPr>
              <a:t>     #código para condição falsa do teste, tem que ser indentado.</a:t>
            </a:r>
          </a:p>
          <a:p>
            <a:endParaRPr lang="pt-BR" b="1" dirty="0"/>
          </a:p>
          <a:p>
            <a:r>
              <a:rPr lang="pt-BR" b="1" dirty="0"/>
              <a:t> O texto lógico normalmente é a comparação entre duas informações.</a:t>
            </a:r>
          </a:p>
        </p:txBody>
      </p:sp>
    </p:spTree>
    <p:extLst>
      <p:ext uri="{BB962C8B-B14F-4D97-AF65-F5344CB8AC3E}">
        <p14:creationId xmlns:p14="http://schemas.microsoft.com/office/powerpoint/2010/main" val="10257442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01022-AABD-9B39-1B77-29C1B264BFA7}"/>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956EF033-7230-56C2-9538-8AE19AEDBE6E}"/>
              </a:ext>
            </a:extLst>
          </p:cNvPr>
          <p:cNvPicPr>
            <a:picLocks noChangeAspect="1"/>
          </p:cNvPicPr>
          <p:nvPr/>
        </p:nvPicPr>
        <p:blipFill>
          <a:blip r:embed="rId2"/>
          <a:stretch>
            <a:fillRect/>
          </a:stretch>
        </p:blipFill>
        <p:spPr>
          <a:xfrm>
            <a:off x="584200" y="533400"/>
            <a:ext cx="7010400" cy="2151029"/>
          </a:xfrm>
          <a:prstGeom prst="rect">
            <a:avLst/>
          </a:prstGeom>
        </p:spPr>
      </p:pic>
      <p:sp>
        <p:nvSpPr>
          <p:cNvPr id="7" name="CaixaDeTexto 6">
            <a:extLst>
              <a:ext uri="{FF2B5EF4-FFF2-40B4-BE49-F238E27FC236}">
                <a16:creationId xmlns:a16="http://schemas.microsoft.com/office/drawing/2014/main" id="{A1850489-541E-CB32-4A23-1083EB704BBE}"/>
              </a:ext>
            </a:extLst>
          </p:cNvPr>
          <p:cNvSpPr txBox="1"/>
          <p:nvPr/>
        </p:nvSpPr>
        <p:spPr>
          <a:xfrm>
            <a:off x="610616" y="3886200"/>
            <a:ext cx="12241784" cy="4031873"/>
          </a:xfrm>
          <a:prstGeom prst="rect">
            <a:avLst/>
          </a:prstGeom>
          <a:noFill/>
        </p:spPr>
        <p:txBody>
          <a:bodyPr wrap="square">
            <a:spAutoFit/>
          </a:bodyPr>
          <a:lstStyle/>
          <a:p>
            <a:r>
              <a:rPr lang="pt-BR" sz="3200" b="1" dirty="0"/>
              <a:t>Operadores de teste lógico que são:</a:t>
            </a:r>
          </a:p>
          <a:p>
            <a:endParaRPr lang="pt-BR" sz="3200" b="1" dirty="0"/>
          </a:p>
          <a:p>
            <a:r>
              <a:rPr lang="pt-BR" sz="3200" b="1" dirty="0">
                <a:solidFill>
                  <a:srgbClr val="FFC000"/>
                </a:solidFill>
              </a:rPr>
              <a:t>==</a:t>
            </a:r>
            <a:r>
              <a:rPr lang="pt-BR" sz="3200" b="1" dirty="0"/>
              <a:t>  igualdade</a:t>
            </a:r>
          </a:p>
          <a:p>
            <a:r>
              <a:rPr lang="pt-BR" sz="3200" b="1" dirty="0">
                <a:solidFill>
                  <a:srgbClr val="FFC000"/>
                </a:solidFill>
              </a:rPr>
              <a:t>!=</a:t>
            </a:r>
            <a:r>
              <a:rPr lang="pt-BR" sz="3200" b="1" dirty="0"/>
              <a:t>   diferente </a:t>
            </a:r>
          </a:p>
          <a:p>
            <a:r>
              <a:rPr lang="pt-BR" sz="3200" b="1" dirty="0">
                <a:solidFill>
                  <a:srgbClr val="FFC000"/>
                </a:solidFill>
              </a:rPr>
              <a:t>&gt;=</a:t>
            </a:r>
            <a:r>
              <a:rPr lang="pt-BR" sz="3200" b="1" dirty="0"/>
              <a:t>  maior igual </a:t>
            </a:r>
          </a:p>
          <a:p>
            <a:r>
              <a:rPr lang="pt-BR" sz="3200" b="1" dirty="0">
                <a:solidFill>
                  <a:srgbClr val="FFC000"/>
                </a:solidFill>
              </a:rPr>
              <a:t>&gt;</a:t>
            </a:r>
            <a:r>
              <a:rPr lang="pt-BR" sz="3200" b="1" dirty="0"/>
              <a:t>    maior </a:t>
            </a:r>
          </a:p>
          <a:p>
            <a:r>
              <a:rPr lang="pt-BR" sz="3200" b="1" dirty="0">
                <a:solidFill>
                  <a:srgbClr val="FFC000"/>
                </a:solidFill>
              </a:rPr>
              <a:t>&lt;=</a:t>
            </a:r>
            <a:r>
              <a:rPr lang="pt-BR" sz="3200" b="1" dirty="0"/>
              <a:t>  menor igual </a:t>
            </a:r>
          </a:p>
          <a:p>
            <a:r>
              <a:rPr lang="pt-BR" sz="3200" b="1" dirty="0">
                <a:solidFill>
                  <a:srgbClr val="FFC000"/>
                </a:solidFill>
              </a:rPr>
              <a:t>&lt;</a:t>
            </a:r>
            <a:r>
              <a:rPr lang="pt-BR" sz="3200" b="1" dirty="0"/>
              <a:t>    menor</a:t>
            </a:r>
          </a:p>
        </p:txBody>
      </p:sp>
    </p:spTree>
    <p:extLst>
      <p:ext uri="{BB962C8B-B14F-4D97-AF65-F5344CB8AC3E}">
        <p14:creationId xmlns:p14="http://schemas.microsoft.com/office/powerpoint/2010/main" val="4310855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48894-3263-369D-BCA5-ACFD9D79AAD6}"/>
            </a:ext>
          </a:extLst>
        </p:cNvPr>
        <p:cNvGrpSpPr/>
        <p:nvPr/>
      </p:nvGrpSpPr>
      <p:grpSpPr>
        <a:xfrm>
          <a:off x="0" y="0"/>
          <a:ext cx="0" cy="0"/>
          <a:chOff x="0" y="0"/>
          <a:chExt cx="0" cy="0"/>
        </a:xfrm>
      </p:grpSpPr>
      <p:pic>
        <p:nvPicPr>
          <p:cNvPr id="4" name="Imagem 3">
            <a:extLst>
              <a:ext uri="{FF2B5EF4-FFF2-40B4-BE49-F238E27FC236}">
                <a16:creationId xmlns:a16="http://schemas.microsoft.com/office/drawing/2014/main" id="{2B4F7BEB-2651-3A1B-E24A-325A1AA96A28}"/>
              </a:ext>
            </a:extLst>
          </p:cNvPr>
          <p:cNvPicPr>
            <a:picLocks noChangeAspect="1"/>
          </p:cNvPicPr>
          <p:nvPr/>
        </p:nvPicPr>
        <p:blipFill>
          <a:blip r:embed="rId2"/>
          <a:stretch>
            <a:fillRect/>
          </a:stretch>
        </p:blipFill>
        <p:spPr>
          <a:xfrm>
            <a:off x="584200" y="533400"/>
            <a:ext cx="7010400" cy="2151029"/>
          </a:xfrm>
          <a:prstGeom prst="rect">
            <a:avLst/>
          </a:prstGeom>
        </p:spPr>
      </p:pic>
      <p:sp>
        <p:nvSpPr>
          <p:cNvPr id="3" name="CaixaDeTexto 2">
            <a:extLst>
              <a:ext uri="{FF2B5EF4-FFF2-40B4-BE49-F238E27FC236}">
                <a16:creationId xmlns:a16="http://schemas.microsoft.com/office/drawing/2014/main" id="{A5D8E233-5249-B8A3-04E3-23F6CD65EABA}"/>
              </a:ext>
            </a:extLst>
          </p:cNvPr>
          <p:cNvSpPr txBox="1"/>
          <p:nvPr/>
        </p:nvSpPr>
        <p:spPr>
          <a:xfrm>
            <a:off x="610616" y="2971800"/>
            <a:ext cx="10363200" cy="1754326"/>
          </a:xfrm>
          <a:prstGeom prst="rect">
            <a:avLst/>
          </a:prstGeom>
          <a:noFill/>
        </p:spPr>
        <p:txBody>
          <a:bodyPr wrap="square">
            <a:spAutoFit/>
          </a:bodyPr>
          <a:lstStyle/>
          <a:p>
            <a:r>
              <a:rPr lang="pt-BR" sz="3600" b="1" dirty="0">
                <a:solidFill>
                  <a:srgbClr val="FFC000"/>
                </a:solidFill>
              </a:rPr>
              <a:t>Vamos praticar...</a:t>
            </a:r>
          </a:p>
          <a:p>
            <a:endParaRPr lang="pt-BR" sz="3600" b="1" dirty="0">
              <a:solidFill>
                <a:srgbClr val="FFC000"/>
              </a:solidFill>
            </a:endParaRPr>
          </a:p>
          <a:p>
            <a:r>
              <a:rPr lang="pt-BR" sz="3600" b="1" dirty="0">
                <a:solidFill>
                  <a:srgbClr val="FFC000"/>
                </a:solidFill>
              </a:rPr>
              <a:t>Atividade 2 – Conversor de Medidas</a:t>
            </a:r>
          </a:p>
        </p:txBody>
      </p:sp>
      <p:sp>
        <p:nvSpPr>
          <p:cNvPr id="5" name="CaixaDeTexto 4">
            <a:extLst>
              <a:ext uri="{FF2B5EF4-FFF2-40B4-BE49-F238E27FC236}">
                <a16:creationId xmlns:a16="http://schemas.microsoft.com/office/drawing/2014/main" id="{D4456030-C70F-32F9-92B5-E74787ADF370}"/>
              </a:ext>
            </a:extLst>
          </p:cNvPr>
          <p:cNvSpPr txBox="1"/>
          <p:nvPr/>
        </p:nvSpPr>
        <p:spPr>
          <a:xfrm>
            <a:off x="610616" y="4800600"/>
            <a:ext cx="14908784" cy="3908762"/>
          </a:xfrm>
          <a:prstGeom prst="rect">
            <a:avLst/>
          </a:prstGeom>
          <a:noFill/>
        </p:spPr>
        <p:txBody>
          <a:bodyPr wrap="square">
            <a:spAutoFit/>
          </a:bodyPr>
          <a:lstStyle/>
          <a:p>
            <a:r>
              <a:rPr lang="pt-BR" b="1" dirty="0"/>
              <a:t>Objetivo: Nesta atividade você vai converter um número em centímetros para Polegada, Pé ou Jarda. Será necessário usar o comando </a:t>
            </a:r>
            <a:r>
              <a:rPr lang="pt-BR" b="1" dirty="0" err="1"/>
              <a:t>if</a:t>
            </a:r>
            <a:r>
              <a:rPr lang="pt-BR" b="1" dirty="0"/>
              <a:t> / </a:t>
            </a:r>
            <a:r>
              <a:rPr lang="pt-BR" b="1" dirty="0" err="1"/>
              <a:t>elif</a:t>
            </a:r>
            <a:r>
              <a:rPr lang="pt-BR" b="1" dirty="0"/>
              <a:t> / </a:t>
            </a:r>
            <a:r>
              <a:rPr lang="pt-BR" b="1" dirty="0" err="1"/>
              <a:t>else</a:t>
            </a:r>
            <a:r>
              <a:rPr lang="pt-BR" b="1" dirty="0"/>
              <a:t>. </a:t>
            </a:r>
          </a:p>
          <a:p>
            <a:endParaRPr lang="pt-BR" b="1" dirty="0"/>
          </a:p>
          <a:p>
            <a:r>
              <a:rPr lang="pt-BR" b="1" dirty="0"/>
              <a:t>Comandos utilizados: </a:t>
            </a:r>
            <a:r>
              <a:rPr lang="pt-BR" b="1" dirty="0" err="1"/>
              <a:t>If</a:t>
            </a:r>
            <a:r>
              <a:rPr lang="pt-BR" b="1" dirty="0"/>
              <a:t> / </a:t>
            </a:r>
            <a:r>
              <a:rPr lang="pt-BR" b="1" dirty="0" err="1"/>
              <a:t>elif</a:t>
            </a:r>
            <a:r>
              <a:rPr lang="pt-BR" b="1" dirty="0"/>
              <a:t> / </a:t>
            </a:r>
            <a:r>
              <a:rPr lang="pt-BR" b="1" dirty="0" err="1"/>
              <a:t>else</a:t>
            </a:r>
            <a:endParaRPr lang="pt-BR" b="1" dirty="0"/>
          </a:p>
          <a:p>
            <a:endParaRPr lang="pt-BR" sz="2000" dirty="0">
              <a:solidFill>
                <a:srgbClr val="FFC000"/>
              </a:solidFill>
            </a:endParaRPr>
          </a:p>
          <a:p>
            <a:r>
              <a:rPr lang="pt-BR" sz="2000" b="1" dirty="0" err="1">
                <a:solidFill>
                  <a:srgbClr val="FFC000"/>
                </a:solidFill>
              </a:rPr>
              <a:t>If</a:t>
            </a:r>
            <a:r>
              <a:rPr lang="pt-BR" sz="2000" b="1" dirty="0">
                <a:solidFill>
                  <a:srgbClr val="FFC000"/>
                </a:solidFill>
              </a:rPr>
              <a:t> (teste lógico): </a:t>
            </a:r>
          </a:p>
          <a:p>
            <a:r>
              <a:rPr lang="pt-BR" sz="2000" b="1" dirty="0">
                <a:solidFill>
                  <a:srgbClr val="FFC000"/>
                </a:solidFill>
              </a:rPr>
              <a:t>	</a:t>
            </a:r>
            <a:r>
              <a:rPr lang="pt-BR" sz="2000" b="1" dirty="0"/>
              <a:t>#código para condição verdadeira do teste, tem que ser indentado. </a:t>
            </a:r>
            <a:r>
              <a:rPr lang="pt-BR" sz="2000" dirty="0"/>
              <a:t>polegadas = medida / 2.54 </a:t>
            </a:r>
            <a:endParaRPr lang="pt-BR" sz="2000" b="1" dirty="0"/>
          </a:p>
          <a:p>
            <a:r>
              <a:rPr lang="pt-BR" sz="2000" b="1" dirty="0" err="1">
                <a:solidFill>
                  <a:srgbClr val="FFC000"/>
                </a:solidFill>
              </a:rPr>
              <a:t>elif</a:t>
            </a:r>
            <a:r>
              <a:rPr lang="pt-BR" sz="2000" b="1" dirty="0">
                <a:solidFill>
                  <a:srgbClr val="FFC000"/>
                </a:solidFill>
              </a:rPr>
              <a:t> (novo teste lógico): </a:t>
            </a:r>
          </a:p>
          <a:p>
            <a:r>
              <a:rPr lang="pt-BR" sz="2000" b="1" dirty="0">
                <a:solidFill>
                  <a:srgbClr val="FFC000"/>
                </a:solidFill>
              </a:rPr>
              <a:t>	</a:t>
            </a:r>
            <a:r>
              <a:rPr lang="pt-BR" sz="2000" b="1" dirty="0"/>
              <a:t>#código para condição verdadeira do teste, tem que ser indentado </a:t>
            </a:r>
            <a:r>
              <a:rPr lang="pt-BR" sz="2000" dirty="0" err="1"/>
              <a:t>pes</a:t>
            </a:r>
            <a:r>
              <a:rPr lang="pt-BR" sz="2000" dirty="0"/>
              <a:t> = medida / 30.48 </a:t>
            </a:r>
            <a:endParaRPr lang="pt-BR" sz="2000" b="1" dirty="0"/>
          </a:p>
          <a:p>
            <a:r>
              <a:rPr lang="pt-BR" sz="2000" b="1" dirty="0" err="1">
                <a:solidFill>
                  <a:srgbClr val="FFC000"/>
                </a:solidFill>
              </a:rPr>
              <a:t>else</a:t>
            </a:r>
            <a:r>
              <a:rPr lang="pt-BR" sz="2000" b="1" dirty="0">
                <a:solidFill>
                  <a:srgbClr val="FFC000"/>
                </a:solidFill>
              </a:rPr>
              <a:t>: </a:t>
            </a:r>
          </a:p>
          <a:p>
            <a:r>
              <a:rPr lang="pt-BR" sz="2000" b="1" dirty="0">
                <a:solidFill>
                  <a:srgbClr val="FFC000"/>
                </a:solidFill>
              </a:rPr>
              <a:t>	</a:t>
            </a:r>
            <a:r>
              <a:rPr lang="pt-BR" sz="2000" b="1" dirty="0"/>
              <a:t>#código para condição falsa dos testes, tem que ser indentado. </a:t>
            </a:r>
            <a:r>
              <a:rPr lang="pt-BR" sz="2000" dirty="0"/>
              <a:t>jardas = medida / 91.44 </a:t>
            </a:r>
            <a:endParaRPr lang="pt-BR" sz="2000" b="1" dirty="0"/>
          </a:p>
          <a:p>
            <a:endParaRPr lang="pt-BR" b="1" dirty="0"/>
          </a:p>
          <a:p>
            <a:r>
              <a:rPr lang="pt-BR" b="1" dirty="0"/>
              <a:t> </a:t>
            </a:r>
          </a:p>
        </p:txBody>
      </p:sp>
    </p:spTree>
    <p:extLst>
      <p:ext uri="{BB962C8B-B14F-4D97-AF65-F5344CB8AC3E}">
        <p14:creationId xmlns:p14="http://schemas.microsoft.com/office/powerpoint/2010/main" val="3069781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03BCF-8803-76CB-B7F7-6F422A50BB6F}"/>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D662D4A6-43EF-04E3-0EDF-F777C2A871CF}"/>
              </a:ext>
            </a:extLst>
          </p:cNvPr>
          <p:cNvSpPr txBox="1"/>
          <p:nvPr/>
        </p:nvSpPr>
        <p:spPr>
          <a:xfrm>
            <a:off x="4165600" y="3602504"/>
            <a:ext cx="8125968"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Lista de exercícios   PYTHON</a:t>
            </a:r>
          </a:p>
        </p:txBody>
      </p:sp>
    </p:spTree>
    <p:extLst>
      <p:ext uri="{BB962C8B-B14F-4D97-AF65-F5344CB8AC3E}">
        <p14:creationId xmlns:p14="http://schemas.microsoft.com/office/powerpoint/2010/main" val="3817482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C0526F47-4E05-7884-AE73-F8B2EAC14DEC}"/>
            </a:ext>
          </a:extLst>
        </p:cNvPr>
        <p:cNvGrpSpPr/>
        <p:nvPr/>
      </p:nvGrpSpPr>
      <p:grpSpPr>
        <a:xfrm>
          <a:off x="0" y="0"/>
          <a:ext cx="0" cy="0"/>
          <a:chOff x="0" y="0"/>
          <a:chExt cx="0" cy="0"/>
        </a:xfrm>
      </p:grpSpPr>
      <p:pic>
        <p:nvPicPr>
          <p:cNvPr id="32" name="Picture 31">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4" name="Picture 33">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6" name="Oval 35">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8" name="Picture 37">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0" name="Picture 39">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2" name="Rectangle 41">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88E8A59B-12CB-D481-498A-F9755F041F2C}"/>
              </a:ext>
            </a:extLst>
          </p:cNvPr>
          <p:cNvSpPr txBox="1"/>
          <p:nvPr/>
        </p:nvSpPr>
        <p:spPr>
          <a:xfrm>
            <a:off x="861482" y="603624"/>
            <a:ext cx="5791589" cy="1867373"/>
          </a:xfrm>
          <a:prstGeom prst="rect">
            <a:avLst/>
          </a:prstGeom>
        </p:spPr>
        <p:txBody>
          <a:bodyPr vert="horz" lIns="91440" tIns="45720" rIns="91440" bIns="45720" rtlCol="0" anchor="t">
            <a:normAutofit/>
          </a:bodyPr>
          <a:lstStyle/>
          <a:p>
            <a:pPr>
              <a:spcBef>
                <a:spcPct val="0"/>
              </a:spcBef>
              <a:spcAft>
                <a:spcPts val="600"/>
              </a:spcAft>
            </a:pPr>
            <a:r>
              <a:rPr lang="en-US" sz="4200" dirty="0" err="1">
                <a:solidFill>
                  <a:schemeClr val="tx2"/>
                </a:solidFill>
                <a:latin typeface="+mj-lt"/>
                <a:ea typeface="+mj-ea"/>
                <a:cs typeface="+mj-cs"/>
              </a:rPr>
              <a:t>Atividade</a:t>
            </a:r>
            <a:r>
              <a:rPr lang="en-US" sz="4200" dirty="0">
                <a:solidFill>
                  <a:schemeClr val="tx2"/>
                </a:solidFill>
                <a:latin typeface="+mj-lt"/>
                <a:ea typeface="+mj-ea"/>
                <a:cs typeface="+mj-cs"/>
              </a:rPr>
              <a:t>   </a:t>
            </a:r>
          </a:p>
          <a:p>
            <a:pPr>
              <a:spcBef>
                <a:spcPct val="0"/>
              </a:spcBef>
              <a:spcAft>
                <a:spcPts val="600"/>
              </a:spcAft>
            </a:pPr>
            <a:r>
              <a:rPr lang="en-US" sz="4200" dirty="0">
                <a:solidFill>
                  <a:schemeClr val="tx2"/>
                </a:solidFill>
                <a:latin typeface="+mj-lt"/>
                <a:ea typeface="+mj-ea"/>
                <a:cs typeface="+mj-cs"/>
              </a:rPr>
              <a:t>Folha de </a:t>
            </a:r>
            <a:r>
              <a:rPr lang="en-US" sz="4200" dirty="0" err="1">
                <a:solidFill>
                  <a:schemeClr val="tx2"/>
                </a:solidFill>
                <a:latin typeface="+mj-lt"/>
                <a:ea typeface="+mj-ea"/>
                <a:cs typeface="+mj-cs"/>
              </a:rPr>
              <a:t>Pagamento</a:t>
            </a:r>
            <a:r>
              <a:rPr lang="en-US" sz="4200" dirty="0">
                <a:solidFill>
                  <a:schemeClr val="tx2"/>
                </a:solidFill>
                <a:latin typeface="+mj-lt"/>
                <a:ea typeface="+mj-ea"/>
                <a:cs typeface="+mj-cs"/>
              </a:rPr>
              <a:t> </a:t>
            </a:r>
          </a:p>
        </p:txBody>
      </p:sp>
      <p:sp>
        <p:nvSpPr>
          <p:cNvPr id="44" name="Freeform: Shape 43">
            <a:extLst>
              <a:ext uri="{FF2B5EF4-FFF2-40B4-BE49-F238E27FC236}">
                <a16:creationId xmlns:a16="http://schemas.microsoft.com/office/drawing/2014/main" id="{475CE30D-8C95-4716-A3AB-29EC9A5F1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19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6" name="Freeform 23">
            <a:extLst>
              <a:ext uri="{FF2B5EF4-FFF2-40B4-BE49-F238E27FC236}">
                <a16:creationId xmlns:a16="http://schemas.microsoft.com/office/drawing/2014/main" id="{5262E9D7-B5C1-4E6C-B3EF-2F4807705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Imagem 7">
            <a:extLst>
              <a:ext uri="{FF2B5EF4-FFF2-40B4-BE49-F238E27FC236}">
                <a16:creationId xmlns:a16="http://schemas.microsoft.com/office/drawing/2014/main" id="{F31AC620-0FBB-540B-71EC-3F01940C2E50}"/>
              </a:ext>
            </a:extLst>
          </p:cNvPr>
          <p:cNvPicPr>
            <a:picLocks noChangeAspect="1"/>
          </p:cNvPicPr>
          <p:nvPr/>
        </p:nvPicPr>
        <p:blipFill>
          <a:blip r:embed="rId7"/>
          <a:stretch>
            <a:fillRect/>
          </a:stretch>
        </p:blipFill>
        <p:spPr>
          <a:xfrm>
            <a:off x="7379235" y="441954"/>
            <a:ext cx="6046183" cy="2631569"/>
          </a:xfrm>
          <a:prstGeom prst="rect">
            <a:avLst/>
          </a:prstGeom>
          <a:effectLst/>
        </p:spPr>
      </p:pic>
      <p:sp>
        <p:nvSpPr>
          <p:cNvPr id="48" name="Rectangle 47">
            <a:extLst>
              <a:ext uri="{FF2B5EF4-FFF2-40B4-BE49-F238E27FC236}">
                <a16:creationId xmlns:a16="http://schemas.microsoft.com/office/drawing/2014/main" id="{C8C7DA03-3808-49BC-946F-ECACEAE88D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270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F3ED9D51-CDD2-87AF-3D8E-39E8380FFFFF}"/>
              </a:ext>
            </a:extLst>
          </p:cNvPr>
          <p:cNvSpPr txBox="1"/>
          <p:nvPr/>
        </p:nvSpPr>
        <p:spPr>
          <a:xfrm>
            <a:off x="861484" y="2737224"/>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calcular</a:t>
            </a:r>
            <a:r>
              <a:rPr lang="en-US" b="1" dirty="0">
                <a:latin typeface="+mj-lt"/>
                <a:ea typeface="+mj-ea"/>
                <a:cs typeface="+mj-cs"/>
              </a:rPr>
              <a:t>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folha</a:t>
            </a:r>
            <a:r>
              <a:rPr lang="en-US" b="1" dirty="0">
                <a:latin typeface="+mj-lt"/>
                <a:ea typeface="+mj-ea"/>
                <a:cs typeface="+mj-cs"/>
              </a:rPr>
              <a:t> de </a:t>
            </a:r>
            <a:r>
              <a:rPr lang="en-US" b="1" dirty="0" err="1">
                <a:latin typeface="+mj-lt"/>
                <a:ea typeface="+mj-ea"/>
                <a:cs typeface="+mj-cs"/>
              </a:rPr>
              <a:t>pagamento</a:t>
            </a:r>
            <a:r>
              <a:rPr lang="en-US" b="1" dirty="0">
                <a:latin typeface="+mj-lt"/>
                <a:ea typeface="+mj-ea"/>
                <a:cs typeface="+mj-cs"/>
              </a:rPr>
              <a:t> </a:t>
            </a:r>
            <a:r>
              <a:rPr lang="en-US" b="1" dirty="0" err="1">
                <a:latin typeface="+mj-lt"/>
                <a:ea typeface="+mj-ea"/>
                <a:cs typeface="+mj-cs"/>
              </a:rPr>
              <a:t>usando</a:t>
            </a:r>
            <a:r>
              <a:rPr lang="en-US" b="1" dirty="0">
                <a:latin typeface="+mj-lt"/>
                <a:ea typeface="+mj-ea"/>
                <a:cs typeface="+mj-cs"/>
              </a:rPr>
              <a:t> o </a:t>
            </a:r>
            <a:r>
              <a:rPr lang="en-US" b="1" dirty="0" err="1">
                <a:latin typeface="+mj-lt"/>
                <a:ea typeface="+mj-ea"/>
                <a:cs typeface="+mj-cs"/>
              </a:rPr>
              <a:t>comando</a:t>
            </a:r>
            <a:r>
              <a:rPr lang="en-US" b="1" dirty="0">
                <a:latin typeface="+mj-lt"/>
                <a:ea typeface="+mj-ea"/>
                <a:cs typeface="+mj-cs"/>
              </a:rPr>
              <a:t> if e </a:t>
            </a:r>
            <a:r>
              <a:rPr lang="en-US" b="1" dirty="0" err="1">
                <a:latin typeface="+mj-lt"/>
                <a:ea typeface="+mj-ea"/>
                <a:cs typeface="+mj-cs"/>
              </a:rPr>
              <a:t>mostrando</a:t>
            </a:r>
            <a:r>
              <a:rPr lang="en-US" b="1" dirty="0">
                <a:latin typeface="+mj-lt"/>
                <a:ea typeface="+mj-ea"/>
                <a:cs typeface="+mj-cs"/>
              </a:rPr>
              <a:t> o </a:t>
            </a:r>
            <a:r>
              <a:rPr lang="en-US" b="1" dirty="0" err="1">
                <a:latin typeface="+mj-lt"/>
                <a:ea typeface="+mj-ea"/>
                <a:cs typeface="+mj-cs"/>
              </a:rPr>
              <a:t>resultado</a:t>
            </a:r>
            <a:r>
              <a:rPr lang="en-US" b="1" dirty="0">
                <a:latin typeface="+mj-lt"/>
                <a:ea typeface="+mj-ea"/>
                <a:cs typeface="+mj-cs"/>
              </a:rPr>
              <a:t> dos </a:t>
            </a:r>
            <a:r>
              <a:rPr lang="en-US" b="1" dirty="0" err="1">
                <a:latin typeface="+mj-lt"/>
                <a:ea typeface="+mj-ea"/>
                <a:cs typeface="+mj-cs"/>
              </a:rPr>
              <a:t>valores</a:t>
            </a:r>
            <a:r>
              <a:rPr lang="en-US" b="1" dirty="0">
                <a:latin typeface="+mj-lt"/>
                <a:ea typeface="+mj-ea"/>
                <a:cs typeface="+mj-cs"/>
              </a:rPr>
              <a:t> de </a:t>
            </a:r>
            <a:r>
              <a:rPr lang="en-US" b="1" dirty="0" err="1">
                <a:latin typeface="+mj-lt"/>
                <a:ea typeface="+mj-ea"/>
                <a:cs typeface="+mj-cs"/>
              </a:rPr>
              <a:t>Imposto</a:t>
            </a:r>
            <a:r>
              <a:rPr lang="en-US" b="1" dirty="0">
                <a:latin typeface="+mj-lt"/>
                <a:ea typeface="+mj-ea"/>
                <a:cs typeface="+mj-cs"/>
              </a:rPr>
              <a:t> de Renda e INSS a </a:t>
            </a:r>
            <a:r>
              <a:rPr lang="en-US" b="1" dirty="0" err="1">
                <a:latin typeface="+mj-lt"/>
                <a:ea typeface="+mj-ea"/>
                <a:cs typeface="+mj-cs"/>
              </a:rPr>
              <a:t>serem</a:t>
            </a:r>
            <a:r>
              <a:rPr lang="en-US" b="1" dirty="0">
                <a:latin typeface="+mj-lt"/>
                <a:ea typeface="+mj-ea"/>
                <a:cs typeface="+mj-cs"/>
              </a:rPr>
              <a:t> </a:t>
            </a:r>
            <a:r>
              <a:rPr lang="en-US" b="1" dirty="0" err="1">
                <a:latin typeface="+mj-lt"/>
                <a:ea typeface="+mj-ea"/>
                <a:cs typeface="+mj-cs"/>
              </a:rPr>
              <a:t>pagos</a:t>
            </a:r>
            <a:r>
              <a:rPr lang="en-US" b="1" dirty="0">
                <a:latin typeface="+mj-lt"/>
                <a:ea typeface="+mj-ea"/>
                <a:cs typeface="+mj-cs"/>
              </a:rPr>
              <a:t>.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latin typeface="+mj-lt"/>
                <a:ea typeface="+mj-ea"/>
                <a:cs typeface="+mj-cs"/>
              </a:rPr>
              <a:t>Variáveis</a:t>
            </a:r>
            <a:r>
              <a:rPr lang="en-US" b="1" dirty="0">
                <a:latin typeface="+mj-lt"/>
                <a:ea typeface="+mj-ea"/>
                <a:cs typeface="+mj-cs"/>
              </a:rPr>
              <a:t>, if, </a:t>
            </a:r>
            <a:r>
              <a:rPr lang="en-US" b="1" dirty="0" err="1">
                <a:latin typeface="+mj-lt"/>
                <a:ea typeface="+mj-ea"/>
                <a:cs typeface="+mj-cs"/>
              </a:rPr>
              <a:t>operadores</a:t>
            </a:r>
            <a:r>
              <a:rPr lang="en-US" b="1" dirty="0">
                <a:latin typeface="+mj-lt"/>
                <a:ea typeface="+mj-ea"/>
                <a:cs typeface="+mj-cs"/>
              </a:rPr>
              <a:t> </a:t>
            </a:r>
            <a:r>
              <a:rPr lang="en-US" b="1" dirty="0" err="1">
                <a:latin typeface="+mj-lt"/>
                <a:ea typeface="+mj-ea"/>
                <a:cs typeface="+mj-cs"/>
              </a:rPr>
              <a:t>matemáticos</a:t>
            </a:r>
            <a:r>
              <a:rPr lang="en-US" b="1" dirty="0">
                <a:latin typeface="+mj-lt"/>
                <a:ea typeface="+mj-ea"/>
                <a:cs typeface="+mj-cs"/>
              </a:rPr>
              <a:t> e </a:t>
            </a:r>
            <a:r>
              <a:rPr lang="en-US" b="1" dirty="0" err="1">
                <a:latin typeface="+mj-lt"/>
                <a:ea typeface="+mj-ea"/>
                <a:cs typeface="+mj-cs"/>
              </a:rPr>
              <a:t>formatação</a:t>
            </a:r>
            <a:r>
              <a:rPr lang="en-US" b="1" dirty="0">
                <a:latin typeface="+mj-lt"/>
                <a:ea typeface="+mj-ea"/>
                <a:cs typeface="+mj-cs"/>
              </a:rPr>
              <a:t> com </a:t>
            </a:r>
            <a:r>
              <a:rPr lang="en-US" b="1" dirty="0" err="1">
                <a:latin typeface="+mj-lt"/>
                <a:ea typeface="+mj-ea"/>
                <a:cs typeface="+mj-cs"/>
              </a:rPr>
              <a:t>posição</a:t>
            </a:r>
            <a:r>
              <a:rPr lang="en-US" b="1" dirty="0">
                <a:latin typeface="+mj-lt"/>
                <a:ea typeface="+mj-ea"/>
                <a:cs typeface="+mj-cs"/>
              </a:rPr>
              <a:t> de </a:t>
            </a:r>
            <a:r>
              <a:rPr lang="en-US" b="1" dirty="0" err="1">
                <a:latin typeface="+mj-lt"/>
                <a:ea typeface="+mj-ea"/>
                <a:cs typeface="+mj-cs"/>
              </a:rPr>
              <a:t>substituição</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pic>
        <p:nvPicPr>
          <p:cNvPr id="6" name="Imagem 5">
            <a:extLst>
              <a:ext uri="{FF2B5EF4-FFF2-40B4-BE49-F238E27FC236}">
                <a16:creationId xmlns:a16="http://schemas.microsoft.com/office/drawing/2014/main" id="{02BD9C5B-30CE-BE5C-362C-0A7BBEEFA067}"/>
              </a:ext>
            </a:extLst>
          </p:cNvPr>
          <p:cNvPicPr>
            <a:picLocks noChangeAspect="1"/>
          </p:cNvPicPr>
          <p:nvPr/>
        </p:nvPicPr>
        <p:blipFill>
          <a:blip r:embed="rId8"/>
          <a:stretch>
            <a:fillRect/>
          </a:stretch>
        </p:blipFill>
        <p:spPr>
          <a:xfrm>
            <a:off x="1734637" y="6145140"/>
            <a:ext cx="12639645" cy="2780721"/>
          </a:xfrm>
          <a:prstGeom prst="rect">
            <a:avLst/>
          </a:prstGeom>
          <a:effectLst/>
        </p:spPr>
      </p:pic>
      <p:pic>
        <p:nvPicPr>
          <p:cNvPr id="16" name="Imagem 15">
            <a:extLst>
              <a:ext uri="{FF2B5EF4-FFF2-40B4-BE49-F238E27FC236}">
                <a16:creationId xmlns:a16="http://schemas.microsoft.com/office/drawing/2014/main" id="{6BC6EC05-B551-D333-6E80-EBB6E1BE60F7}"/>
              </a:ext>
            </a:extLst>
          </p:cNvPr>
          <p:cNvPicPr>
            <a:picLocks noChangeAspect="1"/>
          </p:cNvPicPr>
          <p:nvPr/>
        </p:nvPicPr>
        <p:blipFill>
          <a:blip r:embed="rId9"/>
          <a:stretch>
            <a:fillRect/>
          </a:stretch>
        </p:blipFill>
        <p:spPr>
          <a:xfrm>
            <a:off x="7379235" y="3224263"/>
            <a:ext cx="6046183" cy="2833860"/>
          </a:xfrm>
          <a:prstGeom prst="rect">
            <a:avLst/>
          </a:prstGeom>
        </p:spPr>
      </p:pic>
    </p:spTree>
    <p:extLst>
      <p:ext uri="{BB962C8B-B14F-4D97-AF65-F5344CB8AC3E}">
        <p14:creationId xmlns:p14="http://schemas.microsoft.com/office/powerpoint/2010/main" val="3085449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2CC6E5B-9607-5B0D-E987-EA8AB35D8AA2}"/>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0F7302AF-86B9-441B-8D24-AC382E2A43A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5" name="Picture 34">
            <a:extLst>
              <a:ext uri="{FF2B5EF4-FFF2-40B4-BE49-F238E27FC236}">
                <a16:creationId xmlns:a16="http://schemas.microsoft.com/office/drawing/2014/main" id="{99A2A6C2-D371-4C6B-B50F-CC71C6D010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7" name="Oval 36">
            <a:extLst>
              <a:ext uri="{FF2B5EF4-FFF2-40B4-BE49-F238E27FC236}">
                <a16:creationId xmlns:a16="http://schemas.microsoft.com/office/drawing/2014/main" id="{5F07A6A6-E44B-411E-AA18-65E4811366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9" name="Picture 38">
            <a:extLst>
              <a:ext uri="{FF2B5EF4-FFF2-40B4-BE49-F238E27FC236}">
                <a16:creationId xmlns:a16="http://schemas.microsoft.com/office/drawing/2014/main" id="{8CC3468F-5EED-42B0-8507-F30360E1D5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1" name="Picture 40">
            <a:extLst>
              <a:ext uri="{FF2B5EF4-FFF2-40B4-BE49-F238E27FC236}">
                <a16:creationId xmlns:a16="http://schemas.microsoft.com/office/drawing/2014/main" id="{591711EE-029D-453C-9AE9-E87829F1D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3" name="Rectangle 42">
            <a:extLst>
              <a:ext uri="{FF2B5EF4-FFF2-40B4-BE49-F238E27FC236}">
                <a16:creationId xmlns:a16="http://schemas.microsoft.com/office/drawing/2014/main" id="{5D5A8E14-301B-40C0-A174-D2232EF95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03DA32F-32DF-792E-EC2C-CE731E0B6275}"/>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4200" dirty="0" err="1">
                <a:solidFill>
                  <a:schemeClr val="tx2"/>
                </a:solidFill>
              </a:rPr>
              <a:t>Atividade</a:t>
            </a:r>
            <a:r>
              <a:rPr lang="en-US" sz="4200" dirty="0">
                <a:solidFill>
                  <a:schemeClr val="tx2"/>
                </a:solidFill>
              </a:rPr>
              <a:t>  </a:t>
            </a:r>
          </a:p>
          <a:p>
            <a:pPr>
              <a:lnSpc>
                <a:spcPct val="90000"/>
              </a:lnSpc>
              <a:spcBef>
                <a:spcPct val="0"/>
              </a:spcBef>
              <a:spcAft>
                <a:spcPts val="600"/>
              </a:spcAft>
            </a:pPr>
            <a:r>
              <a:rPr lang="en-US" sz="4200" dirty="0" err="1">
                <a:solidFill>
                  <a:schemeClr val="tx2"/>
                </a:solidFill>
              </a:rPr>
              <a:t>Calcular</a:t>
            </a:r>
            <a:r>
              <a:rPr lang="en-US" sz="4200" dirty="0">
                <a:solidFill>
                  <a:schemeClr val="tx2"/>
                </a:solidFill>
              </a:rPr>
              <a:t> IMC</a:t>
            </a:r>
          </a:p>
        </p:txBody>
      </p:sp>
      <p:sp>
        <p:nvSpPr>
          <p:cNvPr id="45" name="Freeform: Shape 44">
            <a:extLst>
              <a:ext uri="{FF2B5EF4-FFF2-40B4-BE49-F238E27FC236}">
                <a16:creationId xmlns:a16="http://schemas.microsoft.com/office/drawing/2014/main" id="{475CE30D-8C95-4716-A3AB-29EC9A5F1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19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7" name="Freeform 23">
            <a:extLst>
              <a:ext uri="{FF2B5EF4-FFF2-40B4-BE49-F238E27FC236}">
                <a16:creationId xmlns:a16="http://schemas.microsoft.com/office/drawing/2014/main" id="{5262E9D7-B5C1-4E6C-B3EF-2F48077054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7" name="Imagem 6">
            <a:extLst>
              <a:ext uri="{FF2B5EF4-FFF2-40B4-BE49-F238E27FC236}">
                <a16:creationId xmlns:a16="http://schemas.microsoft.com/office/drawing/2014/main" id="{C06E2E8A-1A64-DCE5-669C-042A36122983}"/>
              </a:ext>
            </a:extLst>
          </p:cNvPr>
          <p:cNvPicPr>
            <a:picLocks noChangeAspect="1"/>
          </p:cNvPicPr>
          <p:nvPr/>
        </p:nvPicPr>
        <p:blipFill>
          <a:blip r:embed="rId7"/>
          <a:stretch>
            <a:fillRect/>
          </a:stretch>
        </p:blipFill>
        <p:spPr>
          <a:xfrm>
            <a:off x="7932043" y="1349038"/>
            <a:ext cx="5606157" cy="3952866"/>
          </a:xfrm>
          <a:prstGeom prst="rect">
            <a:avLst/>
          </a:prstGeom>
          <a:effectLst/>
        </p:spPr>
      </p:pic>
      <p:sp>
        <p:nvSpPr>
          <p:cNvPr id="49" name="Rectangle 48">
            <a:extLst>
              <a:ext uri="{FF2B5EF4-FFF2-40B4-BE49-F238E27FC236}">
                <a16:creationId xmlns:a16="http://schemas.microsoft.com/office/drawing/2014/main" id="{C8C7DA03-3808-49BC-946F-ECACEAE88D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270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BB4B1F89-B77E-7AD6-B473-E38CD5C2FD23}"/>
              </a:ext>
            </a:extLst>
          </p:cNvPr>
          <p:cNvSpPr txBox="1"/>
          <p:nvPr/>
        </p:nvSpPr>
        <p:spPr>
          <a:xfrm>
            <a:off x="720661" y="2106168"/>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calcular</a:t>
            </a:r>
            <a:r>
              <a:rPr lang="en-US" b="1" dirty="0">
                <a:latin typeface="+mj-lt"/>
                <a:ea typeface="+mj-ea"/>
                <a:cs typeface="+mj-cs"/>
              </a:rPr>
              <a:t> o IMC a </a:t>
            </a:r>
            <a:r>
              <a:rPr lang="en-US" b="1" dirty="0" err="1">
                <a:latin typeface="+mj-lt"/>
                <a:ea typeface="+mj-ea"/>
                <a:cs typeface="+mj-cs"/>
              </a:rPr>
              <a:t>partir</a:t>
            </a:r>
            <a:r>
              <a:rPr lang="en-US" b="1" dirty="0">
                <a:latin typeface="+mj-lt"/>
                <a:ea typeface="+mj-ea"/>
                <a:cs typeface="+mj-cs"/>
              </a:rPr>
              <a:t> de um peso e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altura</a:t>
            </a:r>
            <a:r>
              <a:rPr lang="en-US" b="1" dirty="0">
                <a:latin typeface="+mj-lt"/>
                <a:ea typeface="+mj-ea"/>
                <a:cs typeface="+mj-cs"/>
              </a:rPr>
              <a:t>, </a:t>
            </a:r>
            <a:r>
              <a:rPr lang="en-US" b="1" dirty="0" err="1">
                <a:latin typeface="+mj-lt"/>
                <a:ea typeface="+mj-ea"/>
                <a:cs typeface="+mj-cs"/>
              </a:rPr>
              <a:t>usará</a:t>
            </a:r>
            <a:r>
              <a:rPr lang="en-US" b="1" dirty="0">
                <a:latin typeface="+mj-lt"/>
                <a:ea typeface="+mj-ea"/>
                <a:cs typeface="+mj-cs"/>
              </a:rPr>
              <a:t> a </a:t>
            </a:r>
            <a:r>
              <a:rPr lang="en-US" b="1" dirty="0" err="1">
                <a:latin typeface="+mj-lt"/>
                <a:ea typeface="+mj-ea"/>
                <a:cs typeface="+mj-cs"/>
              </a:rPr>
              <a:t>comando</a:t>
            </a:r>
            <a:r>
              <a:rPr lang="en-US" b="1" dirty="0">
                <a:latin typeface="+mj-lt"/>
                <a:ea typeface="+mj-ea"/>
                <a:cs typeface="+mj-cs"/>
              </a:rPr>
              <a:t> if para </a:t>
            </a:r>
            <a:r>
              <a:rPr lang="en-US" b="1" dirty="0" err="1">
                <a:latin typeface="+mj-lt"/>
                <a:ea typeface="+mj-ea"/>
                <a:cs typeface="+mj-cs"/>
              </a:rPr>
              <a:t>mostrar</a:t>
            </a:r>
            <a:r>
              <a:rPr lang="en-US" b="1" dirty="0">
                <a:latin typeface="+mj-lt"/>
                <a:ea typeface="+mj-ea"/>
                <a:cs typeface="+mj-cs"/>
              </a:rPr>
              <a:t> o </a:t>
            </a:r>
            <a:r>
              <a:rPr lang="en-US" b="1" dirty="0" err="1">
                <a:latin typeface="+mj-lt"/>
                <a:ea typeface="+mj-ea"/>
                <a:cs typeface="+mj-cs"/>
              </a:rPr>
              <a:t>resultado</a:t>
            </a:r>
            <a:r>
              <a:rPr lang="en-US" b="1" dirty="0">
                <a:latin typeface="+mj-lt"/>
                <a:ea typeface="+mj-ea"/>
                <a:cs typeface="+mj-cs"/>
              </a:rPr>
              <a:t> do </a:t>
            </a:r>
            <a:r>
              <a:rPr lang="en-US" b="1" dirty="0" err="1">
                <a:latin typeface="+mj-lt"/>
                <a:ea typeface="+mj-ea"/>
                <a:cs typeface="+mj-cs"/>
              </a:rPr>
              <a:t>cálculo</a:t>
            </a:r>
            <a:r>
              <a:rPr lang="en-US" b="1" dirty="0">
                <a:latin typeface="+mj-lt"/>
                <a:ea typeface="+mj-ea"/>
                <a:cs typeface="+mj-cs"/>
              </a:rPr>
              <a:t> do IMC.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latin typeface="+mj-lt"/>
                <a:ea typeface="+mj-ea"/>
                <a:cs typeface="+mj-cs"/>
              </a:rPr>
              <a:t>Variáveis</a:t>
            </a:r>
            <a:r>
              <a:rPr lang="en-US" b="1" dirty="0">
                <a:latin typeface="+mj-lt"/>
                <a:ea typeface="+mj-ea"/>
                <a:cs typeface="+mj-cs"/>
              </a:rPr>
              <a:t>, if / </a:t>
            </a:r>
            <a:r>
              <a:rPr lang="en-US" b="1" dirty="0" err="1">
                <a:latin typeface="+mj-lt"/>
                <a:ea typeface="+mj-ea"/>
                <a:cs typeface="+mj-cs"/>
              </a:rPr>
              <a:t>elif</a:t>
            </a:r>
            <a:r>
              <a:rPr lang="en-US" b="1" dirty="0">
                <a:latin typeface="+mj-lt"/>
                <a:ea typeface="+mj-ea"/>
                <a:cs typeface="+mj-cs"/>
              </a:rPr>
              <a:t> / else.  </a:t>
            </a:r>
          </a:p>
        </p:txBody>
      </p:sp>
      <p:pic>
        <p:nvPicPr>
          <p:cNvPr id="9" name="Imagem 8">
            <a:extLst>
              <a:ext uri="{FF2B5EF4-FFF2-40B4-BE49-F238E27FC236}">
                <a16:creationId xmlns:a16="http://schemas.microsoft.com/office/drawing/2014/main" id="{AE4F85AB-70C8-BB3C-4163-3A5213882143}"/>
              </a:ext>
            </a:extLst>
          </p:cNvPr>
          <p:cNvPicPr>
            <a:picLocks noChangeAspect="1"/>
          </p:cNvPicPr>
          <p:nvPr/>
        </p:nvPicPr>
        <p:blipFill>
          <a:blip r:embed="rId8"/>
          <a:stretch>
            <a:fillRect/>
          </a:stretch>
        </p:blipFill>
        <p:spPr>
          <a:xfrm>
            <a:off x="861482" y="6014210"/>
            <a:ext cx="13974801" cy="2131155"/>
          </a:xfrm>
          <a:prstGeom prst="rect">
            <a:avLst/>
          </a:prstGeom>
          <a:effectLst/>
        </p:spPr>
      </p:pic>
    </p:spTree>
    <p:extLst>
      <p:ext uri="{BB962C8B-B14F-4D97-AF65-F5344CB8AC3E}">
        <p14:creationId xmlns:p14="http://schemas.microsoft.com/office/powerpoint/2010/main" val="2046171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A4B283B-394F-BD71-D8E7-6B355B0D0CAA}"/>
            </a:ext>
          </a:extLst>
        </p:cNvPr>
        <p:cNvGrpSpPr/>
        <p:nvPr/>
      </p:nvGrpSpPr>
      <p:grpSpPr>
        <a:xfrm>
          <a:off x="0" y="0"/>
          <a:ext cx="0" cy="0"/>
          <a:chOff x="0" y="0"/>
          <a:chExt cx="0" cy="0"/>
        </a:xfrm>
      </p:grpSpPr>
      <p:pic>
        <p:nvPicPr>
          <p:cNvPr id="71" name="Picture 5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72" name="Picture 5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73" name="Oval 5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74" name="Picture 5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75" name="Picture 6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76" name="Rectangle 6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2510B1C0-353A-5EA0-1450-118C6546418D}"/>
              </a:ext>
            </a:extLst>
          </p:cNvPr>
          <p:cNvSpPr txBox="1"/>
          <p:nvPr/>
        </p:nvSpPr>
        <p:spPr>
          <a:xfrm>
            <a:off x="861482" y="603624"/>
            <a:ext cx="5554107"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dirty="0" err="1">
                <a:solidFill>
                  <a:schemeClr val="tx2"/>
                </a:solidFill>
                <a:latin typeface="+mj-lt"/>
                <a:ea typeface="+mj-ea"/>
                <a:cs typeface="+mj-cs"/>
              </a:rPr>
              <a:t>Atividade</a:t>
            </a:r>
            <a:r>
              <a:rPr lang="en-US" sz="3900" dirty="0">
                <a:solidFill>
                  <a:schemeClr val="tx2"/>
                </a:solidFill>
                <a:latin typeface="+mj-lt"/>
                <a:ea typeface="+mj-ea"/>
                <a:cs typeface="+mj-cs"/>
              </a:rPr>
              <a:t>  </a:t>
            </a:r>
          </a:p>
          <a:p>
            <a:pPr>
              <a:lnSpc>
                <a:spcPct val="90000"/>
              </a:lnSpc>
              <a:spcBef>
                <a:spcPct val="0"/>
              </a:spcBef>
              <a:spcAft>
                <a:spcPts val="600"/>
              </a:spcAft>
            </a:pPr>
            <a:r>
              <a:rPr lang="en-US" sz="3900" dirty="0" err="1">
                <a:solidFill>
                  <a:schemeClr val="tx2"/>
                </a:solidFill>
                <a:latin typeface="+mj-lt"/>
                <a:ea typeface="+mj-ea"/>
                <a:cs typeface="+mj-cs"/>
              </a:rPr>
              <a:t>Trabalhando</a:t>
            </a:r>
            <a:r>
              <a:rPr lang="en-US" sz="3900" dirty="0">
                <a:solidFill>
                  <a:schemeClr val="tx2"/>
                </a:solidFill>
                <a:latin typeface="+mj-lt"/>
                <a:ea typeface="+mj-ea"/>
                <a:cs typeface="+mj-cs"/>
              </a:rPr>
              <a:t> com </a:t>
            </a:r>
            <a:r>
              <a:rPr lang="en-US" sz="3900" dirty="0" err="1">
                <a:solidFill>
                  <a:schemeClr val="tx2"/>
                </a:solidFill>
                <a:latin typeface="+mj-lt"/>
                <a:ea typeface="+mj-ea"/>
                <a:cs typeface="+mj-cs"/>
              </a:rPr>
              <a:t>Textos</a:t>
            </a:r>
            <a:r>
              <a:rPr lang="en-US" sz="3900" dirty="0">
                <a:solidFill>
                  <a:schemeClr val="tx2"/>
                </a:solidFill>
                <a:latin typeface="+mj-lt"/>
                <a:ea typeface="+mj-ea"/>
                <a:cs typeface="+mj-cs"/>
              </a:rPr>
              <a:t> </a:t>
            </a:r>
          </a:p>
        </p:txBody>
      </p:sp>
      <p:sp>
        <p:nvSpPr>
          <p:cNvPr id="77" name="Freeform: Shape 64">
            <a:extLst>
              <a:ext uri="{FF2B5EF4-FFF2-40B4-BE49-F238E27FC236}">
                <a16:creationId xmlns:a16="http://schemas.microsoft.com/office/drawing/2014/main" id="{DBAF956B-591A-4461-BB3C-79AA176B09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78" name="Freeform 23">
            <a:extLst>
              <a:ext uri="{FF2B5EF4-FFF2-40B4-BE49-F238E27FC236}">
                <a16:creationId xmlns:a16="http://schemas.microsoft.com/office/drawing/2014/main" id="{E8895FAA-0D03-43F6-9594-A8733552E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79" name="Rectangle 68">
            <a:extLst>
              <a:ext uri="{FF2B5EF4-FFF2-40B4-BE49-F238E27FC236}">
                <a16:creationId xmlns:a16="http://schemas.microsoft.com/office/drawing/2014/main" id="{918FB696-BC5E-43A4-9768-4BB5278BDC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4" name="CaixaDeTexto 3">
            <a:extLst>
              <a:ext uri="{FF2B5EF4-FFF2-40B4-BE49-F238E27FC236}">
                <a16:creationId xmlns:a16="http://schemas.microsoft.com/office/drawing/2014/main" id="{624DE876-8C9C-13F7-F89E-419AAFCDF000}"/>
              </a:ext>
            </a:extLst>
          </p:cNvPr>
          <p:cNvSpPr txBox="1"/>
          <p:nvPr/>
        </p:nvSpPr>
        <p:spPr>
          <a:xfrm>
            <a:off x="861484" y="2737224"/>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a:latin typeface="+mj-lt"/>
                <a:ea typeface="+mj-ea"/>
                <a:cs typeface="+mj-cs"/>
              </a:rPr>
              <a:t>Objetivo: Nesta atividade você vai trabalhar com dados de texto, usando vários métodos para verificar e modificar o valor de uma variável.</a:t>
            </a:r>
          </a:p>
        </p:txBody>
      </p:sp>
      <p:pic>
        <p:nvPicPr>
          <p:cNvPr id="11" name="Imagem 10">
            <a:extLst>
              <a:ext uri="{FF2B5EF4-FFF2-40B4-BE49-F238E27FC236}">
                <a16:creationId xmlns:a16="http://schemas.microsoft.com/office/drawing/2014/main" id="{D6BFCD7D-4996-C219-0F03-3B20862CF2A6}"/>
              </a:ext>
            </a:extLst>
          </p:cNvPr>
          <p:cNvPicPr>
            <a:picLocks noChangeAspect="1"/>
          </p:cNvPicPr>
          <p:nvPr/>
        </p:nvPicPr>
        <p:blipFill>
          <a:blip r:embed="rId7"/>
          <a:stretch>
            <a:fillRect/>
          </a:stretch>
        </p:blipFill>
        <p:spPr>
          <a:xfrm>
            <a:off x="8199095" y="5447788"/>
            <a:ext cx="7119530" cy="2883409"/>
          </a:xfrm>
          <a:prstGeom prst="rect">
            <a:avLst/>
          </a:prstGeom>
          <a:effectLst/>
        </p:spPr>
      </p:pic>
      <p:pic>
        <p:nvPicPr>
          <p:cNvPr id="9" name="Imagem 8">
            <a:extLst>
              <a:ext uri="{FF2B5EF4-FFF2-40B4-BE49-F238E27FC236}">
                <a16:creationId xmlns:a16="http://schemas.microsoft.com/office/drawing/2014/main" id="{35056DFB-A555-12A8-0C21-6DEC0DC99CA9}"/>
              </a:ext>
            </a:extLst>
          </p:cNvPr>
          <p:cNvPicPr>
            <a:picLocks noChangeAspect="1"/>
          </p:cNvPicPr>
          <p:nvPr/>
        </p:nvPicPr>
        <p:blipFill>
          <a:blip r:embed="rId8"/>
          <a:stretch>
            <a:fillRect/>
          </a:stretch>
        </p:blipFill>
        <p:spPr>
          <a:xfrm>
            <a:off x="8125880" y="945185"/>
            <a:ext cx="7265961" cy="4159761"/>
          </a:xfrm>
          <a:prstGeom prst="rect">
            <a:avLst/>
          </a:prstGeom>
          <a:effectLst/>
        </p:spPr>
      </p:pic>
    </p:spTree>
    <p:extLst>
      <p:ext uri="{BB962C8B-B14F-4D97-AF65-F5344CB8AC3E}">
        <p14:creationId xmlns:p14="http://schemas.microsoft.com/office/powerpoint/2010/main" val="24490924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aixaDeTexto 10">
            <a:extLst>
              <a:ext uri="{FF2B5EF4-FFF2-40B4-BE49-F238E27FC236}">
                <a16:creationId xmlns:a16="http://schemas.microsoft.com/office/drawing/2014/main" id="{A3D17FF8-7706-0FB6-DDBC-0665254CB7EF}"/>
              </a:ext>
            </a:extLst>
          </p:cNvPr>
          <p:cNvSpPr txBox="1"/>
          <p:nvPr/>
        </p:nvSpPr>
        <p:spPr>
          <a:xfrm>
            <a:off x="4546600" y="3836087"/>
            <a:ext cx="8125968" cy="769441"/>
          </a:xfrm>
          <a:prstGeom prst="rect">
            <a:avLst/>
          </a:prstGeom>
          <a:noFill/>
        </p:spPr>
        <p:txBody>
          <a:bodyPr wrap="square">
            <a:spAutoFit/>
          </a:bodyPr>
          <a:lstStyle/>
          <a:p>
            <a:pPr algn="just"/>
            <a:r>
              <a:rPr lang="pt-BR" sz="4400" b="1" dirty="0">
                <a:solidFill>
                  <a:srgbClr val="FFC000"/>
                </a:solidFill>
              </a:rPr>
              <a:t>Estruturas de repetição</a:t>
            </a:r>
          </a:p>
        </p:txBody>
      </p:sp>
    </p:spTree>
    <p:extLst>
      <p:ext uri="{BB962C8B-B14F-4D97-AF65-F5344CB8AC3E}">
        <p14:creationId xmlns:p14="http://schemas.microsoft.com/office/powerpoint/2010/main" val="29025575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aixaDeTexto 4">
            <a:extLst>
              <a:ext uri="{FF2B5EF4-FFF2-40B4-BE49-F238E27FC236}">
                <a16:creationId xmlns:a16="http://schemas.microsoft.com/office/drawing/2014/main" id="{138672B5-3630-25FD-3C48-EF158ACC79FE}"/>
              </a:ext>
            </a:extLst>
          </p:cNvPr>
          <p:cNvSpPr txBox="1"/>
          <p:nvPr/>
        </p:nvSpPr>
        <p:spPr>
          <a:xfrm>
            <a:off x="508000" y="1905000"/>
            <a:ext cx="8686800" cy="3600986"/>
          </a:xfrm>
          <a:prstGeom prst="rect">
            <a:avLst/>
          </a:prstGeom>
          <a:noFill/>
        </p:spPr>
        <p:txBody>
          <a:bodyPr wrap="square">
            <a:spAutoFit/>
          </a:bodyPr>
          <a:lstStyle/>
          <a:p>
            <a:pPr algn="just"/>
            <a:r>
              <a:rPr lang="pt-BR" sz="3200" b="1" dirty="0">
                <a:solidFill>
                  <a:srgbClr val="FFC000"/>
                </a:solidFill>
              </a:rPr>
              <a:t>Estruturas de repetição</a:t>
            </a:r>
          </a:p>
          <a:p>
            <a:pPr algn="just"/>
            <a:endParaRPr lang="pt-BR" sz="2800" b="1" dirty="0"/>
          </a:p>
          <a:p>
            <a:pPr algn="just"/>
            <a:r>
              <a:rPr lang="pt-BR" sz="2800" b="1" dirty="0"/>
              <a:t>Neste capítulo você irá aprender a criar estruturas de repetição que são úteis para repetir uma operação determinadas vezes ou até que uma condição não seja mais verdadeira, no Python temos duas estruturas de repetição que podemos usar, comando </a:t>
            </a:r>
            <a:r>
              <a:rPr lang="pt-BR" sz="2800" b="1" dirty="0">
                <a:solidFill>
                  <a:srgbClr val="FFC000"/>
                </a:solidFill>
              </a:rPr>
              <a:t>for</a:t>
            </a:r>
            <a:r>
              <a:rPr lang="pt-BR" sz="2800" b="1" dirty="0"/>
              <a:t> e o </a:t>
            </a:r>
            <a:r>
              <a:rPr lang="pt-BR" sz="2800" b="1" dirty="0" err="1">
                <a:solidFill>
                  <a:srgbClr val="FFC000"/>
                </a:solidFill>
              </a:rPr>
              <a:t>while</a:t>
            </a:r>
            <a:r>
              <a:rPr lang="pt-BR" sz="2800" b="1" dirty="0"/>
              <a:t>. </a:t>
            </a:r>
          </a:p>
        </p:txBody>
      </p:sp>
      <p:pic>
        <p:nvPicPr>
          <p:cNvPr id="7" name="Imagem 6">
            <a:extLst>
              <a:ext uri="{FF2B5EF4-FFF2-40B4-BE49-F238E27FC236}">
                <a16:creationId xmlns:a16="http://schemas.microsoft.com/office/drawing/2014/main" id="{23B73C09-C7F1-DD4C-4611-6070C2A924AC}"/>
              </a:ext>
            </a:extLst>
          </p:cNvPr>
          <p:cNvPicPr>
            <a:picLocks noChangeAspect="1"/>
          </p:cNvPicPr>
          <p:nvPr/>
        </p:nvPicPr>
        <p:blipFill>
          <a:blip r:embed="rId2"/>
          <a:stretch>
            <a:fillRect/>
          </a:stretch>
        </p:blipFill>
        <p:spPr>
          <a:xfrm>
            <a:off x="9956800" y="0"/>
            <a:ext cx="6182588" cy="5830114"/>
          </a:xfrm>
          <a:prstGeom prst="rect">
            <a:avLst/>
          </a:prstGeom>
        </p:spPr>
      </p:pic>
    </p:spTree>
    <p:extLst>
      <p:ext uri="{BB962C8B-B14F-4D97-AF65-F5344CB8AC3E}">
        <p14:creationId xmlns:p14="http://schemas.microsoft.com/office/powerpoint/2010/main" val="23629078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4D81E-16ED-59E5-59D6-D0E36BCD509F}"/>
            </a:ext>
          </a:extLst>
        </p:cNvPr>
        <p:cNvGrpSpPr/>
        <p:nvPr/>
      </p:nvGrpSpPr>
      <p:grpSpPr>
        <a:xfrm>
          <a:off x="0" y="0"/>
          <a:ext cx="0" cy="0"/>
          <a:chOff x="0" y="0"/>
          <a:chExt cx="0" cy="0"/>
        </a:xfrm>
      </p:grpSpPr>
      <p:sp>
        <p:nvSpPr>
          <p:cNvPr id="5" name="CaixaDeTexto 4">
            <a:extLst>
              <a:ext uri="{FF2B5EF4-FFF2-40B4-BE49-F238E27FC236}">
                <a16:creationId xmlns:a16="http://schemas.microsoft.com/office/drawing/2014/main" id="{6F46CC75-3A9F-C641-AE03-FE9C2256B50A}"/>
              </a:ext>
            </a:extLst>
          </p:cNvPr>
          <p:cNvSpPr txBox="1"/>
          <p:nvPr/>
        </p:nvSpPr>
        <p:spPr>
          <a:xfrm>
            <a:off x="812800" y="5105400"/>
            <a:ext cx="14782800" cy="3416320"/>
          </a:xfrm>
          <a:prstGeom prst="rect">
            <a:avLst/>
          </a:prstGeom>
          <a:noFill/>
        </p:spPr>
        <p:txBody>
          <a:bodyPr wrap="square">
            <a:spAutoFit/>
          </a:bodyPr>
          <a:lstStyle/>
          <a:p>
            <a:r>
              <a:rPr lang="pt-BR" sz="2400" b="1" dirty="0">
                <a:solidFill>
                  <a:srgbClr val="FFC000"/>
                </a:solidFill>
              </a:rPr>
              <a:t>Objetivos: </a:t>
            </a:r>
          </a:p>
          <a:p>
            <a:endParaRPr lang="pt-BR" sz="2400" dirty="0"/>
          </a:p>
          <a:p>
            <a:r>
              <a:rPr lang="pt-BR" sz="2400" dirty="0"/>
              <a:t> Entender como funciona uma estrutura de loop for. </a:t>
            </a:r>
          </a:p>
          <a:p>
            <a:endParaRPr lang="pt-BR" sz="2400" dirty="0"/>
          </a:p>
          <a:p>
            <a:r>
              <a:rPr lang="pt-BR" sz="2400" dirty="0"/>
              <a:t> Criar loops aninhados usando o for. </a:t>
            </a:r>
          </a:p>
          <a:p>
            <a:endParaRPr lang="pt-BR" sz="2400" dirty="0"/>
          </a:p>
          <a:p>
            <a:r>
              <a:rPr lang="pt-BR" sz="2400" dirty="0"/>
              <a:t> Utilizar o </a:t>
            </a:r>
            <a:r>
              <a:rPr lang="pt-BR" sz="2400" dirty="0" err="1"/>
              <a:t>while</a:t>
            </a:r>
            <a:r>
              <a:rPr lang="pt-BR" sz="2400" dirty="0"/>
              <a:t> para criar um loop e o comando break para terminar a execução.</a:t>
            </a:r>
          </a:p>
          <a:p>
            <a:r>
              <a:rPr lang="pt-BR" sz="2400" dirty="0"/>
              <a:t> </a:t>
            </a:r>
          </a:p>
          <a:p>
            <a:r>
              <a:rPr lang="pt-BR" sz="2400" dirty="0"/>
              <a:t> Criar um menu com </a:t>
            </a:r>
            <a:r>
              <a:rPr lang="pt-BR" sz="2400" dirty="0" err="1"/>
              <a:t>while</a:t>
            </a:r>
            <a:r>
              <a:rPr lang="pt-BR" sz="2400" dirty="0"/>
              <a:t> para ser reutilizado em diversos códigos.</a:t>
            </a:r>
            <a:endParaRPr lang="pt-BR" sz="2000" b="1" dirty="0"/>
          </a:p>
        </p:txBody>
      </p:sp>
      <p:pic>
        <p:nvPicPr>
          <p:cNvPr id="4" name="Imagem 3">
            <a:extLst>
              <a:ext uri="{FF2B5EF4-FFF2-40B4-BE49-F238E27FC236}">
                <a16:creationId xmlns:a16="http://schemas.microsoft.com/office/drawing/2014/main" id="{D05EDB24-FD90-C977-82C5-7651C1321D99}"/>
              </a:ext>
            </a:extLst>
          </p:cNvPr>
          <p:cNvPicPr>
            <a:picLocks noChangeAspect="1"/>
          </p:cNvPicPr>
          <p:nvPr/>
        </p:nvPicPr>
        <p:blipFill>
          <a:blip r:embed="rId2"/>
          <a:stretch>
            <a:fillRect/>
          </a:stretch>
        </p:blipFill>
        <p:spPr>
          <a:xfrm>
            <a:off x="10073412" y="0"/>
            <a:ext cx="6182588" cy="5830114"/>
          </a:xfrm>
          <a:prstGeom prst="rect">
            <a:avLst/>
          </a:prstGeom>
        </p:spPr>
      </p:pic>
    </p:spTree>
    <p:extLst>
      <p:ext uri="{BB962C8B-B14F-4D97-AF65-F5344CB8AC3E}">
        <p14:creationId xmlns:p14="http://schemas.microsoft.com/office/powerpoint/2010/main" val="22992011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5961FEEF-6739-AB6D-5B83-73E1FF019D48}"/>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35" name="Picture 34">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37" name="Oval 36">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39" name="Picture 38">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41" name="Picture 40">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43" name="Rectangle 42">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3528B04-934B-C78A-72D2-DC77A10FDF9C}"/>
              </a:ext>
            </a:extLst>
          </p:cNvPr>
          <p:cNvSpPr txBox="1"/>
          <p:nvPr/>
        </p:nvSpPr>
        <p:spPr>
          <a:xfrm>
            <a:off x="861482" y="603624"/>
            <a:ext cx="7505630"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dirty="0">
                <a:solidFill>
                  <a:schemeClr val="tx2"/>
                </a:solidFill>
                <a:latin typeface="+mj-lt"/>
                <a:ea typeface="+mj-ea"/>
                <a:cs typeface="+mj-cs"/>
              </a:rPr>
              <a:t>Vamos </a:t>
            </a:r>
            <a:r>
              <a:rPr lang="en-US" sz="3900" dirty="0" err="1">
                <a:solidFill>
                  <a:schemeClr val="tx2"/>
                </a:solidFill>
                <a:latin typeface="+mj-lt"/>
                <a:ea typeface="+mj-ea"/>
                <a:cs typeface="+mj-cs"/>
              </a:rPr>
              <a:t>praticar</a:t>
            </a:r>
            <a:r>
              <a:rPr lang="en-US" sz="3900" dirty="0">
                <a:solidFill>
                  <a:schemeClr val="tx2"/>
                </a:solidFill>
                <a:latin typeface="+mj-lt"/>
                <a:ea typeface="+mj-ea"/>
                <a:cs typeface="+mj-cs"/>
              </a:rPr>
              <a:t>...</a:t>
            </a:r>
          </a:p>
          <a:p>
            <a:pPr>
              <a:lnSpc>
                <a:spcPct val="90000"/>
              </a:lnSpc>
              <a:spcBef>
                <a:spcPct val="0"/>
              </a:spcBef>
              <a:spcAft>
                <a:spcPts val="600"/>
              </a:spcAft>
            </a:pPr>
            <a:endParaRPr lang="en-US" sz="3900" dirty="0">
              <a:solidFill>
                <a:schemeClr val="tx2"/>
              </a:solidFill>
              <a:latin typeface="+mj-lt"/>
              <a:ea typeface="+mj-ea"/>
              <a:cs typeface="+mj-cs"/>
            </a:endParaRPr>
          </a:p>
          <a:p>
            <a:pPr>
              <a:lnSpc>
                <a:spcPct val="90000"/>
              </a:lnSpc>
              <a:spcBef>
                <a:spcPct val="0"/>
              </a:spcBef>
              <a:spcAft>
                <a:spcPts val="600"/>
              </a:spcAft>
            </a:pPr>
            <a:r>
              <a:rPr lang="en-US" sz="3900" dirty="0" err="1">
                <a:solidFill>
                  <a:schemeClr val="tx2"/>
                </a:solidFill>
                <a:latin typeface="+mj-lt"/>
                <a:ea typeface="+mj-ea"/>
                <a:cs typeface="+mj-cs"/>
              </a:rPr>
              <a:t>Atividade</a:t>
            </a:r>
            <a:r>
              <a:rPr lang="en-US" sz="3900" dirty="0">
                <a:solidFill>
                  <a:schemeClr val="tx2"/>
                </a:solidFill>
                <a:latin typeface="+mj-lt"/>
                <a:ea typeface="+mj-ea"/>
                <a:cs typeface="+mj-cs"/>
              </a:rPr>
              <a:t> 1 – </a:t>
            </a:r>
            <a:r>
              <a:rPr lang="en-US" sz="3900" dirty="0" err="1">
                <a:solidFill>
                  <a:schemeClr val="tx2"/>
                </a:solidFill>
                <a:latin typeface="+mj-lt"/>
                <a:ea typeface="+mj-ea"/>
                <a:cs typeface="+mj-cs"/>
              </a:rPr>
              <a:t>Tabuada</a:t>
            </a:r>
            <a:r>
              <a:rPr lang="en-US" sz="3900" dirty="0">
                <a:solidFill>
                  <a:schemeClr val="tx2"/>
                </a:solidFill>
                <a:latin typeface="+mj-lt"/>
                <a:ea typeface="+mj-ea"/>
                <a:cs typeface="+mj-cs"/>
              </a:rPr>
              <a:t> </a:t>
            </a:r>
          </a:p>
        </p:txBody>
      </p:sp>
      <p:sp>
        <p:nvSpPr>
          <p:cNvPr id="45" name="Freeform: Shape 44">
            <a:extLst>
              <a:ext uri="{FF2B5EF4-FFF2-40B4-BE49-F238E27FC236}">
                <a16:creationId xmlns:a16="http://schemas.microsoft.com/office/drawing/2014/main" id="{BDF1A5A8-1F9D-41FB-9968-E8E141CC3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998308" y="885749"/>
            <a:ext cx="9144001" cy="737250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47" name="Freeform 7">
            <a:extLst>
              <a:ext uri="{FF2B5EF4-FFF2-40B4-BE49-F238E27FC236}">
                <a16:creationId xmlns:a16="http://schemas.microsoft.com/office/drawing/2014/main" id="{2FF8A507-56A2-4FE4-8B7E-C1BC9DD86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99790"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49" name="Rectangle 48">
            <a:extLst>
              <a:ext uri="{FF2B5EF4-FFF2-40B4-BE49-F238E27FC236}">
                <a16:creationId xmlns:a16="http://schemas.microsoft.com/office/drawing/2014/main" id="{FCC54B50-93BD-4243-9020-11486472E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2ED35040-5ED2-49B7-65AE-27293FEEF0A5}"/>
              </a:ext>
            </a:extLst>
          </p:cNvPr>
          <p:cNvSpPr txBox="1"/>
          <p:nvPr/>
        </p:nvSpPr>
        <p:spPr>
          <a:xfrm>
            <a:off x="861482" y="2737224"/>
            <a:ext cx="7504847"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montar</a:t>
            </a:r>
            <a:r>
              <a:rPr lang="en-US" b="1" dirty="0">
                <a:latin typeface="+mj-lt"/>
                <a:ea typeface="+mj-ea"/>
                <a:cs typeface="+mj-cs"/>
              </a:rPr>
              <a:t> </a:t>
            </a:r>
            <a:r>
              <a:rPr lang="en-US" b="1" dirty="0" err="1">
                <a:latin typeface="+mj-lt"/>
                <a:ea typeface="+mj-ea"/>
                <a:cs typeface="+mj-cs"/>
              </a:rPr>
              <a:t>uma</a:t>
            </a:r>
            <a:r>
              <a:rPr lang="en-US" b="1" dirty="0">
                <a:latin typeface="+mj-lt"/>
                <a:ea typeface="+mj-ea"/>
                <a:cs typeface="+mj-cs"/>
              </a:rPr>
              <a:t> </a:t>
            </a:r>
            <a:r>
              <a:rPr lang="en-US" b="1" dirty="0" err="1">
                <a:latin typeface="+mj-lt"/>
                <a:ea typeface="+mj-ea"/>
                <a:cs typeface="+mj-cs"/>
              </a:rPr>
              <a:t>Tabuada</a:t>
            </a:r>
            <a:r>
              <a:rPr lang="en-US" b="1" dirty="0">
                <a:latin typeface="+mj-lt"/>
                <a:ea typeface="+mj-ea"/>
                <a:cs typeface="+mj-cs"/>
              </a:rPr>
              <a:t> </a:t>
            </a:r>
            <a:r>
              <a:rPr lang="en-US" b="1" dirty="0" err="1">
                <a:latin typeface="+mj-lt"/>
                <a:ea typeface="+mj-ea"/>
                <a:cs typeface="+mj-cs"/>
              </a:rPr>
              <a:t>usando</a:t>
            </a:r>
            <a:r>
              <a:rPr lang="en-US" b="1" dirty="0">
                <a:latin typeface="+mj-lt"/>
                <a:ea typeface="+mj-ea"/>
                <a:cs typeface="+mj-cs"/>
              </a:rPr>
              <a:t> a </a:t>
            </a:r>
            <a:r>
              <a:rPr lang="en-US" b="1" dirty="0" err="1">
                <a:latin typeface="+mj-lt"/>
                <a:ea typeface="+mj-ea"/>
                <a:cs typeface="+mj-cs"/>
              </a:rPr>
              <a:t>estrutura</a:t>
            </a:r>
            <a:r>
              <a:rPr lang="en-US" b="1" dirty="0">
                <a:latin typeface="+mj-lt"/>
                <a:ea typeface="+mj-ea"/>
                <a:cs typeface="+mj-cs"/>
              </a:rPr>
              <a:t> de Loop do For e range. </a:t>
            </a: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for e range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For / range O for é </a:t>
            </a:r>
            <a:r>
              <a:rPr lang="en-US" b="1" dirty="0" err="1">
                <a:latin typeface="+mj-lt"/>
                <a:ea typeface="+mj-ea"/>
                <a:cs typeface="+mj-cs"/>
              </a:rPr>
              <a:t>utilizado</a:t>
            </a:r>
            <a:r>
              <a:rPr lang="en-US" b="1" dirty="0">
                <a:latin typeface="+mj-lt"/>
                <a:ea typeface="+mj-ea"/>
                <a:cs typeface="+mj-cs"/>
              </a:rPr>
              <a:t> para </a:t>
            </a:r>
            <a:r>
              <a:rPr lang="en-US" b="1" dirty="0" err="1">
                <a:latin typeface="+mj-lt"/>
                <a:ea typeface="+mj-ea"/>
                <a:cs typeface="+mj-cs"/>
              </a:rPr>
              <a:t>criar</a:t>
            </a:r>
            <a:r>
              <a:rPr lang="en-US" b="1" dirty="0">
                <a:latin typeface="+mj-lt"/>
                <a:ea typeface="+mj-ea"/>
                <a:cs typeface="+mj-cs"/>
              </a:rPr>
              <a:t> um loop, no for é </a:t>
            </a:r>
            <a:r>
              <a:rPr lang="en-US" b="1" dirty="0" err="1">
                <a:latin typeface="+mj-lt"/>
                <a:ea typeface="+mj-ea"/>
                <a:cs typeface="+mj-cs"/>
              </a:rPr>
              <a:t>indicado</a:t>
            </a:r>
            <a:r>
              <a:rPr lang="en-US" b="1" dirty="0">
                <a:latin typeface="+mj-lt"/>
                <a:ea typeface="+mj-ea"/>
                <a:cs typeface="+mj-cs"/>
              </a:rPr>
              <a:t> </a:t>
            </a:r>
            <a:r>
              <a:rPr lang="en-US" b="1" dirty="0" err="1">
                <a:latin typeface="+mj-lt"/>
                <a:ea typeface="+mj-ea"/>
                <a:cs typeface="+mj-cs"/>
              </a:rPr>
              <a:t>quantas</a:t>
            </a:r>
            <a:r>
              <a:rPr lang="en-US" b="1" dirty="0">
                <a:latin typeface="+mj-lt"/>
                <a:ea typeface="+mj-ea"/>
                <a:cs typeface="+mj-cs"/>
              </a:rPr>
              <a:t> </a:t>
            </a:r>
            <a:r>
              <a:rPr lang="en-US" b="1" dirty="0" err="1">
                <a:latin typeface="+mj-lt"/>
                <a:ea typeface="+mj-ea"/>
                <a:cs typeface="+mj-cs"/>
              </a:rPr>
              <a:t>vezes</a:t>
            </a:r>
            <a:r>
              <a:rPr lang="en-US" b="1" dirty="0">
                <a:latin typeface="+mj-lt"/>
                <a:ea typeface="+mj-ea"/>
                <a:cs typeface="+mj-cs"/>
              </a:rPr>
              <a:t> o loop </a:t>
            </a:r>
            <a:r>
              <a:rPr lang="en-US" b="1" dirty="0" err="1">
                <a:latin typeface="+mj-lt"/>
                <a:ea typeface="+mj-ea"/>
                <a:cs typeface="+mj-cs"/>
              </a:rPr>
              <a:t>será</a:t>
            </a:r>
            <a:r>
              <a:rPr lang="en-US" b="1" dirty="0">
                <a:latin typeface="+mj-lt"/>
                <a:ea typeface="+mj-ea"/>
                <a:cs typeface="+mj-cs"/>
              </a:rPr>
              <a:t> </a:t>
            </a:r>
            <a:r>
              <a:rPr lang="en-US" b="1" dirty="0" err="1">
                <a:latin typeface="+mj-lt"/>
                <a:ea typeface="+mj-ea"/>
                <a:cs typeface="+mj-cs"/>
              </a:rPr>
              <a:t>executado</a:t>
            </a:r>
            <a:r>
              <a:rPr lang="en-US" b="1" dirty="0">
                <a:latin typeface="+mj-lt"/>
                <a:ea typeface="+mj-ea"/>
                <a:cs typeface="+mj-cs"/>
              </a:rPr>
              <a:t> atrás do range.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a:solidFill>
                  <a:srgbClr val="FFC000"/>
                </a:solidFill>
                <a:latin typeface="+mj-lt"/>
                <a:ea typeface="+mj-ea"/>
                <a:cs typeface="+mj-cs"/>
              </a:rPr>
              <a:t>for </a:t>
            </a:r>
            <a:r>
              <a:rPr lang="en-US" b="1" dirty="0" err="1">
                <a:solidFill>
                  <a:srgbClr val="FFC000"/>
                </a:solidFill>
                <a:latin typeface="+mj-lt"/>
                <a:ea typeface="+mj-ea"/>
                <a:cs typeface="+mj-cs"/>
              </a:rPr>
              <a:t>i</a:t>
            </a:r>
            <a:r>
              <a:rPr lang="en-US" b="1" dirty="0">
                <a:solidFill>
                  <a:srgbClr val="FFC000"/>
                </a:solidFill>
                <a:latin typeface="+mj-lt"/>
                <a:ea typeface="+mj-ea"/>
                <a:cs typeface="+mj-cs"/>
              </a:rPr>
              <a:t> in range(10)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#loop </a:t>
            </a:r>
            <a:r>
              <a:rPr lang="en-US" b="1" dirty="0" err="1">
                <a:latin typeface="+mj-lt"/>
                <a:ea typeface="+mj-ea"/>
                <a:cs typeface="+mj-cs"/>
              </a:rPr>
              <a:t>começando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0 </a:t>
            </a:r>
            <a:r>
              <a:rPr lang="en-US" b="1" dirty="0" err="1">
                <a:latin typeface="+mj-lt"/>
                <a:ea typeface="+mj-ea"/>
                <a:cs typeface="+mj-cs"/>
              </a:rPr>
              <a:t>até</a:t>
            </a:r>
            <a:r>
              <a:rPr lang="en-US" b="1" dirty="0">
                <a:latin typeface="+mj-lt"/>
                <a:ea typeface="+mj-ea"/>
                <a:cs typeface="+mj-cs"/>
              </a:rPr>
              <a:t> 9 (10 </a:t>
            </a:r>
            <a:r>
              <a:rPr lang="en-US" b="1" dirty="0" err="1">
                <a:latin typeface="+mj-lt"/>
                <a:ea typeface="+mj-ea"/>
                <a:cs typeface="+mj-cs"/>
              </a:rPr>
              <a:t>vezes</a:t>
            </a:r>
            <a:r>
              <a:rPr lang="en-US" b="1" dirty="0">
                <a:latin typeface="+mj-lt"/>
                <a:ea typeface="+mj-ea"/>
                <a:cs typeface="+mj-cs"/>
              </a:rPr>
              <a:t>).</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a:solidFill>
                  <a:srgbClr val="FFC000"/>
                </a:solidFill>
                <a:latin typeface="+mj-lt"/>
                <a:ea typeface="+mj-ea"/>
                <a:cs typeface="+mj-cs"/>
              </a:rPr>
              <a:t>for </a:t>
            </a:r>
            <a:r>
              <a:rPr lang="en-US" b="1" dirty="0" err="1">
                <a:solidFill>
                  <a:srgbClr val="FFC000"/>
                </a:solidFill>
                <a:latin typeface="+mj-lt"/>
                <a:ea typeface="+mj-ea"/>
                <a:cs typeface="+mj-cs"/>
              </a:rPr>
              <a:t>i</a:t>
            </a:r>
            <a:r>
              <a:rPr lang="en-US" b="1" dirty="0">
                <a:solidFill>
                  <a:srgbClr val="FFC000"/>
                </a:solidFill>
                <a:latin typeface="+mj-lt"/>
                <a:ea typeface="+mj-ea"/>
                <a:cs typeface="+mj-cs"/>
              </a:rPr>
              <a:t> in range(2, 10) </a:t>
            </a:r>
          </a:p>
          <a:p>
            <a:pPr>
              <a:spcBef>
                <a:spcPts val="1000"/>
              </a:spcBef>
              <a:buClr>
                <a:schemeClr val="bg2">
                  <a:lumMod val="40000"/>
                  <a:lumOff val="60000"/>
                </a:schemeClr>
              </a:buClr>
              <a:buSzPct val="80000"/>
              <a:buFont typeface="Wingdings 3" charset="2"/>
              <a:buChar char=""/>
            </a:pPr>
            <a:r>
              <a:rPr lang="en-US" b="1" dirty="0">
                <a:latin typeface="+mj-lt"/>
                <a:ea typeface="+mj-ea"/>
                <a:cs typeface="+mj-cs"/>
              </a:rPr>
              <a:t>#loop </a:t>
            </a:r>
            <a:r>
              <a:rPr lang="en-US" b="1" dirty="0" err="1">
                <a:latin typeface="+mj-lt"/>
                <a:ea typeface="+mj-ea"/>
                <a:cs typeface="+mj-cs"/>
              </a:rPr>
              <a:t>começando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2 </a:t>
            </a:r>
            <a:r>
              <a:rPr lang="en-US" b="1" dirty="0" err="1">
                <a:latin typeface="+mj-lt"/>
                <a:ea typeface="+mj-ea"/>
                <a:cs typeface="+mj-cs"/>
              </a:rPr>
              <a:t>até</a:t>
            </a:r>
            <a:r>
              <a:rPr lang="en-US" b="1" dirty="0">
                <a:latin typeface="+mj-lt"/>
                <a:ea typeface="+mj-ea"/>
                <a:cs typeface="+mj-cs"/>
              </a:rPr>
              <a:t> 9 (8 </a:t>
            </a:r>
            <a:r>
              <a:rPr lang="en-US" b="1" dirty="0" err="1">
                <a:latin typeface="+mj-lt"/>
                <a:ea typeface="+mj-ea"/>
                <a:cs typeface="+mj-cs"/>
              </a:rPr>
              <a:t>vezes</a:t>
            </a:r>
            <a:r>
              <a:rPr lang="en-US" b="1" dirty="0">
                <a:latin typeface="+mj-lt"/>
                <a:ea typeface="+mj-ea"/>
                <a:cs typeface="+mj-cs"/>
              </a:rPr>
              <a:t>).</a:t>
            </a:r>
          </a:p>
        </p:txBody>
      </p:sp>
      <p:pic>
        <p:nvPicPr>
          <p:cNvPr id="7" name="Imagem 6">
            <a:extLst>
              <a:ext uri="{FF2B5EF4-FFF2-40B4-BE49-F238E27FC236}">
                <a16:creationId xmlns:a16="http://schemas.microsoft.com/office/drawing/2014/main" id="{4329D3BF-BB57-AB7C-3FFA-7F205A213E2C}"/>
              </a:ext>
            </a:extLst>
          </p:cNvPr>
          <p:cNvPicPr>
            <a:picLocks noChangeAspect="1"/>
          </p:cNvPicPr>
          <p:nvPr/>
        </p:nvPicPr>
        <p:blipFill>
          <a:blip r:embed="rId7"/>
          <a:stretch>
            <a:fillRect/>
          </a:stretch>
        </p:blipFill>
        <p:spPr>
          <a:xfrm>
            <a:off x="10084989" y="6020496"/>
            <a:ext cx="5306852" cy="1737993"/>
          </a:xfrm>
          <a:prstGeom prst="rect">
            <a:avLst/>
          </a:prstGeom>
          <a:effectLst/>
        </p:spPr>
      </p:pic>
      <p:pic>
        <p:nvPicPr>
          <p:cNvPr id="9" name="Imagem 8">
            <a:extLst>
              <a:ext uri="{FF2B5EF4-FFF2-40B4-BE49-F238E27FC236}">
                <a16:creationId xmlns:a16="http://schemas.microsoft.com/office/drawing/2014/main" id="{39498A01-D2C6-BBF6-DD50-07FF78843409}"/>
              </a:ext>
            </a:extLst>
          </p:cNvPr>
          <p:cNvPicPr>
            <a:picLocks noChangeAspect="1"/>
          </p:cNvPicPr>
          <p:nvPr/>
        </p:nvPicPr>
        <p:blipFill>
          <a:blip r:embed="rId8"/>
          <a:stretch>
            <a:fillRect/>
          </a:stretch>
        </p:blipFill>
        <p:spPr>
          <a:xfrm>
            <a:off x="10445080" y="863598"/>
            <a:ext cx="4586670" cy="4322936"/>
          </a:xfrm>
          <a:prstGeom prst="rect">
            <a:avLst/>
          </a:prstGeom>
          <a:effectLst/>
        </p:spPr>
      </p:pic>
    </p:spTree>
    <p:extLst>
      <p:ext uri="{BB962C8B-B14F-4D97-AF65-F5344CB8AC3E}">
        <p14:creationId xmlns:p14="http://schemas.microsoft.com/office/powerpoint/2010/main" val="1950458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7FAC7028-8551-6919-7F2A-02D37F77F986}"/>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E7A3FD09-B055-68E5-0E55-9D9DDD0DCED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14" name="Picture 13">
            <a:extLst>
              <a:ext uri="{FF2B5EF4-FFF2-40B4-BE49-F238E27FC236}">
                <a16:creationId xmlns:a16="http://schemas.microsoft.com/office/drawing/2014/main" id="{BA541176-D415-8122-E006-9FD8C4102D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16" name="Oval 15">
            <a:extLst>
              <a:ext uri="{FF2B5EF4-FFF2-40B4-BE49-F238E27FC236}">
                <a16:creationId xmlns:a16="http://schemas.microsoft.com/office/drawing/2014/main" id="{DBAA5DFE-F72C-1187-1B6F-4C7ABCFB17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18" name="Picture 17">
            <a:extLst>
              <a:ext uri="{FF2B5EF4-FFF2-40B4-BE49-F238E27FC236}">
                <a16:creationId xmlns:a16="http://schemas.microsoft.com/office/drawing/2014/main" id="{73194FB0-AA97-0D0B-7BD2-829DFBA51A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20" name="Picture 19">
            <a:extLst>
              <a:ext uri="{FF2B5EF4-FFF2-40B4-BE49-F238E27FC236}">
                <a16:creationId xmlns:a16="http://schemas.microsoft.com/office/drawing/2014/main" id="{80B691E7-C5C5-4BA2-9474-48036F8026F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22" name="Rectangle 21">
            <a:extLst>
              <a:ext uri="{FF2B5EF4-FFF2-40B4-BE49-F238E27FC236}">
                <a16:creationId xmlns:a16="http://schemas.microsoft.com/office/drawing/2014/main" id="{8DB3A86A-592A-CB81-9B92-CCA3D04DC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7CDC691F-4268-D568-91BE-6C3C8787EE22}"/>
              </a:ext>
            </a:extLst>
          </p:cNvPr>
          <p:cNvSpPr txBox="1"/>
          <p:nvPr/>
        </p:nvSpPr>
        <p:spPr>
          <a:xfrm>
            <a:off x="384436" y="812802"/>
            <a:ext cx="6876072"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600" dirty="0">
                <a:solidFill>
                  <a:schemeClr val="tx2"/>
                </a:solidFill>
                <a:latin typeface="+mj-lt"/>
                <a:ea typeface="+mj-ea"/>
                <a:cs typeface="+mj-cs"/>
              </a:rPr>
              <a:t>Vamos </a:t>
            </a:r>
            <a:r>
              <a:rPr lang="en-US" sz="3600" dirty="0" err="1">
                <a:solidFill>
                  <a:schemeClr val="tx2"/>
                </a:solidFill>
                <a:latin typeface="+mj-lt"/>
                <a:ea typeface="+mj-ea"/>
                <a:cs typeface="+mj-cs"/>
              </a:rPr>
              <a:t>praticar</a:t>
            </a:r>
            <a:r>
              <a:rPr lang="en-US" sz="3600" dirty="0">
                <a:solidFill>
                  <a:schemeClr val="tx2"/>
                </a:solidFill>
                <a:latin typeface="+mj-lt"/>
                <a:ea typeface="+mj-ea"/>
                <a:cs typeface="+mj-cs"/>
              </a:rPr>
              <a:t>...</a:t>
            </a:r>
          </a:p>
          <a:p>
            <a:pPr>
              <a:lnSpc>
                <a:spcPct val="90000"/>
              </a:lnSpc>
              <a:spcBef>
                <a:spcPct val="0"/>
              </a:spcBef>
              <a:spcAft>
                <a:spcPts val="600"/>
              </a:spcAft>
            </a:pPr>
            <a:endParaRPr lang="en-US" sz="3600" dirty="0">
              <a:solidFill>
                <a:schemeClr val="tx2"/>
              </a:solidFill>
              <a:latin typeface="+mj-lt"/>
              <a:ea typeface="+mj-ea"/>
              <a:cs typeface="+mj-cs"/>
            </a:endParaRPr>
          </a:p>
          <a:p>
            <a:pPr>
              <a:lnSpc>
                <a:spcPct val="90000"/>
              </a:lnSpc>
              <a:spcBef>
                <a:spcPct val="0"/>
              </a:spcBef>
              <a:spcAft>
                <a:spcPts val="600"/>
              </a:spcAft>
            </a:pPr>
            <a:r>
              <a:rPr lang="pt-BR" sz="3600" dirty="0">
                <a:solidFill>
                  <a:schemeClr val="tx2"/>
                </a:solidFill>
                <a:latin typeface="+mj-lt"/>
                <a:ea typeface="+mj-ea"/>
                <a:cs typeface="+mj-cs"/>
              </a:rPr>
              <a:t>Atividade 2 – </a:t>
            </a:r>
            <a:r>
              <a:rPr lang="pt-BR" sz="3600" dirty="0" err="1">
                <a:solidFill>
                  <a:schemeClr val="tx2"/>
                </a:solidFill>
                <a:latin typeface="+mj-lt"/>
                <a:ea typeface="+mj-ea"/>
                <a:cs typeface="+mj-cs"/>
              </a:rPr>
              <a:t>MultiTabuada</a:t>
            </a:r>
            <a:endParaRPr lang="en-US" sz="3600" dirty="0">
              <a:solidFill>
                <a:schemeClr val="tx2"/>
              </a:solidFill>
              <a:latin typeface="+mj-lt"/>
              <a:ea typeface="+mj-ea"/>
              <a:cs typeface="+mj-cs"/>
            </a:endParaRPr>
          </a:p>
        </p:txBody>
      </p:sp>
      <p:sp>
        <p:nvSpPr>
          <p:cNvPr id="24" name="Freeform: Shape 23">
            <a:extLst>
              <a:ext uri="{FF2B5EF4-FFF2-40B4-BE49-F238E27FC236}">
                <a16:creationId xmlns:a16="http://schemas.microsoft.com/office/drawing/2014/main" id="{FB76AC3F-EBA1-3EBA-EE17-6F227F8227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027759" y="-84800"/>
            <a:ext cx="9144001" cy="9313600"/>
          </a:xfrm>
          <a:custGeom>
            <a:avLst/>
            <a:gdLst>
              <a:gd name="connsiteX0" fmla="*/ 6858001 w 6858001"/>
              <a:gd name="connsiteY0" fmla="*/ 1177 h 6985200"/>
              <a:gd name="connsiteX1" fmla="*/ 6858001 w 6858001"/>
              <a:gd name="connsiteY1" fmla="*/ 1344715 h 6985200"/>
              <a:gd name="connsiteX2" fmla="*/ 6858000 w 6858001"/>
              <a:gd name="connsiteY2" fmla="*/ 1344715 h 6985200"/>
              <a:gd name="connsiteX3" fmla="*/ 6858000 w 6858001"/>
              <a:gd name="connsiteY3" fmla="*/ 6985200 h 6985200"/>
              <a:gd name="connsiteX4" fmla="*/ 0 w 6858001"/>
              <a:gd name="connsiteY4" fmla="*/ 6985199 h 6985200"/>
              <a:gd name="connsiteX5" fmla="*/ 0 w 6858001"/>
              <a:gd name="connsiteY5" fmla="*/ 887191 h 6985200"/>
              <a:gd name="connsiteX6" fmla="*/ 1 w 6858001"/>
              <a:gd name="connsiteY6" fmla="*/ 887191 h 6985200"/>
              <a:gd name="connsiteX7" fmla="*/ 1 w 6858001"/>
              <a:gd name="connsiteY7" fmla="*/ 0 h 6985200"/>
              <a:gd name="connsiteX8" fmla="*/ 40463 w 6858001"/>
              <a:gd name="connsiteY8" fmla="*/ 5883 h 6985200"/>
              <a:gd name="connsiteX9" fmla="*/ 159107 w 6858001"/>
              <a:gd name="connsiteY9" fmla="*/ 23196 h 6985200"/>
              <a:gd name="connsiteX10" fmla="*/ 245518 w 6858001"/>
              <a:gd name="connsiteY10" fmla="*/ 35299 h 6985200"/>
              <a:gd name="connsiteX11" fmla="*/ 348388 w 6858001"/>
              <a:gd name="connsiteY11" fmla="*/ 48073 h 6985200"/>
              <a:gd name="connsiteX12" fmla="*/ 470460 w 6858001"/>
              <a:gd name="connsiteY12" fmla="*/ 63369 h 6985200"/>
              <a:gd name="connsiteX13" fmla="*/ 605563 w 6858001"/>
              <a:gd name="connsiteY13" fmla="*/ 79506 h 6985200"/>
              <a:gd name="connsiteX14" fmla="*/ 757810 w 6858001"/>
              <a:gd name="connsiteY14" fmla="*/ 96483 h 6985200"/>
              <a:gd name="connsiteX15" fmla="*/ 923774 w 6858001"/>
              <a:gd name="connsiteY15" fmla="*/ 114469 h 6985200"/>
              <a:gd name="connsiteX16" fmla="*/ 1104139 w 6858001"/>
              <a:gd name="connsiteY16" fmla="*/ 132454 h 6985200"/>
              <a:gd name="connsiteX17" fmla="*/ 1296163 w 6858001"/>
              <a:gd name="connsiteY17" fmla="*/ 150776 h 6985200"/>
              <a:gd name="connsiteX18" fmla="*/ 1503275 w 6858001"/>
              <a:gd name="connsiteY18" fmla="*/ 167753 h 6985200"/>
              <a:gd name="connsiteX19" fmla="*/ 1719988 w 6858001"/>
              <a:gd name="connsiteY19" fmla="*/ 184058 h 6985200"/>
              <a:gd name="connsiteX20" fmla="*/ 1949045 w 6858001"/>
              <a:gd name="connsiteY20" fmla="*/ 198849 h 6985200"/>
              <a:gd name="connsiteX21" fmla="*/ 2187703 w 6858001"/>
              <a:gd name="connsiteY21" fmla="*/ 212969 h 6985200"/>
              <a:gd name="connsiteX22" fmla="*/ 2436649 w 6858001"/>
              <a:gd name="connsiteY22" fmla="*/ 226248 h 6985200"/>
              <a:gd name="connsiteX23" fmla="*/ 2564208 w 6858001"/>
              <a:gd name="connsiteY23" fmla="*/ 230955 h 6985200"/>
              <a:gd name="connsiteX24" fmla="*/ 2694509 w 6858001"/>
              <a:gd name="connsiteY24" fmla="*/ 236165 h 6985200"/>
              <a:gd name="connsiteX25" fmla="*/ 2826869 w 6858001"/>
              <a:gd name="connsiteY25" fmla="*/ 241040 h 6985200"/>
              <a:gd name="connsiteX26" fmla="*/ 2959914 w 6858001"/>
              <a:gd name="connsiteY26" fmla="*/ 244234 h 6985200"/>
              <a:gd name="connsiteX27" fmla="*/ 3095702 w 6858001"/>
              <a:gd name="connsiteY27" fmla="*/ 247091 h 6985200"/>
              <a:gd name="connsiteX28" fmla="*/ 3232862 w 6858001"/>
              <a:gd name="connsiteY28" fmla="*/ 250117 h 6985200"/>
              <a:gd name="connsiteX29" fmla="*/ 3372766 w 6858001"/>
              <a:gd name="connsiteY29" fmla="*/ 252134 h 6985200"/>
              <a:gd name="connsiteX30" fmla="*/ 3514040 w 6858001"/>
              <a:gd name="connsiteY30" fmla="*/ 252134 h 6985200"/>
              <a:gd name="connsiteX31" fmla="*/ 3656686 w 6858001"/>
              <a:gd name="connsiteY31" fmla="*/ 253142 h 6985200"/>
              <a:gd name="connsiteX32" fmla="*/ 3800705 w 6858001"/>
              <a:gd name="connsiteY32" fmla="*/ 252134 h 6985200"/>
              <a:gd name="connsiteX33" fmla="*/ 3946780 w 6858001"/>
              <a:gd name="connsiteY33" fmla="*/ 250117 h 6985200"/>
              <a:gd name="connsiteX34" fmla="*/ 4092856 w 6858001"/>
              <a:gd name="connsiteY34" fmla="*/ 248268 h 6985200"/>
              <a:gd name="connsiteX35" fmla="*/ 4240988 w 6858001"/>
              <a:gd name="connsiteY35" fmla="*/ 244234 h 6985200"/>
              <a:gd name="connsiteX36" fmla="*/ 4390492 w 6858001"/>
              <a:gd name="connsiteY36" fmla="*/ 240032 h 6985200"/>
              <a:gd name="connsiteX37" fmla="*/ 4539997 w 6858001"/>
              <a:gd name="connsiteY37" fmla="*/ 235157 h 6985200"/>
              <a:gd name="connsiteX38" fmla="*/ 4690873 w 6858001"/>
              <a:gd name="connsiteY38" fmla="*/ 228266 h 6985200"/>
              <a:gd name="connsiteX39" fmla="*/ 4843120 w 6858001"/>
              <a:gd name="connsiteY39" fmla="*/ 220029 h 6985200"/>
              <a:gd name="connsiteX40" fmla="*/ 4996054 w 6858001"/>
              <a:gd name="connsiteY40" fmla="*/ 212129 h 6985200"/>
              <a:gd name="connsiteX41" fmla="*/ 5148987 w 6858001"/>
              <a:gd name="connsiteY41" fmla="*/ 202044 h 6985200"/>
              <a:gd name="connsiteX42" fmla="*/ 5303978 w 6858001"/>
              <a:gd name="connsiteY42" fmla="*/ 189941 h 6985200"/>
              <a:gd name="connsiteX43" fmla="*/ 5456911 w 6858001"/>
              <a:gd name="connsiteY43" fmla="*/ 177839 h 6985200"/>
              <a:gd name="connsiteX44" fmla="*/ 5612588 w 6858001"/>
              <a:gd name="connsiteY44" fmla="*/ 163887 h 6985200"/>
              <a:gd name="connsiteX45" fmla="*/ 5768950 w 6858001"/>
              <a:gd name="connsiteY45" fmla="*/ 148591 h 6985200"/>
              <a:gd name="connsiteX46" fmla="*/ 5923255 w 6858001"/>
              <a:gd name="connsiteY46" fmla="*/ 132455 h 6985200"/>
              <a:gd name="connsiteX47" fmla="*/ 6079618 w 6858001"/>
              <a:gd name="connsiteY47" fmla="*/ 113629 h 6985200"/>
              <a:gd name="connsiteX48" fmla="*/ 6235294 w 6858001"/>
              <a:gd name="connsiteY48" fmla="*/ 93458 h 6985200"/>
              <a:gd name="connsiteX49" fmla="*/ 6391657 w 6858001"/>
              <a:gd name="connsiteY49" fmla="*/ 73455 h 6985200"/>
              <a:gd name="connsiteX50" fmla="*/ 6547333 w 6858001"/>
              <a:gd name="connsiteY50" fmla="*/ 50091 h 6985200"/>
              <a:gd name="connsiteX51" fmla="*/ 6702324 w 6858001"/>
              <a:gd name="connsiteY51" fmla="*/ 26222 h 698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6985200">
                <a:moveTo>
                  <a:pt x="6858001" y="1177"/>
                </a:moveTo>
                <a:lnTo>
                  <a:pt x="6858001" y="1344715"/>
                </a:lnTo>
                <a:lnTo>
                  <a:pt x="6858000" y="1344715"/>
                </a:lnTo>
                <a:lnTo>
                  <a:pt x="6858000" y="6985200"/>
                </a:lnTo>
                <a:lnTo>
                  <a:pt x="0" y="6985199"/>
                </a:lnTo>
                <a:lnTo>
                  <a:pt x="0" y="887191"/>
                </a:lnTo>
                <a:lnTo>
                  <a:pt x="1" y="887191"/>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9" y="241040"/>
                </a:lnTo>
                <a:lnTo>
                  <a:pt x="2959914" y="244234"/>
                </a:lnTo>
                <a:lnTo>
                  <a:pt x="3095702" y="247091"/>
                </a:lnTo>
                <a:lnTo>
                  <a:pt x="3232862" y="250117"/>
                </a:lnTo>
                <a:lnTo>
                  <a:pt x="3372766" y="252134"/>
                </a:lnTo>
                <a:lnTo>
                  <a:pt x="3514040" y="252134"/>
                </a:lnTo>
                <a:lnTo>
                  <a:pt x="3656686" y="253142"/>
                </a:lnTo>
                <a:lnTo>
                  <a:pt x="3800705" y="252134"/>
                </a:lnTo>
                <a:lnTo>
                  <a:pt x="3946780" y="250117"/>
                </a:lnTo>
                <a:lnTo>
                  <a:pt x="4092856"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26" name="Freeform 23">
            <a:extLst>
              <a:ext uri="{FF2B5EF4-FFF2-40B4-BE49-F238E27FC236}">
                <a16:creationId xmlns:a16="http://schemas.microsoft.com/office/drawing/2014/main" id="{7896F989-1AB2-CF88-75E9-D5B3E0DBA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58693"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8" name="Rectangle 27">
            <a:extLst>
              <a:ext uri="{FF2B5EF4-FFF2-40B4-BE49-F238E27FC236}">
                <a16:creationId xmlns:a16="http://schemas.microsoft.com/office/drawing/2014/main" id="{2BBEC190-9926-7B1F-1358-77C7020CBB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68C57F6E-333B-6C5C-8220-6E40C5239C7F}"/>
              </a:ext>
            </a:extLst>
          </p:cNvPr>
          <p:cNvSpPr txBox="1"/>
          <p:nvPr/>
        </p:nvSpPr>
        <p:spPr>
          <a:xfrm>
            <a:off x="467160" y="2895600"/>
            <a:ext cx="5553528"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pt-BR" b="1" dirty="0"/>
              <a:t>Objetivo: Nesta atividade você vai construir uma multitabuada usando </a:t>
            </a:r>
            <a:r>
              <a:rPr lang="pt-BR" b="1" dirty="0">
                <a:solidFill>
                  <a:srgbClr val="FFC000"/>
                </a:solidFill>
              </a:rPr>
              <a:t>for</a:t>
            </a:r>
            <a:endParaRPr lang="en-US" b="1" dirty="0">
              <a:solidFill>
                <a:srgbClr val="FFC000"/>
              </a:solidFill>
              <a:latin typeface="+mj-lt"/>
              <a:ea typeface="+mj-ea"/>
              <a:cs typeface="+mj-cs"/>
            </a:endParaRPr>
          </a:p>
        </p:txBody>
      </p:sp>
      <p:pic>
        <p:nvPicPr>
          <p:cNvPr id="6" name="Imagem 5">
            <a:extLst>
              <a:ext uri="{FF2B5EF4-FFF2-40B4-BE49-F238E27FC236}">
                <a16:creationId xmlns:a16="http://schemas.microsoft.com/office/drawing/2014/main" id="{98DBCDD9-B440-872B-9E0F-E17C05FF9A3D}"/>
              </a:ext>
            </a:extLst>
          </p:cNvPr>
          <p:cNvPicPr>
            <a:picLocks noChangeAspect="1"/>
          </p:cNvPicPr>
          <p:nvPr/>
        </p:nvPicPr>
        <p:blipFill>
          <a:blip r:embed="rId7"/>
          <a:stretch>
            <a:fillRect/>
          </a:stretch>
        </p:blipFill>
        <p:spPr>
          <a:xfrm>
            <a:off x="7845683" y="5548577"/>
            <a:ext cx="6454518" cy="3440555"/>
          </a:xfrm>
          <a:prstGeom prst="rect">
            <a:avLst/>
          </a:prstGeom>
        </p:spPr>
      </p:pic>
      <p:sp>
        <p:nvSpPr>
          <p:cNvPr id="11" name="CaixaDeTexto 10">
            <a:extLst>
              <a:ext uri="{FF2B5EF4-FFF2-40B4-BE49-F238E27FC236}">
                <a16:creationId xmlns:a16="http://schemas.microsoft.com/office/drawing/2014/main" id="{53C2B472-7797-58F0-517F-E0E67EA0DFEE}"/>
              </a:ext>
            </a:extLst>
          </p:cNvPr>
          <p:cNvSpPr txBox="1"/>
          <p:nvPr/>
        </p:nvSpPr>
        <p:spPr>
          <a:xfrm>
            <a:off x="566810" y="3982855"/>
            <a:ext cx="8125968" cy="707886"/>
          </a:xfrm>
          <a:prstGeom prst="rect">
            <a:avLst/>
          </a:prstGeom>
          <a:noFill/>
        </p:spPr>
        <p:txBody>
          <a:bodyPr wrap="square">
            <a:spAutoFit/>
          </a:bodyPr>
          <a:lstStyle/>
          <a:p>
            <a:r>
              <a:rPr lang="pt-BR" sz="2000" b="1" dirty="0"/>
              <a:t>Comandos utilizados: Comandos for e range.</a:t>
            </a:r>
          </a:p>
          <a:p>
            <a:r>
              <a:rPr lang="pt-BR" sz="2000" b="1" dirty="0">
                <a:solidFill>
                  <a:srgbClr val="FFC000"/>
                </a:solidFill>
              </a:rPr>
              <a:t>Formatação {:&gt;4} </a:t>
            </a:r>
          </a:p>
        </p:txBody>
      </p:sp>
      <p:pic>
        <p:nvPicPr>
          <p:cNvPr id="15" name="Imagem 14">
            <a:extLst>
              <a:ext uri="{FF2B5EF4-FFF2-40B4-BE49-F238E27FC236}">
                <a16:creationId xmlns:a16="http://schemas.microsoft.com/office/drawing/2014/main" id="{94EEF88C-6D1F-EE81-2575-E1D7BDF05CA1}"/>
              </a:ext>
            </a:extLst>
          </p:cNvPr>
          <p:cNvPicPr>
            <a:picLocks noChangeAspect="1"/>
          </p:cNvPicPr>
          <p:nvPr/>
        </p:nvPicPr>
        <p:blipFill>
          <a:blip r:embed="rId8"/>
          <a:stretch>
            <a:fillRect/>
          </a:stretch>
        </p:blipFill>
        <p:spPr>
          <a:xfrm>
            <a:off x="10740152" y="180268"/>
            <a:ext cx="5346504" cy="5041696"/>
          </a:xfrm>
          <a:prstGeom prst="rect">
            <a:avLst/>
          </a:prstGeom>
        </p:spPr>
      </p:pic>
      <p:sp>
        <p:nvSpPr>
          <p:cNvPr id="19" name="CaixaDeTexto 18">
            <a:extLst>
              <a:ext uri="{FF2B5EF4-FFF2-40B4-BE49-F238E27FC236}">
                <a16:creationId xmlns:a16="http://schemas.microsoft.com/office/drawing/2014/main" id="{64627596-91B3-DE20-DF45-216AD4C764BC}"/>
              </a:ext>
            </a:extLst>
          </p:cNvPr>
          <p:cNvSpPr txBox="1"/>
          <p:nvPr/>
        </p:nvSpPr>
        <p:spPr>
          <a:xfrm>
            <a:off x="550445" y="5168452"/>
            <a:ext cx="5939083" cy="824969"/>
          </a:xfrm>
          <a:prstGeom prst="rect">
            <a:avLst/>
          </a:prstGeom>
          <a:noFill/>
        </p:spPr>
        <p:txBody>
          <a:bodyPr wrap="square">
            <a:spAutoFit/>
          </a:bodyPr>
          <a:lstStyle/>
          <a:p>
            <a:pPr>
              <a:lnSpc>
                <a:spcPts val="1425"/>
              </a:lnSpc>
              <a:buNone/>
            </a:pP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2</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3</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4</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5</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6</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7</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8</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9</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 </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D4D4D4"/>
                </a:solidFill>
                <a:effectLst/>
                <a:latin typeface="Consolas" panose="020B0609020204030204" pitchFamily="49" charset="0"/>
              </a:rPr>
              <a:t>*</a:t>
            </a:r>
            <a:r>
              <a:rPr lang="pt-BR" b="0" dirty="0">
                <a:solidFill>
                  <a:srgbClr val="B5CEA8"/>
                </a:solidFill>
                <a:effectLst/>
                <a:latin typeface="Consolas" panose="020B0609020204030204" pitchFamily="49" charset="0"/>
              </a:rPr>
              <a:t>10</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a:t>
            </a:r>
          </a:p>
        </p:txBody>
      </p:sp>
      <p:sp>
        <p:nvSpPr>
          <p:cNvPr id="23" name="CaixaDeTexto 22">
            <a:extLst>
              <a:ext uri="{FF2B5EF4-FFF2-40B4-BE49-F238E27FC236}">
                <a16:creationId xmlns:a16="http://schemas.microsoft.com/office/drawing/2014/main" id="{41FF4875-9125-06A3-27CD-875F98E56565}"/>
              </a:ext>
            </a:extLst>
          </p:cNvPr>
          <p:cNvSpPr txBox="1"/>
          <p:nvPr/>
        </p:nvSpPr>
        <p:spPr>
          <a:xfrm>
            <a:off x="566810" y="7110539"/>
            <a:ext cx="8125968" cy="1004506"/>
          </a:xfrm>
          <a:prstGeom prst="rect">
            <a:avLst/>
          </a:prstGeom>
          <a:noFill/>
        </p:spPr>
        <p:txBody>
          <a:bodyPr wrap="square">
            <a:spAutoFit/>
          </a:bodyPr>
          <a:lstStyle/>
          <a:p>
            <a:pPr>
              <a:lnSpc>
                <a:spcPts val="1425"/>
              </a:lnSpc>
              <a:buNone/>
            </a:pP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linha</a:t>
            </a:r>
            <a:r>
              <a:rPr lang="pt-BR" b="0" dirty="0">
                <a:solidFill>
                  <a:srgbClr val="CCCCCC"/>
                </a:solidFill>
                <a:effectLst/>
                <a:latin typeface="Consolas" panose="020B0609020204030204" pitchFamily="49" charset="0"/>
              </a:rPr>
              <a:t> </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r>
              <a:rPr lang="pt-BR" b="0" dirty="0">
                <a:solidFill>
                  <a:srgbClr val="CCCCCC"/>
                </a:solidFill>
                <a:effectLst/>
                <a:latin typeface="Consolas" panose="020B0609020204030204" pitchFamily="49" charset="0"/>
              </a:rPr>
              <a:t>    </a:t>
            </a:r>
          </a:p>
          <a:p>
            <a:pPr>
              <a:lnSpc>
                <a:spcPts val="1425"/>
              </a:lnSpc>
              <a:buNone/>
            </a:pP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for</a:t>
            </a:r>
            <a:r>
              <a:rPr lang="pt-BR" b="0" dirty="0">
                <a:solidFill>
                  <a:srgbClr val="CCCCCC"/>
                </a:solidFill>
                <a:effectLst/>
                <a:latin typeface="Consolas" panose="020B0609020204030204" pitchFamily="49" charset="0"/>
              </a:rPr>
              <a:t> </a:t>
            </a:r>
            <a:r>
              <a:rPr lang="pt-BR" b="0" dirty="0" err="1">
                <a:solidFill>
                  <a:srgbClr val="9CDCFE"/>
                </a:solidFill>
                <a:effectLst/>
                <a:latin typeface="Consolas" panose="020B0609020204030204" pitchFamily="49" charset="0"/>
              </a:rPr>
              <a:t>ii</a:t>
            </a:r>
            <a:r>
              <a:rPr lang="pt-BR" b="0" dirty="0">
                <a:solidFill>
                  <a:srgbClr val="CCCCCC"/>
                </a:solidFill>
                <a:effectLst/>
                <a:latin typeface="Consolas" panose="020B0609020204030204" pitchFamily="49" charset="0"/>
              </a:rPr>
              <a:t> </a:t>
            </a:r>
            <a:r>
              <a:rPr lang="pt-BR" b="0" dirty="0">
                <a:solidFill>
                  <a:srgbClr val="CE92A4"/>
                </a:solidFill>
                <a:effectLst/>
                <a:latin typeface="Consolas" panose="020B0609020204030204" pitchFamily="49" charset="0"/>
              </a:rPr>
              <a:t>in</a:t>
            </a:r>
            <a:r>
              <a:rPr lang="pt-BR" b="0" dirty="0">
                <a:solidFill>
                  <a:srgbClr val="CCCCCC"/>
                </a:solidFill>
                <a:effectLst/>
                <a:latin typeface="Consolas" panose="020B0609020204030204" pitchFamily="49" charset="0"/>
              </a:rPr>
              <a:t> </a:t>
            </a:r>
            <a:r>
              <a:rPr lang="pt-BR" b="0" dirty="0">
                <a:solidFill>
                  <a:srgbClr val="4EC9B0"/>
                </a:solidFill>
                <a:effectLst/>
                <a:latin typeface="Consolas" panose="020B0609020204030204" pitchFamily="49" charset="0"/>
              </a:rPr>
              <a:t>range</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2</a:t>
            </a:r>
            <a:r>
              <a:rPr lang="pt-BR" b="0" dirty="0">
                <a:solidFill>
                  <a:srgbClr val="CCCCCC"/>
                </a:solidFill>
                <a:effectLst/>
                <a:latin typeface="Consolas" panose="020B0609020204030204" pitchFamily="49" charset="0"/>
              </a:rPr>
              <a:t>,</a:t>
            </a:r>
            <a:r>
              <a:rPr lang="pt-BR" b="0" dirty="0">
                <a:solidFill>
                  <a:srgbClr val="B5CEA8"/>
                </a:solidFill>
                <a:effectLst/>
                <a:latin typeface="Consolas" panose="020B0609020204030204" pitchFamily="49" charset="0"/>
              </a:rPr>
              <a:t>11</a:t>
            </a:r>
            <a:r>
              <a:rPr lang="pt-BR" b="0" dirty="0">
                <a:solidFill>
                  <a:srgbClr val="CCCCCC"/>
                </a:solidFill>
                <a:effectLst/>
                <a:latin typeface="Consolas" panose="020B0609020204030204" pitchFamily="49" charset="0"/>
              </a:rPr>
              <a:t>):</a:t>
            </a:r>
          </a:p>
          <a:p>
            <a:pPr>
              <a:lnSpc>
                <a:spcPts val="1425"/>
              </a:lnSpc>
              <a:buNone/>
            </a:pPr>
            <a:r>
              <a:rPr lang="pt-BR" b="0" dirty="0">
                <a:solidFill>
                  <a:srgbClr val="CCCCCC"/>
                </a:solidFill>
                <a:effectLst/>
                <a:latin typeface="Consolas" panose="020B0609020204030204" pitchFamily="49" charset="0"/>
              </a:rPr>
              <a:t>        </a:t>
            </a:r>
            <a:r>
              <a:rPr lang="pt-BR" b="0" dirty="0">
                <a:solidFill>
                  <a:srgbClr val="9CDCFE"/>
                </a:solidFill>
                <a:effectLst/>
                <a:latin typeface="Consolas" panose="020B0609020204030204" pitchFamily="49" charset="0"/>
              </a:rPr>
              <a:t>linha</a:t>
            </a:r>
            <a:r>
              <a:rPr lang="pt-BR" b="0" dirty="0">
                <a:solidFill>
                  <a:srgbClr val="D4D4D4"/>
                </a:solidFill>
                <a:effectLst/>
                <a:latin typeface="Consolas" panose="020B0609020204030204" pitchFamily="49" charset="0"/>
              </a:rPr>
              <a:t>+=</a:t>
            </a:r>
            <a:r>
              <a:rPr lang="pt-BR" b="0" dirty="0">
                <a:solidFill>
                  <a:srgbClr val="CCCCCC"/>
                </a:solidFill>
                <a:effectLst/>
                <a:latin typeface="Consolas" panose="020B0609020204030204" pitchFamily="49" charset="0"/>
              </a:rPr>
              <a:t> </a:t>
            </a:r>
            <a:r>
              <a:rPr lang="pt-BR" b="0" dirty="0">
                <a:solidFill>
                  <a:srgbClr val="569CD6"/>
                </a:solidFill>
                <a:effectLst/>
                <a:latin typeface="Consolas" panose="020B0609020204030204" pitchFamily="49" charset="0"/>
              </a:rPr>
              <a:t>f</a:t>
            </a:r>
            <a:r>
              <a:rPr lang="pt-BR" b="0" dirty="0">
                <a:solidFill>
                  <a:srgbClr val="CE9178"/>
                </a:solidFill>
                <a:effectLst/>
                <a:latin typeface="Consolas" panose="020B0609020204030204" pitchFamily="49" charset="0"/>
              </a:rPr>
              <a:t>"</a:t>
            </a:r>
            <a:r>
              <a:rPr lang="pt-BR" b="0" dirty="0">
                <a:solidFill>
                  <a:srgbClr val="569CD6"/>
                </a:solidFill>
                <a:effectLst/>
                <a:latin typeface="Consolas" panose="020B0609020204030204" pitchFamily="49" charset="0"/>
              </a:rPr>
              <a:t>{</a:t>
            </a:r>
            <a:r>
              <a:rPr lang="pt-BR" b="0" dirty="0" err="1">
                <a:solidFill>
                  <a:srgbClr val="9CDCFE"/>
                </a:solidFill>
                <a:effectLst/>
                <a:latin typeface="Consolas" panose="020B0609020204030204" pitchFamily="49" charset="0"/>
              </a:rPr>
              <a:t>ii</a:t>
            </a:r>
            <a:r>
              <a:rPr lang="pt-BR" b="0" dirty="0">
                <a:solidFill>
                  <a:srgbClr val="D4D4D4"/>
                </a:solidFill>
                <a:effectLst/>
                <a:latin typeface="Consolas" panose="020B0609020204030204" pitchFamily="49" charset="0"/>
              </a:rPr>
              <a:t>*</a:t>
            </a:r>
            <a:r>
              <a:rPr lang="pt-BR" b="0" dirty="0">
                <a:solidFill>
                  <a:srgbClr val="9CDCFE"/>
                </a:solidFill>
                <a:effectLst/>
                <a:latin typeface="Consolas" panose="020B0609020204030204" pitchFamily="49" charset="0"/>
              </a:rPr>
              <a:t>i</a:t>
            </a:r>
            <a:r>
              <a:rPr lang="pt-BR" b="0" dirty="0">
                <a:solidFill>
                  <a:srgbClr val="569CD6"/>
                </a:solidFill>
                <a:effectLst/>
                <a:latin typeface="Consolas" panose="020B0609020204030204" pitchFamily="49" charset="0"/>
              </a:rPr>
              <a:t>:&gt;4}</a:t>
            </a:r>
            <a:r>
              <a:rPr lang="pt-BR" b="0" dirty="0">
                <a:solidFill>
                  <a:srgbClr val="CE9178"/>
                </a:solidFill>
                <a:effectLst/>
                <a:latin typeface="Consolas" panose="020B0609020204030204" pitchFamily="49" charset="0"/>
              </a:rPr>
              <a:t>"</a:t>
            </a:r>
            <a:endParaRPr lang="pt-BR" b="0" dirty="0">
              <a:solidFill>
                <a:srgbClr val="CCCCCC"/>
              </a:solidFill>
              <a:effectLst/>
              <a:latin typeface="Consolas" panose="020B0609020204030204" pitchFamily="49" charset="0"/>
            </a:endParaRPr>
          </a:p>
          <a:p>
            <a:pPr>
              <a:lnSpc>
                <a:spcPts val="1425"/>
              </a:lnSpc>
              <a:buNone/>
            </a:pPr>
            <a:r>
              <a:rPr lang="pt-BR" b="0" dirty="0">
                <a:solidFill>
                  <a:srgbClr val="CCCCCC"/>
                </a:solidFill>
                <a:effectLst/>
                <a:latin typeface="Consolas" panose="020B0609020204030204" pitchFamily="49" charset="0"/>
              </a:rPr>
              <a:t>    </a:t>
            </a:r>
            <a:r>
              <a:rPr lang="pt-BR" b="0" dirty="0">
                <a:solidFill>
                  <a:srgbClr val="DCDCAA"/>
                </a:solidFill>
                <a:effectLst/>
                <a:latin typeface="Consolas" panose="020B0609020204030204" pitchFamily="49" charset="0"/>
              </a:rPr>
              <a:t>print</a:t>
            </a:r>
            <a:r>
              <a:rPr lang="pt-BR" b="0" dirty="0">
                <a:solidFill>
                  <a:srgbClr val="CCCCCC"/>
                </a:solidFill>
                <a:effectLst/>
                <a:latin typeface="Consolas" panose="020B0609020204030204" pitchFamily="49" charset="0"/>
              </a:rPr>
              <a:t>(</a:t>
            </a:r>
            <a:r>
              <a:rPr lang="pt-BR" b="0" dirty="0">
                <a:solidFill>
                  <a:srgbClr val="9CDCFE"/>
                </a:solidFill>
                <a:effectLst/>
                <a:latin typeface="Consolas" panose="020B0609020204030204" pitchFamily="49" charset="0"/>
              </a:rPr>
              <a:t>linha</a:t>
            </a:r>
            <a:r>
              <a:rPr lang="pt-BR"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34027114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a:extLst>
            <a:ext uri="{FF2B5EF4-FFF2-40B4-BE49-F238E27FC236}">
              <a16:creationId xmlns:a16="http://schemas.microsoft.com/office/drawing/2014/main" id="{F99C4815-E001-A0D4-40FE-0E73323EB560}"/>
            </a:ext>
          </a:extLst>
        </p:cNvPr>
        <p:cNvGrpSpPr/>
        <p:nvPr/>
      </p:nvGrpSpPr>
      <p:grpSpPr>
        <a:xfrm>
          <a:off x="0" y="0"/>
          <a:ext cx="0" cy="0"/>
          <a:chOff x="0" y="0"/>
          <a:chExt cx="0" cy="0"/>
        </a:xfrm>
      </p:grpSpPr>
      <p:pic>
        <p:nvPicPr>
          <p:cNvPr id="54" name="Picture 53">
            <a:extLst>
              <a:ext uri="{FF2B5EF4-FFF2-40B4-BE49-F238E27FC236}">
                <a16:creationId xmlns:a16="http://schemas.microsoft.com/office/drawing/2014/main" id="{412E3267-7ABE-412B-8580-47EC0D1F61F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3559580"/>
            <a:ext cx="5382682" cy="5584420"/>
          </a:xfrm>
          <a:prstGeom prst="rect">
            <a:avLst/>
          </a:prstGeom>
        </p:spPr>
      </p:pic>
      <p:pic>
        <p:nvPicPr>
          <p:cNvPr id="56" name="Picture 55">
            <a:extLst>
              <a:ext uri="{FF2B5EF4-FFF2-40B4-BE49-F238E27FC236}">
                <a16:creationId xmlns:a16="http://schemas.microsoft.com/office/drawing/2014/main" id="{20B62C5A-2250-4380-AB23-DB87446CCED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3856462"/>
            <a:ext cx="2029882" cy="3153938"/>
          </a:xfrm>
          <a:prstGeom prst="rect">
            <a:avLst/>
          </a:prstGeom>
        </p:spPr>
      </p:pic>
      <p:sp>
        <p:nvSpPr>
          <p:cNvPr id="58" name="Oval 57">
            <a:extLst>
              <a:ext uri="{FF2B5EF4-FFF2-40B4-BE49-F238E27FC236}">
                <a16:creationId xmlns:a16="http://schemas.microsoft.com/office/drawing/2014/main" id="{D42CF425-7213-4F89-B0FF-4C2BDDD9C6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78682" y="2235200"/>
            <a:ext cx="3759200" cy="37592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pt-BR"/>
          </a:p>
        </p:txBody>
      </p:sp>
      <p:pic>
        <p:nvPicPr>
          <p:cNvPr id="60" name="Picture 59">
            <a:extLst>
              <a:ext uri="{FF2B5EF4-FFF2-40B4-BE49-F238E27FC236}">
                <a16:creationId xmlns:a16="http://schemas.microsoft.com/office/drawing/2014/main" id="{D35DA97D-88F8-4249-B650-4FC9FD50A38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10665882" y="0"/>
            <a:ext cx="2137850" cy="1521876"/>
          </a:xfrm>
          <a:prstGeom prst="rect">
            <a:avLst/>
          </a:prstGeom>
        </p:spPr>
      </p:pic>
      <p:pic>
        <p:nvPicPr>
          <p:cNvPr id="62" name="Picture 61">
            <a:extLst>
              <a:ext uri="{FF2B5EF4-FFF2-40B4-BE49-F238E27FC236}">
                <a16:creationId xmlns:a16="http://schemas.microsoft.com/office/drawing/2014/main" id="{43F38673-6E30-4BAE-AC67-0B283EBF429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11474504" y="8128000"/>
            <a:ext cx="1324978" cy="1016000"/>
          </a:xfrm>
          <a:prstGeom prst="rect">
            <a:avLst/>
          </a:prstGeom>
        </p:spPr>
      </p:pic>
      <p:sp>
        <p:nvSpPr>
          <p:cNvPr id="64" name="Rectangle 63">
            <a:extLst>
              <a:ext uri="{FF2B5EF4-FFF2-40B4-BE49-F238E27FC236}">
                <a16:creationId xmlns:a16="http://schemas.microsoft.com/office/drawing/2014/main" id="{202A25CB-1ED1-4C87-AB49-8D3BC684D1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17082"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3" name="CaixaDeTexto 2">
            <a:extLst>
              <a:ext uri="{FF2B5EF4-FFF2-40B4-BE49-F238E27FC236}">
                <a16:creationId xmlns:a16="http://schemas.microsoft.com/office/drawing/2014/main" id="{CF6C74D2-A43D-BC93-61DE-F2E4B624DF58}"/>
              </a:ext>
            </a:extLst>
          </p:cNvPr>
          <p:cNvSpPr txBox="1"/>
          <p:nvPr/>
        </p:nvSpPr>
        <p:spPr>
          <a:xfrm>
            <a:off x="861482" y="603624"/>
            <a:ext cx="7505630" cy="1867373"/>
          </a:xfrm>
          <a:prstGeom prst="rect">
            <a:avLst/>
          </a:prstGeom>
        </p:spPr>
        <p:txBody>
          <a:bodyPr vert="horz" lIns="91440" tIns="45720" rIns="91440" bIns="45720" rtlCol="0" anchor="t">
            <a:normAutofit/>
          </a:bodyPr>
          <a:lstStyle/>
          <a:p>
            <a:pPr>
              <a:lnSpc>
                <a:spcPct val="90000"/>
              </a:lnSpc>
              <a:spcBef>
                <a:spcPct val="0"/>
              </a:spcBef>
              <a:spcAft>
                <a:spcPts val="600"/>
              </a:spcAft>
            </a:pPr>
            <a:r>
              <a:rPr lang="en-US" sz="3900">
                <a:solidFill>
                  <a:schemeClr val="tx2"/>
                </a:solidFill>
                <a:latin typeface="+mj-lt"/>
                <a:ea typeface="+mj-ea"/>
                <a:cs typeface="+mj-cs"/>
              </a:rPr>
              <a:t>Vamos praticar... </a:t>
            </a:r>
          </a:p>
          <a:p>
            <a:pPr>
              <a:lnSpc>
                <a:spcPct val="90000"/>
              </a:lnSpc>
              <a:spcBef>
                <a:spcPct val="0"/>
              </a:spcBef>
              <a:spcAft>
                <a:spcPts val="600"/>
              </a:spcAft>
            </a:pPr>
            <a:endParaRPr lang="en-US" sz="3900">
              <a:solidFill>
                <a:schemeClr val="tx2"/>
              </a:solidFill>
              <a:latin typeface="+mj-lt"/>
              <a:ea typeface="+mj-ea"/>
              <a:cs typeface="+mj-cs"/>
            </a:endParaRPr>
          </a:p>
          <a:p>
            <a:pPr>
              <a:lnSpc>
                <a:spcPct val="90000"/>
              </a:lnSpc>
              <a:spcBef>
                <a:spcPct val="0"/>
              </a:spcBef>
              <a:spcAft>
                <a:spcPts val="600"/>
              </a:spcAft>
            </a:pPr>
            <a:r>
              <a:rPr lang="en-US" sz="3900">
                <a:solidFill>
                  <a:schemeClr val="tx2"/>
                </a:solidFill>
                <a:latin typeface="+mj-lt"/>
                <a:ea typeface="+mj-ea"/>
                <a:cs typeface="+mj-cs"/>
              </a:rPr>
              <a:t>Atividade 3 – Menu</a:t>
            </a:r>
          </a:p>
        </p:txBody>
      </p:sp>
      <p:sp>
        <p:nvSpPr>
          <p:cNvPr id="66" name="Freeform: Shape 65">
            <a:extLst>
              <a:ext uri="{FF2B5EF4-FFF2-40B4-BE49-F238E27FC236}">
                <a16:creationId xmlns:a16="http://schemas.microsoft.com/office/drawing/2014/main" id="{BDF1A5A8-1F9D-41FB-9968-E8E141CC3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7998308" y="885749"/>
            <a:ext cx="9144001" cy="7372503"/>
          </a:xfrm>
          <a:custGeom>
            <a:avLst/>
            <a:gdLst>
              <a:gd name="connsiteX0" fmla="*/ 6858001 w 6858001"/>
              <a:gd name="connsiteY0" fmla="*/ 1177 h 5529377"/>
              <a:gd name="connsiteX1" fmla="*/ 6858001 w 6858001"/>
              <a:gd name="connsiteY1" fmla="*/ 1344715 h 5529377"/>
              <a:gd name="connsiteX2" fmla="*/ 6858000 w 6858001"/>
              <a:gd name="connsiteY2" fmla="*/ 1344715 h 5529377"/>
              <a:gd name="connsiteX3" fmla="*/ 6858000 w 6858001"/>
              <a:gd name="connsiteY3" fmla="*/ 5529377 h 5529377"/>
              <a:gd name="connsiteX4" fmla="*/ 0 w 6858001"/>
              <a:gd name="connsiteY4" fmla="*/ 5529376 h 5529377"/>
              <a:gd name="connsiteX5" fmla="*/ 0 w 6858001"/>
              <a:gd name="connsiteY5" fmla="*/ 891096 h 5529377"/>
              <a:gd name="connsiteX6" fmla="*/ 1 w 6858001"/>
              <a:gd name="connsiteY6" fmla="*/ 891096 h 5529377"/>
              <a:gd name="connsiteX7" fmla="*/ 1 w 6858001"/>
              <a:gd name="connsiteY7" fmla="*/ 0 h 5529377"/>
              <a:gd name="connsiteX8" fmla="*/ 40463 w 6858001"/>
              <a:gd name="connsiteY8" fmla="*/ 5883 h 5529377"/>
              <a:gd name="connsiteX9" fmla="*/ 159107 w 6858001"/>
              <a:gd name="connsiteY9" fmla="*/ 23196 h 5529377"/>
              <a:gd name="connsiteX10" fmla="*/ 245518 w 6858001"/>
              <a:gd name="connsiteY10" fmla="*/ 35299 h 5529377"/>
              <a:gd name="connsiteX11" fmla="*/ 348388 w 6858001"/>
              <a:gd name="connsiteY11" fmla="*/ 48073 h 5529377"/>
              <a:gd name="connsiteX12" fmla="*/ 470460 w 6858001"/>
              <a:gd name="connsiteY12" fmla="*/ 63369 h 5529377"/>
              <a:gd name="connsiteX13" fmla="*/ 605563 w 6858001"/>
              <a:gd name="connsiteY13" fmla="*/ 79506 h 5529377"/>
              <a:gd name="connsiteX14" fmla="*/ 757810 w 6858001"/>
              <a:gd name="connsiteY14" fmla="*/ 96483 h 5529377"/>
              <a:gd name="connsiteX15" fmla="*/ 923774 w 6858001"/>
              <a:gd name="connsiteY15" fmla="*/ 114469 h 5529377"/>
              <a:gd name="connsiteX16" fmla="*/ 1104139 w 6858001"/>
              <a:gd name="connsiteY16" fmla="*/ 132454 h 5529377"/>
              <a:gd name="connsiteX17" fmla="*/ 1296163 w 6858001"/>
              <a:gd name="connsiteY17" fmla="*/ 150776 h 5529377"/>
              <a:gd name="connsiteX18" fmla="*/ 1503275 w 6858001"/>
              <a:gd name="connsiteY18" fmla="*/ 167753 h 5529377"/>
              <a:gd name="connsiteX19" fmla="*/ 1719988 w 6858001"/>
              <a:gd name="connsiteY19" fmla="*/ 184058 h 5529377"/>
              <a:gd name="connsiteX20" fmla="*/ 1949045 w 6858001"/>
              <a:gd name="connsiteY20" fmla="*/ 198849 h 5529377"/>
              <a:gd name="connsiteX21" fmla="*/ 2187703 w 6858001"/>
              <a:gd name="connsiteY21" fmla="*/ 212969 h 5529377"/>
              <a:gd name="connsiteX22" fmla="*/ 2436649 w 6858001"/>
              <a:gd name="connsiteY22" fmla="*/ 226248 h 5529377"/>
              <a:gd name="connsiteX23" fmla="*/ 2564208 w 6858001"/>
              <a:gd name="connsiteY23" fmla="*/ 230955 h 5529377"/>
              <a:gd name="connsiteX24" fmla="*/ 2694509 w 6858001"/>
              <a:gd name="connsiteY24" fmla="*/ 236165 h 5529377"/>
              <a:gd name="connsiteX25" fmla="*/ 2826868 w 6858001"/>
              <a:gd name="connsiteY25" fmla="*/ 241040 h 5529377"/>
              <a:gd name="connsiteX26" fmla="*/ 2959914 w 6858001"/>
              <a:gd name="connsiteY26" fmla="*/ 244234 h 5529377"/>
              <a:gd name="connsiteX27" fmla="*/ 3095702 w 6858001"/>
              <a:gd name="connsiteY27" fmla="*/ 247091 h 5529377"/>
              <a:gd name="connsiteX28" fmla="*/ 3232862 w 6858001"/>
              <a:gd name="connsiteY28" fmla="*/ 250117 h 5529377"/>
              <a:gd name="connsiteX29" fmla="*/ 3372765 w 6858001"/>
              <a:gd name="connsiteY29" fmla="*/ 252134 h 5529377"/>
              <a:gd name="connsiteX30" fmla="*/ 3514040 w 6858001"/>
              <a:gd name="connsiteY30" fmla="*/ 252134 h 5529377"/>
              <a:gd name="connsiteX31" fmla="*/ 3656686 w 6858001"/>
              <a:gd name="connsiteY31" fmla="*/ 253142 h 5529377"/>
              <a:gd name="connsiteX32" fmla="*/ 3800704 w 6858001"/>
              <a:gd name="connsiteY32" fmla="*/ 252134 h 5529377"/>
              <a:gd name="connsiteX33" fmla="*/ 3946780 w 6858001"/>
              <a:gd name="connsiteY33" fmla="*/ 250117 h 5529377"/>
              <a:gd name="connsiteX34" fmla="*/ 4092855 w 6858001"/>
              <a:gd name="connsiteY34" fmla="*/ 248268 h 5529377"/>
              <a:gd name="connsiteX35" fmla="*/ 4240988 w 6858001"/>
              <a:gd name="connsiteY35" fmla="*/ 244234 h 5529377"/>
              <a:gd name="connsiteX36" fmla="*/ 4390492 w 6858001"/>
              <a:gd name="connsiteY36" fmla="*/ 240032 h 5529377"/>
              <a:gd name="connsiteX37" fmla="*/ 4539997 w 6858001"/>
              <a:gd name="connsiteY37" fmla="*/ 235157 h 5529377"/>
              <a:gd name="connsiteX38" fmla="*/ 4690873 w 6858001"/>
              <a:gd name="connsiteY38" fmla="*/ 228266 h 5529377"/>
              <a:gd name="connsiteX39" fmla="*/ 4843120 w 6858001"/>
              <a:gd name="connsiteY39" fmla="*/ 220029 h 5529377"/>
              <a:gd name="connsiteX40" fmla="*/ 4996054 w 6858001"/>
              <a:gd name="connsiteY40" fmla="*/ 212129 h 5529377"/>
              <a:gd name="connsiteX41" fmla="*/ 5148987 w 6858001"/>
              <a:gd name="connsiteY41" fmla="*/ 202044 h 5529377"/>
              <a:gd name="connsiteX42" fmla="*/ 5303978 w 6858001"/>
              <a:gd name="connsiteY42" fmla="*/ 189941 h 5529377"/>
              <a:gd name="connsiteX43" fmla="*/ 5456911 w 6858001"/>
              <a:gd name="connsiteY43" fmla="*/ 177839 h 5529377"/>
              <a:gd name="connsiteX44" fmla="*/ 5612588 w 6858001"/>
              <a:gd name="connsiteY44" fmla="*/ 163887 h 5529377"/>
              <a:gd name="connsiteX45" fmla="*/ 5768950 w 6858001"/>
              <a:gd name="connsiteY45" fmla="*/ 148591 h 5529377"/>
              <a:gd name="connsiteX46" fmla="*/ 5923255 w 6858001"/>
              <a:gd name="connsiteY46" fmla="*/ 132455 h 5529377"/>
              <a:gd name="connsiteX47" fmla="*/ 6079618 w 6858001"/>
              <a:gd name="connsiteY47" fmla="*/ 113629 h 5529377"/>
              <a:gd name="connsiteX48" fmla="*/ 6235294 w 6858001"/>
              <a:gd name="connsiteY48" fmla="*/ 93458 h 5529377"/>
              <a:gd name="connsiteX49" fmla="*/ 6391657 w 6858001"/>
              <a:gd name="connsiteY49" fmla="*/ 73455 h 5529377"/>
              <a:gd name="connsiteX50" fmla="*/ 6547333 w 6858001"/>
              <a:gd name="connsiteY50" fmla="*/ 50091 h 5529377"/>
              <a:gd name="connsiteX51" fmla="*/ 6702324 w 6858001"/>
              <a:gd name="connsiteY51" fmla="*/ 26222 h 5529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858001" h="5529377">
                <a:moveTo>
                  <a:pt x="6858001" y="1177"/>
                </a:moveTo>
                <a:lnTo>
                  <a:pt x="6858001" y="1344715"/>
                </a:lnTo>
                <a:lnTo>
                  <a:pt x="6858000" y="1344715"/>
                </a:lnTo>
                <a:lnTo>
                  <a:pt x="6858000" y="5529377"/>
                </a:lnTo>
                <a:lnTo>
                  <a:pt x="0" y="5529376"/>
                </a:lnTo>
                <a:lnTo>
                  <a:pt x="0" y="891096"/>
                </a:lnTo>
                <a:lnTo>
                  <a:pt x="1" y="891096"/>
                </a:lnTo>
                <a:lnTo>
                  <a:pt x="1" y="0"/>
                </a:lnTo>
                <a:lnTo>
                  <a:pt x="40463" y="5883"/>
                </a:lnTo>
                <a:lnTo>
                  <a:pt x="159107" y="23196"/>
                </a:lnTo>
                <a:lnTo>
                  <a:pt x="245518" y="35299"/>
                </a:lnTo>
                <a:lnTo>
                  <a:pt x="348388" y="48073"/>
                </a:lnTo>
                <a:lnTo>
                  <a:pt x="470460" y="63369"/>
                </a:lnTo>
                <a:lnTo>
                  <a:pt x="605563" y="79506"/>
                </a:lnTo>
                <a:lnTo>
                  <a:pt x="757810" y="96483"/>
                </a:lnTo>
                <a:lnTo>
                  <a:pt x="923774" y="114469"/>
                </a:lnTo>
                <a:lnTo>
                  <a:pt x="1104139" y="132454"/>
                </a:lnTo>
                <a:lnTo>
                  <a:pt x="1296163" y="150776"/>
                </a:lnTo>
                <a:lnTo>
                  <a:pt x="1503275" y="167753"/>
                </a:lnTo>
                <a:lnTo>
                  <a:pt x="1719988" y="184058"/>
                </a:lnTo>
                <a:lnTo>
                  <a:pt x="1949045" y="198849"/>
                </a:lnTo>
                <a:lnTo>
                  <a:pt x="2187703" y="212969"/>
                </a:lnTo>
                <a:lnTo>
                  <a:pt x="2436649" y="226248"/>
                </a:lnTo>
                <a:lnTo>
                  <a:pt x="2564208" y="230955"/>
                </a:lnTo>
                <a:lnTo>
                  <a:pt x="2694509" y="236165"/>
                </a:lnTo>
                <a:lnTo>
                  <a:pt x="2826868" y="241040"/>
                </a:lnTo>
                <a:lnTo>
                  <a:pt x="2959914" y="244234"/>
                </a:lnTo>
                <a:lnTo>
                  <a:pt x="3095702" y="247091"/>
                </a:lnTo>
                <a:lnTo>
                  <a:pt x="3232862" y="250117"/>
                </a:lnTo>
                <a:lnTo>
                  <a:pt x="3372765" y="252134"/>
                </a:lnTo>
                <a:lnTo>
                  <a:pt x="3514040" y="252134"/>
                </a:lnTo>
                <a:lnTo>
                  <a:pt x="3656686" y="253142"/>
                </a:lnTo>
                <a:lnTo>
                  <a:pt x="3800704" y="252134"/>
                </a:lnTo>
                <a:lnTo>
                  <a:pt x="3946780" y="250117"/>
                </a:lnTo>
                <a:lnTo>
                  <a:pt x="4092855" y="248268"/>
                </a:lnTo>
                <a:lnTo>
                  <a:pt x="4240988" y="244234"/>
                </a:lnTo>
                <a:lnTo>
                  <a:pt x="4390492" y="240032"/>
                </a:lnTo>
                <a:lnTo>
                  <a:pt x="4539997" y="235157"/>
                </a:lnTo>
                <a:lnTo>
                  <a:pt x="4690873" y="228266"/>
                </a:lnTo>
                <a:lnTo>
                  <a:pt x="4843120" y="220029"/>
                </a:lnTo>
                <a:lnTo>
                  <a:pt x="4996054" y="212129"/>
                </a:lnTo>
                <a:lnTo>
                  <a:pt x="5148987" y="202044"/>
                </a:lnTo>
                <a:lnTo>
                  <a:pt x="5303978" y="189941"/>
                </a:lnTo>
                <a:lnTo>
                  <a:pt x="5456911" y="177839"/>
                </a:lnTo>
                <a:lnTo>
                  <a:pt x="5612588" y="163887"/>
                </a:lnTo>
                <a:lnTo>
                  <a:pt x="5768950" y="148591"/>
                </a:lnTo>
                <a:lnTo>
                  <a:pt x="5923255" y="132455"/>
                </a:lnTo>
                <a:lnTo>
                  <a:pt x="6079618" y="113629"/>
                </a:lnTo>
                <a:lnTo>
                  <a:pt x="6235294" y="93458"/>
                </a:lnTo>
                <a:lnTo>
                  <a:pt x="6391657" y="73455"/>
                </a:lnTo>
                <a:lnTo>
                  <a:pt x="6547333" y="50091"/>
                </a:lnTo>
                <a:lnTo>
                  <a:pt x="6702324" y="26222"/>
                </a:lnTo>
                <a:close/>
              </a:path>
            </a:pathLst>
          </a:custGeom>
          <a:solidFill>
            <a:srgbClr val="FFFFFF"/>
          </a:solidFill>
          <a:ln>
            <a:noFill/>
          </a:ln>
        </p:spPr>
        <p:txBody>
          <a:bodyPr/>
          <a:lstStyle/>
          <a:p>
            <a:endParaRPr lang="pt-BR"/>
          </a:p>
        </p:txBody>
      </p:sp>
      <p:sp>
        <p:nvSpPr>
          <p:cNvPr id="68" name="Freeform 7">
            <a:extLst>
              <a:ext uri="{FF2B5EF4-FFF2-40B4-BE49-F238E27FC236}">
                <a16:creationId xmlns:a16="http://schemas.microsoft.com/office/drawing/2014/main" id="{2FF8A507-56A2-4FE4-8B7E-C1BC9DD86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99790" y="-1"/>
            <a:ext cx="745963" cy="4946189"/>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8" name="Imagem 7">
            <a:extLst>
              <a:ext uri="{FF2B5EF4-FFF2-40B4-BE49-F238E27FC236}">
                <a16:creationId xmlns:a16="http://schemas.microsoft.com/office/drawing/2014/main" id="{98252C74-97D3-7E58-D81C-01D066678ABE}"/>
              </a:ext>
            </a:extLst>
          </p:cNvPr>
          <p:cNvPicPr>
            <a:picLocks noChangeAspect="1"/>
          </p:cNvPicPr>
          <p:nvPr/>
        </p:nvPicPr>
        <p:blipFill>
          <a:blip r:embed="rId7"/>
          <a:stretch>
            <a:fillRect/>
          </a:stretch>
        </p:blipFill>
        <p:spPr>
          <a:xfrm>
            <a:off x="10445080" y="863598"/>
            <a:ext cx="4586670" cy="4322936"/>
          </a:xfrm>
          <a:prstGeom prst="rect">
            <a:avLst/>
          </a:prstGeom>
          <a:effectLst/>
        </p:spPr>
      </p:pic>
      <p:sp>
        <p:nvSpPr>
          <p:cNvPr id="70" name="Rectangle 69">
            <a:extLst>
              <a:ext uri="{FF2B5EF4-FFF2-40B4-BE49-F238E27FC236}">
                <a16:creationId xmlns:a16="http://schemas.microsoft.com/office/drawing/2014/main" id="{FCC54B50-93BD-4243-9020-11486472E2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23264" y="0"/>
            <a:ext cx="914400" cy="1524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pt-BR"/>
          </a:p>
        </p:txBody>
      </p:sp>
      <p:sp>
        <p:nvSpPr>
          <p:cNvPr id="5" name="CaixaDeTexto 4">
            <a:extLst>
              <a:ext uri="{FF2B5EF4-FFF2-40B4-BE49-F238E27FC236}">
                <a16:creationId xmlns:a16="http://schemas.microsoft.com/office/drawing/2014/main" id="{4526AF1F-A802-13F4-9360-480BD4D146D5}"/>
              </a:ext>
            </a:extLst>
          </p:cNvPr>
          <p:cNvSpPr txBox="1"/>
          <p:nvPr/>
        </p:nvSpPr>
        <p:spPr>
          <a:xfrm>
            <a:off x="861482" y="2737224"/>
            <a:ext cx="7504847" cy="559397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Objetivo</a:t>
            </a:r>
            <a:r>
              <a:rPr lang="en-US" b="1" dirty="0">
                <a:latin typeface="+mj-lt"/>
                <a:ea typeface="+mj-ea"/>
                <a:cs typeface="+mj-cs"/>
              </a:rPr>
              <a:t>: Nesta </a:t>
            </a:r>
            <a:r>
              <a:rPr lang="en-US" b="1" dirty="0" err="1">
                <a:latin typeface="+mj-lt"/>
                <a:ea typeface="+mj-ea"/>
                <a:cs typeface="+mj-cs"/>
              </a:rPr>
              <a:t>atividade</a:t>
            </a:r>
            <a:r>
              <a:rPr lang="en-US" b="1" dirty="0">
                <a:latin typeface="+mj-lt"/>
                <a:ea typeface="+mj-ea"/>
                <a:cs typeface="+mj-cs"/>
              </a:rPr>
              <a:t> </a:t>
            </a:r>
            <a:r>
              <a:rPr lang="en-US" b="1" dirty="0" err="1">
                <a:latin typeface="+mj-lt"/>
                <a:ea typeface="+mj-ea"/>
                <a:cs typeface="+mj-cs"/>
              </a:rPr>
              <a:t>você</a:t>
            </a:r>
            <a:r>
              <a:rPr lang="en-US" b="1" dirty="0">
                <a:latin typeface="+mj-lt"/>
                <a:ea typeface="+mj-ea"/>
                <a:cs typeface="+mj-cs"/>
              </a:rPr>
              <a:t> </a:t>
            </a:r>
            <a:r>
              <a:rPr lang="en-US" b="1" dirty="0" err="1">
                <a:latin typeface="+mj-lt"/>
                <a:ea typeface="+mj-ea"/>
                <a:cs typeface="+mj-cs"/>
              </a:rPr>
              <a:t>vai</a:t>
            </a:r>
            <a:r>
              <a:rPr lang="en-US" b="1" dirty="0">
                <a:latin typeface="+mj-lt"/>
                <a:ea typeface="+mj-ea"/>
                <a:cs typeface="+mj-cs"/>
              </a:rPr>
              <a:t> </a:t>
            </a:r>
            <a:r>
              <a:rPr lang="en-US" b="1" dirty="0" err="1">
                <a:latin typeface="+mj-lt"/>
                <a:ea typeface="+mj-ea"/>
                <a:cs typeface="+mj-cs"/>
              </a:rPr>
              <a:t>criar</a:t>
            </a:r>
            <a:r>
              <a:rPr lang="en-US" b="1" dirty="0">
                <a:latin typeface="+mj-lt"/>
                <a:ea typeface="+mj-ea"/>
                <a:cs typeface="+mj-cs"/>
              </a:rPr>
              <a:t> um menu </a:t>
            </a:r>
            <a:r>
              <a:rPr lang="en-US" b="1" dirty="0" err="1">
                <a:latin typeface="+mj-lt"/>
                <a:ea typeface="+mj-ea"/>
                <a:cs typeface="+mj-cs"/>
              </a:rPr>
              <a:t>usando</a:t>
            </a:r>
            <a:r>
              <a:rPr lang="en-US" b="1" dirty="0">
                <a:latin typeface="+mj-lt"/>
                <a:ea typeface="+mj-ea"/>
                <a:cs typeface="+mj-cs"/>
              </a:rPr>
              <a:t> o </a:t>
            </a:r>
            <a:r>
              <a:rPr lang="en-US" b="1" dirty="0">
                <a:solidFill>
                  <a:srgbClr val="FFC000"/>
                </a:solidFill>
                <a:latin typeface="+mj-lt"/>
                <a:ea typeface="+mj-ea"/>
                <a:cs typeface="+mj-cs"/>
              </a:rPr>
              <a:t>While</a:t>
            </a:r>
            <a:r>
              <a:rPr lang="en-US" b="1" dirty="0">
                <a:latin typeface="+mj-lt"/>
                <a:ea typeface="+mj-ea"/>
                <a:cs typeface="+mj-cs"/>
              </a:rPr>
              <a:t>, </a:t>
            </a:r>
            <a:r>
              <a:rPr lang="en-US" b="1" dirty="0" err="1">
                <a:latin typeface="+mj-lt"/>
                <a:ea typeface="+mj-ea"/>
                <a:cs typeface="+mj-cs"/>
              </a:rPr>
              <a:t>este</a:t>
            </a:r>
            <a:r>
              <a:rPr lang="en-US" b="1" dirty="0">
                <a:latin typeface="+mj-lt"/>
                <a:ea typeface="+mj-ea"/>
                <a:cs typeface="+mj-cs"/>
              </a:rPr>
              <a:t> menu </a:t>
            </a:r>
            <a:r>
              <a:rPr lang="en-US" b="1" dirty="0" err="1">
                <a:latin typeface="+mj-lt"/>
                <a:ea typeface="+mj-ea"/>
                <a:cs typeface="+mj-cs"/>
              </a:rPr>
              <a:t>poderá</a:t>
            </a:r>
            <a:r>
              <a:rPr lang="en-US" b="1" dirty="0">
                <a:latin typeface="+mj-lt"/>
                <a:ea typeface="+mj-ea"/>
                <a:cs typeface="+mj-cs"/>
              </a:rPr>
              <a:t> ser </a:t>
            </a:r>
            <a:r>
              <a:rPr lang="en-US" b="1" dirty="0" err="1">
                <a:latin typeface="+mj-lt"/>
                <a:ea typeface="+mj-ea"/>
                <a:cs typeface="+mj-cs"/>
              </a:rPr>
              <a:t>utilizado</a:t>
            </a:r>
            <a:r>
              <a:rPr lang="en-US" b="1" dirty="0">
                <a:latin typeface="+mj-lt"/>
                <a:ea typeface="+mj-ea"/>
                <a:cs typeface="+mj-cs"/>
              </a:rPr>
              <a:t> </a:t>
            </a:r>
            <a:r>
              <a:rPr lang="en-US" b="1" dirty="0" err="1">
                <a:latin typeface="+mj-lt"/>
                <a:ea typeface="+mj-ea"/>
                <a:cs typeface="+mj-cs"/>
              </a:rPr>
              <a:t>em</a:t>
            </a:r>
            <a:r>
              <a:rPr lang="en-US" b="1" dirty="0">
                <a:latin typeface="+mj-lt"/>
                <a:ea typeface="+mj-ea"/>
                <a:cs typeface="+mj-cs"/>
              </a:rPr>
              <a:t> conjunto com outros </a:t>
            </a:r>
            <a:r>
              <a:rPr lang="en-US" b="1" dirty="0" err="1">
                <a:latin typeface="+mj-lt"/>
                <a:ea typeface="+mj-ea"/>
                <a:cs typeface="+mj-cs"/>
              </a:rPr>
              <a:t>códigos</a:t>
            </a:r>
            <a:r>
              <a:rPr lang="en-US" b="1" dirty="0">
                <a:latin typeface="+mj-lt"/>
                <a:ea typeface="+mj-ea"/>
                <a:cs typeface="+mj-cs"/>
              </a:rPr>
              <a:t> para </a:t>
            </a:r>
            <a:r>
              <a:rPr lang="en-US" b="1" dirty="0" err="1">
                <a:latin typeface="+mj-lt"/>
                <a:ea typeface="+mj-ea"/>
                <a:cs typeface="+mj-cs"/>
              </a:rPr>
              <a:t>que</a:t>
            </a:r>
            <a:r>
              <a:rPr lang="en-US" b="1" dirty="0">
                <a:latin typeface="+mj-lt"/>
                <a:ea typeface="+mj-ea"/>
                <a:cs typeface="+mj-cs"/>
              </a:rPr>
              <a:t> a </a:t>
            </a:r>
            <a:r>
              <a:rPr lang="en-US" b="1" dirty="0" err="1">
                <a:latin typeface="+mj-lt"/>
                <a:ea typeface="+mj-ea"/>
                <a:cs typeface="+mj-cs"/>
              </a:rPr>
              <a:t>execução</a:t>
            </a:r>
            <a:r>
              <a:rPr lang="en-US" b="1" dirty="0">
                <a:latin typeface="+mj-lt"/>
                <a:ea typeface="+mj-ea"/>
                <a:cs typeface="+mj-cs"/>
              </a:rPr>
              <a:t> do </a:t>
            </a:r>
            <a:r>
              <a:rPr lang="en-US" b="1" dirty="0" err="1">
                <a:latin typeface="+mj-lt"/>
                <a:ea typeface="+mj-ea"/>
                <a:cs typeface="+mj-cs"/>
              </a:rPr>
              <a:t>programa</a:t>
            </a:r>
            <a:r>
              <a:rPr lang="en-US" b="1" dirty="0">
                <a:latin typeface="+mj-lt"/>
                <a:ea typeface="+mj-ea"/>
                <a:cs typeface="+mj-cs"/>
              </a:rPr>
              <a:t> </a:t>
            </a:r>
            <a:r>
              <a:rPr lang="en-US" b="1" dirty="0" err="1">
                <a:latin typeface="+mj-lt"/>
                <a:ea typeface="+mj-ea"/>
                <a:cs typeface="+mj-cs"/>
              </a:rPr>
              <a:t>seja</a:t>
            </a:r>
            <a:r>
              <a:rPr lang="en-US" b="1" dirty="0">
                <a:latin typeface="+mj-lt"/>
                <a:ea typeface="+mj-ea"/>
                <a:cs typeface="+mj-cs"/>
              </a:rPr>
              <a:t> </a:t>
            </a:r>
            <a:r>
              <a:rPr lang="en-US" b="1" dirty="0" err="1">
                <a:latin typeface="+mj-lt"/>
                <a:ea typeface="+mj-ea"/>
                <a:cs typeface="+mj-cs"/>
              </a:rPr>
              <a:t>realizada</a:t>
            </a:r>
            <a:r>
              <a:rPr lang="en-US" b="1" dirty="0">
                <a:latin typeface="+mj-lt"/>
                <a:ea typeface="+mj-ea"/>
                <a:cs typeface="+mj-cs"/>
              </a:rPr>
              <a:t> </a:t>
            </a:r>
            <a:r>
              <a:rPr lang="en-US" b="1" dirty="0" err="1">
                <a:latin typeface="+mj-lt"/>
                <a:ea typeface="+mj-ea"/>
                <a:cs typeface="+mj-cs"/>
              </a:rPr>
              <a:t>até</a:t>
            </a:r>
            <a:r>
              <a:rPr lang="en-US" b="1" dirty="0">
                <a:latin typeface="+mj-lt"/>
                <a:ea typeface="+mj-ea"/>
                <a:cs typeface="+mj-cs"/>
              </a:rPr>
              <a:t> </a:t>
            </a:r>
            <a:r>
              <a:rPr lang="en-US" b="1" dirty="0" err="1">
                <a:latin typeface="+mj-lt"/>
                <a:ea typeface="+mj-ea"/>
                <a:cs typeface="+mj-cs"/>
              </a:rPr>
              <a:t>que</a:t>
            </a:r>
            <a:r>
              <a:rPr lang="en-US" b="1" dirty="0">
                <a:latin typeface="+mj-lt"/>
                <a:ea typeface="+mj-ea"/>
                <a:cs typeface="+mj-cs"/>
              </a:rPr>
              <a:t> o </a:t>
            </a:r>
            <a:r>
              <a:rPr lang="en-US" b="1" dirty="0" err="1">
                <a:latin typeface="+mj-lt"/>
                <a:ea typeface="+mj-ea"/>
                <a:cs typeface="+mj-cs"/>
              </a:rPr>
              <a:t>usuário</a:t>
            </a:r>
            <a:r>
              <a:rPr lang="en-US" b="1" dirty="0">
                <a:latin typeface="+mj-lt"/>
                <a:ea typeface="+mj-ea"/>
                <a:cs typeface="+mj-cs"/>
              </a:rPr>
              <a:t> </a:t>
            </a:r>
            <a:r>
              <a:rPr lang="en-US" b="1" dirty="0" err="1">
                <a:latin typeface="+mj-lt"/>
                <a:ea typeface="+mj-ea"/>
                <a:cs typeface="+mj-cs"/>
              </a:rPr>
              <a:t>deseje</a:t>
            </a:r>
            <a:r>
              <a:rPr lang="en-US" b="1" dirty="0">
                <a:latin typeface="+mj-lt"/>
                <a:ea typeface="+mj-ea"/>
                <a:cs typeface="+mj-cs"/>
              </a:rPr>
              <a:t> </a:t>
            </a:r>
            <a:r>
              <a:rPr lang="en-US" b="1" dirty="0" err="1">
                <a:latin typeface="+mj-lt"/>
                <a:ea typeface="+mj-ea"/>
                <a:cs typeface="+mj-cs"/>
              </a:rPr>
              <a:t>sair</a:t>
            </a:r>
            <a:r>
              <a:rPr lang="en-US" b="1" dirty="0">
                <a:latin typeface="+mj-lt"/>
                <a:ea typeface="+mj-ea"/>
                <a:cs typeface="+mj-cs"/>
              </a:rPr>
              <a:t>.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r>
              <a:rPr lang="en-US" b="1" dirty="0" err="1">
                <a:latin typeface="+mj-lt"/>
                <a:ea typeface="+mj-ea"/>
                <a:cs typeface="+mj-cs"/>
              </a:rPr>
              <a:t>Comandos</a:t>
            </a:r>
            <a:r>
              <a:rPr lang="en-US" b="1" dirty="0">
                <a:latin typeface="+mj-lt"/>
                <a:ea typeface="+mj-ea"/>
                <a:cs typeface="+mj-cs"/>
              </a:rPr>
              <a:t> </a:t>
            </a:r>
            <a:r>
              <a:rPr lang="en-US" b="1" dirty="0" err="1">
                <a:latin typeface="+mj-lt"/>
                <a:ea typeface="+mj-ea"/>
                <a:cs typeface="+mj-cs"/>
              </a:rPr>
              <a:t>utilizados</a:t>
            </a:r>
            <a:r>
              <a:rPr lang="en-US" b="1" dirty="0">
                <a:latin typeface="+mj-lt"/>
                <a:ea typeface="+mj-ea"/>
                <a:cs typeface="+mj-cs"/>
              </a:rPr>
              <a:t>: </a:t>
            </a:r>
            <a:r>
              <a:rPr lang="en-US" b="1" dirty="0" err="1">
                <a:solidFill>
                  <a:srgbClr val="FFC000"/>
                </a:solidFill>
                <a:latin typeface="+mj-lt"/>
                <a:ea typeface="+mj-ea"/>
                <a:cs typeface="+mj-cs"/>
              </a:rPr>
              <a:t>Variáveis</a:t>
            </a:r>
            <a:r>
              <a:rPr lang="en-US" b="1" dirty="0">
                <a:solidFill>
                  <a:srgbClr val="FFC000"/>
                </a:solidFill>
                <a:latin typeface="+mj-lt"/>
                <a:ea typeface="+mj-ea"/>
                <a:cs typeface="+mj-cs"/>
              </a:rPr>
              <a:t> e while. </a:t>
            </a: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a:p>
            <a:pPr>
              <a:spcBef>
                <a:spcPts val="1000"/>
              </a:spcBef>
              <a:buClr>
                <a:schemeClr val="bg2">
                  <a:lumMod val="40000"/>
                  <a:lumOff val="60000"/>
                </a:schemeClr>
              </a:buClr>
              <a:buSzPct val="80000"/>
              <a:buFont typeface="Wingdings 3" charset="2"/>
              <a:buChar char=""/>
            </a:pPr>
            <a:endParaRPr lang="en-US" b="1" dirty="0">
              <a:latin typeface="+mj-lt"/>
              <a:ea typeface="+mj-ea"/>
              <a:cs typeface="+mj-cs"/>
            </a:endParaRPr>
          </a:p>
        </p:txBody>
      </p:sp>
      <p:pic>
        <p:nvPicPr>
          <p:cNvPr id="7" name="Imagem 6">
            <a:extLst>
              <a:ext uri="{FF2B5EF4-FFF2-40B4-BE49-F238E27FC236}">
                <a16:creationId xmlns:a16="http://schemas.microsoft.com/office/drawing/2014/main" id="{525108E9-7A49-ADDF-D676-17FC7A32DE2C}"/>
              </a:ext>
            </a:extLst>
          </p:cNvPr>
          <p:cNvPicPr>
            <a:picLocks noChangeAspect="1"/>
          </p:cNvPicPr>
          <p:nvPr/>
        </p:nvPicPr>
        <p:blipFill>
          <a:blip r:embed="rId8"/>
          <a:stretch>
            <a:fillRect/>
          </a:stretch>
        </p:blipFill>
        <p:spPr>
          <a:xfrm>
            <a:off x="10084989" y="6139900"/>
            <a:ext cx="5306852" cy="1499185"/>
          </a:xfrm>
          <a:prstGeom prst="rect">
            <a:avLst/>
          </a:prstGeom>
          <a:effectLst/>
        </p:spPr>
      </p:pic>
    </p:spTree>
    <p:extLst>
      <p:ext uri="{BB962C8B-B14F-4D97-AF65-F5344CB8AC3E}">
        <p14:creationId xmlns:p14="http://schemas.microsoft.com/office/powerpoint/2010/main" val="42198999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787C3-69C2-A8F7-0638-57333BE3215E}"/>
            </a:ext>
          </a:extLst>
        </p:cNvPr>
        <p:cNvGrpSpPr/>
        <p:nvPr/>
      </p:nvGrpSpPr>
      <p:grpSpPr>
        <a:xfrm>
          <a:off x="0" y="0"/>
          <a:ext cx="0" cy="0"/>
          <a:chOff x="0" y="0"/>
          <a:chExt cx="0" cy="0"/>
        </a:xfrm>
      </p:grpSpPr>
      <p:sp>
        <p:nvSpPr>
          <p:cNvPr id="3" name="CaixaDeTexto 2">
            <a:extLst>
              <a:ext uri="{FF2B5EF4-FFF2-40B4-BE49-F238E27FC236}">
                <a16:creationId xmlns:a16="http://schemas.microsoft.com/office/drawing/2014/main" id="{C19F4B07-16FF-D9C0-5530-1DCED9775B29}"/>
              </a:ext>
            </a:extLst>
          </p:cNvPr>
          <p:cNvSpPr txBox="1"/>
          <p:nvPr/>
        </p:nvSpPr>
        <p:spPr>
          <a:xfrm>
            <a:off x="4165600" y="3602504"/>
            <a:ext cx="8125968" cy="1938992"/>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pt-BR" altLang="pt-BR" sz="6000" b="0" i="0" u="none" strike="noStrike" cap="none" normalizeH="0" baseline="0" dirty="0">
                <a:ln>
                  <a:noFill/>
                </a:ln>
                <a:solidFill>
                  <a:srgbClr val="FFC000"/>
                </a:solidFill>
                <a:effectLst/>
                <a:latin typeface="Arial" panose="020B0604020202020204" pitchFamily="34" charset="0"/>
              </a:rPr>
              <a:t>Lista de exercícios   PYTHON</a:t>
            </a:r>
          </a:p>
        </p:txBody>
      </p:sp>
    </p:spTree>
    <p:extLst>
      <p:ext uri="{BB962C8B-B14F-4D97-AF65-F5344CB8AC3E}">
        <p14:creationId xmlns:p14="http://schemas.microsoft.com/office/powerpoint/2010/main" val="11818730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Íon">
  <a:themeElements>
    <a:clrScheme name="Integração">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Í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Í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77D5275A932D044C8B024F33477056D8" ma:contentTypeVersion="3" ma:contentTypeDescription="Crie um novo documento." ma:contentTypeScope="" ma:versionID="22ce21f9631d58af8a23c3cc16141244">
  <xsd:schema xmlns:xsd="http://www.w3.org/2001/XMLSchema" xmlns:xs="http://www.w3.org/2001/XMLSchema" xmlns:p="http://schemas.microsoft.com/office/2006/metadata/properties" xmlns:ns2="6e247a5d-6f53-43ef-9522-e2d10df2593d" targetNamespace="http://schemas.microsoft.com/office/2006/metadata/properties" ma:root="true" ma:fieldsID="4fd2929279485cbf69a5bb9e5e100924" ns2:_="">
    <xsd:import namespace="6e247a5d-6f53-43ef-9522-e2d10df2593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247a5d-6f53-43ef-9522-e2d10df259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F554B08-6617-4847-AC5D-9BD3D346AA3E}"/>
</file>

<file path=customXml/itemProps2.xml><?xml version="1.0" encoding="utf-8"?>
<ds:datastoreItem xmlns:ds="http://schemas.openxmlformats.org/officeDocument/2006/customXml" ds:itemID="{FF02E47B-9C05-4E18-B1FB-E6479D903EA2}"/>
</file>

<file path=customXml/itemProps3.xml><?xml version="1.0" encoding="utf-8"?>
<ds:datastoreItem xmlns:ds="http://schemas.openxmlformats.org/officeDocument/2006/customXml" ds:itemID="{0F6E136E-BE03-445B-8C50-C1BAF2CC11A9}"/>
</file>

<file path=docProps/app.xml><?xml version="1.0" encoding="utf-8"?>
<Properties xmlns="http://schemas.openxmlformats.org/officeDocument/2006/extended-properties" xmlns:vt="http://schemas.openxmlformats.org/officeDocument/2006/docPropsVTypes">
  <Template>Ion</Template>
  <TotalTime>451</TotalTime>
  <Words>1621</Words>
  <Application>Microsoft Office PowerPoint</Application>
  <PresentationFormat>Personalizar</PresentationFormat>
  <Paragraphs>250</Paragraphs>
  <Slides>40</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40</vt:i4>
      </vt:variant>
    </vt:vector>
  </HeadingPairs>
  <TitlesOfParts>
    <vt:vector size="47" baseType="lpstr">
      <vt:lpstr>Arial</vt:lpstr>
      <vt:lpstr>Arial Unicode MS</vt:lpstr>
      <vt:lpstr>Century Gothic</vt:lpstr>
      <vt:lpstr>Consolas</vt:lpstr>
      <vt:lpstr>Courier New</vt:lpstr>
      <vt:lpstr>Wingdings 3</vt:lpstr>
      <vt:lpstr>Íon</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WANDERSON NUNES DE OLIVEIRA JUNIOR</dc:creator>
  <cp:lastModifiedBy>WANDERSON NUNES DE OLIVEIRA JUNIOR</cp:lastModifiedBy>
  <cp:revision>118</cp:revision>
  <dcterms:created xsi:type="dcterms:W3CDTF">2006-08-16T00:00:00Z</dcterms:created>
  <dcterms:modified xsi:type="dcterms:W3CDTF">2026-05-11T21:35:26Z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0x01010077D5275A932D044C8B024F33477056D8</vt:lpwstr>
  </property>
</Properties>
</file>