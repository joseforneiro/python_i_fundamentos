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8" r:id="rId3"/>
    <p:sldId id="257" r:id="rId4"/>
    <p:sldId id="267" r:id="rId5"/>
    <p:sldId id="258" r:id="rId6"/>
    <p:sldId id="259" r:id="rId7"/>
    <p:sldId id="268" r:id="rId8"/>
    <p:sldId id="275" r:id="rId9"/>
    <p:sldId id="274" r:id="rId10"/>
    <p:sldId id="276" r:id="rId11"/>
    <p:sldId id="284" r:id="rId12"/>
    <p:sldId id="285" r:id="rId13"/>
    <p:sldId id="270" r:id="rId14"/>
    <p:sldId id="282" r:id="rId15"/>
    <p:sldId id="283" r:id="rId16"/>
    <p:sldId id="272" r:id="rId17"/>
    <p:sldId id="273" r:id="rId18"/>
    <p:sldId id="281" r:id="rId19"/>
    <p:sldId id="269" r:id="rId20"/>
    <p:sldId id="278" r:id="rId21"/>
    <p:sldId id="271" r:id="rId22"/>
    <p:sldId id="280" r:id="rId23"/>
    <p:sldId id="286" r:id="rId24"/>
    <p:sldId id="260" r:id="rId25"/>
    <p:sldId id="287" r:id="rId26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2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9940" y="1930401"/>
            <a:ext cx="11767544" cy="4439441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9940" y="6369840"/>
            <a:ext cx="11767544" cy="114856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4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5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2" y="3815645"/>
            <a:ext cx="11767543" cy="2554196"/>
          </a:xfrm>
        </p:spPr>
        <p:txBody>
          <a:bodyPr anchor="b"/>
          <a:lstStyle>
            <a:lvl1pPr algn="l">
              <a:defRPr sz="5333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9940" y="6369841"/>
            <a:ext cx="11767544" cy="1147200"/>
          </a:xfrm>
        </p:spPr>
        <p:txBody>
          <a:bodyPr anchor="t"/>
          <a:lstStyle>
            <a:lvl1pPr marL="0" indent="0" algn="l">
              <a:buNone/>
              <a:defRPr sz="2667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2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1084" y="2747434"/>
            <a:ext cx="5861785" cy="55943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39325" y="2741457"/>
            <a:ext cx="5861788" cy="560032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1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1084" y="2540000"/>
            <a:ext cx="58617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1084" y="3352800"/>
            <a:ext cx="5861785" cy="4988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39328" y="2540000"/>
            <a:ext cx="5861785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39328" y="3352800"/>
            <a:ext cx="5861785" cy="4988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5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7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4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37" y="1930400"/>
            <a:ext cx="4534752" cy="1930400"/>
          </a:xfrm>
        </p:spPr>
        <p:txBody>
          <a:bodyPr anchor="b"/>
          <a:lstStyle>
            <a:lvl1pPr algn="l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9489" y="1930400"/>
            <a:ext cx="6927996" cy="6096000"/>
          </a:xfrm>
        </p:spPr>
        <p:txBody>
          <a:bodyPr anchor="ctr"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38" y="4172374"/>
            <a:ext cx="4534751" cy="386079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00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8543" y="2472256"/>
            <a:ext cx="6790541" cy="2099744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6061" y="1524000"/>
            <a:ext cx="4267200" cy="609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39" y="4876800"/>
            <a:ext cx="6779972" cy="1828800"/>
          </a:xfrm>
        </p:spPr>
        <p:txBody>
          <a:bodyPr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5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2" y="6400783"/>
            <a:ext cx="11767543" cy="755651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9940" y="914400"/>
            <a:ext cx="11767544" cy="48542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2" y="7156433"/>
            <a:ext cx="11767541" cy="65828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0" y="1930400"/>
            <a:ext cx="11767545" cy="2641600"/>
          </a:xfrm>
        </p:spPr>
        <p:txBody>
          <a:bodyPr/>
          <a:lstStyle>
            <a:lvl1pPr>
              <a:defRPr sz="6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0" y="4876800"/>
            <a:ext cx="11767545" cy="31496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20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736" y="1930400"/>
            <a:ext cx="10665753" cy="3097832"/>
          </a:xfrm>
        </p:spPr>
        <p:txBody>
          <a:bodyPr/>
          <a:lstStyle>
            <a:lvl1pPr>
              <a:defRPr sz="6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573867" y="5028232"/>
            <a:ext cx="9706199" cy="45623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67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0" y="5800876"/>
            <a:ext cx="11767545" cy="22352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97727" y="1295004"/>
            <a:ext cx="1069216" cy="259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626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40653" y="3485050"/>
            <a:ext cx="1069216" cy="259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626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6740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39" y="4165601"/>
            <a:ext cx="11767547" cy="2204240"/>
          </a:xfrm>
        </p:spPr>
        <p:txBody>
          <a:bodyPr anchor="b"/>
          <a:lstStyle>
            <a:lvl1pPr algn="l">
              <a:defRPr sz="5333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9940" y="6369841"/>
            <a:ext cx="11767545" cy="1147200"/>
          </a:xfrm>
        </p:spPr>
        <p:txBody>
          <a:bodyPr anchor="t"/>
          <a:lstStyle>
            <a:lvl1pPr marL="0" indent="0" algn="l">
              <a:buNone/>
              <a:defRPr sz="2667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82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929" y="2641600"/>
            <a:ext cx="3929155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9951" y="3556000"/>
            <a:ext cx="3903133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8213" y="2641600"/>
            <a:ext cx="3914988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164141" y="3556000"/>
            <a:ext cx="3929059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99601" y="2641600"/>
            <a:ext cx="39094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99601" y="3556000"/>
            <a:ext cx="3909484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968189" y="2844800"/>
            <a:ext cx="0" cy="52832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282969" y="2844800"/>
            <a:ext cx="0" cy="5289176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06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51" y="5667932"/>
            <a:ext cx="3920067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69951" y="2946400"/>
            <a:ext cx="3920067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9951" y="6436282"/>
            <a:ext cx="3920067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5834" y="5667932"/>
            <a:ext cx="3907367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185833" y="2946400"/>
            <a:ext cx="3907367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184030" y="6436281"/>
            <a:ext cx="3912541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99601" y="5667932"/>
            <a:ext cx="39094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499599" y="2946400"/>
            <a:ext cx="3909484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499434" y="6436278"/>
            <a:ext cx="3914663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968189" y="2844800"/>
            <a:ext cx="0" cy="52832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282969" y="2844800"/>
            <a:ext cx="0" cy="5289176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07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17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72284" y="573618"/>
            <a:ext cx="2336801" cy="7768167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9951" y="1183219"/>
            <a:ext cx="9897532" cy="715856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11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1"/>
            <a:ext cx="5382683" cy="55844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4"/>
            <a:ext cx="2029883" cy="3153937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478683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4" y="1"/>
            <a:ext cx="2137849" cy="15218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9" cy="1016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3917083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1482" y="603624"/>
            <a:ext cx="12539631" cy="1867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1084" y="2737225"/>
            <a:ext cx="11928721" cy="5593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3540853" y="2387602"/>
            <a:ext cx="1320799" cy="4063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67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1935432" y="4300397"/>
            <a:ext cx="5146393" cy="4064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67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3803387" y="394306"/>
            <a:ext cx="1117599" cy="10235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733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59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09585" rtl="0" eaLnBrk="1" latinLnBrk="0" hangingPunct="1">
        <a:spcBef>
          <a:spcPct val="0"/>
        </a:spcBef>
        <a:buNone/>
        <a:defRPr sz="56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57189" indent="-457189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667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990575" indent="-380990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523962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33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133547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743131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341250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962301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571886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181470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871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7F5EF03-23EF-3B4C-AA4C-218966E08D68}"/>
              </a:ext>
            </a:extLst>
          </p:cNvPr>
          <p:cNvSpPr txBox="1"/>
          <p:nvPr/>
        </p:nvSpPr>
        <p:spPr>
          <a:xfrm>
            <a:off x="1193800" y="1295400"/>
            <a:ext cx="1181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FFC000"/>
                </a:solidFill>
              </a:rPr>
              <a:t>ATENÇÃO – CONTROLE DE FREQUÊNCIA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2EDAC6-F105-1128-3C6A-A66959D8BFF7}"/>
              </a:ext>
            </a:extLst>
          </p:cNvPr>
          <p:cNvSpPr txBox="1"/>
          <p:nvPr/>
        </p:nvSpPr>
        <p:spPr>
          <a:xfrm>
            <a:off x="1346200" y="2743200"/>
            <a:ext cx="12268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dirty="0"/>
              <a:t> O curso possui carga horária total de 36 horas.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 O limite máximo de faltas permitido é de </a:t>
            </a:r>
            <a:r>
              <a:rPr lang="pt-BR" sz="2800" dirty="0">
                <a:solidFill>
                  <a:srgbClr val="FFC000"/>
                </a:solidFill>
              </a:rPr>
              <a:t>25% </a:t>
            </a:r>
            <a:r>
              <a:rPr lang="pt-BR" sz="2800" dirty="0"/>
              <a:t>da carga horária, o que corresponde a:</a:t>
            </a:r>
            <a:br>
              <a:rPr lang="pt-BR" sz="2800" dirty="0"/>
            </a:br>
            <a:r>
              <a:rPr lang="pt-BR" sz="2800" dirty="0"/>
              <a:t> até </a:t>
            </a:r>
            <a:r>
              <a:rPr lang="pt-BR" sz="2800" dirty="0">
                <a:solidFill>
                  <a:srgbClr val="FFC000"/>
                </a:solidFill>
              </a:rPr>
              <a:t>9 horas </a:t>
            </a:r>
            <a:r>
              <a:rPr lang="pt-BR" sz="2800" dirty="0"/>
              <a:t>de ausência no total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 Isso equivale a </a:t>
            </a:r>
            <a:r>
              <a:rPr lang="pt-BR" sz="2800" dirty="0">
                <a:solidFill>
                  <a:srgbClr val="FFC000"/>
                </a:solidFill>
              </a:rPr>
              <a:t>2</a:t>
            </a:r>
            <a:r>
              <a:rPr lang="pt-BR" sz="2800" dirty="0"/>
              <a:t> dias de aula apenas.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 Ultrapassar esse limite resulta em reprovação automática por falta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>
                <a:solidFill>
                  <a:srgbClr val="FFC000"/>
                </a:solidFill>
              </a:rPr>
              <a:t> Mantenha sua frequência e acompanhe todas as aulas com atenção.</a:t>
            </a:r>
          </a:p>
        </p:txBody>
      </p:sp>
    </p:spTree>
    <p:extLst>
      <p:ext uri="{BB962C8B-B14F-4D97-AF65-F5344CB8AC3E}">
        <p14:creationId xmlns:p14="http://schemas.microsoft.com/office/powerpoint/2010/main" val="420663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293DE365-550F-D965-CBCD-24ED51303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000" y="8077200"/>
            <a:ext cx="3913632" cy="115452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20D92-3E8F-70FD-C04C-6F1B81F13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1031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036" name="Oval 1035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038" name="Picture 1037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1040" name="Picture 1039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71166" y="-2097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Python Programming Language - 10B@sic">
            <a:extLst>
              <a:ext uri="{FF2B5EF4-FFF2-40B4-BE49-F238E27FC236}">
                <a16:creationId xmlns:a16="http://schemas.microsoft.com/office/drawing/2014/main" id="{DCBB5D24-3F42-D1CD-1576-B3882F478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1" r="30713"/>
          <a:stretch>
            <a:fillRect/>
          </a:stretch>
        </p:blipFill>
        <p:spPr bwMode="auto">
          <a:xfrm>
            <a:off x="4" y="10"/>
            <a:ext cx="6630798" cy="9143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 1047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23264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D926B7-BA56-8379-55F2-F9AEACA65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75013"/>
            <a:ext cx="8762000" cy="55939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pt-BR" sz="28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Linguagem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interpretada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e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fracamente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tipada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endParaRPr kumimoji="0" lang="en-US" altLang="pt-BR" sz="2400" b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+mj-lt"/>
              <a:ea typeface="+mj-ea"/>
              <a:cs typeface="+mj-cs"/>
            </a:endParaRP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Multiplataforma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: Web, Mobile e Desktop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endParaRPr kumimoji="0" lang="en-US" altLang="pt-BR" sz="2400" b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+mj-lt"/>
              <a:ea typeface="+mj-ea"/>
              <a:cs typeface="+mj-cs"/>
            </a:endParaRP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Pode ser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executada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via terminal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ou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servidores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web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endParaRPr kumimoji="0" lang="en-US" altLang="pt-BR" sz="2400" b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+mj-lt"/>
              <a:ea typeface="+mj-ea"/>
              <a:cs typeface="+mj-cs"/>
            </a:endParaRP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Grande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comunidade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desenvolvedores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endParaRPr kumimoji="0" lang="en-US" altLang="pt-BR" sz="2400" b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+mj-lt"/>
              <a:ea typeface="+mj-ea"/>
              <a:cs typeface="+mj-cs"/>
            </a:endParaRPr>
          </a:p>
          <a:p>
            <a:pPr marL="34290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Compatível com Windows, Linux, Unix e Mac</a:t>
            </a:r>
            <a:endParaRPr lang="en-US" altLang="pt-BR" sz="2400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73B2EF49-C8DA-A4BB-58F7-2A48E97E5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6600" y="580268"/>
            <a:ext cx="3913632" cy="115452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64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E2F3B-E34D-F642-D4DF-A6EC9146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2" name="Picture 2101">
            <a:extLst>
              <a:ext uri="{FF2B5EF4-FFF2-40B4-BE49-F238E27FC236}">
                <a16:creationId xmlns:a16="http://schemas.microsoft.com/office/drawing/2014/main" id="{0F7302AF-86B9-441B-8D24-AC382E2A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2104" name="Picture 2103">
            <a:extLst>
              <a:ext uri="{FF2B5EF4-FFF2-40B4-BE49-F238E27FC236}">
                <a16:creationId xmlns:a16="http://schemas.microsoft.com/office/drawing/2014/main" id="{99A2A6C2-D371-4C6B-B50F-CC71C6D01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2106" name="Oval 2105">
            <a:extLst>
              <a:ext uri="{FF2B5EF4-FFF2-40B4-BE49-F238E27FC236}">
                <a16:creationId xmlns:a16="http://schemas.microsoft.com/office/drawing/2014/main" id="{5F07A6A6-E44B-411E-AA18-65E48113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108" name="Picture 2107">
            <a:extLst>
              <a:ext uri="{FF2B5EF4-FFF2-40B4-BE49-F238E27FC236}">
                <a16:creationId xmlns:a16="http://schemas.microsoft.com/office/drawing/2014/main" id="{8CC3468F-5EED-42B0-8507-F30360E1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2110" name="Picture 2109">
            <a:extLst>
              <a:ext uri="{FF2B5EF4-FFF2-40B4-BE49-F238E27FC236}">
                <a16:creationId xmlns:a16="http://schemas.microsoft.com/office/drawing/2014/main" id="{591711EE-029D-453C-9AE9-E87829F1D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112" name="Rectangle 2111">
            <a:extLst>
              <a:ext uri="{FF2B5EF4-FFF2-40B4-BE49-F238E27FC236}">
                <a16:creationId xmlns:a16="http://schemas.microsoft.com/office/drawing/2014/main" id="{5D5A8E14-301B-40C0-A174-D2232EF9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438859-0D92-A0E4-0B0A-DE829DA2B94F}"/>
              </a:ext>
            </a:extLst>
          </p:cNvPr>
          <p:cNvSpPr txBox="1"/>
          <p:nvPr/>
        </p:nvSpPr>
        <p:spPr>
          <a:xfrm>
            <a:off x="229673" y="109393"/>
            <a:ext cx="7655020" cy="263317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67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Configurando</a:t>
            </a:r>
            <a:r>
              <a:rPr lang="en-US" sz="67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o </a:t>
            </a:r>
            <a:r>
              <a:rPr lang="en-US" sz="67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Ambiente</a:t>
            </a:r>
            <a:r>
              <a:rPr lang="en-US" sz="67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67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Desenvolvimento</a:t>
            </a:r>
            <a:endParaRPr lang="en-US" sz="6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14" name="Freeform: Shape 2113">
            <a:extLst>
              <a:ext uri="{FF2B5EF4-FFF2-40B4-BE49-F238E27FC236}">
                <a16:creationId xmlns:a16="http://schemas.microsoft.com/office/drawing/2014/main" id="{BC9CB508-FF90-4201-B852-19409B06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7753100" y="641099"/>
            <a:ext cx="9144001" cy="7861804"/>
          </a:xfrm>
          <a:custGeom>
            <a:avLst/>
            <a:gdLst>
              <a:gd name="connsiteX0" fmla="*/ 6858001 w 6858001"/>
              <a:gd name="connsiteY0" fmla="*/ 1177 h 5896353"/>
              <a:gd name="connsiteX1" fmla="*/ 6858001 w 6858001"/>
              <a:gd name="connsiteY1" fmla="*/ 1344715 h 5896353"/>
              <a:gd name="connsiteX2" fmla="*/ 6858000 w 6858001"/>
              <a:gd name="connsiteY2" fmla="*/ 1344715 h 5896353"/>
              <a:gd name="connsiteX3" fmla="*/ 6858000 w 6858001"/>
              <a:gd name="connsiteY3" fmla="*/ 5896353 h 5896353"/>
              <a:gd name="connsiteX4" fmla="*/ 0 w 6858001"/>
              <a:gd name="connsiteY4" fmla="*/ 5896352 h 5896353"/>
              <a:gd name="connsiteX5" fmla="*/ 0 w 6858001"/>
              <a:gd name="connsiteY5" fmla="*/ 904460 h 5896353"/>
              <a:gd name="connsiteX6" fmla="*/ 1 w 6858001"/>
              <a:gd name="connsiteY6" fmla="*/ 904460 h 5896353"/>
              <a:gd name="connsiteX7" fmla="*/ 1 w 6858001"/>
              <a:gd name="connsiteY7" fmla="*/ 0 h 5896353"/>
              <a:gd name="connsiteX8" fmla="*/ 40463 w 6858001"/>
              <a:gd name="connsiteY8" fmla="*/ 5883 h 5896353"/>
              <a:gd name="connsiteX9" fmla="*/ 159107 w 6858001"/>
              <a:gd name="connsiteY9" fmla="*/ 23196 h 5896353"/>
              <a:gd name="connsiteX10" fmla="*/ 245518 w 6858001"/>
              <a:gd name="connsiteY10" fmla="*/ 35299 h 5896353"/>
              <a:gd name="connsiteX11" fmla="*/ 348388 w 6858001"/>
              <a:gd name="connsiteY11" fmla="*/ 48073 h 5896353"/>
              <a:gd name="connsiteX12" fmla="*/ 470460 w 6858001"/>
              <a:gd name="connsiteY12" fmla="*/ 63369 h 5896353"/>
              <a:gd name="connsiteX13" fmla="*/ 605563 w 6858001"/>
              <a:gd name="connsiteY13" fmla="*/ 79506 h 5896353"/>
              <a:gd name="connsiteX14" fmla="*/ 757810 w 6858001"/>
              <a:gd name="connsiteY14" fmla="*/ 96483 h 5896353"/>
              <a:gd name="connsiteX15" fmla="*/ 923774 w 6858001"/>
              <a:gd name="connsiteY15" fmla="*/ 114469 h 5896353"/>
              <a:gd name="connsiteX16" fmla="*/ 1104139 w 6858001"/>
              <a:gd name="connsiteY16" fmla="*/ 132454 h 5896353"/>
              <a:gd name="connsiteX17" fmla="*/ 1296163 w 6858001"/>
              <a:gd name="connsiteY17" fmla="*/ 150776 h 5896353"/>
              <a:gd name="connsiteX18" fmla="*/ 1503275 w 6858001"/>
              <a:gd name="connsiteY18" fmla="*/ 167753 h 5896353"/>
              <a:gd name="connsiteX19" fmla="*/ 1719988 w 6858001"/>
              <a:gd name="connsiteY19" fmla="*/ 184058 h 5896353"/>
              <a:gd name="connsiteX20" fmla="*/ 1949045 w 6858001"/>
              <a:gd name="connsiteY20" fmla="*/ 198849 h 5896353"/>
              <a:gd name="connsiteX21" fmla="*/ 2187703 w 6858001"/>
              <a:gd name="connsiteY21" fmla="*/ 212969 h 5896353"/>
              <a:gd name="connsiteX22" fmla="*/ 2436649 w 6858001"/>
              <a:gd name="connsiteY22" fmla="*/ 226248 h 5896353"/>
              <a:gd name="connsiteX23" fmla="*/ 2564208 w 6858001"/>
              <a:gd name="connsiteY23" fmla="*/ 230955 h 5896353"/>
              <a:gd name="connsiteX24" fmla="*/ 2694509 w 6858001"/>
              <a:gd name="connsiteY24" fmla="*/ 236165 h 5896353"/>
              <a:gd name="connsiteX25" fmla="*/ 2826868 w 6858001"/>
              <a:gd name="connsiteY25" fmla="*/ 241040 h 5896353"/>
              <a:gd name="connsiteX26" fmla="*/ 2959914 w 6858001"/>
              <a:gd name="connsiteY26" fmla="*/ 244234 h 5896353"/>
              <a:gd name="connsiteX27" fmla="*/ 3095702 w 6858001"/>
              <a:gd name="connsiteY27" fmla="*/ 247091 h 5896353"/>
              <a:gd name="connsiteX28" fmla="*/ 3232862 w 6858001"/>
              <a:gd name="connsiteY28" fmla="*/ 250117 h 5896353"/>
              <a:gd name="connsiteX29" fmla="*/ 3372765 w 6858001"/>
              <a:gd name="connsiteY29" fmla="*/ 252134 h 5896353"/>
              <a:gd name="connsiteX30" fmla="*/ 3514040 w 6858001"/>
              <a:gd name="connsiteY30" fmla="*/ 252134 h 5896353"/>
              <a:gd name="connsiteX31" fmla="*/ 3656686 w 6858001"/>
              <a:gd name="connsiteY31" fmla="*/ 253142 h 5896353"/>
              <a:gd name="connsiteX32" fmla="*/ 3800704 w 6858001"/>
              <a:gd name="connsiteY32" fmla="*/ 252134 h 5896353"/>
              <a:gd name="connsiteX33" fmla="*/ 3946780 w 6858001"/>
              <a:gd name="connsiteY33" fmla="*/ 250117 h 5896353"/>
              <a:gd name="connsiteX34" fmla="*/ 4092855 w 6858001"/>
              <a:gd name="connsiteY34" fmla="*/ 248268 h 5896353"/>
              <a:gd name="connsiteX35" fmla="*/ 4240988 w 6858001"/>
              <a:gd name="connsiteY35" fmla="*/ 244234 h 5896353"/>
              <a:gd name="connsiteX36" fmla="*/ 4390492 w 6858001"/>
              <a:gd name="connsiteY36" fmla="*/ 240032 h 5896353"/>
              <a:gd name="connsiteX37" fmla="*/ 4539997 w 6858001"/>
              <a:gd name="connsiteY37" fmla="*/ 235157 h 5896353"/>
              <a:gd name="connsiteX38" fmla="*/ 4690873 w 6858001"/>
              <a:gd name="connsiteY38" fmla="*/ 228266 h 5896353"/>
              <a:gd name="connsiteX39" fmla="*/ 4843120 w 6858001"/>
              <a:gd name="connsiteY39" fmla="*/ 220029 h 5896353"/>
              <a:gd name="connsiteX40" fmla="*/ 4996054 w 6858001"/>
              <a:gd name="connsiteY40" fmla="*/ 212129 h 5896353"/>
              <a:gd name="connsiteX41" fmla="*/ 5148987 w 6858001"/>
              <a:gd name="connsiteY41" fmla="*/ 202044 h 5896353"/>
              <a:gd name="connsiteX42" fmla="*/ 5303978 w 6858001"/>
              <a:gd name="connsiteY42" fmla="*/ 189941 h 5896353"/>
              <a:gd name="connsiteX43" fmla="*/ 5456911 w 6858001"/>
              <a:gd name="connsiteY43" fmla="*/ 177839 h 5896353"/>
              <a:gd name="connsiteX44" fmla="*/ 5612588 w 6858001"/>
              <a:gd name="connsiteY44" fmla="*/ 163887 h 5896353"/>
              <a:gd name="connsiteX45" fmla="*/ 5768950 w 6858001"/>
              <a:gd name="connsiteY45" fmla="*/ 148591 h 5896353"/>
              <a:gd name="connsiteX46" fmla="*/ 5923255 w 6858001"/>
              <a:gd name="connsiteY46" fmla="*/ 132455 h 5896353"/>
              <a:gd name="connsiteX47" fmla="*/ 6079618 w 6858001"/>
              <a:gd name="connsiteY47" fmla="*/ 113629 h 5896353"/>
              <a:gd name="connsiteX48" fmla="*/ 6235294 w 6858001"/>
              <a:gd name="connsiteY48" fmla="*/ 93458 h 5896353"/>
              <a:gd name="connsiteX49" fmla="*/ 6391657 w 6858001"/>
              <a:gd name="connsiteY49" fmla="*/ 73455 h 5896353"/>
              <a:gd name="connsiteX50" fmla="*/ 6547333 w 6858001"/>
              <a:gd name="connsiteY50" fmla="*/ 50091 h 5896353"/>
              <a:gd name="connsiteX51" fmla="*/ 6702324 w 6858001"/>
              <a:gd name="connsiteY51" fmla="*/ 26222 h 589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896353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896353"/>
                </a:lnTo>
                <a:lnTo>
                  <a:pt x="0" y="5896352"/>
                </a:lnTo>
                <a:lnTo>
                  <a:pt x="0" y="904460"/>
                </a:lnTo>
                <a:lnTo>
                  <a:pt x="1" y="904460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6" name="Freeform 8">
            <a:extLst>
              <a:ext uri="{FF2B5EF4-FFF2-40B4-BE49-F238E27FC236}">
                <a16:creationId xmlns:a16="http://schemas.microsoft.com/office/drawing/2014/main" id="{67B72EB2-444A-42B0-BE12-6EA274B22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9932" y="-1"/>
            <a:ext cx="745962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769CD228-D5CA-4C29-A9D1-4C919760B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052" name="Picture 4" descr="Setup Python Development Environment in Visual Studio Code | Knowledge  Kitchen">
            <a:extLst>
              <a:ext uri="{FF2B5EF4-FFF2-40B4-BE49-F238E27FC236}">
                <a16:creationId xmlns:a16="http://schemas.microsoft.com/office/drawing/2014/main" id="{6D137CC4-B7F5-37C6-E652-A2FB1C3BA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80844" y="1930400"/>
            <a:ext cx="3560887" cy="171812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isual Studio Code: um poderoso editor de código para qualquer ambiente |  by Marco Paulo Ollivier | Coder Club | Medium">
            <a:extLst>
              <a:ext uri="{FF2B5EF4-FFF2-40B4-BE49-F238E27FC236}">
                <a16:creationId xmlns:a16="http://schemas.microsoft.com/office/drawing/2014/main" id="{75ED00AB-5B7A-136C-E33F-12E6CFA7B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43163" y="3871782"/>
            <a:ext cx="3636249" cy="171812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D6F71B4-AA46-A8F6-D2F2-D7B3D80BC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97982" y="6082073"/>
            <a:ext cx="3913632" cy="115452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B7D137C-F26F-9A3B-CED3-5F7C9EAB8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75013"/>
            <a:ext cx="8762000" cy="55939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pt-BR" sz="28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114B84-DCDD-BF85-9AFE-2419FDDA84E9}"/>
              </a:ext>
            </a:extLst>
          </p:cNvPr>
          <p:cNvSpPr txBox="1"/>
          <p:nvPr/>
        </p:nvSpPr>
        <p:spPr>
          <a:xfrm>
            <a:off x="400720" y="3370189"/>
            <a:ext cx="7655020" cy="44394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3600" b="1" dirty="0"/>
              <a:t>Aula 01: Ambiente e comandos básicos</a:t>
            </a:r>
          </a:p>
          <a:p>
            <a:endParaRPr lang="pt-BR" sz="3600" b="1" dirty="0"/>
          </a:p>
          <a:p>
            <a:r>
              <a:rPr lang="pt-BR" sz="3600" dirty="0"/>
              <a:t>Configuração do Python e </a:t>
            </a:r>
            <a:r>
              <a:rPr lang="pt-BR" sz="3600" dirty="0" err="1"/>
              <a:t>VSCode</a:t>
            </a:r>
            <a:r>
              <a:rPr lang="pt-BR" sz="3600" dirty="0"/>
              <a:t> </a:t>
            </a:r>
          </a:p>
          <a:p>
            <a:endParaRPr lang="pt-BR" sz="3600" dirty="0"/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811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9049EA8-DD6C-CF74-4FF6-842E9A46FE32}"/>
              </a:ext>
            </a:extLst>
          </p:cNvPr>
          <p:cNvSpPr txBox="1"/>
          <p:nvPr/>
        </p:nvSpPr>
        <p:spPr>
          <a:xfrm>
            <a:off x="965200" y="2057400"/>
            <a:ext cx="13868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rgbClr val="FFC000"/>
                </a:solidFill>
              </a:rPr>
              <a:t>O QUE É </a:t>
            </a:r>
          </a:p>
          <a:p>
            <a:pPr algn="ctr"/>
            <a:r>
              <a:rPr lang="pt-BR" sz="8800" b="1" dirty="0">
                <a:solidFill>
                  <a:srgbClr val="FFC000"/>
                </a:solidFill>
              </a:rPr>
              <a:t>LÓGICA DE PROGRAMAÇÃO???</a:t>
            </a:r>
          </a:p>
        </p:txBody>
      </p:sp>
    </p:spTree>
    <p:extLst>
      <p:ext uri="{BB962C8B-B14F-4D97-AF65-F5344CB8AC3E}">
        <p14:creationId xmlns:p14="http://schemas.microsoft.com/office/powerpoint/2010/main" val="146166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>
            <a:extLst>
              <a:ext uri="{FF2B5EF4-FFF2-40B4-BE49-F238E27FC236}">
                <a16:creationId xmlns:a16="http://schemas.microsoft.com/office/drawing/2014/main" id="{7B0A5210-2F29-4D85-A400-9C79B13F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B0611BBE-2B4A-4DA2-B8A9-CD877B876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016" y="640080"/>
            <a:ext cx="14983968" cy="7863840"/>
          </a:xfrm>
          <a:prstGeom prst="rect">
            <a:avLst/>
          </a:prstGeom>
          <a:noFill/>
          <a:ln w="22225">
            <a:solidFill>
              <a:srgbClr val="F290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D5031D-2313-F547-30E2-5889C2668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9" r="-1" b="17835"/>
          <a:stretch>
            <a:fillRect/>
          </a:stretch>
        </p:blipFill>
        <p:spPr>
          <a:xfrm>
            <a:off x="857956" y="857956"/>
            <a:ext cx="14540088" cy="74280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1091950-5655-45D2-858E-FE8CBE0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73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A51B6-1531-28A4-B9A1-8BC230FA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5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016" y="640080"/>
            <a:ext cx="14983968" cy="786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5C0229B-9BA9-BAFB-3F4C-86EAC8D9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429" y="857956"/>
            <a:ext cx="13089141" cy="7428088"/>
          </a:xfrm>
          <a:prstGeom prst="rect">
            <a:avLst/>
          </a:prstGeom>
        </p:spPr>
      </p:pic>
      <p:sp>
        <p:nvSpPr>
          <p:cNvPr id="31" name="Rectangle 27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29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E791D81-1466-1A15-EC65-2B4D429B2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520117"/>
              </p:ext>
            </p:extLst>
          </p:nvPr>
        </p:nvGraphicFramePr>
        <p:xfrm>
          <a:off x="1471613" y="4208145"/>
          <a:ext cx="11928474" cy="3017520"/>
        </p:xfrm>
        <a:graphic>
          <a:graphicData uri="http://schemas.openxmlformats.org/drawingml/2006/table">
            <a:tbl>
              <a:tblPr/>
              <a:tblGrid>
                <a:gridCol w="5964237">
                  <a:extLst>
                    <a:ext uri="{9D8B030D-6E8A-4147-A177-3AD203B41FA5}">
                      <a16:colId xmlns:a16="http://schemas.microsoft.com/office/drawing/2014/main" val="211511605"/>
                    </a:ext>
                  </a:extLst>
                </a:gridCol>
                <a:gridCol w="5964237">
                  <a:extLst>
                    <a:ext uri="{9D8B030D-6E8A-4147-A177-3AD203B41FA5}">
                      <a16:colId xmlns:a16="http://schemas.microsoft.com/office/drawing/2014/main" val="34995038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>
                          <a:solidFill>
                            <a:srgbClr val="FFC000"/>
                          </a:solidFill>
                          <a:latin typeface="Courier New" panose="02070309020205020404" pitchFamily="49" charset="0"/>
                        </a:rPr>
                        <a:t>+</a:t>
                      </a:r>
                      <a:endParaRPr lang="pt-BR" sz="280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>
                          <a:solidFill>
                            <a:srgbClr val="FFC000"/>
                          </a:solidFill>
                          <a:latin typeface="Courier New" panose="02070309020205020404" pitchFamily="49" charset="0"/>
                        </a:rPr>
                        <a:t>,</a:t>
                      </a:r>
                      <a:endParaRPr lang="pt-BR" sz="2800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2760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Junta strings (concatena)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Passa vários valores para o 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4213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Precisa converter números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Não precisa converter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53972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Não adiciona espaços automaticamente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Adiciona espaços automaticamente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787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Mais rígido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Mais flexível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21396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3A21BFE-8400-20B6-9E7C-819D0CE5D77F}"/>
              </a:ext>
            </a:extLst>
          </p:cNvPr>
          <p:cNvSpPr txBox="1"/>
          <p:nvPr/>
        </p:nvSpPr>
        <p:spPr>
          <a:xfrm>
            <a:off x="1471613" y="2286000"/>
            <a:ext cx="125999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Em Python, </a:t>
            </a:r>
            <a:r>
              <a:rPr lang="pt-BR" sz="2800" b="1" dirty="0">
                <a:solidFill>
                  <a:srgbClr val="FFC000"/>
                </a:solidFill>
                <a:latin typeface="Courier New" panose="02070309020205020404" pitchFamily="49" charset="0"/>
              </a:rPr>
              <a:t>,</a:t>
            </a:r>
            <a:r>
              <a:rPr lang="pt-BR" sz="2800" b="1" dirty="0">
                <a:solidFill>
                  <a:srgbClr val="FFC000"/>
                </a:solidFill>
              </a:rPr>
              <a:t> (vírgula)</a:t>
            </a:r>
            <a:r>
              <a:rPr lang="pt-BR" sz="2800" dirty="0">
                <a:solidFill>
                  <a:srgbClr val="FFC000"/>
                </a:solidFill>
              </a:rPr>
              <a:t> </a:t>
            </a:r>
            <a:r>
              <a:rPr lang="pt-BR" sz="2800" dirty="0"/>
              <a:t>e </a:t>
            </a:r>
            <a:r>
              <a:rPr lang="pt-BR" sz="2800" b="1" dirty="0">
                <a:solidFill>
                  <a:srgbClr val="FFC000"/>
                </a:solidFill>
                <a:latin typeface="Courier New" panose="02070309020205020404" pitchFamily="49" charset="0"/>
              </a:rPr>
              <a:t>+</a:t>
            </a:r>
            <a:r>
              <a:rPr lang="pt-BR" sz="2800" b="1" dirty="0">
                <a:solidFill>
                  <a:srgbClr val="FFC000"/>
                </a:solidFill>
              </a:rPr>
              <a:t> (mais)</a:t>
            </a:r>
            <a:r>
              <a:rPr lang="pt-BR" sz="2800" dirty="0">
                <a:solidFill>
                  <a:srgbClr val="FFC000"/>
                </a:solidFill>
              </a:rPr>
              <a:t> </a:t>
            </a:r>
            <a:r>
              <a:rPr lang="pt-BR" sz="2800" dirty="0"/>
              <a:t>podem ser usados para “juntar” informações no </a:t>
            </a:r>
            <a:r>
              <a:rPr lang="pt-BR" sz="2800" dirty="0">
                <a:latin typeface="Courier New" panose="02070309020205020404" pitchFamily="49" charset="0"/>
              </a:rPr>
              <a:t>print()</a:t>
            </a:r>
            <a:r>
              <a:rPr lang="pt-BR" sz="2800" dirty="0"/>
              <a:t>, mas funcionam de formas bem diferentes.</a:t>
            </a:r>
          </a:p>
        </p:txBody>
      </p:sp>
    </p:spTree>
    <p:extLst>
      <p:ext uri="{BB962C8B-B14F-4D97-AF65-F5344CB8AC3E}">
        <p14:creationId xmlns:p14="http://schemas.microsoft.com/office/powerpoint/2010/main" val="3609634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24B4F6D-FED0-F303-8A94-1CB15AED0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057400"/>
            <a:ext cx="12496800" cy="536742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445DE67-623F-A914-F42C-33646F5EF7F2}"/>
              </a:ext>
            </a:extLst>
          </p:cNvPr>
          <p:cNvSpPr txBox="1"/>
          <p:nvPr/>
        </p:nvSpPr>
        <p:spPr>
          <a:xfrm>
            <a:off x="938213" y="1192908"/>
            <a:ext cx="12599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Criar esse arquivo </a:t>
            </a:r>
            <a:r>
              <a:rPr lang="pt-BR" sz="2800" dirty="0">
                <a:solidFill>
                  <a:srgbClr val="FFC000"/>
                </a:solidFill>
              </a:rPr>
              <a:t>concatenação.py </a:t>
            </a:r>
            <a:r>
              <a:rPr lang="pt-BR" sz="2800" dirty="0"/>
              <a:t>e testar esse código...</a:t>
            </a:r>
          </a:p>
        </p:txBody>
      </p:sp>
    </p:spTree>
    <p:extLst>
      <p:ext uri="{BB962C8B-B14F-4D97-AF65-F5344CB8AC3E}">
        <p14:creationId xmlns:p14="http://schemas.microsoft.com/office/powerpoint/2010/main" val="404154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7F4E21-4252-34F2-584E-C691C404CC81}"/>
              </a:ext>
            </a:extLst>
          </p:cNvPr>
          <p:cNvSpPr txBox="1"/>
          <p:nvPr/>
        </p:nvSpPr>
        <p:spPr>
          <a:xfrm>
            <a:off x="8989477" y="839021"/>
            <a:ext cx="4410325" cy="21893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Variáveis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Python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A4C304C-27D4-B45D-E6DC-5C7C909E5C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2244" b="-1"/>
          <a:stretch>
            <a:fillRect/>
          </a:stretch>
        </p:blipFill>
        <p:spPr>
          <a:xfrm>
            <a:off x="-2" y="10"/>
            <a:ext cx="8125875" cy="914399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55376F-32E5-A0D6-B7AA-86FB6B51C6B6}"/>
              </a:ext>
            </a:extLst>
          </p:cNvPr>
          <p:cNvSpPr txBox="1"/>
          <p:nvPr/>
        </p:nvSpPr>
        <p:spPr>
          <a:xfrm>
            <a:off x="8403193" y="2621263"/>
            <a:ext cx="7467600" cy="5079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b="1" dirty="0">
                <a:latin typeface="+mj-lt"/>
                <a:ea typeface="+mj-ea"/>
                <a:cs typeface="+mj-cs"/>
              </a:rPr>
              <a:t>O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que</a:t>
            </a:r>
            <a:r>
              <a:rPr lang="en-US" sz="2000" b="1" dirty="0"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são</a:t>
            </a:r>
            <a:r>
              <a:rPr lang="en-US" sz="2000" b="1" dirty="0"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Variáveis</a:t>
            </a:r>
            <a:r>
              <a:rPr lang="en-US" sz="2000" b="1" dirty="0">
                <a:latin typeface="+mj-lt"/>
                <a:ea typeface="+mj-ea"/>
                <a:cs typeface="+mj-cs"/>
              </a:rPr>
              <a:t>?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São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espaços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memória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computador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Usadas para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armazenar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dados 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Podem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mudar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durante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execução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programa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Cada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variável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possui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um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nome</a:t>
            </a:r>
            <a:endParaRPr lang="pt-BR" altLang="pt-BR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marL="285750" lvl="0" indent="-285750" fontAlgn="base">
              <a:spcBef>
                <a:spcPts val="1000"/>
              </a:spcBef>
              <a:spcAft>
                <a:spcPct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altLang="pt-BR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Python é dinamicamente </a:t>
            </a:r>
            <a:r>
              <a:rPr lang="pt-BR" altLang="pt-BR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tipado</a:t>
            </a:r>
            <a:r>
              <a:rPr lang="pt-BR" altLang="pt-BR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(não precisa declarar tipo)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b="1" dirty="0"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b="1" dirty="0">
              <a:latin typeface="+mj-lt"/>
              <a:ea typeface="+mj-ea"/>
              <a:cs typeface="+mj-c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5743203-850E-1B3D-4FAE-FE81EEBAEDFE}"/>
              </a:ext>
            </a:extLst>
          </p:cNvPr>
          <p:cNvSpPr txBox="1"/>
          <p:nvPr/>
        </p:nvSpPr>
        <p:spPr>
          <a:xfrm>
            <a:off x="8408273" y="6049903"/>
            <a:ext cx="812596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Regras de nomenclatura (nomes de variáveis)</a:t>
            </a:r>
          </a:p>
          <a:p>
            <a:pPr>
              <a:buNone/>
            </a:pPr>
            <a:endParaRPr lang="pt-BR" sz="2000" b="1" dirty="0"/>
          </a:p>
          <a:p>
            <a:pPr>
              <a:buNone/>
            </a:pPr>
            <a:r>
              <a:rPr lang="pt-BR" dirty="0"/>
              <a:t>✔ Devem começar com letra ou </a:t>
            </a:r>
            <a:r>
              <a:rPr lang="pt-BR" dirty="0">
                <a:latin typeface="Courier New" panose="02070309020205020404" pitchFamily="49" charset="0"/>
              </a:rPr>
              <a:t>_</a:t>
            </a:r>
            <a:br>
              <a:rPr lang="pt-BR" dirty="0"/>
            </a:br>
            <a:r>
              <a:rPr lang="pt-BR" dirty="0"/>
              <a:t>✔ Não podem começar com números</a:t>
            </a:r>
            <a:br>
              <a:rPr lang="pt-BR" dirty="0"/>
            </a:br>
            <a:r>
              <a:rPr lang="pt-BR" dirty="0"/>
              <a:t>✔ Não podem conter espaços</a:t>
            </a:r>
            <a:br>
              <a:rPr lang="pt-BR" dirty="0"/>
            </a:br>
            <a:r>
              <a:rPr lang="pt-BR" dirty="0"/>
              <a:t>✔ Não podem usar caracteres especiais (@, !, %, etc.)</a:t>
            </a:r>
            <a:br>
              <a:rPr lang="pt-BR" dirty="0"/>
            </a:br>
            <a:r>
              <a:rPr lang="pt-BR" dirty="0"/>
              <a:t>✔ Python diferencia maiúsculas e minúsculas</a:t>
            </a:r>
            <a:br>
              <a:rPr lang="pt-BR" dirty="0"/>
            </a:br>
            <a:r>
              <a:rPr lang="pt-BR" dirty="0"/>
              <a:t>✔ Não podem ser palavras reservadas (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if</a:t>
            </a:r>
            <a:r>
              <a:rPr lang="pt-BR" dirty="0"/>
              <a:t>, </a:t>
            </a:r>
            <a:r>
              <a:rPr lang="pt-BR" dirty="0" err="1"/>
              <a:t>while</a:t>
            </a:r>
            <a:r>
              <a:rPr lang="pt-BR" dirty="0"/>
              <a:t>, print)</a:t>
            </a:r>
          </a:p>
        </p:txBody>
      </p:sp>
    </p:spTree>
    <p:extLst>
      <p:ext uri="{BB962C8B-B14F-4D97-AF65-F5344CB8AC3E}">
        <p14:creationId xmlns:p14="http://schemas.microsoft.com/office/powerpoint/2010/main" val="89194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088EA60-2B23-BA9D-78A2-6486B684B1DC}"/>
              </a:ext>
            </a:extLst>
          </p:cNvPr>
          <p:cNvSpPr txBox="1"/>
          <p:nvPr/>
        </p:nvSpPr>
        <p:spPr>
          <a:xfrm>
            <a:off x="508000" y="1066800"/>
            <a:ext cx="8128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Tipos de Dados em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24FBE1-1C08-FFC5-5F8B-BDB3DB41CA5E}"/>
              </a:ext>
            </a:extLst>
          </p:cNvPr>
          <p:cNvSpPr txBox="1"/>
          <p:nvPr/>
        </p:nvSpPr>
        <p:spPr>
          <a:xfrm>
            <a:off x="510032" y="2208091"/>
            <a:ext cx="113517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Tipos Numéricos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int</a:t>
            </a:r>
            <a:r>
              <a:rPr lang="pt-BR" sz="2000" b="1" dirty="0"/>
              <a:t> → números inteiros (</a:t>
            </a:r>
            <a:r>
              <a:rPr lang="pt-BR" sz="2000" b="1" dirty="0" err="1">
                <a:solidFill>
                  <a:srgbClr val="FFC000"/>
                </a:solidFill>
              </a:rPr>
              <a:t>ex</a:t>
            </a:r>
            <a:r>
              <a:rPr lang="pt-BR" sz="2000" b="1" dirty="0">
                <a:solidFill>
                  <a:srgbClr val="FFC000"/>
                </a:solidFill>
              </a:rPr>
              <a:t>: 10, -5</a:t>
            </a:r>
            <a:r>
              <a:rPr lang="pt-BR" sz="2000" b="1" dirty="0"/>
              <a:t>) - </a:t>
            </a:r>
            <a:r>
              <a:rPr lang="pt-BR" sz="2000" dirty="0"/>
              <a:t>Não tem limite fixo definido</a:t>
            </a: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float</a:t>
            </a:r>
            <a:r>
              <a:rPr lang="pt-BR" sz="2000" b="1" dirty="0"/>
              <a:t> → números decimais (</a:t>
            </a:r>
            <a:r>
              <a:rPr lang="pt-BR" sz="2000" b="1" dirty="0" err="1">
                <a:solidFill>
                  <a:srgbClr val="FFC000"/>
                </a:solidFill>
              </a:rPr>
              <a:t>ex</a:t>
            </a:r>
            <a:r>
              <a:rPr lang="pt-BR" sz="2000" b="1" dirty="0">
                <a:solidFill>
                  <a:srgbClr val="FFC000"/>
                </a:solidFill>
              </a:rPr>
              <a:t>: 3.14</a:t>
            </a:r>
            <a:r>
              <a:rPr lang="pt-BR" sz="2000" b="1" dirty="0"/>
              <a:t>) - </a:t>
            </a:r>
            <a:r>
              <a:rPr lang="pt-BR" sz="2000" dirty="0"/>
              <a:t>Precisão: cerca de </a:t>
            </a:r>
            <a:r>
              <a:rPr lang="pt-BR" sz="2000" b="1" dirty="0"/>
              <a:t>15 a 17 dígitos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complex</a:t>
            </a:r>
            <a:r>
              <a:rPr lang="pt-BR" sz="2000" b="1" dirty="0"/>
              <a:t> → números complexos (</a:t>
            </a:r>
            <a:r>
              <a:rPr lang="pt-BR" sz="2000" b="1" dirty="0" err="1">
                <a:solidFill>
                  <a:srgbClr val="FFC000"/>
                </a:solidFill>
              </a:rPr>
              <a:t>ex</a:t>
            </a:r>
            <a:r>
              <a:rPr lang="pt-BR" sz="2000" b="1" dirty="0">
                <a:solidFill>
                  <a:srgbClr val="FFC000"/>
                </a:solidFill>
              </a:rPr>
              <a:t>: 2 + 3j</a:t>
            </a:r>
            <a:r>
              <a:rPr lang="pt-BR" sz="2000" b="1" dirty="0"/>
              <a:t>)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120FAFF-0020-2BCF-F427-D0590D7A6D16}"/>
              </a:ext>
            </a:extLst>
          </p:cNvPr>
          <p:cNvSpPr txBox="1"/>
          <p:nvPr/>
        </p:nvSpPr>
        <p:spPr>
          <a:xfrm>
            <a:off x="7975600" y="5968663"/>
            <a:ext cx="81259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Quando usar </a:t>
            </a: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complex</a:t>
            </a:r>
            <a:r>
              <a:rPr lang="pt-BR" sz="2000" b="1" dirty="0"/>
              <a:t>?</a:t>
            </a:r>
          </a:p>
          <a:p>
            <a:pPr>
              <a:buNone/>
            </a:pPr>
            <a:r>
              <a:rPr lang="pt-BR" sz="2000" b="1" dirty="0"/>
              <a:t>Você usa números complexos quando trabalha com cálculos mais avançados, como: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 Engenharia elétrica </a:t>
            </a:r>
            <a:r>
              <a:rPr lang="pt-BR" sz="2000" b="1" dirty="0">
                <a:solidFill>
                  <a:srgbClr val="FFC000"/>
                </a:solidFill>
              </a:rPr>
              <a:t>(análise de circuitos)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 Sinais e ondas </a:t>
            </a:r>
            <a:r>
              <a:rPr lang="pt-BR" sz="2000" b="1" dirty="0">
                <a:solidFill>
                  <a:srgbClr val="FFC000"/>
                </a:solidFill>
              </a:rPr>
              <a:t>(frequência)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 Matemática avançada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 Algumas áreas de gráficos e simulações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6A9DDF18-C212-354C-6F07-37F9410AB671}"/>
              </a:ext>
            </a:extLst>
          </p:cNvPr>
          <p:cNvCxnSpPr>
            <a:cxnSpLocks/>
          </p:cNvCxnSpPr>
          <p:nvPr/>
        </p:nvCxnSpPr>
        <p:spPr>
          <a:xfrm>
            <a:off x="5994400" y="4330550"/>
            <a:ext cx="3962400" cy="163811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m 18">
            <a:extLst>
              <a:ext uri="{FF2B5EF4-FFF2-40B4-BE49-F238E27FC236}">
                <a16:creationId xmlns:a16="http://schemas.microsoft.com/office/drawing/2014/main" id="{0D111549-EE8E-DD43-4629-D9E5BD843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26" y="5486400"/>
            <a:ext cx="656087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8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2D91-E2B8-102B-F1EC-09F16B9F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9BB3624-03BE-2A41-623A-169FCE95F548}"/>
              </a:ext>
            </a:extLst>
          </p:cNvPr>
          <p:cNvSpPr txBox="1"/>
          <p:nvPr/>
        </p:nvSpPr>
        <p:spPr>
          <a:xfrm>
            <a:off x="508000" y="1066800"/>
            <a:ext cx="8128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Tipos de Dados em Python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B8EFAD2-E4D4-EEF9-D98D-65A99114B886}"/>
              </a:ext>
            </a:extLst>
          </p:cNvPr>
          <p:cNvSpPr txBox="1"/>
          <p:nvPr/>
        </p:nvSpPr>
        <p:spPr>
          <a:xfrm>
            <a:off x="584200" y="2667000"/>
            <a:ext cx="81259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Tipo Texto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str</a:t>
            </a:r>
            <a:r>
              <a:rPr lang="pt-BR" sz="2000" b="1" dirty="0"/>
              <a:t> → cadeias de caracteres </a:t>
            </a:r>
            <a:r>
              <a:rPr lang="pt-BR" sz="2000" b="1" dirty="0">
                <a:solidFill>
                  <a:srgbClr val="FFC000"/>
                </a:solidFill>
              </a:rPr>
              <a:t>(</a:t>
            </a:r>
            <a:r>
              <a:rPr lang="pt-BR" sz="2000" b="1" dirty="0" err="1">
                <a:solidFill>
                  <a:srgbClr val="FFC000"/>
                </a:solidFill>
              </a:rPr>
              <a:t>ex</a:t>
            </a:r>
            <a:r>
              <a:rPr lang="pt-BR" sz="2000" b="1" dirty="0">
                <a:solidFill>
                  <a:srgbClr val="FFC000"/>
                </a:solidFill>
              </a:rPr>
              <a:t>: "Olá")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EC5AA34-2123-A2C3-D5D6-552B052DB6FC}"/>
              </a:ext>
            </a:extLst>
          </p:cNvPr>
          <p:cNvSpPr txBox="1"/>
          <p:nvPr/>
        </p:nvSpPr>
        <p:spPr>
          <a:xfrm>
            <a:off x="7508240" y="2564993"/>
            <a:ext cx="81259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Tipo Booleano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bool</a:t>
            </a:r>
            <a:r>
              <a:rPr lang="pt-BR" sz="2000" b="1" dirty="0"/>
              <a:t> → valores lógicos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True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FFC000"/>
                </a:solidFill>
                <a:latin typeface="Courier New" panose="02070309020205020404" pitchFamily="49" charset="0"/>
              </a:rPr>
              <a:t>False</a:t>
            </a:r>
            <a:endParaRPr lang="pt-BR" sz="2000" b="1" dirty="0">
              <a:solidFill>
                <a:srgbClr val="FFC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9D1B08-0667-CAA4-5CD9-04CADDCF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6" y="4919162"/>
            <a:ext cx="10439400" cy="374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9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0960A-368C-8A53-977C-7E32C673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0B13FF8-2B3C-4BC1-B3E4-254B3F8C3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FB78228-B47D-6050-C552-B52FC70D8312}"/>
              </a:ext>
            </a:extLst>
          </p:cNvPr>
          <p:cNvSpPr txBox="1"/>
          <p:nvPr/>
        </p:nvSpPr>
        <p:spPr>
          <a:xfrm>
            <a:off x="846964" y="839021"/>
            <a:ext cx="4155586" cy="7459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4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Variáveis</a:t>
            </a:r>
            <a:endParaRPr lang="en-US" sz="64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8" name="Freeform 7">
            <a:extLst>
              <a:ext uri="{FF2B5EF4-FFF2-40B4-BE49-F238E27FC236}">
                <a16:creationId xmlns:a16="http://schemas.microsoft.com/office/drawing/2014/main" id="{B9C1207E-FFD8-4821-AFE6-71C72436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146" y="-1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Freeform: Shape 59">
            <a:extLst>
              <a:ext uri="{FF2B5EF4-FFF2-40B4-BE49-F238E27FC236}">
                <a16:creationId xmlns:a16="http://schemas.microsoft.com/office/drawing/2014/main" id="{2B199503-2632-490F-8EB2-759D887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330207" y="-781793"/>
            <a:ext cx="9144001" cy="1070758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11C7CB4-0228-486A-931A-262ABB67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FAFD16-AAA9-D70F-970A-57F3E534471C}"/>
              </a:ext>
            </a:extLst>
          </p:cNvPr>
          <p:cNvSpPr txBox="1"/>
          <p:nvPr/>
        </p:nvSpPr>
        <p:spPr>
          <a:xfrm>
            <a:off x="6731269" y="1880612"/>
            <a:ext cx="8661129" cy="2513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b="1" dirty="0">
                <a:latin typeface="+mj-lt"/>
                <a:ea typeface="+mj-ea"/>
                <a:cs typeface="+mj-cs"/>
              </a:rPr>
              <a:t>Boas práticas de nomes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b="1" dirty="0">
                <a:latin typeface="+mj-lt"/>
                <a:ea typeface="+mj-ea"/>
                <a:cs typeface="+mj-cs"/>
              </a:rPr>
              <a:t>✔ Usar nomes descritivos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br>
              <a:rPr lang="en-US" b="1" dirty="0">
                <a:latin typeface="+mj-lt"/>
                <a:ea typeface="+mj-ea"/>
                <a:cs typeface="+mj-cs"/>
              </a:rPr>
            </a:br>
            <a:r>
              <a:rPr lang="en-US" b="1" dirty="0">
                <a:latin typeface="+mj-lt"/>
                <a:ea typeface="+mj-ea"/>
                <a:cs typeface="+mj-cs"/>
              </a:rPr>
              <a:t>✔ Usar 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snake_case </a:t>
            </a:r>
            <a:r>
              <a:rPr lang="en-US" b="1" dirty="0">
                <a:latin typeface="+mj-lt"/>
                <a:ea typeface="+mj-ea"/>
                <a:cs typeface="+mj-cs"/>
              </a:rPr>
              <a:t>(padrão Python)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br>
              <a:rPr lang="en-US" b="1" dirty="0">
                <a:latin typeface="+mj-lt"/>
                <a:ea typeface="+mj-ea"/>
                <a:cs typeface="+mj-cs"/>
              </a:rPr>
            </a:br>
            <a:r>
              <a:rPr lang="en-US" b="1" dirty="0">
                <a:latin typeface="+mj-lt"/>
                <a:ea typeface="+mj-ea"/>
                <a:cs typeface="+mj-cs"/>
              </a:rPr>
              <a:t>✔ Evitar abreviações confusas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BB7675-CDF7-CB61-7C6B-FA2816734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269" y="4749860"/>
            <a:ext cx="8661129" cy="322627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94476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4485E-99E9-6C0F-77E7-251F3DE0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21EA20D-57C7-C0B1-9A3A-7934AAFF7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4AD721-22FE-8296-7AFB-6DE042427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8BB9411-21A1-D076-7272-61D0B3D09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CCF79B4-5017-8054-2A16-C37D104E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42EF07-66EC-A70C-AEF6-EACED835E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5C25B32-EB48-A9C4-9260-8573A1DA0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1C19FA-079C-E892-36C3-D5A86949CED5}"/>
              </a:ext>
            </a:extLst>
          </p:cNvPr>
          <p:cNvSpPr txBox="1"/>
          <p:nvPr/>
        </p:nvSpPr>
        <p:spPr>
          <a:xfrm>
            <a:off x="385207" y="1382965"/>
            <a:ext cx="7183797" cy="21893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Constantes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Python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88D673-2D1E-C655-1B7E-35DDEBC82E15}"/>
              </a:ext>
            </a:extLst>
          </p:cNvPr>
          <p:cNvSpPr txBox="1"/>
          <p:nvPr/>
        </p:nvSpPr>
        <p:spPr>
          <a:xfrm>
            <a:off x="7954211" y="3454401"/>
            <a:ext cx="8058300" cy="5079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b="1" dirty="0">
                <a:latin typeface="+mj-lt"/>
                <a:ea typeface="+mj-ea"/>
                <a:cs typeface="+mj-cs"/>
              </a:rPr>
              <a:t>O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que</a:t>
            </a:r>
            <a:r>
              <a:rPr lang="en-US" sz="2000" b="1" dirty="0"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são</a:t>
            </a:r>
            <a:r>
              <a:rPr lang="en-US" sz="2000" b="1" dirty="0"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Constantes</a:t>
            </a:r>
            <a:r>
              <a:rPr lang="en-US" sz="2000" b="1" dirty="0">
                <a:latin typeface="+mj-lt"/>
                <a:ea typeface="+mj-ea"/>
                <a:cs typeface="+mj-cs"/>
              </a:rPr>
              <a:t>?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São valores que não deveriam ser alterados durante o programa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Python não possui constantes reais (apenas por convenção)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Usa-se letras maiúsculas para indicar constantes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Exemplo: </a:t>
            </a:r>
            <a:r>
              <a:rPr lang="pt-BR" b="1" dirty="0"/>
              <a:t>PI = 3.14, MAX_USUARIOS = 100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O Python permite alterar esses valores mesmo assim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São usadas para representar dados fixos no programa</a:t>
            </a:r>
            <a:endParaRPr lang="en-US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A69811-7DCC-A86D-8B85-373618E7B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797" y="4923262"/>
            <a:ext cx="7286239" cy="315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61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5D5AA8-773B-469A-8802-9645A4DC9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4534E1-9354-C852-BB47-F4E7F4378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871" y="857956"/>
            <a:ext cx="11128222" cy="7428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75AF42C-C556-454E-B2D3-2C917CB81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094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7B9B4-C7C9-D633-89B7-E67204C8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307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3081" name="Picture 308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3083" name="Oval 308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3085" name="Picture 308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3087" name="Picture 308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3089" name="Rectangle 308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49076D5E-68ED-4CD1-A04F-E7934EBFA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21BE0A6B-EBF8-4301-B1AE-F6A1C4003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408" y="0"/>
            <a:ext cx="10070592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95" name="Rounded Rectangle 9">
            <a:extLst>
              <a:ext uri="{FF2B5EF4-FFF2-40B4-BE49-F238E27FC236}">
                <a16:creationId xmlns:a16="http://schemas.microsoft.com/office/drawing/2014/main" id="{03C06118-B3FE-4B51-80A1-B82C2E9F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584" y="646176"/>
            <a:ext cx="8778797" cy="7652249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GitHub - rbolsoni/Resolucao-exercicios-python-Udemy: Resolução dos  exercícios do curso de programação em Python - Do básico ao avançado - Geek  Academy - Udemy · GitHub">
            <a:extLst>
              <a:ext uri="{FF2B5EF4-FFF2-40B4-BE49-F238E27FC236}">
                <a16:creationId xmlns:a16="http://schemas.microsoft.com/office/drawing/2014/main" id="{740D4CEE-0CCD-69AA-FA37-F49E77926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7758" y="2354933"/>
            <a:ext cx="7486447" cy="422984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7" name="Rectangle 3096">
            <a:extLst>
              <a:ext uri="{FF2B5EF4-FFF2-40B4-BE49-F238E27FC236}">
                <a16:creationId xmlns:a16="http://schemas.microsoft.com/office/drawing/2014/main" id="{172BE3F8-96D6-4535-9AE4-694DC4F5B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23264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FC9D4DE-C96C-6351-25B8-A5CAEC030CB4}"/>
              </a:ext>
            </a:extLst>
          </p:cNvPr>
          <p:cNvSpPr txBox="1"/>
          <p:nvPr/>
        </p:nvSpPr>
        <p:spPr>
          <a:xfrm>
            <a:off x="328358" y="646176"/>
            <a:ext cx="6036050" cy="8108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Capítulo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1: 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Atividade01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Crie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um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programa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Pergunte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usuário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Nome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Idade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Cidade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FFFF"/>
                </a:solidFill>
              </a:rPr>
              <a:t> - </a:t>
            </a:r>
            <a:r>
              <a:rPr lang="en-US" sz="8000" b="1" dirty="0">
                <a:solidFill>
                  <a:srgbClr val="FFC000"/>
                </a:solidFill>
              </a:rPr>
              <a:t>Salve o </a:t>
            </a:r>
            <a:r>
              <a:rPr lang="en-US" sz="8000" b="1" dirty="0" err="1">
                <a:solidFill>
                  <a:srgbClr val="FFC000"/>
                </a:solidFill>
              </a:rPr>
              <a:t>arquivo</a:t>
            </a:r>
            <a:r>
              <a:rPr lang="en-US" sz="8000" b="1" dirty="0">
                <a:solidFill>
                  <a:srgbClr val="FFC000"/>
                </a:solidFill>
              </a:rPr>
              <a:t> com o </a:t>
            </a:r>
            <a:r>
              <a:rPr lang="en-US" sz="8000" b="1" dirty="0" err="1">
                <a:solidFill>
                  <a:srgbClr val="FFC000"/>
                </a:solidFill>
              </a:rPr>
              <a:t>nome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>
                <a:solidFill>
                  <a:schemeClr val="bg1"/>
                </a:solidFill>
              </a:rPr>
              <a:t>cap1_atv01.py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FFFF"/>
                </a:solidFill>
              </a:rPr>
              <a:t> - </a:t>
            </a:r>
            <a:r>
              <a:rPr lang="en-US" sz="8000" b="1" dirty="0" err="1">
                <a:solidFill>
                  <a:srgbClr val="FFC000"/>
                </a:solidFill>
              </a:rPr>
              <a:t>Exiba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uma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mensagem</a:t>
            </a:r>
            <a:r>
              <a:rPr lang="en-US" sz="8000" b="1" dirty="0">
                <a:solidFill>
                  <a:srgbClr val="FFC000"/>
                </a:solidFill>
              </a:rPr>
              <a:t> final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C000"/>
                </a:solidFill>
              </a:rPr>
              <a:t> - Use </a:t>
            </a:r>
            <a:r>
              <a:rPr lang="en-US" sz="8000" b="1" dirty="0" err="1">
                <a:solidFill>
                  <a:srgbClr val="FFC000"/>
                </a:solidFill>
              </a:rPr>
              <a:t>comentários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explicando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cada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parte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esperado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Olá João!</a:t>
            </a:r>
            <a:b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</a:b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Você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tem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20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anos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e mora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São Paulo.</a:t>
            </a:r>
            <a:b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</a:b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Bem-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vindo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ao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mundo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da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programação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Python!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226ECD-DCBE-3F3E-6582-648FA8F20087}"/>
              </a:ext>
            </a:extLst>
          </p:cNvPr>
          <p:cNvSpPr txBox="1"/>
          <p:nvPr/>
        </p:nvSpPr>
        <p:spPr>
          <a:xfrm>
            <a:off x="194714" y="760938"/>
            <a:ext cx="7655020" cy="44394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6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8512E9D-47E9-2AA4-721A-CA381EB0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75013"/>
            <a:ext cx="8762000" cy="55939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pt-BR" sz="28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8311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09ED3A-F973-7826-5B48-A275B115C943}"/>
              </a:ext>
            </a:extLst>
          </p:cNvPr>
          <p:cNvSpPr txBox="1"/>
          <p:nvPr/>
        </p:nvSpPr>
        <p:spPr>
          <a:xfrm>
            <a:off x="9357630" y="3434442"/>
            <a:ext cx="6128644" cy="13607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72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Atividade</a:t>
            </a:r>
            <a:r>
              <a:rPr lang="en-US" sz="7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01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66194" y="-1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25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91947" y="-91947"/>
            <a:ext cx="9144001" cy="9327891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BABB47-BC8C-A5F8-2884-2BA120C217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91" y="2159000"/>
            <a:ext cx="7267409" cy="48509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87592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1C2ED-A286-7F9E-1641-E303A3D8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3078">
            <a:extLst>
              <a:ext uri="{FF2B5EF4-FFF2-40B4-BE49-F238E27FC236}">
                <a16:creationId xmlns:a16="http://schemas.microsoft.com/office/drawing/2014/main" id="{75549318-7EFA-F472-ED6A-51A1B9687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3081" name="Picture 3080">
            <a:extLst>
              <a:ext uri="{FF2B5EF4-FFF2-40B4-BE49-F238E27FC236}">
                <a16:creationId xmlns:a16="http://schemas.microsoft.com/office/drawing/2014/main" id="{21C68C59-9A9F-1748-8AB1-D246FE4B5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3083" name="Oval 3082">
            <a:extLst>
              <a:ext uri="{FF2B5EF4-FFF2-40B4-BE49-F238E27FC236}">
                <a16:creationId xmlns:a16="http://schemas.microsoft.com/office/drawing/2014/main" id="{DFF9001F-F3BE-03FE-EDE4-CD855C439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3085" name="Picture 3084">
            <a:extLst>
              <a:ext uri="{FF2B5EF4-FFF2-40B4-BE49-F238E27FC236}">
                <a16:creationId xmlns:a16="http://schemas.microsoft.com/office/drawing/2014/main" id="{7ACB3C2A-F074-A7C4-BD04-C617BC59D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3087" name="Picture 3086">
            <a:extLst>
              <a:ext uri="{FF2B5EF4-FFF2-40B4-BE49-F238E27FC236}">
                <a16:creationId xmlns:a16="http://schemas.microsoft.com/office/drawing/2014/main" id="{66482DCB-DE19-C0B8-2A13-8F4562A93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3089" name="Rectangle 3088">
            <a:extLst>
              <a:ext uri="{FF2B5EF4-FFF2-40B4-BE49-F238E27FC236}">
                <a16:creationId xmlns:a16="http://schemas.microsoft.com/office/drawing/2014/main" id="{B0E38C02-9CA1-662D-996F-22153A59D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90EBE168-55F3-9706-D92E-22FE6A173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25B21A62-1946-875A-DF65-BF6C7E19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408" y="0"/>
            <a:ext cx="10070592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95" name="Rounded Rectangle 9">
            <a:extLst>
              <a:ext uri="{FF2B5EF4-FFF2-40B4-BE49-F238E27FC236}">
                <a16:creationId xmlns:a16="http://schemas.microsoft.com/office/drawing/2014/main" id="{590C26AA-23A4-FDAE-7C81-83A8B8E75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584" y="646176"/>
            <a:ext cx="8778797" cy="7652249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GitHub - rbolsoni/Resolucao-exercicios-python-Udemy: Resolução dos  exercícios do curso de programação em Python - Do básico ao avançado - Geek  Academy - Udemy · GitHub">
            <a:extLst>
              <a:ext uri="{FF2B5EF4-FFF2-40B4-BE49-F238E27FC236}">
                <a16:creationId xmlns:a16="http://schemas.microsoft.com/office/drawing/2014/main" id="{90E276CA-D3DC-2630-8B77-8DF9F5185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7758" y="2354933"/>
            <a:ext cx="7486447" cy="422984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7" name="Rectangle 3096">
            <a:extLst>
              <a:ext uri="{FF2B5EF4-FFF2-40B4-BE49-F238E27FC236}">
                <a16:creationId xmlns:a16="http://schemas.microsoft.com/office/drawing/2014/main" id="{8BBF0B65-CE32-EA97-9752-B9A344BA4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23264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018FD31-70A1-569C-0C72-DD0C1064C543}"/>
              </a:ext>
            </a:extLst>
          </p:cNvPr>
          <p:cNvSpPr txBox="1"/>
          <p:nvPr/>
        </p:nvSpPr>
        <p:spPr>
          <a:xfrm>
            <a:off x="215939" y="760938"/>
            <a:ext cx="5969469" cy="8108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Capítulo 1: </a:t>
            </a: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Atividade 02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pt-BR" sz="24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Crie um programa que: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pt-BR" sz="2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Solicite ao usuário dois números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Realize a soma desses números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</a:rPr>
              <a:t>Utilize variáveis para armazenar os valores informados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Exiba o resultado da soma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Salve o arquivo com o nome </a:t>
            </a:r>
            <a:r>
              <a:rPr lang="pt-BR" sz="2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cap02_atv01.py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pt-BR" sz="2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6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A755B3-C4AB-BFB7-5127-F16C34ADD288}"/>
              </a:ext>
            </a:extLst>
          </p:cNvPr>
          <p:cNvSpPr txBox="1"/>
          <p:nvPr/>
        </p:nvSpPr>
        <p:spPr>
          <a:xfrm>
            <a:off x="194714" y="760938"/>
            <a:ext cx="7655020" cy="44394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6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5D91EE-DF4B-A8B7-5500-65F86B7A4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75013"/>
            <a:ext cx="8762000" cy="55939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pt-BR" sz="28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4FD64A-425C-1C63-7C3D-E7B86B83EA36}"/>
              </a:ext>
            </a:extLst>
          </p:cNvPr>
          <p:cNvSpPr txBox="1"/>
          <p:nvPr/>
        </p:nvSpPr>
        <p:spPr>
          <a:xfrm>
            <a:off x="208938" y="6360835"/>
            <a:ext cx="81259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>
                <a:solidFill>
                  <a:schemeClr val="bg1"/>
                </a:solidFill>
              </a:rPr>
              <a:t>Exemplo esperado:</a:t>
            </a:r>
          </a:p>
          <a:p>
            <a:pPr>
              <a:buNone/>
            </a:pPr>
            <a:endParaRPr lang="pt-BR" sz="2000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pt-BR" sz="2000" b="1" dirty="0">
                <a:solidFill>
                  <a:srgbClr val="FFC000"/>
                </a:solidFill>
              </a:rPr>
              <a:t>Informe o primeiro número: 10</a:t>
            </a:r>
            <a:br>
              <a:rPr lang="pt-BR" sz="2000" b="1" dirty="0">
                <a:solidFill>
                  <a:srgbClr val="FFC000"/>
                </a:solidFill>
              </a:rPr>
            </a:br>
            <a:r>
              <a:rPr lang="pt-BR" sz="2000" b="1" dirty="0">
                <a:solidFill>
                  <a:srgbClr val="FFC000"/>
                </a:solidFill>
              </a:rPr>
              <a:t>Informe o segundo número: 5</a:t>
            </a:r>
          </a:p>
          <a:p>
            <a:pPr>
              <a:buNone/>
            </a:pPr>
            <a:endParaRPr lang="pt-BR" sz="2000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pt-BR" sz="2000" b="1" dirty="0">
                <a:solidFill>
                  <a:srgbClr val="FFC000"/>
                </a:solidFill>
              </a:rPr>
              <a:t>A soma é = 15</a:t>
            </a:r>
          </a:p>
        </p:txBody>
      </p:sp>
    </p:spTree>
    <p:extLst>
      <p:ext uri="{BB962C8B-B14F-4D97-AF65-F5344CB8AC3E}">
        <p14:creationId xmlns:p14="http://schemas.microsoft.com/office/powerpoint/2010/main" val="1807475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BAC11-7858-278C-D091-4E5C9CF7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CE9F2B9-6D36-5D11-1A42-AD3F0003E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0E5FA9-4585-92FB-1520-FDB8FBFB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157F028F-C7E1-62E3-7193-06E8063D7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6EB21E-FD51-DC99-794A-833B570B1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9A3EA3-BA52-4CA8-A4A3-5941970A8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A055EAF-80CC-088B-AE79-04754BFF8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DF37A0-0182-D329-008F-570B9DBAA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14C983-7E7F-9CD8-79DA-A15B7E7F1148}"/>
              </a:ext>
            </a:extLst>
          </p:cNvPr>
          <p:cNvSpPr txBox="1"/>
          <p:nvPr/>
        </p:nvSpPr>
        <p:spPr>
          <a:xfrm>
            <a:off x="9357630" y="3434442"/>
            <a:ext cx="6128644" cy="13607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72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Atividade</a:t>
            </a:r>
            <a:r>
              <a:rPr lang="en-US" sz="7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02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0B3F6608-DA5C-2DF6-32DA-76ADEF6D3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66194" y="-1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25">
            <a:extLst>
              <a:ext uri="{FF2B5EF4-FFF2-40B4-BE49-F238E27FC236}">
                <a16:creationId xmlns:a16="http://schemas.microsoft.com/office/drawing/2014/main" id="{49B7C135-9C1F-40A1-09D3-BEBC07E30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91947" y="-91947"/>
            <a:ext cx="9144001" cy="9327891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17378C1B-0CBA-21C7-5D54-37196E715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2ADE68-D089-4AB5-76D0-249CB5F023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91" y="2159000"/>
            <a:ext cx="7267409" cy="48509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90212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D5ABF9C-A102-5CB8-9349-EA96BF21372D}"/>
              </a:ext>
            </a:extLst>
          </p:cNvPr>
          <p:cNvSpPr txBox="1"/>
          <p:nvPr/>
        </p:nvSpPr>
        <p:spPr>
          <a:xfrm>
            <a:off x="660400" y="914400"/>
            <a:ext cx="8125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CONVERSÃO DE TIPOS EM PYTHON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0D5C9D-6350-D908-8C06-7461D8EA59E9}"/>
              </a:ext>
            </a:extLst>
          </p:cNvPr>
          <p:cNvSpPr txBox="1"/>
          <p:nvPr/>
        </p:nvSpPr>
        <p:spPr>
          <a:xfrm>
            <a:off x="660400" y="1773703"/>
            <a:ext cx="594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é conversão de dados?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É quando transformamos um tipo de dado em outro (</a:t>
            </a:r>
            <a:r>
              <a:rPr lang="pt-BR" dirty="0" err="1"/>
              <a:t>ex</a:t>
            </a:r>
            <a:r>
              <a:rPr lang="pt-BR" dirty="0"/>
              <a:t>: texto → número).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B1A4AB2-E424-4F64-1121-61BD07E9A5DC}"/>
              </a:ext>
            </a:extLst>
          </p:cNvPr>
          <p:cNvSpPr txBox="1"/>
          <p:nvPr/>
        </p:nvSpPr>
        <p:spPr>
          <a:xfrm>
            <a:off x="6832600" y="172823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Importante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O </a:t>
            </a:r>
            <a:r>
              <a:rPr lang="pt-BR" dirty="0">
                <a:latin typeface="Courier New" panose="02070309020205020404" pitchFamily="49" charset="0"/>
              </a:rPr>
              <a:t>input()</a:t>
            </a:r>
            <a:r>
              <a:rPr lang="pt-BR" dirty="0"/>
              <a:t> sempre retorna </a:t>
            </a:r>
            <a:r>
              <a:rPr lang="pt-BR" b="1" dirty="0"/>
              <a:t>texto (</a:t>
            </a:r>
            <a:r>
              <a:rPr lang="pt-BR" b="1" dirty="0" err="1"/>
              <a:t>str</a:t>
            </a:r>
            <a:r>
              <a:rPr lang="pt-BR" b="1" dirty="0"/>
              <a:t>)</a:t>
            </a:r>
            <a:r>
              <a:rPr lang="pt-BR" dirty="0"/>
              <a:t>, mesmo que o usuário digite números.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E2A822A-AAF4-2377-C164-93B3CA0D2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12" y="6019800"/>
            <a:ext cx="14401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inteiro 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float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decimal 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str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texto 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bool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verdadeiro/falso </a:t>
            </a:r>
            <a:endParaRPr lang="pt-BR" altLang="pt-BR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Conversão é essencial para cálculos com entrada de dados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1089BD3-9031-ECD5-CDE6-21C6E121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3186011"/>
            <a:ext cx="8326012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97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1605276-3537-A7F9-968A-8F844555C4C3}"/>
              </a:ext>
            </a:extLst>
          </p:cNvPr>
          <p:cNvSpPr txBox="1"/>
          <p:nvPr/>
        </p:nvSpPr>
        <p:spPr>
          <a:xfrm>
            <a:off x="4165600" y="3602504"/>
            <a:ext cx="81259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6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Lista de exercícios 01  PYTHON</a:t>
            </a:r>
          </a:p>
        </p:txBody>
      </p:sp>
    </p:spTree>
    <p:extLst>
      <p:ext uri="{BB962C8B-B14F-4D97-AF65-F5344CB8AC3E}">
        <p14:creationId xmlns:p14="http://schemas.microsoft.com/office/powerpoint/2010/main" val="25306869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ntegração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7D5275A932D044C8B024F33477056D8" ma:contentTypeVersion="0" ma:contentTypeDescription="Crie um novo documento." ma:contentTypeScope="" ma:versionID="b2d0d701c2fbfc9ae1e4d98fb590553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A64827-AB50-42BB-888E-53D2CE7D8800}"/>
</file>

<file path=customXml/itemProps2.xml><?xml version="1.0" encoding="utf-8"?>
<ds:datastoreItem xmlns:ds="http://schemas.openxmlformats.org/officeDocument/2006/customXml" ds:itemID="{12F22991-6DFE-4649-B4C5-34C00C73235F}"/>
</file>

<file path=customXml/itemProps3.xml><?xml version="1.0" encoding="utf-8"?>
<ds:datastoreItem xmlns:ds="http://schemas.openxmlformats.org/officeDocument/2006/customXml" ds:itemID="{E8C1662E-E514-4823-A4D6-F341EC195BB4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168</TotalTime>
  <Words>731</Words>
  <Application>Microsoft Office PowerPoint</Application>
  <PresentationFormat>Personalizar</PresentationFormat>
  <Paragraphs>141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Arial Unicode MS</vt:lpstr>
      <vt:lpstr>Arial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WANDERSON NUNES DE OLIVEIRA JUNIOR</dc:creator>
  <cp:lastModifiedBy>WANDERSON NUNES DE OLIVEIRA JUNIOR</cp:lastModifiedBy>
  <cp:revision>46</cp:revision>
  <dcterms:created xsi:type="dcterms:W3CDTF">2006-08-16T00:00:00Z</dcterms:created>
  <dcterms:modified xsi:type="dcterms:W3CDTF">2026-05-05T00:31:03Z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0x01010077D5275A932D044C8B024F33477056D8</vt:lpwstr>
  </property>
</Properties>
</file>