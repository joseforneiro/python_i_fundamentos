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Masters/slideMaster1.xml" ContentType="application/vnd.openxmlformats-officedocument.presentationml.slideMaster+xml"/>
  <Override PartName="/ppt/slideLayouts/slideLayout14.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7.xml" ContentType="application/vnd.openxmlformats-officedocument.presentationml.slideLayout+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2"/>
  </p:notesMasterIdLst>
  <p:sldIdLst>
    <p:sldId id="256" r:id="rId2"/>
    <p:sldId id="288" r:id="rId3"/>
    <p:sldId id="257" r:id="rId4"/>
    <p:sldId id="267" r:id="rId5"/>
    <p:sldId id="258" r:id="rId6"/>
    <p:sldId id="259" r:id="rId7"/>
    <p:sldId id="268" r:id="rId8"/>
    <p:sldId id="275" r:id="rId9"/>
    <p:sldId id="274" r:id="rId10"/>
    <p:sldId id="276" r:id="rId11"/>
    <p:sldId id="284" r:id="rId12"/>
    <p:sldId id="285" r:id="rId13"/>
    <p:sldId id="270" r:id="rId14"/>
    <p:sldId id="282" r:id="rId15"/>
    <p:sldId id="283" r:id="rId16"/>
    <p:sldId id="272" r:id="rId17"/>
    <p:sldId id="273" r:id="rId18"/>
    <p:sldId id="281" r:id="rId19"/>
    <p:sldId id="269" r:id="rId20"/>
    <p:sldId id="278" r:id="rId21"/>
    <p:sldId id="271" r:id="rId22"/>
    <p:sldId id="280" r:id="rId23"/>
    <p:sldId id="286" r:id="rId24"/>
    <p:sldId id="260" r:id="rId25"/>
    <p:sldId id="289" r:id="rId26"/>
    <p:sldId id="290" r:id="rId27"/>
    <p:sldId id="292" r:id="rId28"/>
    <p:sldId id="293" r:id="rId29"/>
    <p:sldId id="294" r:id="rId30"/>
    <p:sldId id="297" r:id="rId31"/>
    <p:sldId id="295" r:id="rId32"/>
    <p:sldId id="296" r:id="rId33"/>
    <p:sldId id="306" r:id="rId34"/>
    <p:sldId id="305" r:id="rId35"/>
    <p:sldId id="298" r:id="rId36"/>
    <p:sldId id="299" r:id="rId37"/>
    <p:sldId id="300" r:id="rId38"/>
    <p:sldId id="301" r:id="rId39"/>
    <p:sldId id="302" r:id="rId40"/>
    <p:sldId id="303" r:id="rId41"/>
    <p:sldId id="316" r:id="rId42"/>
    <p:sldId id="304" r:id="rId43"/>
    <p:sldId id="307" r:id="rId44"/>
    <p:sldId id="310" r:id="rId45"/>
    <p:sldId id="313" r:id="rId46"/>
    <p:sldId id="311" r:id="rId47"/>
    <p:sldId id="312" r:id="rId48"/>
    <p:sldId id="309" r:id="rId49"/>
    <p:sldId id="308" r:id="rId50"/>
    <p:sldId id="315" r:id="rId51"/>
    <p:sldId id="318" r:id="rId52"/>
    <p:sldId id="319" r:id="rId53"/>
    <p:sldId id="320" r:id="rId54"/>
    <p:sldId id="322" r:id="rId55"/>
    <p:sldId id="321" r:id="rId56"/>
    <p:sldId id="317" r:id="rId57"/>
    <p:sldId id="323" r:id="rId58"/>
    <p:sldId id="324" r:id="rId59"/>
    <p:sldId id="325" r:id="rId60"/>
    <p:sldId id="326" r:id="rId61"/>
    <p:sldId id="327" r:id="rId62"/>
    <p:sldId id="328" r:id="rId63"/>
    <p:sldId id="329" r:id="rId64"/>
    <p:sldId id="330" r:id="rId65"/>
    <p:sldId id="331" r:id="rId66"/>
    <p:sldId id="332" r:id="rId67"/>
    <p:sldId id="335" r:id="rId68"/>
    <p:sldId id="333" r:id="rId69"/>
    <p:sldId id="334" r:id="rId70"/>
    <p:sldId id="314" r:id="rId71"/>
  </p:sldIdLst>
  <p:sldSz cx="16256000" cy="9144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99"/>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202B0CA-FC54-4496-8BCA-5EF66A818D29}" styleName="Estilo Escuro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3" d="100"/>
          <a:sy n="53" d="100"/>
        </p:scale>
        <p:origin x="510"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79" Type="http://schemas.openxmlformats.org/officeDocument/2006/relationships/customXml" Target="../customXml/item3.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customXml" Target="../customXml/item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78"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970724-6DD6-4424-8133-DCCE78852C50}" type="datetimeFigureOut">
              <a:rPr lang="pt-BR" smtClean="0"/>
              <a:t>14/05/2026</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DE9624-3DA0-406D-818B-5DE933CBB866}" type="slidenum">
              <a:rPr lang="pt-BR" smtClean="0"/>
              <a:t>‹nº›</a:t>
            </a:fld>
            <a:endParaRPr lang="pt-BR"/>
          </a:p>
        </p:txBody>
      </p:sp>
    </p:spTree>
    <p:extLst>
      <p:ext uri="{BB962C8B-B14F-4D97-AF65-F5344CB8AC3E}">
        <p14:creationId xmlns:p14="http://schemas.microsoft.com/office/powerpoint/2010/main" val="1681732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39DE9624-3DA0-406D-818B-5DE933CBB866}" type="slidenum">
              <a:rPr lang="pt-BR" smtClean="0"/>
              <a:t>45</a:t>
            </a:fld>
            <a:endParaRPr lang="pt-BR"/>
          </a:p>
        </p:txBody>
      </p:sp>
    </p:spTree>
    <p:extLst>
      <p:ext uri="{BB962C8B-B14F-4D97-AF65-F5344CB8AC3E}">
        <p14:creationId xmlns:p14="http://schemas.microsoft.com/office/powerpoint/2010/main" val="1461533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39940" y="1930401"/>
            <a:ext cx="11767544" cy="4439441"/>
          </a:xfrm>
        </p:spPr>
        <p:txBody>
          <a:bodyPr anchor="b"/>
          <a:lstStyle>
            <a:lvl1pPr>
              <a:defRPr sz="9600"/>
            </a:lvl1pPr>
          </a:lstStyle>
          <a:p>
            <a:r>
              <a:rPr lang="pt-BR"/>
              <a:t>Clique para editar o título Mestre</a:t>
            </a:r>
            <a:endParaRPr lang="en-US" dirty="0"/>
          </a:p>
        </p:txBody>
      </p:sp>
      <p:sp>
        <p:nvSpPr>
          <p:cNvPr id="3" name="Subtitle 2"/>
          <p:cNvSpPr>
            <a:spLocks noGrp="1"/>
          </p:cNvSpPr>
          <p:nvPr>
            <p:ph type="subTitle" idx="1"/>
          </p:nvPr>
        </p:nvSpPr>
        <p:spPr>
          <a:xfrm>
            <a:off x="1539940" y="6369840"/>
            <a:ext cx="11767544" cy="1148560"/>
          </a:xfrm>
        </p:spPr>
        <p:txBody>
          <a:bodyPr anchor="t"/>
          <a:lstStyle>
            <a:lvl1pPr marL="0" indent="0" algn="l">
              <a:buNone/>
              <a:defRPr cap="all">
                <a:solidFill>
                  <a:schemeClr val="bg2">
                    <a:lumMod val="40000"/>
                    <a:lumOff val="60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pt-BR"/>
              <a:t>Clique para editar o estilo do subtítulo Mestre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40658446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3"/>
          <p:cNvSpPr>
            <a:spLocks noGrp="1"/>
          </p:cNvSpPr>
          <p:nvPr>
            <p:ph type="dt" sz="half" idx="10"/>
          </p:nvPr>
        </p:nvSpPr>
        <p:spPr/>
        <p:txBody>
          <a:bodyPr/>
          <a:lstStyle/>
          <a:p>
            <a:fld id="{1D8BD707-D9CF-40AE-B4C6-C98DA3205C09}" type="datetimeFigureOut">
              <a:rPr lang="en-US" smtClean="0"/>
              <a:pPr/>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2353756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1539942" y="3815645"/>
            <a:ext cx="11767543" cy="2554196"/>
          </a:xfrm>
        </p:spPr>
        <p:txBody>
          <a:bodyPr anchor="b"/>
          <a:lstStyle>
            <a:lvl1pPr algn="l">
              <a:defRPr sz="5333" b="0" cap="none"/>
            </a:lvl1pPr>
          </a:lstStyle>
          <a:p>
            <a:r>
              <a:rPr lang="pt-BR"/>
              <a:t>Clique para editar o título Mestre</a:t>
            </a:r>
            <a:endParaRPr lang="en-US" dirty="0"/>
          </a:p>
        </p:txBody>
      </p:sp>
      <p:sp>
        <p:nvSpPr>
          <p:cNvPr id="3" name="Text Placeholder 2"/>
          <p:cNvSpPr>
            <a:spLocks noGrp="1"/>
          </p:cNvSpPr>
          <p:nvPr>
            <p:ph type="body" idx="1"/>
          </p:nvPr>
        </p:nvSpPr>
        <p:spPr>
          <a:xfrm>
            <a:off x="1539940" y="6369841"/>
            <a:ext cx="11767544" cy="1147200"/>
          </a:xfrm>
        </p:spPr>
        <p:txBody>
          <a:bodyPr anchor="t"/>
          <a:lstStyle>
            <a:lvl1pPr marL="0" indent="0" algn="l">
              <a:buNone/>
              <a:defRPr sz="2667" cap="all">
                <a:solidFill>
                  <a:schemeClr val="bg2">
                    <a:lumMod val="40000"/>
                    <a:lumOff val="60000"/>
                  </a:schemeClr>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1D8BD707-D9CF-40AE-B4C6-C98DA3205C09}" type="datetimeFigureOut">
              <a:rPr lang="en-US" smtClean="0"/>
              <a:pPr/>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38810268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sz="half" idx="1"/>
          </p:nvPr>
        </p:nvSpPr>
        <p:spPr>
          <a:xfrm>
            <a:off x="1471084" y="2747434"/>
            <a:ext cx="5861785" cy="5594351"/>
          </a:xfrm>
        </p:spPr>
        <p:txBody>
          <a:bodyPr>
            <a:normAutofit/>
          </a:bodyPr>
          <a:lstStyle>
            <a:lvl1pPr>
              <a:defRPr sz="2400"/>
            </a:lvl1pPr>
            <a:lvl2pPr>
              <a:defRPr sz="2133"/>
            </a:lvl2pPr>
            <a:lvl3pPr>
              <a:defRPr sz="1867"/>
            </a:lvl3pPr>
            <a:lvl4pPr>
              <a:defRPr sz="1600"/>
            </a:lvl4pPr>
            <a:lvl5pPr>
              <a:defRPr sz="1600"/>
            </a:lvl5pPr>
            <a:lvl6pPr>
              <a:defRPr sz="1600"/>
            </a:lvl6pPr>
            <a:lvl7pPr>
              <a:defRPr sz="1600"/>
            </a:lvl7pPr>
            <a:lvl8pPr>
              <a:defRPr sz="1600"/>
            </a:lvl8pPr>
            <a:lvl9pPr>
              <a:defRPr sz="16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7539325" y="2741457"/>
            <a:ext cx="5861788" cy="5600327"/>
          </a:xfrm>
        </p:spPr>
        <p:txBody>
          <a:bodyPr>
            <a:normAutofit/>
          </a:bodyPr>
          <a:lstStyle>
            <a:lvl1pPr>
              <a:defRPr sz="2400"/>
            </a:lvl1pPr>
            <a:lvl2pPr>
              <a:defRPr sz="2133"/>
            </a:lvl2pPr>
            <a:lvl3pPr>
              <a:defRPr sz="1867"/>
            </a:lvl3pPr>
            <a:lvl4pPr>
              <a:defRPr sz="1600"/>
            </a:lvl4pPr>
            <a:lvl5pPr>
              <a:defRPr sz="1600"/>
            </a:lvl5pPr>
            <a:lvl6pPr>
              <a:defRPr sz="1600"/>
            </a:lvl6pPr>
            <a:lvl7pPr>
              <a:defRPr sz="1600"/>
            </a:lvl7pPr>
            <a:lvl8pPr>
              <a:defRPr sz="1600"/>
            </a:lvl8pPr>
            <a:lvl9pPr>
              <a:defRPr sz="16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34297175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pt-BR"/>
              <a:t>Clique para editar o título Mestre</a:t>
            </a:r>
            <a:endParaRPr lang="en-US" dirty="0"/>
          </a:p>
        </p:txBody>
      </p:sp>
      <p:sp>
        <p:nvSpPr>
          <p:cNvPr id="3" name="Text Placeholder 2"/>
          <p:cNvSpPr>
            <a:spLocks noGrp="1"/>
          </p:cNvSpPr>
          <p:nvPr>
            <p:ph type="body" idx="1"/>
          </p:nvPr>
        </p:nvSpPr>
        <p:spPr>
          <a:xfrm>
            <a:off x="1471084" y="2540000"/>
            <a:ext cx="5861784" cy="768349"/>
          </a:xfrm>
        </p:spPr>
        <p:txBody>
          <a:bodyPr anchor="b">
            <a:noAutofit/>
          </a:bodyPr>
          <a:lstStyle>
            <a:lvl1pPr marL="0" indent="0">
              <a:buNone/>
              <a:defRPr sz="3200" b="0">
                <a:solidFill>
                  <a:schemeClr val="bg2">
                    <a:lumMod val="40000"/>
                    <a:lumOff val="60000"/>
                  </a:schemeClr>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pt-BR"/>
              <a:t>Clique para editar os estilos de texto Mestres</a:t>
            </a:r>
          </a:p>
        </p:txBody>
      </p:sp>
      <p:sp>
        <p:nvSpPr>
          <p:cNvPr id="4" name="Content Placeholder 3"/>
          <p:cNvSpPr>
            <a:spLocks noGrp="1"/>
          </p:cNvSpPr>
          <p:nvPr>
            <p:ph sz="half" idx="2"/>
          </p:nvPr>
        </p:nvSpPr>
        <p:spPr>
          <a:xfrm>
            <a:off x="1471084" y="3352800"/>
            <a:ext cx="5861785" cy="4988984"/>
          </a:xfrm>
        </p:spPr>
        <p:txBody>
          <a:bodyPr>
            <a:normAutofit/>
          </a:bodyPr>
          <a:lstStyle>
            <a:lvl1pPr>
              <a:defRPr sz="2400"/>
            </a:lvl1pPr>
            <a:lvl2pPr>
              <a:defRPr sz="2133"/>
            </a:lvl2pPr>
            <a:lvl3pPr>
              <a:defRPr sz="1867"/>
            </a:lvl3pPr>
            <a:lvl4pPr>
              <a:defRPr sz="1600"/>
            </a:lvl4pPr>
            <a:lvl5pPr>
              <a:defRPr sz="1600"/>
            </a:lvl5pPr>
            <a:lvl6pPr>
              <a:defRPr sz="1600"/>
            </a:lvl6pPr>
            <a:lvl7pPr>
              <a:defRPr sz="1600"/>
            </a:lvl7pPr>
            <a:lvl8pPr>
              <a:defRPr sz="1600"/>
            </a:lvl8pPr>
            <a:lvl9pPr>
              <a:defRPr sz="16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7539328" y="2540000"/>
            <a:ext cx="5861785" cy="768349"/>
          </a:xfrm>
        </p:spPr>
        <p:txBody>
          <a:bodyPr anchor="b">
            <a:noAutofit/>
          </a:bodyPr>
          <a:lstStyle>
            <a:lvl1pPr marL="0" indent="0">
              <a:buNone/>
              <a:defRPr sz="3200" b="0">
                <a:solidFill>
                  <a:schemeClr val="bg2">
                    <a:lumMod val="40000"/>
                    <a:lumOff val="60000"/>
                  </a:schemeClr>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pt-BR"/>
              <a:t>Clique para editar os estilos de texto Mestres</a:t>
            </a:r>
          </a:p>
        </p:txBody>
      </p:sp>
      <p:sp>
        <p:nvSpPr>
          <p:cNvPr id="6" name="Content Placeholder 5"/>
          <p:cNvSpPr>
            <a:spLocks noGrp="1"/>
          </p:cNvSpPr>
          <p:nvPr>
            <p:ph sz="quarter" idx="4"/>
          </p:nvPr>
        </p:nvSpPr>
        <p:spPr>
          <a:xfrm>
            <a:off x="7539328" y="3352800"/>
            <a:ext cx="5861785" cy="4988984"/>
          </a:xfrm>
        </p:spPr>
        <p:txBody>
          <a:bodyPr>
            <a:normAutofit/>
          </a:bodyPr>
          <a:lstStyle>
            <a:lvl1pPr>
              <a:defRPr sz="2400"/>
            </a:lvl1pPr>
            <a:lvl2pPr>
              <a:defRPr sz="2133"/>
            </a:lvl2pPr>
            <a:lvl3pPr>
              <a:defRPr sz="1867"/>
            </a:lvl3pPr>
            <a:lvl4pPr>
              <a:defRPr sz="1600"/>
            </a:lvl4pPr>
            <a:lvl5pPr>
              <a:defRPr sz="1600"/>
            </a:lvl5pPr>
            <a:lvl6pPr>
              <a:defRPr sz="1600"/>
            </a:lvl6pPr>
            <a:lvl7pPr>
              <a:defRPr sz="1600"/>
            </a:lvl7pPr>
            <a:lvl8pPr>
              <a:defRPr sz="1600"/>
            </a:lvl8pPr>
            <a:lvl9pPr>
              <a:defRPr sz="16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5/14/2026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22532589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7" name="Date Placeholder 2"/>
          <p:cNvSpPr>
            <a:spLocks noGrp="1"/>
          </p:cNvSpPr>
          <p:nvPr>
            <p:ph type="dt" sz="half" idx="10"/>
          </p:nvPr>
        </p:nvSpPr>
        <p:spPr/>
        <p:txBody>
          <a:bodyPr/>
          <a:lstStyle/>
          <a:p>
            <a:fld id="{1D8BD707-D9CF-40AE-B4C6-C98DA3205C09}" type="datetimeFigureOut">
              <a:rPr lang="en-US" smtClean="0"/>
              <a:pPr/>
              <a:t>5/14/2026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13160770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1D8BD707-D9CF-40AE-B4C6-C98DA3205C09}" type="datetimeFigureOut">
              <a:rPr lang="en-US" smtClean="0"/>
              <a:pPr/>
              <a:t>5/14/2026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15159415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1539937" y="1930400"/>
            <a:ext cx="4534752" cy="1930400"/>
          </a:xfrm>
        </p:spPr>
        <p:txBody>
          <a:bodyPr anchor="b"/>
          <a:lstStyle>
            <a:lvl1pPr algn="l">
              <a:defRPr sz="3200" b="0"/>
            </a:lvl1pPr>
          </a:lstStyle>
          <a:p>
            <a:r>
              <a:rPr lang="pt-BR"/>
              <a:t>Clique para editar o título Mestre</a:t>
            </a:r>
            <a:endParaRPr lang="en-US" dirty="0"/>
          </a:p>
        </p:txBody>
      </p:sp>
      <p:sp>
        <p:nvSpPr>
          <p:cNvPr id="3" name="Content Placeholder 2"/>
          <p:cNvSpPr>
            <a:spLocks noGrp="1"/>
          </p:cNvSpPr>
          <p:nvPr>
            <p:ph idx="1"/>
          </p:nvPr>
        </p:nvSpPr>
        <p:spPr>
          <a:xfrm>
            <a:off x="6379489" y="1930400"/>
            <a:ext cx="6927996" cy="6096000"/>
          </a:xfrm>
        </p:spPr>
        <p:txBody>
          <a:bodyPr anchor="ctr">
            <a:normAutofit/>
          </a:bodyPr>
          <a:lstStyle>
            <a:lvl1pPr>
              <a:defRPr sz="2667"/>
            </a:lvl1pPr>
            <a:lvl2pPr>
              <a:defRPr sz="2400"/>
            </a:lvl2pPr>
            <a:lvl3pPr>
              <a:defRPr sz="2133"/>
            </a:lvl3pPr>
            <a:lvl4pPr>
              <a:defRPr sz="1867"/>
            </a:lvl4pPr>
            <a:lvl5pPr>
              <a:defRPr sz="1867"/>
            </a:lvl5pPr>
            <a:lvl6pPr>
              <a:defRPr sz="1867"/>
            </a:lvl6pPr>
            <a:lvl7pPr>
              <a:defRPr sz="1867"/>
            </a:lvl7pPr>
            <a:lvl8pPr>
              <a:defRPr sz="1867"/>
            </a:lvl8pPr>
            <a:lvl9pPr>
              <a:defRPr sz="1867"/>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1539938" y="4172374"/>
            <a:ext cx="4534751" cy="3860799"/>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pt-BR"/>
              <a:t>Clique para editar os estilos de texto Mestres</a:t>
            </a:r>
          </a:p>
        </p:txBody>
      </p:sp>
      <p:sp>
        <p:nvSpPr>
          <p:cNvPr id="7" name="Date Placeholder 4"/>
          <p:cNvSpPr>
            <a:spLocks noGrp="1"/>
          </p:cNvSpPr>
          <p:nvPr>
            <p:ph type="dt" sz="half" idx="10"/>
          </p:nvPr>
        </p:nvSpPr>
        <p:spPr/>
        <p:txBody>
          <a:bodyPr/>
          <a:lstStyle/>
          <a:p>
            <a:fld id="{1D8BD707-D9CF-40AE-B4C6-C98DA3205C09}" type="datetimeFigureOut">
              <a:rPr lang="en-US" smtClean="0"/>
              <a:pPr/>
              <a:t>5/14/2026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37124008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1538543" y="2472256"/>
            <a:ext cx="6790541" cy="2099744"/>
          </a:xfrm>
        </p:spPr>
        <p:txBody>
          <a:bodyPr anchor="b">
            <a:normAutofit/>
          </a:bodyPr>
          <a:lstStyle>
            <a:lvl1pPr algn="l">
              <a:defRPr sz="4800" b="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9266061" y="1524000"/>
            <a:ext cx="4267200" cy="6096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133"/>
            </a:lvl1pPr>
            <a:lvl2pPr marL="609585" indent="0">
              <a:buNone/>
              <a:defRPr sz="2133"/>
            </a:lvl2pPr>
            <a:lvl3pPr marL="1219170" indent="0">
              <a:buNone/>
              <a:defRPr sz="2133"/>
            </a:lvl3pPr>
            <a:lvl4pPr marL="1828754" indent="0">
              <a:buNone/>
              <a:defRPr sz="2133"/>
            </a:lvl4pPr>
            <a:lvl5pPr marL="2438339" indent="0">
              <a:buNone/>
              <a:defRPr sz="2133"/>
            </a:lvl5pPr>
            <a:lvl6pPr marL="3047924" indent="0">
              <a:buNone/>
              <a:defRPr sz="2133"/>
            </a:lvl6pPr>
            <a:lvl7pPr marL="3657509" indent="0">
              <a:buNone/>
              <a:defRPr sz="2133"/>
            </a:lvl7pPr>
            <a:lvl8pPr marL="4267093" indent="0">
              <a:buNone/>
              <a:defRPr sz="2133"/>
            </a:lvl8pPr>
            <a:lvl9pPr marL="4876678" indent="0">
              <a:buNone/>
              <a:defRPr sz="2133"/>
            </a:lvl9pPr>
          </a:lstStyle>
          <a:p>
            <a:r>
              <a:rPr lang="pt-BR"/>
              <a:t>Clique no ícone para adicionar uma imagem</a:t>
            </a:r>
            <a:endParaRPr lang="en-US" dirty="0"/>
          </a:p>
        </p:txBody>
      </p:sp>
      <p:sp>
        <p:nvSpPr>
          <p:cNvPr id="4" name="Text Placeholder 3"/>
          <p:cNvSpPr>
            <a:spLocks noGrp="1"/>
          </p:cNvSpPr>
          <p:nvPr>
            <p:ph type="body" sz="half" idx="2"/>
          </p:nvPr>
        </p:nvSpPr>
        <p:spPr>
          <a:xfrm>
            <a:off x="1539939" y="4876800"/>
            <a:ext cx="6779972" cy="1828800"/>
          </a:xfrm>
        </p:spPr>
        <p:txBody>
          <a:bodyPr>
            <a:normAutofit/>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1D8BD707-D9CF-40AE-B4C6-C98DA3205C09}" type="datetimeFigureOut">
              <a:rPr lang="en-US" smtClean="0"/>
              <a:pPr/>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9176572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Foto Panorâmica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1539942" y="6400783"/>
            <a:ext cx="11767543" cy="755651"/>
          </a:xfrm>
        </p:spPr>
        <p:txBody>
          <a:bodyPr anchor="b">
            <a:normAutofit/>
          </a:bodyPr>
          <a:lstStyle>
            <a:lvl1pPr algn="l">
              <a:defRPr sz="3200" b="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1539940" y="914400"/>
            <a:ext cx="11767544" cy="4854221"/>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133"/>
            </a:lvl1pPr>
            <a:lvl2pPr marL="609585" indent="0">
              <a:buNone/>
              <a:defRPr sz="2133"/>
            </a:lvl2pPr>
            <a:lvl3pPr marL="1219170" indent="0">
              <a:buNone/>
              <a:defRPr sz="2133"/>
            </a:lvl3pPr>
            <a:lvl4pPr marL="1828754" indent="0">
              <a:buNone/>
              <a:defRPr sz="2133"/>
            </a:lvl4pPr>
            <a:lvl5pPr marL="2438339" indent="0">
              <a:buNone/>
              <a:defRPr sz="2133"/>
            </a:lvl5pPr>
            <a:lvl6pPr marL="3047924" indent="0">
              <a:buNone/>
              <a:defRPr sz="2133"/>
            </a:lvl6pPr>
            <a:lvl7pPr marL="3657509" indent="0">
              <a:buNone/>
              <a:defRPr sz="2133"/>
            </a:lvl7pPr>
            <a:lvl8pPr marL="4267093" indent="0">
              <a:buNone/>
              <a:defRPr sz="2133"/>
            </a:lvl8pPr>
            <a:lvl9pPr marL="4876678" indent="0">
              <a:buNone/>
              <a:defRPr sz="2133"/>
            </a:lvl9pPr>
          </a:lstStyle>
          <a:p>
            <a:r>
              <a:rPr lang="pt-BR"/>
              <a:t>Clique no ícone para adicionar uma imagem</a:t>
            </a:r>
            <a:endParaRPr lang="en-US" dirty="0"/>
          </a:p>
        </p:txBody>
      </p:sp>
      <p:sp>
        <p:nvSpPr>
          <p:cNvPr id="4" name="Text Placeholder 3"/>
          <p:cNvSpPr>
            <a:spLocks noGrp="1"/>
          </p:cNvSpPr>
          <p:nvPr>
            <p:ph type="body" sz="half" idx="2"/>
          </p:nvPr>
        </p:nvSpPr>
        <p:spPr>
          <a:xfrm>
            <a:off x="1539942" y="7156433"/>
            <a:ext cx="11767541" cy="658283"/>
          </a:xfrm>
        </p:spPr>
        <p:txBody>
          <a:bodyPr>
            <a:normAutofit/>
          </a:bodyPr>
          <a:lstStyle>
            <a:lvl1pPr marL="0" indent="0">
              <a:buNone/>
              <a:defRPr sz="1600"/>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1D8BD707-D9CF-40AE-B4C6-C98DA3205C09}" type="datetimeFigureOut">
              <a:rPr lang="en-US" smtClean="0"/>
              <a:pPr/>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1591503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e Legenda">
    <p:spTree>
      <p:nvGrpSpPr>
        <p:cNvPr id="1" name=""/>
        <p:cNvGrpSpPr/>
        <p:nvPr/>
      </p:nvGrpSpPr>
      <p:grpSpPr>
        <a:xfrm>
          <a:off x="0" y="0"/>
          <a:ext cx="0" cy="0"/>
          <a:chOff x="0" y="0"/>
          <a:chExt cx="0" cy="0"/>
        </a:xfrm>
      </p:grpSpPr>
      <p:sp>
        <p:nvSpPr>
          <p:cNvPr id="2" name="Title 1"/>
          <p:cNvSpPr>
            <a:spLocks noGrp="1"/>
          </p:cNvSpPr>
          <p:nvPr>
            <p:ph type="title"/>
          </p:nvPr>
        </p:nvSpPr>
        <p:spPr>
          <a:xfrm>
            <a:off x="1539940" y="1930400"/>
            <a:ext cx="11767545" cy="2641600"/>
          </a:xfrm>
        </p:spPr>
        <p:txBody>
          <a:bodyPr/>
          <a:lstStyle>
            <a:lvl1pPr>
              <a:defRPr sz="6400"/>
            </a:lvl1pPr>
          </a:lstStyle>
          <a:p>
            <a:r>
              <a:rPr lang="pt-BR"/>
              <a:t>Clique para editar o título Mestre</a:t>
            </a:r>
            <a:endParaRPr lang="en-US" dirty="0"/>
          </a:p>
        </p:txBody>
      </p:sp>
      <p:sp>
        <p:nvSpPr>
          <p:cNvPr id="8" name="Text Placeholder 3"/>
          <p:cNvSpPr>
            <a:spLocks noGrp="1"/>
          </p:cNvSpPr>
          <p:nvPr>
            <p:ph type="body" sz="half" idx="2"/>
          </p:nvPr>
        </p:nvSpPr>
        <p:spPr>
          <a:xfrm>
            <a:off x="1539940" y="4876800"/>
            <a:ext cx="11767545" cy="3149600"/>
          </a:xfrm>
        </p:spPr>
        <p:txBody>
          <a:bodyPr anchor="ctr">
            <a:normAutofit/>
          </a:bodyPr>
          <a:lstStyle>
            <a:lvl1pPr marL="0" indent="0">
              <a:buNone/>
              <a:defRPr sz="2400"/>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1D8BD707-D9CF-40AE-B4C6-C98DA3205C09}" type="datetimeFigureOut">
              <a:rPr lang="en-US" smtClean="0"/>
              <a:pPr/>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30714203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çã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2099736" y="1930400"/>
            <a:ext cx="10665753" cy="3097832"/>
          </a:xfrm>
        </p:spPr>
        <p:txBody>
          <a:bodyPr/>
          <a:lstStyle>
            <a:lvl1pPr>
              <a:defRPr sz="6400"/>
            </a:lvl1pPr>
          </a:lstStyle>
          <a:p>
            <a:r>
              <a:rPr lang="pt-BR"/>
              <a:t>Clique para editar o título Mestre</a:t>
            </a:r>
            <a:endParaRPr lang="en-US" dirty="0"/>
          </a:p>
        </p:txBody>
      </p:sp>
      <p:sp>
        <p:nvSpPr>
          <p:cNvPr id="11" name="Text Placeholder 3"/>
          <p:cNvSpPr>
            <a:spLocks noGrp="1"/>
          </p:cNvSpPr>
          <p:nvPr>
            <p:ph type="body" sz="half" idx="14"/>
          </p:nvPr>
        </p:nvSpPr>
        <p:spPr>
          <a:xfrm>
            <a:off x="2573867" y="5028232"/>
            <a:ext cx="9706199" cy="456232"/>
          </a:xfrm>
        </p:spPr>
        <p:txBody>
          <a:bodyPr vert="horz" lIns="91440" tIns="45720" rIns="91440" bIns="45720" rtlCol="0" anchor="t">
            <a:normAutofit/>
          </a:bodyPr>
          <a:lstStyle>
            <a:lvl1pPr marL="0" indent="0">
              <a:buNone/>
              <a:defRPr lang="en-US" sz="1867" b="0" i="0" kern="1200" cap="small" dirty="0">
                <a:solidFill>
                  <a:schemeClr val="bg2">
                    <a:lumMod val="40000"/>
                    <a:lumOff val="60000"/>
                  </a:schemeClr>
                </a:solidFill>
                <a:latin typeface="+mj-lt"/>
                <a:ea typeface="+mj-ea"/>
                <a:cs typeface="+mj-cs"/>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marL="0" lvl="0" indent="0">
              <a:buNone/>
            </a:pPr>
            <a:r>
              <a:rPr lang="pt-BR"/>
              <a:t>Clique para editar os estilos de texto Mestres</a:t>
            </a:r>
          </a:p>
        </p:txBody>
      </p:sp>
      <p:sp>
        <p:nvSpPr>
          <p:cNvPr id="10" name="Text Placeholder 3"/>
          <p:cNvSpPr>
            <a:spLocks noGrp="1"/>
          </p:cNvSpPr>
          <p:nvPr>
            <p:ph type="body" sz="half" idx="2"/>
          </p:nvPr>
        </p:nvSpPr>
        <p:spPr>
          <a:xfrm>
            <a:off x="1539940" y="5800876"/>
            <a:ext cx="11767545" cy="2235200"/>
          </a:xfrm>
        </p:spPr>
        <p:txBody>
          <a:bodyPr anchor="ctr">
            <a:normAutofit/>
          </a:bodyPr>
          <a:lstStyle>
            <a:lvl1pPr marL="0" indent="0">
              <a:buNone/>
              <a:defRPr sz="2400"/>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1D8BD707-D9CF-40AE-B4C6-C98DA3205C09}" type="datetimeFigureOut">
              <a:rPr lang="en-US" smtClean="0"/>
              <a:pPr/>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
        <p:nvSpPr>
          <p:cNvPr id="12" name="TextBox 11"/>
          <p:cNvSpPr txBox="1"/>
          <p:nvPr/>
        </p:nvSpPr>
        <p:spPr>
          <a:xfrm>
            <a:off x="1197727" y="1295004"/>
            <a:ext cx="1069216" cy="2595454"/>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6266" dirty="0"/>
              <a:t>“</a:t>
            </a:r>
          </a:p>
        </p:txBody>
      </p:sp>
      <p:sp>
        <p:nvSpPr>
          <p:cNvPr id="15" name="TextBox 14"/>
          <p:cNvSpPr txBox="1"/>
          <p:nvPr/>
        </p:nvSpPr>
        <p:spPr>
          <a:xfrm>
            <a:off x="12440653" y="3485050"/>
            <a:ext cx="1069216" cy="2595454"/>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6266" dirty="0"/>
              <a:t>”</a:t>
            </a:r>
          </a:p>
        </p:txBody>
      </p:sp>
    </p:spTree>
    <p:extLst>
      <p:ext uri="{BB962C8B-B14F-4D97-AF65-F5344CB8AC3E}">
        <p14:creationId xmlns:p14="http://schemas.microsoft.com/office/powerpoint/2010/main" val="7367403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ão de Nome">
    <p:spTree>
      <p:nvGrpSpPr>
        <p:cNvPr id="1" name=""/>
        <p:cNvGrpSpPr/>
        <p:nvPr/>
      </p:nvGrpSpPr>
      <p:grpSpPr>
        <a:xfrm>
          <a:off x="0" y="0"/>
          <a:ext cx="0" cy="0"/>
          <a:chOff x="0" y="0"/>
          <a:chExt cx="0" cy="0"/>
        </a:xfrm>
      </p:grpSpPr>
      <p:sp>
        <p:nvSpPr>
          <p:cNvPr id="2" name="Title 1"/>
          <p:cNvSpPr>
            <a:spLocks noGrp="1"/>
          </p:cNvSpPr>
          <p:nvPr>
            <p:ph type="title"/>
          </p:nvPr>
        </p:nvSpPr>
        <p:spPr>
          <a:xfrm>
            <a:off x="1539939" y="4165601"/>
            <a:ext cx="11767547" cy="2204240"/>
          </a:xfrm>
        </p:spPr>
        <p:txBody>
          <a:bodyPr anchor="b"/>
          <a:lstStyle>
            <a:lvl1pPr algn="l">
              <a:defRPr sz="5333" b="0" cap="none"/>
            </a:lvl1pPr>
          </a:lstStyle>
          <a:p>
            <a:r>
              <a:rPr lang="pt-BR"/>
              <a:t>Clique para editar o título Mestre</a:t>
            </a:r>
            <a:endParaRPr lang="en-US" dirty="0"/>
          </a:p>
        </p:txBody>
      </p:sp>
      <p:sp>
        <p:nvSpPr>
          <p:cNvPr id="3" name="Text Placeholder 2"/>
          <p:cNvSpPr>
            <a:spLocks noGrp="1"/>
          </p:cNvSpPr>
          <p:nvPr>
            <p:ph type="body" idx="1"/>
          </p:nvPr>
        </p:nvSpPr>
        <p:spPr>
          <a:xfrm>
            <a:off x="1539940" y="6369841"/>
            <a:ext cx="11767545" cy="1147200"/>
          </a:xfrm>
        </p:spPr>
        <p:txBody>
          <a:bodyPr anchor="t"/>
          <a:lstStyle>
            <a:lvl1pPr marL="0" indent="0" algn="l">
              <a:buNone/>
              <a:defRPr sz="2667" cap="none">
                <a:solidFill>
                  <a:schemeClr val="bg2">
                    <a:lumMod val="40000"/>
                    <a:lumOff val="60000"/>
                  </a:schemeClr>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1D8BD707-D9CF-40AE-B4C6-C98DA3205C09}" type="datetimeFigureOut">
              <a:rPr lang="en-US" smtClean="0"/>
              <a:pPr/>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36128829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na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5600"/>
            </a:lvl1pPr>
          </a:lstStyle>
          <a:p>
            <a:r>
              <a:rPr lang="pt-BR"/>
              <a:t>Clique para editar o título Mestre</a:t>
            </a:r>
            <a:endParaRPr lang="en-US" dirty="0"/>
          </a:p>
        </p:txBody>
      </p:sp>
      <p:sp>
        <p:nvSpPr>
          <p:cNvPr id="3" name="Text Placeholder 2"/>
          <p:cNvSpPr>
            <a:spLocks noGrp="1"/>
          </p:cNvSpPr>
          <p:nvPr>
            <p:ph type="body" idx="1"/>
          </p:nvPr>
        </p:nvSpPr>
        <p:spPr>
          <a:xfrm>
            <a:off x="843929" y="2641600"/>
            <a:ext cx="3929155" cy="768349"/>
          </a:xfrm>
        </p:spPr>
        <p:txBody>
          <a:bodyPr anchor="b">
            <a:noAutofit/>
          </a:bodyPr>
          <a:lstStyle>
            <a:lvl1pPr marL="0" indent="0">
              <a:buNone/>
              <a:defRPr sz="3200" b="0">
                <a:solidFill>
                  <a:schemeClr val="bg2">
                    <a:lumMod val="40000"/>
                    <a:lumOff val="60000"/>
                  </a:schemeClr>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pt-BR"/>
              <a:t>Clique para editar os estilos de texto Mestres</a:t>
            </a:r>
          </a:p>
        </p:txBody>
      </p:sp>
      <p:sp>
        <p:nvSpPr>
          <p:cNvPr id="16" name="Text Placeholder 3"/>
          <p:cNvSpPr>
            <a:spLocks noGrp="1"/>
          </p:cNvSpPr>
          <p:nvPr>
            <p:ph type="body" sz="half" idx="15"/>
          </p:nvPr>
        </p:nvSpPr>
        <p:spPr>
          <a:xfrm>
            <a:off x="869951" y="3556000"/>
            <a:ext cx="3903133" cy="4785784"/>
          </a:xfrm>
        </p:spPr>
        <p:txBody>
          <a:bodyPr anchor="t">
            <a:normAutofit/>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pt-BR"/>
              <a:t>Clique para editar os estilos de texto Mestres</a:t>
            </a:r>
          </a:p>
        </p:txBody>
      </p:sp>
      <p:sp>
        <p:nvSpPr>
          <p:cNvPr id="5" name="Text Placeholder 4"/>
          <p:cNvSpPr>
            <a:spLocks noGrp="1"/>
          </p:cNvSpPr>
          <p:nvPr>
            <p:ph type="body" sz="quarter" idx="3"/>
          </p:nvPr>
        </p:nvSpPr>
        <p:spPr>
          <a:xfrm>
            <a:off x="5178213" y="2641600"/>
            <a:ext cx="3914988" cy="768349"/>
          </a:xfrm>
        </p:spPr>
        <p:txBody>
          <a:bodyPr anchor="b">
            <a:noAutofit/>
          </a:bodyPr>
          <a:lstStyle>
            <a:lvl1pPr marL="0" indent="0">
              <a:buNone/>
              <a:defRPr sz="3200" b="0">
                <a:solidFill>
                  <a:schemeClr val="bg2">
                    <a:lumMod val="40000"/>
                    <a:lumOff val="60000"/>
                  </a:schemeClr>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pt-BR"/>
              <a:t>Clique para editar os estilos de texto Mestres</a:t>
            </a:r>
          </a:p>
        </p:txBody>
      </p:sp>
      <p:sp>
        <p:nvSpPr>
          <p:cNvPr id="19" name="Text Placeholder 3"/>
          <p:cNvSpPr>
            <a:spLocks noGrp="1"/>
          </p:cNvSpPr>
          <p:nvPr>
            <p:ph type="body" sz="half" idx="16"/>
          </p:nvPr>
        </p:nvSpPr>
        <p:spPr>
          <a:xfrm>
            <a:off x="5164141" y="3556000"/>
            <a:ext cx="3929059" cy="4785784"/>
          </a:xfrm>
        </p:spPr>
        <p:txBody>
          <a:bodyPr anchor="t">
            <a:normAutofit/>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pt-BR"/>
              <a:t>Clique para editar os estilos de texto Mestres</a:t>
            </a:r>
          </a:p>
        </p:txBody>
      </p:sp>
      <p:sp>
        <p:nvSpPr>
          <p:cNvPr id="14" name="Text Placeholder 4"/>
          <p:cNvSpPr>
            <a:spLocks noGrp="1"/>
          </p:cNvSpPr>
          <p:nvPr>
            <p:ph type="body" sz="quarter" idx="13"/>
          </p:nvPr>
        </p:nvSpPr>
        <p:spPr>
          <a:xfrm>
            <a:off x="9499601" y="2641600"/>
            <a:ext cx="3909484" cy="768349"/>
          </a:xfrm>
        </p:spPr>
        <p:txBody>
          <a:bodyPr anchor="b">
            <a:noAutofit/>
          </a:bodyPr>
          <a:lstStyle>
            <a:lvl1pPr marL="0" indent="0">
              <a:buNone/>
              <a:defRPr sz="3200" b="0">
                <a:solidFill>
                  <a:schemeClr val="bg2">
                    <a:lumMod val="40000"/>
                    <a:lumOff val="60000"/>
                  </a:schemeClr>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pt-BR"/>
              <a:t>Clique para editar os estilos de texto Mestres</a:t>
            </a:r>
          </a:p>
        </p:txBody>
      </p:sp>
      <p:sp>
        <p:nvSpPr>
          <p:cNvPr id="20" name="Text Placeholder 3"/>
          <p:cNvSpPr>
            <a:spLocks noGrp="1"/>
          </p:cNvSpPr>
          <p:nvPr>
            <p:ph type="body" sz="half" idx="17"/>
          </p:nvPr>
        </p:nvSpPr>
        <p:spPr>
          <a:xfrm>
            <a:off x="9499601" y="3556000"/>
            <a:ext cx="3909484" cy="4785784"/>
          </a:xfrm>
        </p:spPr>
        <p:txBody>
          <a:bodyPr anchor="t">
            <a:normAutofit/>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pt-BR"/>
              <a:t>Clique para editar os estilos de texto Mestres</a:t>
            </a:r>
          </a:p>
        </p:txBody>
      </p:sp>
      <p:cxnSp>
        <p:nvCxnSpPr>
          <p:cNvPr id="17" name="Straight Connector 16"/>
          <p:cNvCxnSpPr/>
          <p:nvPr/>
        </p:nvCxnSpPr>
        <p:spPr>
          <a:xfrm>
            <a:off x="4968189" y="2844800"/>
            <a:ext cx="0" cy="52832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9282969" y="2844800"/>
            <a:ext cx="0" cy="5289176"/>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D8BD707-D9CF-40AE-B4C6-C98DA3205C09}" type="datetimeFigureOut">
              <a:rPr lang="en-US" smtClean="0"/>
              <a:pPr/>
              <a:t>5/14/2026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5757067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unas de Image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5600"/>
            </a:lvl1pPr>
          </a:lstStyle>
          <a:p>
            <a:r>
              <a:rPr lang="pt-BR"/>
              <a:t>Clique para editar o título Mestre</a:t>
            </a:r>
            <a:endParaRPr lang="en-US" dirty="0"/>
          </a:p>
        </p:txBody>
      </p:sp>
      <p:sp>
        <p:nvSpPr>
          <p:cNvPr id="3" name="Text Placeholder 2"/>
          <p:cNvSpPr>
            <a:spLocks noGrp="1"/>
          </p:cNvSpPr>
          <p:nvPr>
            <p:ph type="body" idx="1"/>
          </p:nvPr>
        </p:nvSpPr>
        <p:spPr>
          <a:xfrm>
            <a:off x="869951" y="5667932"/>
            <a:ext cx="3920067" cy="768349"/>
          </a:xfrm>
        </p:spPr>
        <p:txBody>
          <a:bodyPr anchor="b">
            <a:noAutofit/>
          </a:bodyPr>
          <a:lstStyle>
            <a:lvl1pPr marL="0" indent="0">
              <a:buNone/>
              <a:defRPr sz="3200" b="0">
                <a:solidFill>
                  <a:schemeClr val="bg2">
                    <a:lumMod val="40000"/>
                    <a:lumOff val="60000"/>
                  </a:schemeClr>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pt-BR"/>
              <a:t>Clique para editar os estilos de texto Mestres</a:t>
            </a:r>
          </a:p>
        </p:txBody>
      </p:sp>
      <p:sp>
        <p:nvSpPr>
          <p:cNvPr id="29" name="Picture Placeholder 2"/>
          <p:cNvSpPr>
            <a:spLocks noGrp="1" noChangeAspect="1"/>
          </p:cNvSpPr>
          <p:nvPr>
            <p:ph type="pic" idx="15"/>
          </p:nvPr>
        </p:nvSpPr>
        <p:spPr>
          <a:xfrm>
            <a:off x="869951" y="2946400"/>
            <a:ext cx="3920067" cy="203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133"/>
            </a:lvl1pPr>
            <a:lvl2pPr marL="609585" indent="0">
              <a:buNone/>
              <a:defRPr sz="2133"/>
            </a:lvl2pPr>
            <a:lvl3pPr marL="1219170" indent="0">
              <a:buNone/>
              <a:defRPr sz="2133"/>
            </a:lvl3pPr>
            <a:lvl4pPr marL="1828754" indent="0">
              <a:buNone/>
              <a:defRPr sz="2133"/>
            </a:lvl4pPr>
            <a:lvl5pPr marL="2438339" indent="0">
              <a:buNone/>
              <a:defRPr sz="2133"/>
            </a:lvl5pPr>
            <a:lvl6pPr marL="3047924" indent="0">
              <a:buNone/>
              <a:defRPr sz="2133"/>
            </a:lvl6pPr>
            <a:lvl7pPr marL="3657509" indent="0">
              <a:buNone/>
              <a:defRPr sz="2133"/>
            </a:lvl7pPr>
            <a:lvl8pPr marL="4267093" indent="0">
              <a:buNone/>
              <a:defRPr sz="2133"/>
            </a:lvl8pPr>
            <a:lvl9pPr marL="4876678" indent="0">
              <a:buNone/>
              <a:defRPr sz="2133"/>
            </a:lvl9pPr>
          </a:lstStyle>
          <a:p>
            <a:r>
              <a:rPr lang="pt-BR"/>
              <a:t>Clique no ícone para adicionar uma imagem</a:t>
            </a:r>
            <a:endParaRPr lang="en-US" dirty="0"/>
          </a:p>
        </p:txBody>
      </p:sp>
      <p:sp>
        <p:nvSpPr>
          <p:cNvPr id="22" name="Text Placeholder 3"/>
          <p:cNvSpPr>
            <a:spLocks noGrp="1"/>
          </p:cNvSpPr>
          <p:nvPr>
            <p:ph type="body" sz="half" idx="18"/>
          </p:nvPr>
        </p:nvSpPr>
        <p:spPr>
          <a:xfrm>
            <a:off x="869951" y="6436282"/>
            <a:ext cx="3920067" cy="878919"/>
          </a:xfrm>
        </p:spPr>
        <p:txBody>
          <a:bodyPr anchor="t">
            <a:normAutofit/>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pt-BR"/>
              <a:t>Clique para editar os estilos de texto Mestres</a:t>
            </a:r>
          </a:p>
        </p:txBody>
      </p:sp>
      <p:sp>
        <p:nvSpPr>
          <p:cNvPr id="5" name="Text Placeholder 4"/>
          <p:cNvSpPr>
            <a:spLocks noGrp="1"/>
          </p:cNvSpPr>
          <p:nvPr>
            <p:ph type="body" sz="quarter" idx="3"/>
          </p:nvPr>
        </p:nvSpPr>
        <p:spPr>
          <a:xfrm>
            <a:off x="5185834" y="5667932"/>
            <a:ext cx="3907367" cy="768349"/>
          </a:xfrm>
        </p:spPr>
        <p:txBody>
          <a:bodyPr anchor="b">
            <a:noAutofit/>
          </a:bodyPr>
          <a:lstStyle>
            <a:lvl1pPr marL="0" indent="0">
              <a:buNone/>
              <a:defRPr sz="3200" b="0">
                <a:solidFill>
                  <a:schemeClr val="bg2">
                    <a:lumMod val="40000"/>
                    <a:lumOff val="60000"/>
                  </a:schemeClr>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pt-BR"/>
              <a:t>Clique para editar os estilos de texto Mestres</a:t>
            </a:r>
          </a:p>
        </p:txBody>
      </p:sp>
      <p:sp>
        <p:nvSpPr>
          <p:cNvPr id="30" name="Picture Placeholder 2"/>
          <p:cNvSpPr>
            <a:spLocks noGrp="1" noChangeAspect="1"/>
          </p:cNvSpPr>
          <p:nvPr>
            <p:ph type="pic" idx="21"/>
          </p:nvPr>
        </p:nvSpPr>
        <p:spPr>
          <a:xfrm>
            <a:off x="5185833" y="2946400"/>
            <a:ext cx="3907367" cy="203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133"/>
            </a:lvl1pPr>
            <a:lvl2pPr marL="609585" indent="0">
              <a:buNone/>
              <a:defRPr sz="2133"/>
            </a:lvl2pPr>
            <a:lvl3pPr marL="1219170" indent="0">
              <a:buNone/>
              <a:defRPr sz="2133"/>
            </a:lvl3pPr>
            <a:lvl4pPr marL="1828754" indent="0">
              <a:buNone/>
              <a:defRPr sz="2133"/>
            </a:lvl4pPr>
            <a:lvl5pPr marL="2438339" indent="0">
              <a:buNone/>
              <a:defRPr sz="2133"/>
            </a:lvl5pPr>
            <a:lvl6pPr marL="3047924" indent="0">
              <a:buNone/>
              <a:defRPr sz="2133"/>
            </a:lvl6pPr>
            <a:lvl7pPr marL="3657509" indent="0">
              <a:buNone/>
              <a:defRPr sz="2133"/>
            </a:lvl7pPr>
            <a:lvl8pPr marL="4267093" indent="0">
              <a:buNone/>
              <a:defRPr sz="2133"/>
            </a:lvl8pPr>
            <a:lvl9pPr marL="4876678" indent="0">
              <a:buNone/>
              <a:defRPr sz="2133"/>
            </a:lvl9pPr>
          </a:lstStyle>
          <a:p>
            <a:r>
              <a:rPr lang="pt-BR"/>
              <a:t>Clique no ícone para adicionar uma imagem</a:t>
            </a:r>
            <a:endParaRPr lang="en-US" dirty="0"/>
          </a:p>
        </p:txBody>
      </p:sp>
      <p:sp>
        <p:nvSpPr>
          <p:cNvPr id="23" name="Text Placeholder 3"/>
          <p:cNvSpPr>
            <a:spLocks noGrp="1"/>
          </p:cNvSpPr>
          <p:nvPr>
            <p:ph type="body" sz="half" idx="19"/>
          </p:nvPr>
        </p:nvSpPr>
        <p:spPr>
          <a:xfrm>
            <a:off x="5184030" y="6436281"/>
            <a:ext cx="3912541" cy="878919"/>
          </a:xfrm>
        </p:spPr>
        <p:txBody>
          <a:bodyPr anchor="t">
            <a:normAutofit/>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pt-BR"/>
              <a:t>Clique para editar os estilos de texto Mestres</a:t>
            </a:r>
          </a:p>
        </p:txBody>
      </p:sp>
      <p:sp>
        <p:nvSpPr>
          <p:cNvPr id="14" name="Text Placeholder 4"/>
          <p:cNvSpPr>
            <a:spLocks noGrp="1"/>
          </p:cNvSpPr>
          <p:nvPr>
            <p:ph type="body" sz="quarter" idx="13"/>
          </p:nvPr>
        </p:nvSpPr>
        <p:spPr>
          <a:xfrm>
            <a:off x="9499601" y="5667932"/>
            <a:ext cx="3909484" cy="768349"/>
          </a:xfrm>
        </p:spPr>
        <p:txBody>
          <a:bodyPr anchor="b">
            <a:noAutofit/>
          </a:bodyPr>
          <a:lstStyle>
            <a:lvl1pPr marL="0" indent="0">
              <a:buNone/>
              <a:defRPr sz="3200" b="0">
                <a:solidFill>
                  <a:schemeClr val="bg2">
                    <a:lumMod val="40000"/>
                    <a:lumOff val="60000"/>
                  </a:schemeClr>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pt-BR"/>
              <a:t>Clique para editar os estilos de texto Mestres</a:t>
            </a:r>
          </a:p>
        </p:txBody>
      </p:sp>
      <p:sp>
        <p:nvSpPr>
          <p:cNvPr id="31" name="Picture Placeholder 2"/>
          <p:cNvSpPr>
            <a:spLocks noGrp="1" noChangeAspect="1"/>
          </p:cNvSpPr>
          <p:nvPr>
            <p:ph type="pic" idx="22"/>
          </p:nvPr>
        </p:nvSpPr>
        <p:spPr>
          <a:xfrm>
            <a:off x="9499599" y="2946400"/>
            <a:ext cx="3909484" cy="203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133"/>
            </a:lvl1pPr>
            <a:lvl2pPr marL="609585" indent="0">
              <a:buNone/>
              <a:defRPr sz="2133"/>
            </a:lvl2pPr>
            <a:lvl3pPr marL="1219170" indent="0">
              <a:buNone/>
              <a:defRPr sz="2133"/>
            </a:lvl3pPr>
            <a:lvl4pPr marL="1828754" indent="0">
              <a:buNone/>
              <a:defRPr sz="2133"/>
            </a:lvl4pPr>
            <a:lvl5pPr marL="2438339" indent="0">
              <a:buNone/>
              <a:defRPr sz="2133"/>
            </a:lvl5pPr>
            <a:lvl6pPr marL="3047924" indent="0">
              <a:buNone/>
              <a:defRPr sz="2133"/>
            </a:lvl6pPr>
            <a:lvl7pPr marL="3657509" indent="0">
              <a:buNone/>
              <a:defRPr sz="2133"/>
            </a:lvl7pPr>
            <a:lvl8pPr marL="4267093" indent="0">
              <a:buNone/>
              <a:defRPr sz="2133"/>
            </a:lvl8pPr>
            <a:lvl9pPr marL="4876678" indent="0">
              <a:buNone/>
              <a:defRPr sz="2133"/>
            </a:lvl9pPr>
          </a:lstStyle>
          <a:p>
            <a:r>
              <a:rPr lang="pt-BR"/>
              <a:t>Clique no ícone para adicionar uma imagem</a:t>
            </a:r>
            <a:endParaRPr lang="en-US" dirty="0"/>
          </a:p>
        </p:txBody>
      </p:sp>
      <p:sp>
        <p:nvSpPr>
          <p:cNvPr id="24" name="Text Placeholder 3"/>
          <p:cNvSpPr>
            <a:spLocks noGrp="1"/>
          </p:cNvSpPr>
          <p:nvPr>
            <p:ph type="body" sz="half" idx="20"/>
          </p:nvPr>
        </p:nvSpPr>
        <p:spPr>
          <a:xfrm>
            <a:off x="9499434" y="6436278"/>
            <a:ext cx="3914663" cy="878919"/>
          </a:xfrm>
        </p:spPr>
        <p:txBody>
          <a:bodyPr anchor="t">
            <a:normAutofit/>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pt-BR"/>
              <a:t>Clique para editar os estilos de texto Mestres</a:t>
            </a:r>
          </a:p>
        </p:txBody>
      </p:sp>
      <p:cxnSp>
        <p:nvCxnSpPr>
          <p:cNvPr id="19" name="Straight Connector 18"/>
          <p:cNvCxnSpPr/>
          <p:nvPr/>
        </p:nvCxnSpPr>
        <p:spPr>
          <a:xfrm>
            <a:off x="4968189" y="2844800"/>
            <a:ext cx="0" cy="52832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9282969" y="2844800"/>
            <a:ext cx="0" cy="5289176"/>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D8BD707-D9CF-40AE-B4C6-C98DA3205C09}" type="datetimeFigureOut">
              <a:rPr lang="en-US" smtClean="0"/>
              <a:pPr/>
              <a:t>5/14/2026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22830071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anchor="t" anchorCtr="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31966172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072284" y="573618"/>
            <a:ext cx="2336801" cy="7768167"/>
          </a:xfrm>
        </p:spPr>
        <p:txBody>
          <a:bodyPr vert="eaVert" anchor="b" anchorCtr="0"/>
          <a:lstStyle/>
          <a:p>
            <a:r>
              <a:rPr lang="pt-BR"/>
              <a:t>Clique para editar o título Mestre</a:t>
            </a:r>
            <a:endParaRPr lang="en-US" dirty="0"/>
          </a:p>
        </p:txBody>
      </p:sp>
      <p:sp>
        <p:nvSpPr>
          <p:cNvPr id="3" name="Vertical Text Placeholder 2"/>
          <p:cNvSpPr>
            <a:spLocks noGrp="1"/>
          </p:cNvSpPr>
          <p:nvPr>
            <p:ph type="body" orient="vert" idx="1"/>
          </p:nvPr>
        </p:nvSpPr>
        <p:spPr>
          <a:xfrm>
            <a:off x="869951" y="1183219"/>
            <a:ext cx="9897532" cy="7158565"/>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37069114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3559581"/>
            <a:ext cx="5382683" cy="5584420"/>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3856464"/>
            <a:ext cx="2029883" cy="3153937"/>
          </a:xfrm>
          <a:prstGeom prst="rect">
            <a:avLst/>
          </a:prstGeom>
        </p:spPr>
      </p:pic>
      <p:sp>
        <p:nvSpPr>
          <p:cNvPr id="16" name="Oval 15"/>
          <p:cNvSpPr/>
          <p:nvPr/>
        </p:nvSpPr>
        <p:spPr>
          <a:xfrm>
            <a:off x="11478683"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10665884" y="1"/>
            <a:ext cx="2137849" cy="1521876"/>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11474504" y="8128000"/>
            <a:ext cx="1324979" cy="1016000"/>
          </a:xfrm>
          <a:prstGeom prst="rect">
            <a:avLst/>
          </a:prstGeom>
        </p:spPr>
      </p:pic>
      <p:sp>
        <p:nvSpPr>
          <p:cNvPr id="14" name="Rectangle 13"/>
          <p:cNvSpPr/>
          <p:nvPr/>
        </p:nvSpPr>
        <p:spPr>
          <a:xfrm>
            <a:off x="13917083"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2" name="Title Placeholder 1"/>
          <p:cNvSpPr>
            <a:spLocks noGrp="1"/>
          </p:cNvSpPr>
          <p:nvPr>
            <p:ph type="title"/>
          </p:nvPr>
        </p:nvSpPr>
        <p:spPr>
          <a:xfrm>
            <a:off x="861482" y="603624"/>
            <a:ext cx="12539631" cy="1867373"/>
          </a:xfrm>
          <a:prstGeom prst="rect">
            <a:avLst/>
          </a:prstGeom>
        </p:spPr>
        <p:txBody>
          <a:bodyPr vert="horz" lIns="91440" tIns="45720" rIns="91440" bIns="45720" rtlCol="0" anchor="t">
            <a:noAutofit/>
          </a:bodyPr>
          <a:lstStyle/>
          <a:p>
            <a:r>
              <a:rPr lang="pt-BR"/>
              <a:t>Clique para editar o título Mestre</a:t>
            </a:r>
            <a:endParaRPr lang="en-US" dirty="0"/>
          </a:p>
        </p:txBody>
      </p:sp>
      <p:sp>
        <p:nvSpPr>
          <p:cNvPr id="3" name="Text Placeholder 2"/>
          <p:cNvSpPr>
            <a:spLocks noGrp="1"/>
          </p:cNvSpPr>
          <p:nvPr>
            <p:ph type="body" idx="1"/>
          </p:nvPr>
        </p:nvSpPr>
        <p:spPr>
          <a:xfrm>
            <a:off x="1471084" y="2737225"/>
            <a:ext cx="11928721" cy="5593975"/>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rot="5400000">
            <a:off x="13540853" y="2387602"/>
            <a:ext cx="1320799" cy="406399"/>
          </a:xfrm>
          <a:prstGeom prst="rect">
            <a:avLst/>
          </a:prstGeom>
        </p:spPr>
        <p:txBody>
          <a:bodyPr vert="horz" lIns="91440" tIns="45720" rIns="91440" bIns="45720" rtlCol="0" anchor="t"/>
          <a:lstStyle>
            <a:lvl1pPr algn="l">
              <a:defRPr sz="1467" b="0" i="0">
                <a:solidFill>
                  <a:schemeClr val="tx1">
                    <a:tint val="75000"/>
                    <a:alpha val="60000"/>
                  </a:schemeClr>
                </a:solidFill>
              </a:defRPr>
            </a:lvl1pPr>
          </a:lstStyle>
          <a:p>
            <a:fld id="{1D8BD707-D9CF-40AE-B4C6-C98DA3205C09}" type="datetimeFigureOut">
              <a:rPr lang="en-US" smtClean="0"/>
              <a:pPr/>
              <a:t>5/14/2026</a:t>
            </a:fld>
            <a:endParaRPr lang="en-US"/>
          </a:p>
        </p:txBody>
      </p:sp>
      <p:sp>
        <p:nvSpPr>
          <p:cNvPr id="5" name="Footer Placeholder 4"/>
          <p:cNvSpPr>
            <a:spLocks noGrp="1"/>
          </p:cNvSpPr>
          <p:nvPr>
            <p:ph type="ftr" sz="quarter" idx="3"/>
          </p:nvPr>
        </p:nvSpPr>
        <p:spPr>
          <a:xfrm rot="5400000">
            <a:off x="11935432" y="4300397"/>
            <a:ext cx="5146393" cy="406401"/>
          </a:xfrm>
          <a:prstGeom prst="rect">
            <a:avLst/>
          </a:prstGeom>
        </p:spPr>
        <p:txBody>
          <a:bodyPr vert="horz" lIns="91440" tIns="45720" rIns="91440" bIns="45720" rtlCol="0" anchor="b"/>
          <a:lstStyle>
            <a:lvl1pPr algn="l">
              <a:defRPr sz="1467"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3803387" y="394306"/>
            <a:ext cx="1117599" cy="1023583"/>
          </a:xfrm>
          <a:prstGeom prst="rect">
            <a:avLst/>
          </a:prstGeom>
        </p:spPr>
        <p:txBody>
          <a:bodyPr vert="horz" lIns="91440" tIns="45720" rIns="91440" bIns="45720" rtlCol="0" anchor="b"/>
          <a:lstStyle>
            <a:lvl1pPr algn="ctr">
              <a:defRPr sz="3733" b="0" i="0">
                <a:solidFill>
                  <a:schemeClr val="tx1">
                    <a:tint val="75000"/>
                  </a:schemeClr>
                </a:solidFill>
              </a:defRPr>
            </a:lvl1pPr>
          </a:lstStyle>
          <a:p>
            <a:fld id="{B6F15528-21DE-4FAA-801E-634DDDAF4B2B}" type="slidenum">
              <a:rPr lang="en-US" smtClean="0"/>
              <a:pPr/>
              <a:t>‹nº›</a:t>
            </a:fld>
            <a:endParaRPr lang="en-US"/>
          </a:p>
        </p:txBody>
      </p:sp>
    </p:spTree>
    <p:extLst>
      <p:ext uri="{BB962C8B-B14F-4D97-AF65-F5344CB8AC3E}">
        <p14:creationId xmlns:p14="http://schemas.microsoft.com/office/powerpoint/2010/main" val="399735955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609585" rtl="0" eaLnBrk="1" latinLnBrk="0" hangingPunct="1">
        <a:spcBef>
          <a:spcPct val="0"/>
        </a:spcBef>
        <a:buNone/>
        <a:defRPr sz="56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457189" indent="-457189" algn="l" defTabSz="609585" rtl="0" eaLnBrk="1" latinLnBrk="0" hangingPunct="1">
        <a:spcBef>
          <a:spcPts val="1333"/>
        </a:spcBef>
        <a:spcAft>
          <a:spcPts val="0"/>
        </a:spcAft>
        <a:buClr>
          <a:schemeClr val="bg2">
            <a:lumMod val="40000"/>
            <a:lumOff val="60000"/>
          </a:schemeClr>
        </a:buClr>
        <a:buSzPct val="80000"/>
        <a:buFont typeface="Wingdings 3" charset="2"/>
        <a:buChar char=""/>
        <a:defRPr sz="2667" b="0" i="0" kern="1200">
          <a:solidFill>
            <a:schemeClr val="tx1"/>
          </a:solidFill>
          <a:latin typeface="+mj-lt"/>
          <a:ea typeface="+mj-ea"/>
          <a:cs typeface="+mj-cs"/>
        </a:defRPr>
      </a:lvl1pPr>
      <a:lvl2pPr marL="990575" indent="-380990" algn="l" defTabSz="609585" rtl="0" eaLnBrk="1" latinLnBrk="0" hangingPunct="1">
        <a:spcBef>
          <a:spcPts val="1333"/>
        </a:spcBef>
        <a:spcAft>
          <a:spcPts val="0"/>
        </a:spcAft>
        <a:buClr>
          <a:schemeClr val="bg2">
            <a:lumMod val="40000"/>
            <a:lumOff val="60000"/>
          </a:schemeClr>
        </a:buClr>
        <a:buSzPct val="80000"/>
        <a:buFont typeface="Wingdings 3" charset="2"/>
        <a:buChar char=""/>
        <a:defRPr sz="2400" b="0" i="0" kern="1200">
          <a:solidFill>
            <a:schemeClr val="tx1"/>
          </a:solidFill>
          <a:latin typeface="+mj-lt"/>
          <a:ea typeface="+mj-ea"/>
          <a:cs typeface="+mj-cs"/>
        </a:defRPr>
      </a:lvl2pPr>
      <a:lvl3pPr marL="1523962" indent="-304792" algn="l" defTabSz="609585" rtl="0" eaLnBrk="1" latinLnBrk="0" hangingPunct="1">
        <a:spcBef>
          <a:spcPts val="1333"/>
        </a:spcBef>
        <a:spcAft>
          <a:spcPts val="0"/>
        </a:spcAft>
        <a:buClr>
          <a:schemeClr val="bg2">
            <a:lumMod val="40000"/>
            <a:lumOff val="60000"/>
          </a:schemeClr>
        </a:buClr>
        <a:buSzPct val="80000"/>
        <a:buFont typeface="Wingdings 3" charset="2"/>
        <a:buChar char=""/>
        <a:defRPr sz="2133" b="0" i="0" kern="1200">
          <a:solidFill>
            <a:schemeClr val="tx1"/>
          </a:solidFill>
          <a:latin typeface="+mj-lt"/>
          <a:ea typeface="+mj-ea"/>
          <a:cs typeface="+mj-cs"/>
        </a:defRPr>
      </a:lvl3pPr>
      <a:lvl4pPr marL="2133547" indent="-304792" algn="l" defTabSz="609585" rtl="0" eaLnBrk="1" latinLnBrk="0" hangingPunct="1">
        <a:spcBef>
          <a:spcPts val="1333"/>
        </a:spcBef>
        <a:spcAft>
          <a:spcPts val="0"/>
        </a:spcAft>
        <a:buClr>
          <a:schemeClr val="bg2">
            <a:lumMod val="40000"/>
            <a:lumOff val="60000"/>
          </a:schemeClr>
        </a:buClr>
        <a:buSzPct val="80000"/>
        <a:buFont typeface="Wingdings 3" charset="2"/>
        <a:buChar char=""/>
        <a:defRPr sz="1867" b="0" i="0" kern="1200">
          <a:solidFill>
            <a:schemeClr val="tx1"/>
          </a:solidFill>
          <a:latin typeface="+mj-lt"/>
          <a:ea typeface="+mj-ea"/>
          <a:cs typeface="+mj-cs"/>
        </a:defRPr>
      </a:lvl4pPr>
      <a:lvl5pPr marL="2743131" indent="-304792" algn="l" defTabSz="609585" rtl="0" eaLnBrk="1" latinLnBrk="0" hangingPunct="1">
        <a:spcBef>
          <a:spcPts val="1333"/>
        </a:spcBef>
        <a:spcAft>
          <a:spcPts val="0"/>
        </a:spcAft>
        <a:buClr>
          <a:schemeClr val="bg2">
            <a:lumMod val="40000"/>
            <a:lumOff val="60000"/>
          </a:schemeClr>
        </a:buClr>
        <a:buSzPct val="80000"/>
        <a:buFont typeface="Wingdings 3" charset="2"/>
        <a:buChar char=""/>
        <a:defRPr sz="1867" b="0" i="0" kern="1200">
          <a:solidFill>
            <a:schemeClr val="tx1"/>
          </a:solidFill>
          <a:latin typeface="+mj-lt"/>
          <a:ea typeface="+mj-ea"/>
          <a:cs typeface="+mj-cs"/>
        </a:defRPr>
      </a:lvl5pPr>
      <a:lvl6pPr marL="3341250" indent="-304792" algn="l" defTabSz="609585" rtl="0" eaLnBrk="1" latinLnBrk="0" hangingPunct="1">
        <a:spcBef>
          <a:spcPts val="1333"/>
        </a:spcBef>
        <a:spcAft>
          <a:spcPts val="0"/>
        </a:spcAft>
        <a:buClr>
          <a:schemeClr val="bg2">
            <a:lumMod val="40000"/>
            <a:lumOff val="60000"/>
          </a:schemeClr>
        </a:buClr>
        <a:buSzPct val="80000"/>
        <a:buFont typeface="Wingdings 3" charset="2"/>
        <a:buChar char=""/>
        <a:defRPr sz="1867" b="0" i="0" kern="1200">
          <a:solidFill>
            <a:schemeClr val="tx1"/>
          </a:solidFill>
          <a:latin typeface="+mj-lt"/>
          <a:ea typeface="+mj-ea"/>
          <a:cs typeface="+mj-cs"/>
        </a:defRPr>
      </a:lvl6pPr>
      <a:lvl7pPr marL="3962301" indent="-304792" algn="l" defTabSz="609585" rtl="0" eaLnBrk="1" latinLnBrk="0" hangingPunct="1">
        <a:spcBef>
          <a:spcPts val="1333"/>
        </a:spcBef>
        <a:spcAft>
          <a:spcPts val="0"/>
        </a:spcAft>
        <a:buClr>
          <a:schemeClr val="bg2">
            <a:lumMod val="40000"/>
            <a:lumOff val="60000"/>
          </a:schemeClr>
        </a:buClr>
        <a:buSzPct val="80000"/>
        <a:buFont typeface="Wingdings 3" charset="2"/>
        <a:buChar char=""/>
        <a:defRPr sz="1867" b="0" i="0" kern="1200">
          <a:solidFill>
            <a:schemeClr val="tx1"/>
          </a:solidFill>
          <a:latin typeface="+mj-lt"/>
          <a:ea typeface="+mj-ea"/>
          <a:cs typeface="+mj-cs"/>
        </a:defRPr>
      </a:lvl7pPr>
      <a:lvl8pPr marL="4571886" indent="-304792" algn="l" defTabSz="609585" rtl="0" eaLnBrk="1" latinLnBrk="0" hangingPunct="1">
        <a:spcBef>
          <a:spcPts val="1333"/>
        </a:spcBef>
        <a:spcAft>
          <a:spcPts val="0"/>
        </a:spcAft>
        <a:buClr>
          <a:schemeClr val="bg2">
            <a:lumMod val="40000"/>
            <a:lumOff val="60000"/>
          </a:schemeClr>
        </a:buClr>
        <a:buSzPct val="80000"/>
        <a:buFont typeface="Wingdings 3" charset="2"/>
        <a:buChar char=""/>
        <a:defRPr sz="1867" b="0" i="0" kern="1200">
          <a:solidFill>
            <a:schemeClr val="tx1"/>
          </a:solidFill>
          <a:latin typeface="+mj-lt"/>
          <a:ea typeface="+mj-ea"/>
          <a:cs typeface="+mj-cs"/>
        </a:defRPr>
      </a:lvl8pPr>
      <a:lvl9pPr marL="5181470" indent="-304792" algn="l" defTabSz="609585" rtl="0" eaLnBrk="1" latinLnBrk="0" hangingPunct="1">
        <a:spcBef>
          <a:spcPts val="1333"/>
        </a:spcBef>
        <a:spcAft>
          <a:spcPts val="0"/>
        </a:spcAft>
        <a:buClr>
          <a:schemeClr val="bg2">
            <a:lumMod val="40000"/>
            <a:lumOff val="60000"/>
          </a:schemeClr>
        </a:buClr>
        <a:buSzPct val="80000"/>
        <a:buFont typeface="Wingdings 3" charset="2"/>
        <a:buChar char=""/>
        <a:defRPr sz="1867" b="0" i="0" kern="1200">
          <a:solidFill>
            <a:schemeClr val="tx1"/>
          </a:solidFill>
          <a:latin typeface="+mj-lt"/>
          <a:ea typeface="+mj-ea"/>
          <a:cs typeface="+mj-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png"/><Relationship Id="rId7" Type="http://schemas.openxmlformats.org/officeDocument/2006/relationships/image" Target="../media/image9.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png"/><Relationship Id="rId7"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5.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1.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3.jpeg"/><Relationship Id="rId5" Type="http://schemas.openxmlformats.org/officeDocument/2006/relationships/image" Target="../media/image5.pn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5.pn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3.jpeg"/><Relationship Id="rId5" Type="http://schemas.openxmlformats.org/officeDocument/2006/relationships/image" Target="../media/image5.pn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5.png"/><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png"/><Relationship Id="rId7" Type="http://schemas.openxmlformats.org/officeDocument/2006/relationships/image" Target="../media/image28.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30.png"/></Relationships>
</file>

<file path=ppt/slides/_rels/slide32.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png"/><Relationship Id="rId7" Type="http://schemas.openxmlformats.org/officeDocument/2006/relationships/image" Target="../media/image31.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png"/><Relationship Id="rId7" Type="http://schemas.openxmlformats.org/officeDocument/2006/relationships/image" Target="../media/image33.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2.png"/><Relationship Id="rId7" Type="http://schemas.openxmlformats.org/officeDocument/2006/relationships/image" Target="../media/image3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2.png"/><Relationship Id="rId7" Type="http://schemas.openxmlformats.org/officeDocument/2006/relationships/image" Target="../media/image37.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2.png"/><Relationship Id="rId7" Type="http://schemas.openxmlformats.org/officeDocument/2006/relationships/image" Target="../media/image35.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9.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2.png"/><Relationship Id="rId7" Type="http://schemas.openxmlformats.org/officeDocument/2006/relationships/image" Target="../media/image39.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41.png"/><Relationship Id="rId5" Type="http://schemas.openxmlformats.org/officeDocument/2006/relationships/image" Target="../media/image5.png"/><Relationship Id="rId4" Type="http://schemas.openxmlformats.org/officeDocument/2006/relationships/image" Target="../media/image4.png"/></Relationships>
</file>

<file path=ppt/slides/_rels/slide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42.png"/><Relationship Id="rId5" Type="http://schemas.openxmlformats.org/officeDocument/2006/relationships/image" Target="../media/image5.png"/><Relationship Id="rId4" Type="http://schemas.openxmlformats.org/officeDocument/2006/relationships/image" Target="../media/image4.png"/></Relationships>
</file>

<file path=ppt/slides/_rels/slide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image" Target="../media/image5.png"/><Relationship Id="rId4" Type="http://schemas.openxmlformats.org/officeDocument/2006/relationships/image" Target="../media/image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44.png"/><Relationship Id="rId5" Type="http://schemas.openxmlformats.org/officeDocument/2006/relationships/image" Target="../media/image5.png"/><Relationship Id="rId4" Type="http://schemas.openxmlformats.org/officeDocument/2006/relationships/image" Target="../media/image4.png"/></Relationships>
</file>

<file path=ppt/slides/_rels/slide5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51.png"/><Relationship Id="rId5" Type="http://schemas.openxmlformats.org/officeDocument/2006/relationships/image" Target="../media/image5.png"/><Relationship Id="rId4" Type="http://schemas.openxmlformats.org/officeDocument/2006/relationships/image" Target="../media/image4.png"/></Relationships>
</file>

<file path=ppt/slides/_rels/slide6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4.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r="871"/>
          <a:stretch>
            <a:fillRect/>
          </a:stretch>
        </p:blipFill>
        <p:spPr>
          <a:xfrm>
            <a:off x="20" y="1709"/>
            <a:ext cx="16255980" cy="914229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B7F5EF03-23EF-3B4C-AA4C-218966E08D68}"/>
              </a:ext>
            </a:extLst>
          </p:cNvPr>
          <p:cNvSpPr txBox="1"/>
          <p:nvPr/>
        </p:nvSpPr>
        <p:spPr>
          <a:xfrm>
            <a:off x="1193800" y="1295400"/>
            <a:ext cx="11811000" cy="707886"/>
          </a:xfrm>
          <a:prstGeom prst="rect">
            <a:avLst/>
          </a:prstGeom>
          <a:noFill/>
        </p:spPr>
        <p:txBody>
          <a:bodyPr wrap="square">
            <a:spAutoFit/>
          </a:bodyPr>
          <a:lstStyle/>
          <a:p>
            <a:r>
              <a:rPr lang="pt-BR" sz="4000" dirty="0">
                <a:solidFill>
                  <a:srgbClr val="FFC000"/>
                </a:solidFill>
              </a:rPr>
              <a:t>ATENÇÃO – CONTROLE DE FREQUÊNCIA</a:t>
            </a:r>
          </a:p>
        </p:txBody>
      </p:sp>
      <p:sp>
        <p:nvSpPr>
          <p:cNvPr id="5" name="CaixaDeTexto 4">
            <a:extLst>
              <a:ext uri="{FF2B5EF4-FFF2-40B4-BE49-F238E27FC236}">
                <a16:creationId xmlns:a16="http://schemas.microsoft.com/office/drawing/2014/main" id="{1B2EDAC6-F105-1128-3C6A-A66959D8BFF7}"/>
              </a:ext>
            </a:extLst>
          </p:cNvPr>
          <p:cNvSpPr txBox="1"/>
          <p:nvPr/>
        </p:nvSpPr>
        <p:spPr>
          <a:xfrm>
            <a:off x="1346200" y="2743200"/>
            <a:ext cx="12268200" cy="5262979"/>
          </a:xfrm>
          <a:prstGeom prst="rect">
            <a:avLst/>
          </a:prstGeom>
          <a:noFill/>
        </p:spPr>
        <p:txBody>
          <a:bodyPr wrap="square">
            <a:spAutoFit/>
          </a:bodyPr>
          <a:lstStyle/>
          <a:p>
            <a:pPr>
              <a:buNone/>
            </a:pPr>
            <a:r>
              <a:rPr lang="pt-BR" sz="2800" dirty="0"/>
              <a:t> O curso possui carga horária total de 36 horas.</a:t>
            </a:r>
          </a:p>
          <a:p>
            <a:pPr>
              <a:buNone/>
            </a:pPr>
            <a:endParaRPr lang="pt-BR" sz="2800" dirty="0"/>
          </a:p>
          <a:p>
            <a:pPr>
              <a:buNone/>
            </a:pPr>
            <a:r>
              <a:rPr lang="pt-BR" sz="2800" dirty="0"/>
              <a:t> O limite máximo de faltas permitido é de </a:t>
            </a:r>
            <a:r>
              <a:rPr lang="pt-BR" sz="2800" dirty="0">
                <a:solidFill>
                  <a:srgbClr val="FFC000"/>
                </a:solidFill>
              </a:rPr>
              <a:t>25% </a:t>
            </a:r>
            <a:r>
              <a:rPr lang="pt-BR" sz="2800" dirty="0"/>
              <a:t>da carga horária, o que corresponde a:</a:t>
            </a:r>
            <a:br>
              <a:rPr lang="pt-BR" sz="2800" dirty="0"/>
            </a:br>
            <a:r>
              <a:rPr lang="pt-BR" sz="2800" dirty="0"/>
              <a:t> até </a:t>
            </a:r>
            <a:r>
              <a:rPr lang="pt-BR" sz="2800" dirty="0">
                <a:solidFill>
                  <a:srgbClr val="FFC000"/>
                </a:solidFill>
              </a:rPr>
              <a:t>9 horas </a:t>
            </a:r>
            <a:r>
              <a:rPr lang="pt-BR" sz="2800" dirty="0"/>
              <a:t>de ausência no total</a:t>
            </a:r>
          </a:p>
          <a:p>
            <a:pPr>
              <a:buNone/>
            </a:pPr>
            <a:endParaRPr lang="pt-BR" sz="2800" dirty="0"/>
          </a:p>
          <a:p>
            <a:pPr>
              <a:buNone/>
            </a:pPr>
            <a:r>
              <a:rPr lang="pt-BR" sz="2800" dirty="0"/>
              <a:t> Isso equivale a </a:t>
            </a:r>
            <a:r>
              <a:rPr lang="pt-BR" sz="2800" dirty="0">
                <a:solidFill>
                  <a:srgbClr val="FFC000"/>
                </a:solidFill>
              </a:rPr>
              <a:t>2</a:t>
            </a:r>
            <a:r>
              <a:rPr lang="pt-BR" sz="2800" dirty="0"/>
              <a:t> dias de aula apenas.</a:t>
            </a:r>
          </a:p>
          <a:p>
            <a:pPr>
              <a:buNone/>
            </a:pPr>
            <a:endParaRPr lang="pt-BR" sz="2800" dirty="0"/>
          </a:p>
          <a:p>
            <a:pPr>
              <a:buNone/>
            </a:pPr>
            <a:r>
              <a:rPr lang="pt-BR" sz="2800" dirty="0"/>
              <a:t> Ultrapassar esse limite resulta em reprovação automática por falta</a:t>
            </a:r>
          </a:p>
          <a:p>
            <a:pPr>
              <a:buNone/>
            </a:pPr>
            <a:endParaRPr lang="pt-BR" sz="2800" dirty="0"/>
          </a:p>
          <a:p>
            <a:pPr>
              <a:buNone/>
            </a:pPr>
            <a:r>
              <a:rPr lang="pt-BR" sz="2800" dirty="0">
                <a:solidFill>
                  <a:srgbClr val="FFC000"/>
                </a:solidFill>
              </a:rPr>
              <a:t> Mantenha sua frequência e acompanhe todas as aulas com atenção.</a:t>
            </a:r>
          </a:p>
        </p:txBody>
      </p:sp>
    </p:spTree>
    <p:extLst>
      <p:ext uri="{BB962C8B-B14F-4D97-AF65-F5344CB8AC3E}">
        <p14:creationId xmlns:p14="http://schemas.microsoft.com/office/powerpoint/2010/main" val="42066355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pic>
        <p:nvPicPr>
          <p:cNvPr id="3" name="Picture 8">
            <a:extLst>
              <a:ext uri="{FF2B5EF4-FFF2-40B4-BE49-F238E27FC236}">
                <a16:creationId xmlns:a16="http://schemas.microsoft.com/office/drawing/2014/main" id="{293DE365-550F-D965-CBCD-24ED51303DD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127000" y="8077200"/>
            <a:ext cx="3913632" cy="1154521"/>
          </a:xfrm>
          <a:prstGeom prst="rect">
            <a:avLst/>
          </a:prstGeom>
          <a:noFill/>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C3120D92-3E8F-70FD-C04C-6F1B81F137B1}"/>
            </a:ext>
          </a:extLst>
        </p:cNvPr>
        <p:cNvGrpSpPr/>
        <p:nvPr/>
      </p:nvGrpSpPr>
      <p:grpSpPr>
        <a:xfrm>
          <a:off x="0" y="0"/>
          <a:ext cx="0" cy="0"/>
          <a:chOff x="0" y="0"/>
          <a:chExt cx="0" cy="0"/>
        </a:xfrm>
      </p:grpSpPr>
      <p:pic>
        <p:nvPicPr>
          <p:cNvPr id="1032" name="Picture 1031">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1034" name="Picture 1033">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1036" name="Oval 1035">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1038" name="Picture 1037">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1040" name="Picture 1039">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1042" name="Rectangle 1041">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1044" name="Rectangle 1043">
            <a:extLst>
              <a:ext uri="{FF2B5EF4-FFF2-40B4-BE49-F238E27FC236}">
                <a16:creationId xmlns:a16="http://schemas.microsoft.com/office/drawing/2014/main" id="{C8A3C342-1D03-412F-8DD3-BF519E8E0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046" name="Freeform 31">
            <a:extLst>
              <a:ext uri="{FF2B5EF4-FFF2-40B4-BE49-F238E27FC236}">
                <a16:creationId xmlns:a16="http://schemas.microsoft.com/office/drawing/2014/main" id="{81CC9B02-E087-4350-AEBD-2C3CF001A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71166" y="-2097"/>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1027" name="Picture 3" descr="Python Programming Language - 10B@sic">
            <a:extLst>
              <a:ext uri="{FF2B5EF4-FFF2-40B4-BE49-F238E27FC236}">
                <a16:creationId xmlns:a16="http://schemas.microsoft.com/office/drawing/2014/main" id="{DCBB5D24-3F42-D1CD-1576-B3882F4786F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l="14901" r="30713"/>
          <a:stretch>
            <a:fillRect/>
          </a:stretch>
        </p:blipFill>
        <p:spPr bwMode="auto">
          <a:xfrm>
            <a:off x="4" y="10"/>
            <a:ext cx="6630798" cy="9143991"/>
          </a:xfrm>
          <a:custGeom>
            <a:avLst/>
            <a:gdLst/>
            <a:ahLst/>
            <a:cxnLst/>
            <a:rect l="l" t="t" r="r" b="b"/>
            <a:pathLst>
              <a:path w="4973099" h="6858001">
                <a:moveTo>
                  <a:pt x="3628384" y="0"/>
                </a:moveTo>
                <a:lnTo>
                  <a:pt x="4971922" y="0"/>
                </a:lnTo>
                <a:lnTo>
                  <a:pt x="4946877" y="155677"/>
                </a:lnTo>
                <a:lnTo>
                  <a:pt x="4923008" y="310668"/>
                </a:lnTo>
                <a:lnTo>
                  <a:pt x="4899644" y="466344"/>
                </a:lnTo>
                <a:lnTo>
                  <a:pt x="4879641" y="622707"/>
                </a:lnTo>
                <a:lnTo>
                  <a:pt x="4859470" y="778383"/>
                </a:lnTo>
                <a:lnTo>
                  <a:pt x="4840644" y="934746"/>
                </a:lnTo>
                <a:lnTo>
                  <a:pt x="4824508" y="1089051"/>
                </a:lnTo>
                <a:lnTo>
                  <a:pt x="4809212" y="1245413"/>
                </a:lnTo>
                <a:lnTo>
                  <a:pt x="4795260" y="1401090"/>
                </a:lnTo>
                <a:lnTo>
                  <a:pt x="4783158" y="1554023"/>
                </a:lnTo>
                <a:lnTo>
                  <a:pt x="4771055" y="1709014"/>
                </a:lnTo>
                <a:lnTo>
                  <a:pt x="4760970" y="1861947"/>
                </a:lnTo>
                <a:lnTo>
                  <a:pt x="4753070" y="2014881"/>
                </a:lnTo>
                <a:lnTo>
                  <a:pt x="4744833" y="2167128"/>
                </a:lnTo>
                <a:lnTo>
                  <a:pt x="4737942" y="2318004"/>
                </a:lnTo>
                <a:lnTo>
                  <a:pt x="4733067" y="2467509"/>
                </a:lnTo>
                <a:lnTo>
                  <a:pt x="4728865" y="2617013"/>
                </a:lnTo>
                <a:lnTo>
                  <a:pt x="4724831" y="2765146"/>
                </a:lnTo>
                <a:lnTo>
                  <a:pt x="4722982" y="2911221"/>
                </a:lnTo>
                <a:lnTo>
                  <a:pt x="4720965" y="3057297"/>
                </a:lnTo>
                <a:lnTo>
                  <a:pt x="4719956" y="3201315"/>
                </a:lnTo>
                <a:lnTo>
                  <a:pt x="4720965" y="3343961"/>
                </a:lnTo>
                <a:lnTo>
                  <a:pt x="4720965" y="3485236"/>
                </a:lnTo>
                <a:lnTo>
                  <a:pt x="4722982" y="3625139"/>
                </a:lnTo>
                <a:lnTo>
                  <a:pt x="4726007" y="3762299"/>
                </a:lnTo>
                <a:lnTo>
                  <a:pt x="4728865" y="3898087"/>
                </a:lnTo>
                <a:lnTo>
                  <a:pt x="4732059" y="4031133"/>
                </a:lnTo>
                <a:lnTo>
                  <a:pt x="4736933" y="4163492"/>
                </a:lnTo>
                <a:lnTo>
                  <a:pt x="4742144" y="4293793"/>
                </a:lnTo>
                <a:lnTo>
                  <a:pt x="4746850" y="4421352"/>
                </a:lnTo>
                <a:lnTo>
                  <a:pt x="4760130" y="4670298"/>
                </a:lnTo>
                <a:lnTo>
                  <a:pt x="4774249" y="4908956"/>
                </a:lnTo>
                <a:lnTo>
                  <a:pt x="4789041" y="5138013"/>
                </a:lnTo>
                <a:lnTo>
                  <a:pt x="4805346" y="5354726"/>
                </a:lnTo>
                <a:lnTo>
                  <a:pt x="4822323" y="5561838"/>
                </a:lnTo>
                <a:lnTo>
                  <a:pt x="4840644" y="5753862"/>
                </a:lnTo>
                <a:lnTo>
                  <a:pt x="4858630" y="5934227"/>
                </a:lnTo>
                <a:lnTo>
                  <a:pt x="4876615" y="6100191"/>
                </a:lnTo>
                <a:lnTo>
                  <a:pt x="4893592" y="6252438"/>
                </a:lnTo>
                <a:lnTo>
                  <a:pt x="4909729" y="6387541"/>
                </a:lnTo>
                <a:lnTo>
                  <a:pt x="4925025" y="6509613"/>
                </a:lnTo>
                <a:lnTo>
                  <a:pt x="4937800" y="6612483"/>
                </a:lnTo>
                <a:lnTo>
                  <a:pt x="4949902" y="6698894"/>
                </a:lnTo>
                <a:lnTo>
                  <a:pt x="4967216" y="6817538"/>
                </a:lnTo>
                <a:lnTo>
                  <a:pt x="4973099" y="6858000"/>
                </a:lnTo>
                <a:lnTo>
                  <a:pt x="4075210" y="6858000"/>
                </a:lnTo>
                <a:lnTo>
                  <a:pt x="4075210" y="6858001"/>
                </a:lnTo>
                <a:lnTo>
                  <a:pt x="0" y="6858001"/>
                </a:lnTo>
                <a:lnTo>
                  <a:pt x="0" y="1"/>
                </a:lnTo>
                <a:lnTo>
                  <a:pt x="3628384" y="1"/>
                </a:lnTo>
                <a:close/>
              </a:path>
            </a:pathLst>
          </a:custGeom>
          <a:noFill/>
          <a:extLst>
            <a:ext uri="{909E8E84-426E-40DD-AFC4-6F175D3DCCD1}">
              <a14:hiddenFill xmlns:a14="http://schemas.microsoft.com/office/drawing/2010/main">
                <a:solidFill>
                  <a:srgbClr val="FFFFFF"/>
                </a:solidFill>
              </a14:hiddenFill>
            </a:ext>
          </a:extLst>
        </p:spPr>
      </p:pic>
      <p:sp>
        <p:nvSpPr>
          <p:cNvPr id="1048" name="Rectangle 1047">
            <a:extLst>
              <a:ext uri="{FF2B5EF4-FFF2-40B4-BE49-F238E27FC236}">
                <a16:creationId xmlns:a16="http://schemas.microsoft.com/office/drawing/2014/main" id="{D6F18ACE-6E82-4ADC-8A2F-A1771B309B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23264"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 name="Rectangle 1">
            <a:extLst>
              <a:ext uri="{FF2B5EF4-FFF2-40B4-BE49-F238E27FC236}">
                <a16:creationId xmlns:a16="http://schemas.microsoft.com/office/drawing/2014/main" id="{71D926B7-BA56-8379-55F2-F9AEACA656DA}"/>
              </a:ext>
            </a:extLst>
          </p:cNvPr>
          <p:cNvSpPr>
            <a:spLocks noChangeArrowheads="1"/>
          </p:cNvSpPr>
          <p:nvPr/>
        </p:nvSpPr>
        <p:spPr bwMode="auto">
          <a:xfrm>
            <a:off x="6756400" y="1775013"/>
            <a:ext cx="8762000" cy="559397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R="0" lvl="0" fontAlgn="base">
              <a:spcBef>
                <a:spcPts val="1000"/>
              </a:spcBef>
              <a:buClr>
                <a:schemeClr val="bg2">
                  <a:lumMod val="40000"/>
                  <a:lumOff val="60000"/>
                </a:schemeClr>
              </a:buClr>
              <a:buSzPct val="80000"/>
              <a:tabLst/>
            </a:pPr>
            <a:r>
              <a:rPr kumimoji="0" lang="en-US" altLang="pt-BR" sz="2800" u="none" strike="noStrike" cap="none" normalizeH="0" baseline="0" dirty="0">
                <a:ln>
                  <a:noFill/>
                </a:ln>
                <a:effectLst/>
                <a:latin typeface="+mj-lt"/>
                <a:ea typeface="+mj-ea"/>
                <a:cs typeface="+mj-cs"/>
              </a:rPr>
              <a:t> </a:t>
            </a:r>
          </a:p>
          <a:p>
            <a:pPr marL="342900" marR="0" lvl="0" indent="-342900" fontAlgn="base">
              <a:spcBef>
                <a:spcPts val="1000"/>
              </a:spcBef>
              <a:buClr>
                <a:schemeClr val="bg2">
                  <a:lumMod val="40000"/>
                  <a:lumOff val="60000"/>
                </a:schemeClr>
              </a:buClr>
              <a:buSzPct val="80000"/>
              <a:buFont typeface="Arial" panose="020B0604020202020204" pitchFamily="34" charset="0"/>
              <a:buChar char="•"/>
              <a:tabLst/>
            </a:pPr>
            <a:r>
              <a:rPr kumimoji="0" lang="en-US" altLang="pt-BR" sz="2400" b="1" u="none" strike="noStrike" cap="none" normalizeH="0" baseline="0" dirty="0" err="1">
                <a:ln>
                  <a:noFill/>
                </a:ln>
                <a:solidFill>
                  <a:srgbClr val="FFC000"/>
                </a:solidFill>
                <a:effectLst/>
                <a:latin typeface="+mj-lt"/>
                <a:ea typeface="+mj-ea"/>
                <a:cs typeface="+mj-cs"/>
              </a:rPr>
              <a:t>Linguagem</a:t>
            </a:r>
            <a:r>
              <a:rPr kumimoji="0" lang="en-US" altLang="pt-BR" sz="2400" b="1" u="none" strike="noStrike" cap="none" normalizeH="0" baseline="0" dirty="0">
                <a:ln>
                  <a:noFill/>
                </a:ln>
                <a:solidFill>
                  <a:srgbClr val="FFC000"/>
                </a:solidFill>
                <a:effectLst/>
                <a:latin typeface="+mj-lt"/>
                <a:ea typeface="+mj-ea"/>
                <a:cs typeface="+mj-cs"/>
              </a:rPr>
              <a:t> </a:t>
            </a:r>
            <a:r>
              <a:rPr kumimoji="0" lang="en-US" altLang="pt-BR" sz="2400" b="1" u="none" strike="noStrike" cap="none" normalizeH="0" baseline="0" dirty="0" err="1">
                <a:ln>
                  <a:noFill/>
                </a:ln>
                <a:solidFill>
                  <a:srgbClr val="FFC000"/>
                </a:solidFill>
                <a:effectLst/>
                <a:latin typeface="+mj-lt"/>
                <a:ea typeface="+mj-ea"/>
                <a:cs typeface="+mj-cs"/>
              </a:rPr>
              <a:t>interpretada</a:t>
            </a:r>
            <a:r>
              <a:rPr kumimoji="0" lang="en-US" altLang="pt-BR" sz="2400" b="1" u="none" strike="noStrike" cap="none" normalizeH="0" baseline="0" dirty="0">
                <a:ln>
                  <a:noFill/>
                </a:ln>
                <a:solidFill>
                  <a:srgbClr val="FFC000"/>
                </a:solidFill>
                <a:effectLst/>
                <a:latin typeface="+mj-lt"/>
                <a:ea typeface="+mj-ea"/>
                <a:cs typeface="+mj-cs"/>
              </a:rPr>
              <a:t> e </a:t>
            </a:r>
            <a:r>
              <a:rPr kumimoji="0" lang="en-US" altLang="pt-BR" sz="2400" b="1" u="none" strike="noStrike" cap="none" normalizeH="0" baseline="0" dirty="0" err="1">
                <a:ln>
                  <a:noFill/>
                </a:ln>
                <a:solidFill>
                  <a:srgbClr val="FFC000"/>
                </a:solidFill>
                <a:effectLst/>
                <a:latin typeface="+mj-lt"/>
                <a:ea typeface="+mj-ea"/>
                <a:cs typeface="+mj-cs"/>
              </a:rPr>
              <a:t>fracamente</a:t>
            </a:r>
            <a:r>
              <a:rPr kumimoji="0" lang="en-US" altLang="pt-BR" sz="2400" b="1" u="none" strike="noStrike" cap="none" normalizeH="0" baseline="0" dirty="0">
                <a:ln>
                  <a:noFill/>
                </a:ln>
                <a:solidFill>
                  <a:srgbClr val="FFC000"/>
                </a:solidFill>
                <a:effectLst/>
                <a:latin typeface="+mj-lt"/>
                <a:ea typeface="+mj-ea"/>
                <a:cs typeface="+mj-cs"/>
              </a:rPr>
              <a:t> </a:t>
            </a:r>
            <a:r>
              <a:rPr kumimoji="0" lang="en-US" altLang="pt-BR" sz="2400" b="1" u="none" strike="noStrike" cap="none" normalizeH="0" baseline="0" dirty="0" err="1">
                <a:ln>
                  <a:noFill/>
                </a:ln>
                <a:solidFill>
                  <a:srgbClr val="FFC000"/>
                </a:solidFill>
                <a:effectLst/>
                <a:latin typeface="+mj-lt"/>
                <a:ea typeface="+mj-ea"/>
                <a:cs typeface="+mj-cs"/>
              </a:rPr>
              <a:t>tipada</a:t>
            </a:r>
            <a:r>
              <a:rPr kumimoji="0" lang="en-US" altLang="pt-BR" sz="2400" b="1" u="none" strike="noStrike" cap="none" normalizeH="0" baseline="0" dirty="0">
                <a:ln>
                  <a:noFill/>
                </a:ln>
                <a:solidFill>
                  <a:srgbClr val="FFC000"/>
                </a:solidFill>
                <a:effectLst/>
                <a:latin typeface="+mj-lt"/>
                <a:ea typeface="+mj-ea"/>
                <a:cs typeface="+mj-cs"/>
              </a:rPr>
              <a:t> </a:t>
            </a:r>
          </a:p>
          <a:p>
            <a:pPr marL="342900" marR="0" lvl="0" indent="-342900" fontAlgn="base">
              <a:spcBef>
                <a:spcPts val="1000"/>
              </a:spcBef>
              <a:buClr>
                <a:schemeClr val="bg2">
                  <a:lumMod val="40000"/>
                  <a:lumOff val="60000"/>
                </a:schemeClr>
              </a:buClr>
              <a:buSzPct val="80000"/>
              <a:buFont typeface="Arial" panose="020B0604020202020204" pitchFamily="34" charset="0"/>
              <a:buChar char="•"/>
              <a:tabLst/>
            </a:pPr>
            <a:endParaRPr kumimoji="0" lang="en-US" altLang="pt-BR" sz="2400" b="1" u="none" strike="noStrike" cap="none" normalizeH="0" baseline="0" dirty="0">
              <a:ln>
                <a:noFill/>
              </a:ln>
              <a:solidFill>
                <a:srgbClr val="FFC000"/>
              </a:solidFill>
              <a:effectLst/>
              <a:latin typeface="+mj-lt"/>
              <a:ea typeface="+mj-ea"/>
              <a:cs typeface="+mj-cs"/>
            </a:endParaRPr>
          </a:p>
          <a:p>
            <a:pPr marL="342900" marR="0" lvl="0" indent="-342900" fontAlgn="base">
              <a:spcBef>
                <a:spcPts val="1000"/>
              </a:spcBef>
              <a:buClr>
                <a:schemeClr val="bg2">
                  <a:lumMod val="40000"/>
                  <a:lumOff val="60000"/>
                </a:schemeClr>
              </a:buClr>
              <a:buSzPct val="80000"/>
              <a:buFont typeface="Arial" panose="020B0604020202020204" pitchFamily="34" charset="0"/>
              <a:buChar char="•"/>
              <a:tabLst/>
            </a:pPr>
            <a:r>
              <a:rPr kumimoji="0" lang="en-US" altLang="pt-BR" sz="2400" b="1" u="none" strike="noStrike" cap="none" normalizeH="0" baseline="0" dirty="0" err="1">
                <a:ln>
                  <a:noFill/>
                </a:ln>
                <a:solidFill>
                  <a:srgbClr val="FFC000"/>
                </a:solidFill>
                <a:effectLst/>
                <a:latin typeface="+mj-lt"/>
                <a:ea typeface="+mj-ea"/>
                <a:cs typeface="+mj-cs"/>
              </a:rPr>
              <a:t>Multiplataforma</a:t>
            </a:r>
            <a:r>
              <a:rPr kumimoji="0" lang="en-US" altLang="pt-BR" sz="2400" b="1" u="none" strike="noStrike" cap="none" normalizeH="0" baseline="0" dirty="0">
                <a:ln>
                  <a:noFill/>
                </a:ln>
                <a:solidFill>
                  <a:srgbClr val="FFC000"/>
                </a:solidFill>
                <a:effectLst/>
                <a:latin typeface="+mj-lt"/>
                <a:ea typeface="+mj-ea"/>
                <a:cs typeface="+mj-cs"/>
              </a:rPr>
              <a:t>: Web, Mobile e Desktop </a:t>
            </a:r>
          </a:p>
          <a:p>
            <a:pPr marL="342900" marR="0" lvl="0" indent="-342900" fontAlgn="base">
              <a:spcBef>
                <a:spcPts val="1000"/>
              </a:spcBef>
              <a:buClr>
                <a:schemeClr val="bg2">
                  <a:lumMod val="40000"/>
                  <a:lumOff val="60000"/>
                </a:schemeClr>
              </a:buClr>
              <a:buSzPct val="80000"/>
              <a:buFont typeface="Arial" panose="020B0604020202020204" pitchFamily="34" charset="0"/>
              <a:buChar char="•"/>
              <a:tabLst/>
            </a:pPr>
            <a:endParaRPr kumimoji="0" lang="en-US" altLang="pt-BR" sz="2400" b="1" u="none" strike="noStrike" cap="none" normalizeH="0" baseline="0" dirty="0">
              <a:ln>
                <a:noFill/>
              </a:ln>
              <a:solidFill>
                <a:srgbClr val="FFC000"/>
              </a:solidFill>
              <a:effectLst/>
              <a:latin typeface="+mj-lt"/>
              <a:ea typeface="+mj-ea"/>
              <a:cs typeface="+mj-cs"/>
            </a:endParaRPr>
          </a:p>
          <a:p>
            <a:pPr marL="342900" marR="0" lvl="0" indent="-342900" fontAlgn="base">
              <a:spcBef>
                <a:spcPts val="1000"/>
              </a:spcBef>
              <a:buClr>
                <a:schemeClr val="bg2">
                  <a:lumMod val="40000"/>
                  <a:lumOff val="60000"/>
                </a:schemeClr>
              </a:buClr>
              <a:buSzPct val="80000"/>
              <a:buFont typeface="Arial" panose="020B0604020202020204" pitchFamily="34" charset="0"/>
              <a:buChar char="•"/>
              <a:tabLst/>
            </a:pPr>
            <a:r>
              <a:rPr kumimoji="0" lang="en-US" altLang="pt-BR" sz="2400" b="1" u="none" strike="noStrike" cap="none" normalizeH="0" baseline="0" dirty="0">
                <a:ln>
                  <a:noFill/>
                </a:ln>
                <a:solidFill>
                  <a:srgbClr val="FFC000"/>
                </a:solidFill>
                <a:effectLst/>
                <a:latin typeface="+mj-lt"/>
                <a:ea typeface="+mj-ea"/>
                <a:cs typeface="+mj-cs"/>
              </a:rPr>
              <a:t>Pode ser </a:t>
            </a:r>
            <a:r>
              <a:rPr kumimoji="0" lang="en-US" altLang="pt-BR" sz="2400" b="1" u="none" strike="noStrike" cap="none" normalizeH="0" baseline="0" dirty="0" err="1">
                <a:ln>
                  <a:noFill/>
                </a:ln>
                <a:solidFill>
                  <a:srgbClr val="FFC000"/>
                </a:solidFill>
                <a:effectLst/>
                <a:latin typeface="+mj-lt"/>
                <a:ea typeface="+mj-ea"/>
                <a:cs typeface="+mj-cs"/>
              </a:rPr>
              <a:t>executada</a:t>
            </a:r>
            <a:r>
              <a:rPr kumimoji="0" lang="en-US" altLang="pt-BR" sz="2400" b="1" u="none" strike="noStrike" cap="none" normalizeH="0" baseline="0" dirty="0">
                <a:ln>
                  <a:noFill/>
                </a:ln>
                <a:solidFill>
                  <a:srgbClr val="FFC000"/>
                </a:solidFill>
                <a:effectLst/>
                <a:latin typeface="+mj-lt"/>
                <a:ea typeface="+mj-ea"/>
                <a:cs typeface="+mj-cs"/>
              </a:rPr>
              <a:t> via terminal </a:t>
            </a:r>
            <a:r>
              <a:rPr kumimoji="0" lang="en-US" altLang="pt-BR" sz="2400" b="1" u="none" strike="noStrike" cap="none" normalizeH="0" baseline="0" dirty="0" err="1">
                <a:ln>
                  <a:noFill/>
                </a:ln>
                <a:solidFill>
                  <a:srgbClr val="FFC000"/>
                </a:solidFill>
                <a:effectLst/>
                <a:latin typeface="+mj-lt"/>
                <a:ea typeface="+mj-ea"/>
                <a:cs typeface="+mj-cs"/>
              </a:rPr>
              <a:t>ou</a:t>
            </a:r>
            <a:r>
              <a:rPr kumimoji="0" lang="en-US" altLang="pt-BR" sz="2400" b="1" u="none" strike="noStrike" cap="none" normalizeH="0" baseline="0" dirty="0">
                <a:ln>
                  <a:noFill/>
                </a:ln>
                <a:solidFill>
                  <a:srgbClr val="FFC000"/>
                </a:solidFill>
                <a:effectLst/>
                <a:latin typeface="+mj-lt"/>
                <a:ea typeface="+mj-ea"/>
                <a:cs typeface="+mj-cs"/>
              </a:rPr>
              <a:t> </a:t>
            </a:r>
            <a:r>
              <a:rPr kumimoji="0" lang="en-US" altLang="pt-BR" sz="2400" b="1" u="none" strike="noStrike" cap="none" normalizeH="0" baseline="0" dirty="0" err="1">
                <a:ln>
                  <a:noFill/>
                </a:ln>
                <a:solidFill>
                  <a:srgbClr val="FFC000"/>
                </a:solidFill>
                <a:effectLst/>
                <a:latin typeface="+mj-lt"/>
                <a:ea typeface="+mj-ea"/>
                <a:cs typeface="+mj-cs"/>
              </a:rPr>
              <a:t>servidores</a:t>
            </a:r>
            <a:r>
              <a:rPr kumimoji="0" lang="en-US" altLang="pt-BR" sz="2400" b="1" u="none" strike="noStrike" cap="none" normalizeH="0" baseline="0" dirty="0">
                <a:ln>
                  <a:noFill/>
                </a:ln>
                <a:solidFill>
                  <a:srgbClr val="FFC000"/>
                </a:solidFill>
                <a:effectLst/>
                <a:latin typeface="+mj-lt"/>
                <a:ea typeface="+mj-ea"/>
                <a:cs typeface="+mj-cs"/>
              </a:rPr>
              <a:t> web </a:t>
            </a:r>
          </a:p>
          <a:p>
            <a:pPr marL="342900" marR="0" lvl="0" indent="-342900" fontAlgn="base">
              <a:spcBef>
                <a:spcPts val="1000"/>
              </a:spcBef>
              <a:buClr>
                <a:schemeClr val="bg2">
                  <a:lumMod val="40000"/>
                  <a:lumOff val="60000"/>
                </a:schemeClr>
              </a:buClr>
              <a:buSzPct val="80000"/>
              <a:buFont typeface="Arial" panose="020B0604020202020204" pitchFamily="34" charset="0"/>
              <a:buChar char="•"/>
              <a:tabLst/>
            </a:pPr>
            <a:endParaRPr kumimoji="0" lang="en-US" altLang="pt-BR" sz="2400" b="1" u="none" strike="noStrike" cap="none" normalizeH="0" baseline="0" dirty="0">
              <a:ln>
                <a:noFill/>
              </a:ln>
              <a:solidFill>
                <a:srgbClr val="FFC000"/>
              </a:solidFill>
              <a:effectLst/>
              <a:latin typeface="+mj-lt"/>
              <a:ea typeface="+mj-ea"/>
              <a:cs typeface="+mj-cs"/>
            </a:endParaRPr>
          </a:p>
          <a:p>
            <a:pPr marL="342900" marR="0" lvl="0" indent="-342900" fontAlgn="base">
              <a:spcBef>
                <a:spcPts val="1000"/>
              </a:spcBef>
              <a:buClr>
                <a:schemeClr val="bg2">
                  <a:lumMod val="40000"/>
                  <a:lumOff val="60000"/>
                </a:schemeClr>
              </a:buClr>
              <a:buSzPct val="80000"/>
              <a:buFont typeface="Arial" panose="020B0604020202020204" pitchFamily="34" charset="0"/>
              <a:buChar char="•"/>
              <a:tabLst/>
            </a:pPr>
            <a:r>
              <a:rPr kumimoji="0" lang="en-US" altLang="pt-BR" sz="2400" b="1" u="none" strike="noStrike" cap="none" normalizeH="0" baseline="0" dirty="0">
                <a:ln>
                  <a:noFill/>
                </a:ln>
                <a:solidFill>
                  <a:srgbClr val="FFC000"/>
                </a:solidFill>
                <a:effectLst/>
                <a:latin typeface="+mj-lt"/>
                <a:ea typeface="+mj-ea"/>
                <a:cs typeface="+mj-cs"/>
              </a:rPr>
              <a:t>Grande </a:t>
            </a:r>
            <a:r>
              <a:rPr kumimoji="0" lang="en-US" altLang="pt-BR" sz="2400" b="1" u="none" strike="noStrike" cap="none" normalizeH="0" baseline="0" dirty="0" err="1">
                <a:ln>
                  <a:noFill/>
                </a:ln>
                <a:solidFill>
                  <a:srgbClr val="FFC000"/>
                </a:solidFill>
                <a:effectLst/>
                <a:latin typeface="+mj-lt"/>
                <a:ea typeface="+mj-ea"/>
                <a:cs typeface="+mj-cs"/>
              </a:rPr>
              <a:t>comunidade</a:t>
            </a:r>
            <a:r>
              <a:rPr kumimoji="0" lang="en-US" altLang="pt-BR" sz="2400" b="1" u="none" strike="noStrike" cap="none" normalizeH="0" baseline="0" dirty="0">
                <a:ln>
                  <a:noFill/>
                </a:ln>
                <a:solidFill>
                  <a:srgbClr val="FFC000"/>
                </a:solidFill>
                <a:effectLst/>
                <a:latin typeface="+mj-lt"/>
                <a:ea typeface="+mj-ea"/>
                <a:cs typeface="+mj-cs"/>
              </a:rPr>
              <a:t> de </a:t>
            </a:r>
            <a:r>
              <a:rPr kumimoji="0" lang="en-US" altLang="pt-BR" sz="2400" b="1" u="none" strike="noStrike" cap="none" normalizeH="0" baseline="0" dirty="0" err="1">
                <a:ln>
                  <a:noFill/>
                </a:ln>
                <a:solidFill>
                  <a:srgbClr val="FFC000"/>
                </a:solidFill>
                <a:effectLst/>
                <a:latin typeface="+mj-lt"/>
                <a:ea typeface="+mj-ea"/>
                <a:cs typeface="+mj-cs"/>
              </a:rPr>
              <a:t>desenvolvedores</a:t>
            </a:r>
            <a:r>
              <a:rPr kumimoji="0" lang="en-US" altLang="pt-BR" sz="2400" b="1" u="none" strike="noStrike" cap="none" normalizeH="0" baseline="0" dirty="0">
                <a:ln>
                  <a:noFill/>
                </a:ln>
                <a:solidFill>
                  <a:srgbClr val="FFC000"/>
                </a:solidFill>
                <a:effectLst/>
                <a:latin typeface="+mj-lt"/>
                <a:ea typeface="+mj-ea"/>
                <a:cs typeface="+mj-cs"/>
              </a:rPr>
              <a:t> </a:t>
            </a:r>
          </a:p>
          <a:p>
            <a:pPr marL="342900" marR="0" lvl="0" indent="-342900" fontAlgn="base">
              <a:spcBef>
                <a:spcPts val="1000"/>
              </a:spcBef>
              <a:buClr>
                <a:schemeClr val="bg2">
                  <a:lumMod val="40000"/>
                  <a:lumOff val="60000"/>
                </a:schemeClr>
              </a:buClr>
              <a:buSzPct val="80000"/>
              <a:buFont typeface="Arial" panose="020B0604020202020204" pitchFamily="34" charset="0"/>
              <a:buChar char="•"/>
              <a:tabLst/>
            </a:pPr>
            <a:endParaRPr kumimoji="0" lang="en-US" altLang="pt-BR" sz="2400" b="1" u="none" strike="noStrike" cap="none" normalizeH="0" baseline="0" dirty="0">
              <a:ln>
                <a:noFill/>
              </a:ln>
              <a:solidFill>
                <a:srgbClr val="FFC000"/>
              </a:solidFill>
              <a:effectLst/>
              <a:latin typeface="+mj-lt"/>
              <a:ea typeface="+mj-ea"/>
              <a:cs typeface="+mj-cs"/>
            </a:endParaRPr>
          </a:p>
          <a:p>
            <a:pPr marL="342900" indent="-342900" fontAlgn="base">
              <a:spcBef>
                <a:spcPts val="1000"/>
              </a:spcBef>
              <a:buClr>
                <a:schemeClr val="bg2">
                  <a:lumMod val="40000"/>
                  <a:lumOff val="60000"/>
                </a:schemeClr>
              </a:buClr>
              <a:buSzPct val="80000"/>
              <a:buFont typeface="Arial" panose="020B0604020202020204" pitchFamily="34" charset="0"/>
              <a:buChar char="•"/>
            </a:pPr>
            <a:r>
              <a:rPr lang="pt-BR" sz="2400" b="1" dirty="0">
                <a:solidFill>
                  <a:srgbClr val="FFC000"/>
                </a:solidFill>
                <a:latin typeface="+mj-lt"/>
                <a:ea typeface="+mj-ea"/>
                <a:cs typeface="+mj-cs"/>
              </a:rPr>
              <a:t>Compatível com Windows, Linux, Unix e Mac</a:t>
            </a:r>
            <a:endParaRPr lang="en-US" altLang="pt-BR" sz="2400" b="1" dirty="0">
              <a:solidFill>
                <a:srgbClr val="FFC000"/>
              </a:solidFill>
              <a:latin typeface="+mj-lt"/>
              <a:ea typeface="+mj-ea"/>
              <a:cs typeface="+mj-cs"/>
            </a:endParaRPr>
          </a:p>
        </p:txBody>
      </p:sp>
      <p:pic>
        <p:nvPicPr>
          <p:cNvPr id="2" name="Picture 8">
            <a:extLst>
              <a:ext uri="{FF2B5EF4-FFF2-40B4-BE49-F238E27FC236}">
                <a16:creationId xmlns:a16="http://schemas.microsoft.com/office/drawing/2014/main" id="{73B2EF49-C8DA-A4BB-58F7-2A48E97E5FEF}"/>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tretch>
            <a:fillRect/>
          </a:stretch>
        </p:blipFill>
        <p:spPr bwMode="auto">
          <a:xfrm>
            <a:off x="8356600" y="580268"/>
            <a:ext cx="3913632" cy="1154521"/>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26458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C94E2F3B-E34D-F642-D4DF-A6EC914638E8}"/>
            </a:ext>
          </a:extLst>
        </p:cNvPr>
        <p:cNvGrpSpPr/>
        <p:nvPr/>
      </p:nvGrpSpPr>
      <p:grpSpPr>
        <a:xfrm>
          <a:off x="0" y="0"/>
          <a:ext cx="0" cy="0"/>
          <a:chOff x="0" y="0"/>
          <a:chExt cx="0" cy="0"/>
        </a:xfrm>
      </p:grpSpPr>
      <p:pic>
        <p:nvPicPr>
          <p:cNvPr id="2102" name="Picture 2101">
            <a:extLst>
              <a:ext uri="{FF2B5EF4-FFF2-40B4-BE49-F238E27FC236}">
                <a16:creationId xmlns:a16="http://schemas.microsoft.com/office/drawing/2014/main" id="{0F7302AF-86B9-441B-8D24-AC382E2A43A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2104" name="Picture 2103">
            <a:extLst>
              <a:ext uri="{FF2B5EF4-FFF2-40B4-BE49-F238E27FC236}">
                <a16:creationId xmlns:a16="http://schemas.microsoft.com/office/drawing/2014/main" id="{99A2A6C2-D371-4C6B-B50F-CC71C6D0103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2106" name="Oval 2105">
            <a:extLst>
              <a:ext uri="{FF2B5EF4-FFF2-40B4-BE49-F238E27FC236}">
                <a16:creationId xmlns:a16="http://schemas.microsoft.com/office/drawing/2014/main" id="{5F07A6A6-E44B-411E-AA18-65E4811366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2108" name="Picture 2107">
            <a:extLst>
              <a:ext uri="{FF2B5EF4-FFF2-40B4-BE49-F238E27FC236}">
                <a16:creationId xmlns:a16="http://schemas.microsoft.com/office/drawing/2014/main" id="{8CC3468F-5EED-42B0-8507-F30360E1D51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2110" name="Picture 2109">
            <a:extLst>
              <a:ext uri="{FF2B5EF4-FFF2-40B4-BE49-F238E27FC236}">
                <a16:creationId xmlns:a16="http://schemas.microsoft.com/office/drawing/2014/main" id="{591711EE-029D-453C-9AE9-E87829F1D3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2112" name="Rectangle 2111">
            <a:extLst>
              <a:ext uri="{FF2B5EF4-FFF2-40B4-BE49-F238E27FC236}">
                <a16:creationId xmlns:a16="http://schemas.microsoft.com/office/drawing/2014/main" id="{5D5A8E14-301B-40C0-A174-D2232EF95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4" name="CaixaDeTexto 3">
            <a:extLst>
              <a:ext uri="{FF2B5EF4-FFF2-40B4-BE49-F238E27FC236}">
                <a16:creationId xmlns:a16="http://schemas.microsoft.com/office/drawing/2014/main" id="{6C438859-0D92-A0E4-0B0A-DE829DA2B94F}"/>
              </a:ext>
            </a:extLst>
          </p:cNvPr>
          <p:cNvSpPr txBox="1"/>
          <p:nvPr/>
        </p:nvSpPr>
        <p:spPr>
          <a:xfrm>
            <a:off x="229673" y="109393"/>
            <a:ext cx="7655020" cy="2633173"/>
          </a:xfrm>
          <a:prstGeom prst="rect">
            <a:avLst/>
          </a:prstGeom>
        </p:spPr>
        <p:txBody>
          <a:bodyPr vert="horz" lIns="91440" tIns="45720" rIns="91440" bIns="45720" rtlCol="0" anchor="b">
            <a:normAutofit fontScale="92500" lnSpcReduction="20000"/>
          </a:bodyPr>
          <a:lstStyle/>
          <a:p>
            <a:pPr algn="ctr">
              <a:spcBef>
                <a:spcPct val="0"/>
              </a:spcBef>
              <a:spcAft>
                <a:spcPts val="600"/>
              </a:spcAft>
            </a:pPr>
            <a:r>
              <a:rPr lang="en-US" sz="6700" dirty="0" err="1">
                <a:solidFill>
                  <a:schemeClr val="tx2"/>
                </a:solidFill>
                <a:latin typeface="+mj-lt"/>
                <a:ea typeface="+mj-ea"/>
                <a:cs typeface="+mj-cs"/>
              </a:rPr>
              <a:t>Configurando</a:t>
            </a:r>
            <a:r>
              <a:rPr lang="en-US" sz="6700" dirty="0">
                <a:solidFill>
                  <a:schemeClr val="tx2"/>
                </a:solidFill>
                <a:latin typeface="+mj-lt"/>
                <a:ea typeface="+mj-ea"/>
                <a:cs typeface="+mj-cs"/>
              </a:rPr>
              <a:t> o </a:t>
            </a:r>
            <a:r>
              <a:rPr lang="en-US" sz="6700" dirty="0" err="1">
                <a:solidFill>
                  <a:schemeClr val="tx2"/>
                </a:solidFill>
                <a:latin typeface="+mj-lt"/>
                <a:ea typeface="+mj-ea"/>
                <a:cs typeface="+mj-cs"/>
              </a:rPr>
              <a:t>Ambiente</a:t>
            </a:r>
            <a:r>
              <a:rPr lang="en-US" sz="6700" dirty="0">
                <a:solidFill>
                  <a:schemeClr val="tx2"/>
                </a:solidFill>
                <a:latin typeface="+mj-lt"/>
                <a:ea typeface="+mj-ea"/>
                <a:cs typeface="+mj-cs"/>
              </a:rPr>
              <a:t> de </a:t>
            </a:r>
            <a:r>
              <a:rPr lang="en-US" sz="6700" dirty="0" err="1">
                <a:solidFill>
                  <a:schemeClr val="tx2"/>
                </a:solidFill>
                <a:latin typeface="+mj-lt"/>
                <a:ea typeface="+mj-ea"/>
                <a:cs typeface="+mj-cs"/>
              </a:rPr>
              <a:t>Desenvolvimento</a:t>
            </a:r>
            <a:endParaRPr lang="en-US" sz="6700" dirty="0">
              <a:solidFill>
                <a:schemeClr val="tx2"/>
              </a:solidFill>
              <a:latin typeface="+mj-lt"/>
              <a:ea typeface="+mj-ea"/>
              <a:cs typeface="+mj-cs"/>
            </a:endParaRPr>
          </a:p>
        </p:txBody>
      </p:sp>
      <p:sp>
        <p:nvSpPr>
          <p:cNvPr id="2114" name="Freeform: Shape 2113">
            <a:extLst>
              <a:ext uri="{FF2B5EF4-FFF2-40B4-BE49-F238E27FC236}">
                <a16:creationId xmlns:a16="http://schemas.microsoft.com/office/drawing/2014/main" id="{BC9CB508-FF90-4201-B852-19409B06D6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7753100" y="641099"/>
            <a:ext cx="9144001" cy="7861804"/>
          </a:xfrm>
          <a:custGeom>
            <a:avLst/>
            <a:gdLst>
              <a:gd name="connsiteX0" fmla="*/ 6858001 w 6858001"/>
              <a:gd name="connsiteY0" fmla="*/ 1177 h 5896353"/>
              <a:gd name="connsiteX1" fmla="*/ 6858001 w 6858001"/>
              <a:gd name="connsiteY1" fmla="*/ 1344715 h 5896353"/>
              <a:gd name="connsiteX2" fmla="*/ 6858000 w 6858001"/>
              <a:gd name="connsiteY2" fmla="*/ 1344715 h 5896353"/>
              <a:gd name="connsiteX3" fmla="*/ 6858000 w 6858001"/>
              <a:gd name="connsiteY3" fmla="*/ 5896353 h 5896353"/>
              <a:gd name="connsiteX4" fmla="*/ 0 w 6858001"/>
              <a:gd name="connsiteY4" fmla="*/ 5896352 h 5896353"/>
              <a:gd name="connsiteX5" fmla="*/ 0 w 6858001"/>
              <a:gd name="connsiteY5" fmla="*/ 904460 h 5896353"/>
              <a:gd name="connsiteX6" fmla="*/ 1 w 6858001"/>
              <a:gd name="connsiteY6" fmla="*/ 904460 h 5896353"/>
              <a:gd name="connsiteX7" fmla="*/ 1 w 6858001"/>
              <a:gd name="connsiteY7" fmla="*/ 0 h 5896353"/>
              <a:gd name="connsiteX8" fmla="*/ 40463 w 6858001"/>
              <a:gd name="connsiteY8" fmla="*/ 5883 h 5896353"/>
              <a:gd name="connsiteX9" fmla="*/ 159107 w 6858001"/>
              <a:gd name="connsiteY9" fmla="*/ 23196 h 5896353"/>
              <a:gd name="connsiteX10" fmla="*/ 245518 w 6858001"/>
              <a:gd name="connsiteY10" fmla="*/ 35299 h 5896353"/>
              <a:gd name="connsiteX11" fmla="*/ 348388 w 6858001"/>
              <a:gd name="connsiteY11" fmla="*/ 48073 h 5896353"/>
              <a:gd name="connsiteX12" fmla="*/ 470460 w 6858001"/>
              <a:gd name="connsiteY12" fmla="*/ 63369 h 5896353"/>
              <a:gd name="connsiteX13" fmla="*/ 605563 w 6858001"/>
              <a:gd name="connsiteY13" fmla="*/ 79506 h 5896353"/>
              <a:gd name="connsiteX14" fmla="*/ 757810 w 6858001"/>
              <a:gd name="connsiteY14" fmla="*/ 96483 h 5896353"/>
              <a:gd name="connsiteX15" fmla="*/ 923774 w 6858001"/>
              <a:gd name="connsiteY15" fmla="*/ 114469 h 5896353"/>
              <a:gd name="connsiteX16" fmla="*/ 1104139 w 6858001"/>
              <a:gd name="connsiteY16" fmla="*/ 132454 h 5896353"/>
              <a:gd name="connsiteX17" fmla="*/ 1296163 w 6858001"/>
              <a:gd name="connsiteY17" fmla="*/ 150776 h 5896353"/>
              <a:gd name="connsiteX18" fmla="*/ 1503275 w 6858001"/>
              <a:gd name="connsiteY18" fmla="*/ 167753 h 5896353"/>
              <a:gd name="connsiteX19" fmla="*/ 1719988 w 6858001"/>
              <a:gd name="connsiteY19" fmla="*/ 184058 h 5896353"/>
              <a:gd name="connsiteX20" fmla="*/ 1949045 w 6858001"/>
              <a:gd name="connsiteY20" fmla="*/ 198849 h 5896353"/>
              <a:gd name="connsiteX21" fmla="*/ 2187703 w 6858001"/>
              <a:gd name="connsiteY21" fmla="*/ 212969 h 5896353"/>
              <a:gd name="connsiteX22" fmla="*/ 2436649 w 6858001"/>
              <a:gd name="connsiteY22" fmla="*/ 226248 h 5896353"/>
              <a:gd name="connsiteX23" fmla="*/ 2564208 w 6858001"/>
              <a:gd name="connsiteY23" fmla="*/ 230955 h 5896353"/>
              <a:gd name="connsiteX24" fmla="*/ 2694509 w 6858001"/>
              <a:gd name="connsiteY24" fmla="*/ 236165 h 5896353"/>
              <a:gd name="connsiteX25" fmla="*/ 2826868 w 6858001"/>
              <a:gd name="connsiteY25" fmla="*/ 241040 h 5896353"/>
              <a:gd name="connsiteX26" fmla="*/ 2959914 w 6858001"/>
              <a:gd name="connsiteY26" fmla="*/ 244234 h 5896353"/>
              <a:gd name="connsiteX27" fmla="*/ 3095702 w 6858001"/>
              <a:gd name="connsiteY27" fmla="*/ 247091 h 5896353"/>
              <a:gd name="connsiteX28" fmla="*/ 3232862 w 6858001"/>
              <a:gd name="connsiteY28" fmla="*/ 250117 h 5896353"/>
              <a:gd name="connsiteX29" fmla="*/ 3372765 w 6858001"/>
              <a:gd name="connsiteY29" fmla="*/ 252134 h 5896353"/>
              <a:gd name="connsiteX30" fmla="*/ 3514040 w 6858001"/>
              <a:gd name="connsiteY30" fmla="*/ 252134 h 5896353"/>
              <a:gd name="connsiteX31" fmla="*/ 3656686 w 6858001"/>
              <a:gd name="connsiteY31" fmla="*/ 253142 h 5896353"/>
              <a:gd name="connsiteX32" fmla="*/ 3800704 w 6858001"/>
              <a:gd name="connsiteY32" fmla="*/ 252134 h 5896353"/>
              <a:gd name="connsiteX33" fmla="*/ 3946780 w 6858001"/>
              <a:gd name="connsiteY33" fmla="*/ 250117 h 5896353"/>
              <a:gd name="connsiteX34" fmla="*/ 4092855 w 6858001"/>
              <a:gd name="connsiteY34" fmla="*/ 248268 h 5896353"/>
              <a:gd name="connsiteX35" fmla="*/ 4240988 w 6858001"/>
              <a:gd name="connsiteY35" fmla="*/ 244234 h 5896353"/>
              <a:gd name="connsiteX36" fmla="*/ 4390492 w 6858001"/>
              <a:gd name="connsiteY36" fmla="*/ 240032 h 5896353"/>
              <a:gd name="connsiteX37" fmla="*/ 4539997 w 6858001"/>
              <a:gd name="connsiteY37" fmla="*/ 235157 h 5896353"/>
              <a:gd name="connsiteX38" fmla="*/ 4690873 w 6858001"/>
              <a:gd name="connsiteY38" fmla="*/ 228266 h 5896353"/>
              <a:gd name="connsiteX39" fmla="*/ 4843120 w 6858001"/>
              <a:gd name="connsiteY39" fmla="*/ 220029 h 5896353"/>
              <a:gd name="connsiteX40" fmla="*/ 4996054 w 6858001"/>
              <a:gd name="connsiteY40" fmla="*/ 212129 h 5896353"/>
              <a:gd name="connsiteX41" fmla="*/ 5148987 w 6858001"/>
              <a:gd name="connsiteY41" fmla="*/ 202044 h 5896353"/>
              <a:gd name="connsiteX42" fmla="*/ 5303978 w 6858001"/>
              <a:gd name="connsiteY42" fmla="*/ 189941 h 5896353"/>
              <a:gd name="connsiteX43" fmla="*/ 5456911 w 6858001"/>
              <a:gd name="connsiteY43" fmla="*/ 177839 h 5896353"/>
              <a:gd name="connsiteX44" fmla="*/ 5612588 w 6858001"/>
              <a:gd name="connsiteY44" fmla="*/ 163887 h 5896353"/>
              <a:gd name="connsiteX45" fmla="*/ 5768950 w 6858001"/>
              <a:gd name="connsiteY45" fmla="*/ 148591 h 5896353"/>
              <a:gd name="connsiteX46" fmla="*/ 5923255 w 6858001"/>
              <a:gd name="connsiteY46" fmla="*/ 132455 h 5896353"/>
              <a:gd name="connsiteX47" fmla="*/ 6079618 w 6858001"/>
              <a:gd name="connsiteY47" fmla="*/ 113629 h 5896353"/>
              <a:gd name="connsiteX48" fmla="*/ 6235294 w 6858001"/>
              <a:gd name="connsiteY48" fmla="*/ 93458 h 5896353"/>
              <a:gd name="connsiteX49" fmla="*/ 6391657 w 6858001"/>
              <a:gd name="connsiteY49" fmla="*/ 73455 h 5896353"/>
              <a:gd name="connsiteX50" fmla="*/ 6547333 w 6858001"/>
              <a:gd name="connsiteY50" fmla="*/ 50091 h 5896353"/>
              <a:gd name="connsiteX51" fmla="*/ 6702324 w 6858001"/>
              <a:gd name="connsiteY51" fmla="*/ 26222 h 589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5896353">
                <a:moveTo>
                  <a:pt x="6858001" y="1177"/>
                </a:moveTo>
                <a:lnTo>
                  <a:pt x="6858001" y="1344715"/>
                </a:lnTo>
                <a:lnTo>
                  <a:pt x="6858000" y="1344715"/>
                </a:lnTo>
                <a:lnTo>
                  <a:pt x="6858000" y="5896353"/>
                </a:lnTo>
                <a:lnTo>
                  <a:pt x="0" y="5896352"/>
                </a:lnTo>
                <a:lnTo>
                  <a:pt x="0" y="904460"/>
                </a:lnTo>
                <a:lnTo>
                  <a:pt x="1" y="904460"/>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8" y="241040"/>
                </a:lnTo>
                <a:lnTo>
                  <a:pt x="2959914" y="244234"/>
                </a:lnTo>
                <a:lnTo>
                  <a:pt x="3095702" y="247091"/>
                </a:lnTo>
                <a:lnTo>
                  <a:pt x="3232862" y="250117"/>
                </a:lnTo>
                <a:lnTo>
                  <a:pt x="3372765" y="252134"/>
                </a:lnTo>
                <a:lnTo>
                  <a:pt x="3514040" y="252134"/>
                </a:lnTo>
                <a:lnTo>
                  <a:pt x="3656686" y="253142"/>
                </a:lnTo>
                <a:lnTo>
                  <a:pt x="3800704" y="252134"/>
                </a:lnTo>
                <a:lnTo>
                  <a:pt x="3946780" y="250117"/>
                </a:lnTo>
                <a:lnTo>
                  <a:pt x="4092855"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solidFill>
            <a:srgbClr val="FFFFFF"/>
          </a:solidFill>
          <a:ln>
            <a:noFill/>
          </a:ln>
        </p:spPr>
        <p:txBody>
          <a:bodyPr/>
          <a:lstStyle/>
          <a:p>
            <a:endParaRPr lang="pt-BR"/>
          </a:p>
        </p:txBody>
      </p:sp>
      <p:sp>
        <p:nvSpPr>
          <p:cNvPr id="2116" name="Freeform 8">
            <a:extLst>
              <a:ext uri="{FF2B5EF4-FFF2-40B4-BE49-F238E27FC236}">
                <a16:creationId xmlns:a16="http://schemas.microsoft.com/office/drawing/2014/main" id="{67B72EB2-444A-42B0-BE12-6EA274B22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09932" y="-1"/>
            <a:ext cx="745962"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2118" name="Rectangle 2117">
            <a:extLst>
              <a:ext uri="{FF2B5EF4-FFF2-40B4-BE49-F238E27FC236}">
                <a16:creationId xmlns:a16="http://schemas.microsoft.com/office/drawing/2014/main" id="{769CD228-D5CA-4C29-A9D1-4C919760B0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2052" name="Picture 4" descr="Setup Python Development Environment in Visual Studio Code | Knowledge  Kitchen">
            <a:extLst>
              <a:ext uri="{FF2B5EF4-FFF2-40B4-BE49-F238E27FC236}">
                <a16:creationId xmlns:a16="http://schemas.microsoft.com/office/drawing/2014/main" id="{6D137CC4-B7F5-37C6-E652-A2FB1C3BA22F}"/>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tretch>
            <a:fillRect/>
          </a:stretch>
        </p:blipFill>
        <p:spPr bwMode="auto">
          <a:xfrm>
            <a:off x="9780844" y="1930400"/>
            <a:ext cx="3560887" cy="1718128"/>
          </a:xfrm>
          <a:prstGeom prst="rect">
            <a:avLst/>
          </a:prstGeom>
          <a:noFill/>
          <a:effectLst/>
          <a:extLst>
            <a:ext uri="{909E8E84-426E-40DD-AFC4-6F175D3DCCD1}">
              <a14:hiddenFill xmlns:a14="http://schemas.microsoft.com/office/drawing/2010/main">
                <a:solidFill>
                  <a:srgbClr val="FFFFFF"/>
                </a:solidFill>
              </a14:hiddenFill>
            </a:ext>
          </a:extLst>
        </p:spPr>
      </p:pic>
      <p:pic>
        <p:nvPicPr>
          <p:cNvPr id="2054" name="Picture 6" descr="Visual Studio Code: um poderoso editor de código para qualquer ambiente |  by Marco Paulo Ollivier | Coder Club | Medium">
            <a:extLst>
              <a:ext uri="{FF2B5EF4-FFF2-40B4-BE49-F238E27FC236}">
                <a16:creationId xmlns:a16="http://schemas.microsoft.com/office/drawing/2014/main" id="{75ED00AB-5B7A-136C-E33F-12E6CFA7BD69}"/>
              </a:ext>
            </a:extLst>
          </p:cNvPr>
          <p:cNvPicPr>
            <a:picLocks noChangeAspect="1" noChangeArrowheads="1"/>
          </p:cNvPicPr>
          <p:nvPr/>
        </p:nvPicPr>
        <p:blipFill>
          <a:blip r:embed="rId8">
            <a:extLst>
              <a:ext uri="{28A0092B-C50C-407E-A947-70E740481C1C}">
                <a14:useLocalDpi xmlns:a14="http://schemas.microsoft.com/office/drawing/2010/main" val="0"/>
              </a:ext>
            </a:extLst>
          </a:blip>
          <a:stretch>
            <a:fillRect/>
          </a:stretch>
        </p:blipFill>
        <p:spPr bwMode="auto">
          <a:xfrm>
            <a:off x="9743163" y="3871782"/>
            <a:ext cx="3636249" cy="1718128"/>
          </a:xfrm>
          <a:prstGeom prst="rect">
            <a:avLst/>
          </a:prstGeom>
          <a:noFill/>
          <a:effectLst/>
          <a:extLst>
            <a:ext uri="{909E8E84-426E-40DD-AFC4-6F175D3DCCD1}">
              <a14:hiddenFill xmlns:a14="http://schemas.microsoft.com/office/drawing/2010/main">
                <a:solidFill>
                  <a:srgbClr val="FFFFFF"/>
                </a:solidFill>
              </a14:hiddenFill>
            </a:ext>
          </a:extLst>
        </p:spPr>
      </p:pic>
      <p:pic>
        <p:nvPicPr>
          <p:cNvPr id="2056" name="Picture 8">
            <a:extLst>
              <a:ext uri="{FF2B5EF4-FFF2-40B4-BE49-F238E27FC236}">
                <a16:creationId xmlns:a16="http://schemas.microsoft.com/office/drawing/2014/main" id="{CD6F71B4-AA46-A8F6-D2F2-D7B3D80BCCF9}"/>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tretch>
            <a:fillRect/>
          </a:stretch>
        </p:blipFill>
        <p:spPr bwMode="auto">
          <a:xfrm>
            <a:off x="9597982" y="6082073"/>
            <a:ext cx="3913632" cy="1154521"/>
          </a:xfrm>
          <a:prstGeom prst="rect">
            <a:avLst/>
          </a:prstGeom>
          <a:noFill/>
          <a:effectLst/>
          <a:extLst>
            <a:ext uri="{909E8E84-426E-40DD-AFC4-6F175D3DCCD1}">
              <a14:hiddenFill xmlns:a14="http://schemas.microsoft.com/office/drawing/2010/main">
                <a:solidFill>
                  <a:srgbClr val="FFFFFF"/>
                </a:solidFill>
              </a14:hiddenFill>
            </a:ext>
          </a:extLst>
        </p:spPr>
      </p:pic>
      <p:sp>
        <p:nvSpPr>
          <p:cNvPr id="3" name="Rectangle 1">
            <a:extLst>
              <a:ext uri="{FF2B5EF4-FFF2-40B4-BE49-F238E27FC236}">
                <a16:creationId xmlns:a16="http://schemas.microsoft.com/office/drawing/2014/main" id="{4B7D137C-F26F-9A3B-CED3-5F7C9EAB8885}"/>
              </a:ext>
            </a:extLst>
          </p:cNvPr>
          <p:cNvSpPr>
            <a:spLocks noChangeArrowheads="1"/>
          </p:cNvSpPr>
          <p:nvPr/>
        </p:nvSpPr>
        <p:spPr bwMode="auto">
          <a:xfrm>
            <a:off x="6756400" y="1775013"/>
            <a:ext cx="8762000" cy="559397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R="0" lvl="0" fontAlgn="base">
              <a:spcBef>
                <a:spcPts val="1000"/>
              </a:spcBef>
              <a:buClr>
                <a:schemeClr val="bg2">
                  <a:lumMod val="40000"/>
                  <a:lumOff val="60000"/>
                </a:schemeClr>
              </a:buClr>
              <a:buSzPct val="80000"/>
              <a:tabLst/>
            </a:pPr>
            <a:r>
              <a:rPr kumimoji="0" lang="en-US" altLang="pt-BR" sz="2800" u="none" strike="noStrike" cap="none" normalizeH="0" baseline="0" dirty="0">
                <a:ln>
                  <a:noFill/>
                </a:ln>
                <a:effectLst/>
                <a:latin typeface="+mj-lt"/>
                <a:ea typeface="+mj-ea"/>
                <a:cs typeface="+mj-cs"/>
              </a:rPr>
              <a:t> </a:t>
            </a:r>
          </a:p>
        </p:txBody>
      </p:sp>
      <p:sp>
        <p:nvSpPr>
          <p:cNvPr id="5" name="CaixaDeTexto 4">
            <a:extLst>
              <a:ext uri="{FF2B5EF4-FFF2-40B4-BE49-F238E27FC236}">
                <a16:creationId xmlns:a16="http://schemas.microsoft.com/office/drawing/2014/main" id="{49114B84-DCDD-BF85-9AFE-2419FDDA84E9}"/>
              </a:ext>
            </a:extLst>
          </p:cNvPr>
          <p:cNvSpPr txBox="1"/>
          <p:nvPr/>
        </p:nvSpPr>
        <p:spPr>
          <a:xfrm>
            <a:off x="400720" y="3370189"/>
            <a:ext cx="7655020" cy="4439441"/>
          </a:xfrm>
          <a:prstGeom prst="rect">
            <a:avLst/>
          </a:prstGeom>
        </p:spPr>
        <p:txBody>
          <a:bodyPr vert="horz" lIns="91440" tIns="45720" rIns="91440" bIns="45720" rtlCol="0" anchor="b">
            <a:normAutofit/>
          </a:bodyPr>
          <a:lstStyle/>
          <a:p>
            <a:r>
              <a:rPr lang="pt-BR" sz="3600" b="1" dirty="0"/>
              <a:t>Aula 01: Ambiente e comandos básicos</a:t>
            </a:r>
          </a:p>
          <a:p>
            <a:endParaRPr lang="pt-BR" sz="3600" b="1" dirty="0"/>
          </a:p>
          <a:p>
            <a:r>
              <a:rPr lang="pt-BR" sz="3600" dirty="0"/>
              <a:t>Configuração do Python e </a:t>
            </a:r>
            <a:r>
              <a:rPr lang="pt-BR" sz="3600" dirty="0" err="1"/>
              <a:t>VSCode</a:t>
            </a:r>
            <a:r>
              <a:rPr lang="pt-BR" sz="3600" dirty="0"/>
              <a:t> </a:t>
            </a:r>
          </a:p>
          <a:p>
            <a:endParaRPr lang="pt-BR" sz="3600" dirty="0"/>
          </a:p>
          <a:p>
            <a:pPr algn="ctr">
              <a:spcBef>
                <a:spcPct val="0"/>
              </a:spcBef>
              <a:spcAft>
                <a:spcPts val="600"/>
              </a:spcAft>
            </a:pPr>
            <a:endParaRPr lang="en-US" sz="3200" dirty="0">
              <a:solidFill>
                <a:schemeClr val="tx2"/>
              </a:solidFill>
              <a:latin typeface="+mj-lt"/>
              <a:ea typeface="+mj-ea"/>
              <a:cs typeface="+mj-cs"/>
            </a:endParaRPr>
          </a:p>
        </p:txBody>
      </p:sp>
    </p:spTree>
    <p:extLst>
      <p:ext uri="{BB962C8B-B14F-4D97-AF65-F5344CB8AC3E}">
        <p14:creationId xmlns:p14="http://schemas.microsoft.com/office/powerpoint/2010/main" val="31081130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aixaDeTexto 5">
            <a:extLst>
              <a:ext uri="{FF2B5EF4-FFF2-40B4-BE49-F238E27FC236}">
                <a16:creationId xmlns:a16="http://schemas.microsoft.com/office/drawing/2014/main" id="{39049EA8-DD6C-CF74-4FF6-842E9A46FE32}"/>
              </a:ext>
            </a:extLst>
          </p:cNvPr>
          <p:cNvSpPr txBox="1"/>
          <p:nvPr/>
        </p:nvSpPr>
        <p:spPr>
          <a:xfrm>
            <a:off x="965200" y="2057400"/>
            <a:ext cx="13868400" cy="4154984"/>
          </a:xfrm>
          <a:prstGeom prst="rect">
            <a:avLst/>
          </a:prstGeom>
          <a:noFill/>
        </p:spPr>
        <p:txBody>
          <a:bodyPr wrap="square" rtlCol="0">
            <a:spAutoFit/>
          </a:bodyPr>
          <a:lstStyle/>
          <a:p>
            <a:pPr algn="ctr"/>
            <a:r>
              <a:rPr lang="pt-BR" sz="8800" b="1" dirty="0">
                <a:solidFill>
                  <a:srgbClr val="FFC000"/>
                </a:solidFill>
              </a:rPr>
              <a:t>O QUE É </a:t>
            </a:r>
          </a:p>
          <a:p>
            <a:pPr algn="ctr"/>
            <a:r>
              <a:rPr lang="pt-BR" sz="8800" b="1" dirty="0">
                <a:solidFill>
                  <a:srgbClr val="FFC000"/>
                </a:solidFill>
              </a:rPr>
              <a:t>LÓGICA DE PROGRAMAÇÃO???</a:t>
            </a:r>
          </a:p>
        </p:txBody>
      </p:sp>
    </p:spTree>
    <p:extLst>
      <p:ext uri="{BB962C8B-B14F-4D97-AF65-F5344CB8AC3E}">
        <p14:creationId xmlns:p14="http://schemas.microsoft.com/office/powerpoint/2010/main" val="14616665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0" name="Rectangle 14">
            <a:extLst>
              <a:ext uri="{FF2B5EF4-FFF2-40B4-BE49-F238E27FC236}">
                <a16:creationId xmlns:a16="http://schemas.microsoft.com/office/drawing/2014/main" id="{7B0A5210-2F29-4D85-A400-9C79B13FC1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6">
            <a:extLst>
              <a:ext uri="{FF2B5EF4-FFF2-40B4-BE49-F238E27FC236}">
                <a16:creationId xmlns:a16="http://schemas.microsoft.com/office/drawing/2014/main" id="{B0611BBE-2B4A-4DA2-B8A9-CD877B8762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6016" y="640080"/>
            <a:ext cx="14983968" cy="7863840"/>
          </a:xfrm>
          <a:prstGeom prst="rect">
            <a:avLst/>
          </a:prstGeom>
          <a:noFill/>
          <a:ln w="22225">
            <a:solidFill>
              <a:srgbClr val="F290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m 4">
            <a:extLst>
              <a:ext uri="{FF2B5EF4-FFF2-40B4-BE49-F238E27FC236}">
                <a16:creationId xmlns:a16="http://schemas.microsoft.com/office/drawing/2014/main" id="{FCD5031D-2313-F547-30E2-5889C2668137}"/>
              </a:ext>
            </a:extLst>
          </p:cNvPr>
          <p:cNvPicPr>
            <a:picLocks noChangeAspect="1"/>
          </p:cNvPicPr>
          <p:nvPr/>
        </p:nvPicPr>
        <p:blipFill>
          <a:blip r:embed="rId3">
            <a:extLst>
              <a:ext uri="{28A0092B-C50C-407E-A947-70E740481C1C}">
                <a14:useLocalDpi xmlns:a14="http://schemas.microsoft.com/office/drawing/2010/main" val="0"/>
              </a:ext>
            </a:extLst>
          </a:blip>
          <a:srcRect t="5629" r="-1" b="17835"/>
          <a:stretch>
            <a:fillRect/>
          </a:stretch>
        </p:blipFill>
        <p:spPr>
          <a:xfrm>
            <a:off x="857956" y="857956"/>
            <a:ext cx="14540088" cy="7428088"/>
          </a:xfrm>
          <a:prstGeom prst="rect">
            <a:avLst/>
          </a:prstGeom>
        </p:spPr>
      </p:pic>
      <p:sp>
        <p:nvSpPr>
          <p:cNvPr id="19" name="Rectangle 18">
            <a:extLst>
              <a:ext uri="{FF2B5EF4-FFF2-40B4-BE49-F238E27FC236}">
                <a16:creationId xmlns:a16="http://schemas.microsoft.com/office/drawing/2014/main" id="{91091950-5655-45D2-858E-FE8CBE07CA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Tree>
    <p:extLst>
      <p:ext uri="{BB962C8B-B14F-4D97-AF65-F5344CB8AC3E}">
        <p14:creationId xmlns:p14="http://schemas.microsoft.com/office/powerpoint/2010/main" val="38587366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ADBA51B6-1531-28A4-B9A1-8BC230FA5980}"/>
            </a:ext>
          </a:extLst>
        </p:cNvPr>
        <p:cNvGrpSpPr/>
        <p:nvPr/>
      </p:nvGrpSpPr>
      <p:grpSpPr>
        <a:xfrm>
          <a:off x="0" y="0"/>
          <a:ext cx="0" cy="0"/>
          <a:chOff x="0" y="0"/>
          <a:chExt cx="0" cy="0"/>
        </a:xfrm>
      </p:grpSpPr>
      <p:sp>
        <p:nvSpPr>
          <p:cNvPr id="30" name="Rectangle 25">
            <a:extLst>
              <a:ext uri="{FF2B5EF4-FFF2-40B4-BE49-F238E27FC236}">
                <a16:creationId xmlns:a16="http://schemas.microsoft.com/office/drawing/2014/main" id="{DFB3CEA1-88D9-42FB-88ED-1E9807FE6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6016" y="640080"/>
            <a:ext cx="14983968" cy="786384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Imagem 2">
            <a:extLst>
              <a:ext uri="{FF2B5EF4-FFF2-40B4-BE49-F238E27FC236}">
                <a16:creationId xmlns:a16="http://schemas.microsoft.com/office/drawing/2014/main" id="{65C0229B-9BA9-BAFB-3F4C-86EAC8D97C46}"/>
              </a:ext>
            </a:extLst>
          </p:cNvPr>
          <p:cNvPicPr>
            <a:picLocks noChangeAspect="1"/>
          </p:cNvPicPr>
          <p:nvPr/>
        </p:nvPicPr>
        <p:blipFill>
          <a:blip r:embed="rId3"/>
          <a:stretch>
            <a:fillRect/>
          </a:stretch>
        </p:blipFill>
        <p:spPr>
          <a:xfrm>
            <a:off x="1583429" y="857956"/>
            <a:ext cx="13089141" cy="7428088"/>
          </a:xfrm>
          <a:prstGeom prst="rect">
            <a:avLst/>
          </a:prstGeom>
        </p:spPr>
      </p:pic>
      <p:sp>
        <p:nvSpPr>
          <p:cNvPr id="31" name="Rectangle 27">
            <a:extLst>
              <a:ext uri="{FF2B5EF4-FFF2-40B4-BE49-F238E27FC236}">
                <a16:creationId xmlns:a16="http://schemas.microsoft.com/office/drawing/2014/main" id="{9A6C928E-4252-4F33-8C34-E50A12A31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Tree>
    <p:extLst>
      <p:ext uri="{BB962C8B-B14F-4D97-AF65-F5344CB8AC3E}">
        <p14:creationId xmlns:p14="http://schemas.microsoft.com/office/powerpoint/2010/main" val="29822965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ela 1">
            <a:extLst>
              <a:ext uri="{FF2B5EF4-FFF2-40B4-BE49-F238E27FC236}">
                <a16:creationId xmlns:a16="http://schemas.microsoft.com/office/drawing/2014/main" id="{8E791D81-1466-1A15-EC65-2B4D429B2160}"/>
              </a:ext>
            </a:extLst>
          </p:cNvPr>
          <p:cNvGraphicFramePr>
            <a:graphicFrameLocks noGrp="1"/>
          </p:cNvGraphicFramePr>
          <p:nvPr>
            <p:extLst>
              <p:ext uri="{D42A27DB-BD31-4B8C-83A1-F6EECF244321}">
                <p14:modId xmlns:p14="http://schemas.microsoft.com/office/powerpoint/2010/main" val="1511520117"/>
              </p:ext>
            </p:extLst>
          </p:nvPr>
        </p:nvGraphicFramePr>
        <p:xfrm>
          <a:off x="1471613" y="4208145"/>
          <a:ext cx="11928474" cy="3017520"/>
        </p:xfrm>
        <a:graphic>
          <a:graphicData uri="http://schemas.openxmlformats.org/drawingml/2006/table">
            <a:tbl>
              <a:tblPr/>
              <a:tblGrid>
                <a:gridCol w="5964237">
                  <a:extLst>
                    <a:ext uri="{9D8B030D-6E8A-4147-A177-3AD203B41FA5}">
                      <a16:colId xmlns:a16="http://schemas.microsoft.com/office/drawing/2014/main" val="211511605"/>
                    </a:ext>
                  </a:extLst>
                </a:gridCol>
                <a:gridCol w="5964237">
                  <a:extLst>
                    <a:ext uri="{9D8B030D-6E8A-4147-A177-3AD203B41FA5}">
                      <a16:colId xmlns:a16="http://schemas.microsoft.com/office/drawing/2014/main" val="3499503803"/>
                    </a:ext>
                  </a:extLst>
                </a:gridCol>
              </a:tblGrid>
              <a:tr h="457200">
                <a:tc>
                  <a:txBody>
                    <a:bodyPr/>
                    <a:lstStyle/>
                    <a:p>
                      <a:pPr>
                        <a:buNone/>
                      </a:pPr>
                      <a:r>
                        <a:rPr lang="pt-BR" sz="2800">
                          <a:solidFill>
                            <a:srgbClr val="FFC000"/>
                          </a:solidFill>
                          <a:latin typeface="Courier New" panose="02070309020205020404" pitchFamily="49" charset="0"/>
                        </a:rPr>
                        <a:t>+</a:t>
                      </a:r>
                      <a:endParaRPr lang="pt-BR" sz="2800">
                        <a:solidFill>
                          <a:srgbClr val="FFC000"/>
                        </a:solidFill>
                      </a:endParaRPr>
                    </a:p>
                  </a:txBody>
                  <a:tcPr anchor="ctr">
                    <a:lnL>
                      <a:noFill/>
                    </a:lnL>
                    <a:lnR>
                      <a:noFill/>
                    </a:lnR>
                    <a:lnT>
                      <a:noFill/>
                    </a:lnT>
                    <a:lnB>
                      <a:noFill/>
                    </a:lnB>
                    <a:noFill/>
                  </a:tcPr>
                </a:tc>
                <a:tc>
                  <a:txBody>
                    <a:bodyPr/>
                    <a:lstStyle/>
                    <a:p>
                      <a:pPr>
                        <a:buNone/>
                      </a:pPr>
                      <a:r>
                        <a:rPr lang="pt-BR" sz="2800" dirty="0">
                          <a:solidFill>
                            <a:srgbClr val="FFC000"/>
                          </a:solidFill>
                          <a:latin typeface="Courier New" panose="02070309020205020404" pitchFamily="49" charset="0"/>
                        </a:rPr>
                        <a:t>,</a:t>
                      </a:r>
                      <a:endParaRPr lang="pt-BR" sz="2800" dirty="0">
                        <a:solidFill>
                          <a:srgbClr val="FFC000"/>
                        </a:solidFill>
                      </a:endParaRPr>
                    </a:p>
                  </a:txBody>
                  <a:tcPr anchor="ctr">
                    <a:lnL>
                      <a:noFill/>
                    </a:lnL>
                    <a:lnR>
                      <a:noFill/>
                    </a:lnR>
                    <a:lnT>
                      <a:noFill/>
                    </a:lnT>
                    <a:lnB>
                      <a:noFill/>
                    </a:lnB>
                    <a:noFill/>
                  </a:tcPr>
                </a:tc>
                <a:extLst>
                  <a:ext uri="{0D108BD9-81ED-4DB2-BD59-A6C34878D82A}">
                    <a16:rowId xmlns:a16="http://schemas.microsoft.com/office/drawing/2014/main" val="3247276015"/>
                  </a:ext>
                </a:extLst>
              </a:tr>
              <a:tr h="457200">
                <a:tc>
                  <a:txBody>
                    <a:bodyPr/>
                    <a:lstStyle/>
                    <a:p>
                      <a:pPr>
                        <a:buNone/>
                      </a:pPr>
                      <a:r>
                        <a:rPr lang="pt-BR" sz="2800"/>
                        <a:t>Junta strings (concatena)</a:t>
                      </a:r>
                    </a:p>
                  </a:txBody>
                  <a:tcPr anchor="ctr">
                    <a:lnL>
                      <a:noFill/>
                    </a:lnL>
                    <a:lnR>
                      <a:noFill/>
                    </a:lnR>
                    <a:lnT>
                      <a:noFill/>
                    </a:lnT>
                    <a:lnB>
                      <a:noFill/>
                    </a:lnB>
                    <a:noFill/>
                  </a:tcPr>
                </a:tc>
                <a:tc>
                  <a:txBody>
                    <a:bodyPr/>
                    <a:lstStyle/>
                    <a:p>
                      <a:pPr>
                        <a:buNone/>
                      </a:pPr>
                      <a:r>
                        <a:rPr lang="pt-BR" sz="2800"/>
                        <a:t>Passa vários valores para o print</a:t>
                      </a:r>
                    </a:p>
                  </a:txBody>
                  <a:tcPr anchor="ctr">
                    <a:lnL>
                      <a:noFill/>
                    </a:lnL>
                    <a:lnR>
                      <a:noFill/>
                    </a:lnR>
                    <a:lnT>
                      <a:noFill/>
                    </a:lnT>
                    <a:lnB>
                      <a:noFill/>
                    </a:lnB>
                    <a:noFill/>
                  </a:tcPr>
                </a:tc>
                <a:extLst>
                  <a:ext uri="{0D108BD9-81ED-4DB2-BD59-A6C34878D82A}">
                    <a16:rowId xmlns:a16="http://schemas.microsoft.com/office/drawing/2014/main" val="3328421372"/>
                  </a:ext>
                </a:extLst>
              </a:tr>
              <a:tr h="457200">
                <a:tc>
                  <a:txBody>
                    <a:bodyPr/>
                    <a:lstStyle/>
                    <a:p>
                      <a:pPr>
                        <a:buNone/>
                      </a:pPr>
                      <a:r>
                        <a:rPr lang="pt-BR" sz="2800"/>
                        <a:t>Precisa converter números</a:t>
                      </a:r>
                    </a:p>
                  </a:txBody>
                  <a:tcPr anchor="ctr">
                    <a:lnL>
                      <a:noFill/>
                    </a:lnL>
                    <a:lnR>
                      <a:noFill/>
                    </a:lnR>
                    <a:lnT>
                      <a:noFill/>
                    </a:lnT>
                    <a:lnB>
                      <a:noFill/>
                    </a:lnB>
                    <a:noFill/>
                  </a:tcPr>
                </a:tc>
                <a:tc>
                  <a:txBody>
                    <a:bodyPr/>
                    <a:lstStyle/>
                    <a:p>
                      <a:pPr>
                        <a:buNone/>
                      </a:pPr>
                      <a:r>
                        <a:rPr lang="pt-BR" sz="2800"/>
                        <a:t>Não precisa converter</a:t>
                      </a:r>
                    </a:p>
                  </a:txBody>
                  <a:tcPr anchor="ctr">
                    <a:lnL>
                      <a:noFill/>
                    </a:lnL>
                    <a:lnR>
                      <a:noFill/>
                    </a:lnR>
                    <a:lnT>
                      <a:noFill/>
                    </a:lnT>
                    <a:lnB>
                      <a:noFill/>
                    </a:lnB>
                    <a:noFill/>
                  </a:tcPr>
                </a:tc>
                <a:extLst>
                  <a:ext uri="{0D108BD9-81ED-4DB2-BD59-A6C34878D82A}">
                    <a16:rowId xmlns:a16="http://schemas.microsoft.com/office/drawing/2014/main" val="3454539720"/>
                  </a:ext>
                </a:extLst>
              </a:tr>
              <a:tr h="822960">
                <a:tc>
                  <a:txBody>
                    <a:bodyPr/>
                    <a:lstStyle/>
                    <a:p>
                      <a:pPr>
                        <a:buNone/>
                      </a:pPr>
                      <a:r>
                        <a:rPr lang="pt-BR" sz="2800"/>
                        <a:t>Não adiciona espaços automaticamente</a:t>
                      </a:r>
                    </a:p>
                  </a:txBody>
                  <a:tcPr anchor="ctr">
                    <a:lnL>
                      <a:noFill/>
                    </a:lnL>
                    <a:lnR>
                      <a:noFill/>
                    </a:lnR>
                    <a:lnT>
                      <a:noFill/>
                    </a:lnT>
                    <a:lnB>
                      <a:noFill/>
                    </a:lnB>
                    <a:noFill/>
                  </a:tcPr>
                </a:tc>
                <a:tc>
                  <a:txBody>
                    <a:bodyPr/>
                    <a:lstStyle/>
                    <a:p>
                      <a:pPr>
                        <a:buNone/>
                      </a:pPr>
                      <a:r>
                        <a:rPr lang="pt-BR" sz="2800"/>
                        <a:t>Adiciona espaços automaticamente</a:t>
                      </a:r>
                    </a:p>
                  </a:txBody>
                  <a:tcPr anchor="ctr">
                    <a:lnL>
                      <a:noFill/>
                    </a:lnL>
                    <a:lnR>
                      <a:noFill/>
                    </a:lnR>
                    <a:lnT>
                      <a:noFill/>
                    </a:lnT>
                    <a:lnB>
                      <a:noFill/>
                    </a:lnB>
                    <a:noFill/>
                  </a:tcPr>
                </a:tc>
                <a:extLst>
                  <a:ext uri="{0D108BD9-81ED-4DB2-BD59-A6C34878D82A}">
                    <a16:rowId xmlns:a16="http://schemas.microsoft.com/office/drawing/2014/main" val="3726787008"/>
                  </a:ext>
                </a:extLst>
              </a:tr>
              <a:tr h="457200">
                <a:tc>
                  <a:txBody>
                    <a:bodyPr/>
                    <a:lstStyle/>
                    <a:p>
                      <a:pPr>
                        <a:buNone/>
                      </a:pPr>
                      <a:r>
                        <a:rPr lang="pt-BR" sz="2800"/>
                        <a:t>Mais rígido</a:t>
                      </a:r>
                    </a:p>
                  </a:txBody>
                  <a:tcPr anchor="ctr">
                    <a:lnL>
                      <a:noFill/>
                    </a:lnL>
                    <a:lnR>
                      <a:noFill/>
                    </a:lnR>
                    <a:lnT>
                      <a:noFill/>
                    </a:lnT>
                    <a:lnB>
                      <a:noFill/>
                    </a:lnB>
                    <a:noFill/>
                  </a:tcPr>
                </a:tc>
                <a:tc>
                  <a:txBody>
                    <a:bodyPr/>
                    <a:lstStyle/>
                    <a:p>
                      <a:pPr>
                        <a:buNone/>
                      </a:pPr>
                      <a:r>
                        <a:rPr lang="pt-BR" sz="2800" dirty="0"/>
                        <a:t>Mais flexível</a:t>
                      </a:r>
                    </a:p>
                  </a:txBody>
                  <a:tcPr anchor="ctr">
                    <a:lnL>
                      <a:noFill/>
                    </a:lnL>
                    <a:lnR>
                      <a:noFill/>
                    </a:lnR>
                    <a:lnT>
                      <a:noFill/>
                    </a:lnT>
                    <a:lnB>
                      <a:noFill/>
                    </a:lnB>
                    <a:noFill/>
                  </a:tcPr>
                </a:tc>
                <a:extLst>
                  <a:ext uri="{0D108BD9-81ED-4DB2-BD59-A6C34878D82A}">
                    <a16:rowId xmlns:a16="http://schemas.microsoft.com/office/drawing/2014/main" val="3381721396"/>
                  </a:ext>
                </a:extLst>
              </a:tr>
            </a:tbl>
          </a:graphicData>
        </a:graphic>
      </p:graphicFrame>
      <p:sp>
        <p:nvSpPr>
          <p:cNvPr id="4" name="CaixaDeTexto 3">
            <a:extLst>
              <a:ext uri="{FF2B5EF4-FFF2-40B4-BE49-F238E27FC236}">
                <a16:creationId xmlns:a16="http://schemas.microsoft.com/office/drawing/2014/main" id="{B3A21BFE-8400-20B6-9E7C-819D0CE5D77F}"/>
              </a:ext>
            </a:extLst>
          </p:cNvPr>
          <p:cNvSpPr txBox="1"/>
          <p:nvPr/>
        </p:nvSpPr>
        <p:spPr>
          <a:xfrm>
            <a:off x="1471613" y="2286000"/>
            <a:ext cx="12599987" cy="954107"/>
          </a:xfrm>
          <a:prstGeom prst="rect">
            <a:avLst/>
          </a:prstGeom>
          <a:noFill/>
        </p:spPr>
        <p:txBody>
          <a:bodyPr wrap="square">
            <a:spAutoFit/>
          </a:bodyPr>
          <a:lstStyle/>
          <a:p>
            <a:r>
              <a:rPr lang="pt-BR" sz="2800" dirty="0"/>
              <a:t>Em Python, </a:t>
            </a:r>
            <a:r>
              <a:rPr lang="pt-BR" sz="2800" b="1" dirty="0">
                <a:solidFill>
                  <a:srgbClr val="FFC000"/>
                </a:solidFill>
                <a:latin typeface="Courier New" panose="02070309020205020404" pitchFamily="49" charset="0"/>
              </a:rPr>
              <a:t>,</a:t>
            </a:r>
            <a:r>
              <a:rPr lang="pt-BR" sz="2800" b="1" dirty="0">
                <a:solidFill>
                  <a:srgbClr val="FFC000"/>
                </a:solidFill>
              </a:rPr>
              <a:t> (vírgula)</a:t>
            </a:r>
            <a:r>
              <a:rPr lang="pt-BR" sz="2800" dirty="0">
                <a:solidFill>
                  <a:srgbClr val="FFC000"/>
                </a:solidFill>
              </a:rPr>
              <a:t> </a:t>
            </a:r>
            <a:r>
              <a:rPr lang="pt-BR" sz="2800" dirty="0"/>
              <a:t>e </a:t>
            </a:r>
            <a:r>
              <a:rPr lang="pt-BR" sz="2800" b="1" dirty="0">
                <a:solidFill>
                  <a:srgbClr val="FFC000"/>
                </a:solidFill>
                <a:latin typeface="Courier New" panose="02070309020205020404" pitchFamily="49" charset="0"/>
              </a:rPr>
              <a:t>+</a:t>
            </a:r>
            <a:r>
              <a:rPr lang="pt-BR" sz="2800" b="1" dirty="0">
                <a:solidFill>
                  <a:srgbClr val="FFC000"/>
                </a:solidFill>
              </a:rPr>
              <a:t> (mais)</a:t>
            </a:r>
            <a:r>
              <a:rPr lang="pt-BR" sz="2800" dirty="0">
                <a:solidFill>
                  <a:srgbClr val="FFC000"/>
                </a:solidFill>
              </a:rPr>
              <a:t> </a:t>
            </a:r>
            <a:r>
              <a:rPr lang="pt-BR" sz="2800" dirty="0"/>
              <a:t>podem ser usados para “juntar” informações no </a:t>
            </a:r>
            <a:r>
              <a:rPr lang="pt-BR" sz="2800" dirty="0">
                <a:latin typeface="Courier New" panose="02070309020205020404" pitchFamily="49" charset="0"/>
              </a:rPr>
              <a:t>print()</a:t>
            </a:r>
            <a:r>
              <a:rPr lang="pt-BR" sz="2800" dirty="0"/>
              <a:t>, mas funcionam de formas bem diferentes.</a:t>
            </a:r>
          </a:p>
        </p:txBody>
      </p:sp>
    </p:spTree>
    <p:extLst>
      <p:ext uri="{BB962C8B-B14F-4D97-AF65-F5344CB8AC3E}">
        <p14:creationId xmlns:p14="http://schemas.microsoft.com/office/powerpoint/2010/main" val="36096345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a:extLst>
              <a:ext uri="{FF2B5EF4-FFF2-40B4-BE49-F238E27FC236}">
                <a16:creationId xmlns:a16="http://schemas.microsoft.com/office/drawing/2014/main" id="{824B4F6D-FED0-F303-8A94-1CB15AED0584}"/>
              </a:ext>
            </a:extLst>
          </p:cNvPr>
          <p:cNvPicPr>
            <a:picLocks noChangeAspect="1"/>
          </p:cNvPicPr>
          <p:nvPr/>
        </p:nvPicPr>
        <p:blipFill>
          <a:blip r:embed="rId2"/>
          <a:stretch>
            <a:fillRect/>
          </a:stretch>
        </p:blipFill>
        <p:spPr>
          <a:xfrm>
            <a:off x="1041400" y="2057400"/>
            <a:ext cx="12496800" cy="5367424"/>
          </a:xfrm>
          <a:prstGeom prst="rect">
            <a:avLst/>
          </a:prstGeom>
        </p:spPr>
      </p:pic>
      <p:sp>
        <p:nvSpPr>
          <p:cNvPr id="4" name="CaixaDeTexto 3">
            <a:extLst>
              <a:ext uri="{FF2B5EF4-FFF2-40B4-BE49-F238E27FC236}">
                <a16:creationId xmlns:a16="http://schemas.microsoft.com/office/drawing/2014/main" id="{A445DE67-623F-A914-F42C-33646F5EF7F2}"/>
              </a:ext>
            </a:extLst>
          </p:cNvPr>
          <p:cNvSpPr txBox="1"/>
          <p:nvPr/>
        </p:nvSpPr>
        <p:spPr>
          <a:xfrm>
            <a:off x="938213" y="1192908"/>
            <a:ext cx="12599987" cy="523220"/>
          </a:xfrm>
          <a:prstGeom prst="rect">
            <a:avLst/>
          </a:prstGeom>
          <a:noFill/>
        </p:spPr>
        <p:txBody>
          <a:bodyPr wrap="square">
            <a:spAutoFit/>
          </a:bodyPr>
          <a:lstStyle/>
          <a:p>
            <a:r>
              <a:rPr lang="pt-BR" sz="2800" dirty="0"/>
              <a:t>Criar esse arquivo </a:t>
            </a:r>
            <a:r>
              <a:rPr lang="pt-BR" sz="2800" dirty="0">
                <a:solidFill>
                  <a:srgbClr val="FFC000"/>
                </a:solidFill>
              </a:rPr>
              <a:t>concatenação.py </a:t>
            </a:r>
            <a:r>
              <a:rPr lang="pt-BR" sz="2800" dirty="0"/>
              <a:t>e testar esse código...</a:t>
            </a:r>
          </a:p>
        </p:txBody>
      </p:sp>
    </p:spTree>
    <p:extLst>
      <p:ext uri="{BB962C8B-B14F-4D97-AF65-F5344CB8AC3E}">
        <p14:creationId xmlns:p14="http://schemas.microsoft.com/office/powerpoint/2010/main" val="40415431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16" name="Picture 15">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18" name="Oval 17">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20" name="Picture 19">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22" name="Picture 21">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24" name="Rectangle 23">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 name="CaixaDeTexto 2">
            <a:extLst>
              <a:ext uri="{FF2B5EF4-FFF2-40B4-BE49-F238E27FC236}">
                <a16:creationId xmlns:a16="http://schemas.microsoft.com/office/drawing/2014/main" id="{417F4E21-4252-34F2-584E-C691C404CC81}"/>
              </a:ext>
            </a:extLst>
          </p:cNvPr>
          <p:cNvSpPr txBox="1"/>
          <p:nvPr/>
        </p:nvSpPr>
        <p:spPr>
          <a:xfrm>
            <a:off x="8989477" y="839021"/>
            <a:ext cx="4410325" cy="2189315"/>
          </a:xfrm>
          <a:prstGeom prst="rect">
            <a:avLst/>
          </a:prstGeom>
        </p:spPr>
        <p:txBody>
          <a:bodyPr vert="horz" lIns="91440" tIns="45720" rIns="91440" bIns="45720" rtlCol="0" anchor="t">
            <a:normAutofit/>
          </a:bodyPr>
          <a:lstStyle/>
          <a:p>
            <a:pPr algn="ctr">
              <a:spcBef>
                <a:spcPct val="0"/>
              </a:spcBef>
              <a:spcAft>
                <a:spcPts val="600"/>
              </a:spcAft>
            </a:pPr>
            <a:r>
              <a:rPr lang="en-US" sz="4200" dirty="0" err="1">
                <a:solidFill>
                  <a:schemeClr val="tx2"/>
                </a:solidFill>
                <a:latin typeface="+mj-lt"/>
                <a:ea typeface="+mj-ea"/>
                <a:cs typeface="+mj-cs"/>
              </a:rPr>
              <a:t>Variáveis</a:t>
            </a:r>
            <a:r>
              <a:rPr lang="en-US" sz="4200" dirty="0">
                <a:solidFill>
                  <a:schemeClr val="tx2"/>
                </a:solidFill>
                <a:latin typeface="+mj-lt"/>
                <a:ea typeface="+mj-ea"/>
                <a:cs typeface="+mj-cs"/>
              </a:rPr>
              <a:t> </a:t>
            </a:r>
            <a:r>
              <a:rPr lang="en-US" sz="4200" dirty="0" err="1">
                <a:solidFill>
                  <a:schemeClr val="tx2"/>
                </a:solidFill>
                <a:latin typeface="+mj-lt"/>
                <a:ea typeface="+mj-ea"/>
                <a:cs typeface="+mj-cs"/>
              </a:rPr>
              <a:t>em</a:t>
            </a:r>
            <a:r>
              <a:rPr lang="en-US" sz="4200" dirty="0">
                <a:solidFill>
                  <a:schemeClr val="tx2"/>
                </a:solidFill>
                <a:latin typeface="+mj-lt"/>
                <a:ea typeface="+mj-ea"/>
                <a:cs typeface="+mj-cs"/>
              </a:rPr>
              <a:t> Python</a:t>
            </a:r>
          </a:p>
        </p:txBody>
      </p:sp>
      <p:pic>
        <p:nvPicPr>
          <p:cNvPr id="9" name="Imagem 8">
            <a:extLst>
              <a:ext uri="{FF2B5EF4-FFF2-40B4-BE49-F238E27FC236}">
                <a16:creationId xmlns:a16="http://schemas.microsoft.com/office/drawing/2014/main" id="{6A4C304C-27D4-B45D-E6DC-5C7C909E5C49}"/>
              </a:ext>
            </a:extLst>
          </p:cNvPr>
          <p:cNvPicPr>
            <a:picLocks noChangeAspect="1"/>
          </p:cNvPicPr>
          <p:nvPr/>
        </p:nvPicPr>
        <p:blipFill>
          <a:blip r:embed="rId7"/>
          <a:srcRect r="12244" b="-1"/>
          <a:stretch>
            <a:fillRect/>
          </a:stretch>
        </p:blipFill>
        <p:spPr>
          <a:xfrm>
            <a:off x="-2" y="10"/>
            <a:ext cx="8125875" cy="9143990"/>
          </a:xfrm>
          <a:prstGeom prst="rect">
            <a:avLst/>
          </a:prstGeom>
        </p:spPr>
      </p:pic>
      <p:sp>
        <p:nvSpPr>
          <p:cNvPr id="5" name="CaixaDeTexto 4">
            <a:extLst>
              <a:ext uri="{FF2B5EF4-FFF2-40B4-BE49-F238E27FC236}">
                <a16:creationId xmlns:a16="http://schemas.microsoft.com/office/drawing/2014/main" id="{C355376F-32E5-A0D6-B7AA-86FB6B51C6B6}"/>
              </a:ext>
            </a:extLst>
          </p:cNvPr>
          <p:cNvSpPr txBox="1"/>
          <p:nvPr/>
        </p:nvSpPr>
        <p:spPr>
          <a:xfrm>
            <a:off x="8403193" y="2621263"/>
            <a:ext cx="7467600" cy="5079998"/>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pPr>
            <a:r>
              <a:rPr lang="en-US" sz="2000" b="1" dirty="0">
                <a:latin typeface="+mj-lt"/>
                <a:ea typeface="+mj-ea"/>
                <a:cs typeface="+mj-cs"/>
              </a:rPr>
              <a:t>O </a:t>
            </a:r>
            <a:r>
              <a:rPr lang="en-US" sz="2000" b="1" dirty="0" err="1">
                <a:latin typeface="+mj-lt"/>
                <a:ea typeface="+mj-ea"/>
                <a:cs typeface="+mj-cs"/>
              </a:rPr>
              <a:t>que</a:t>
            </a:r>
            <a:r>
              <a:rPr lang="en-US" sz="2000" b="1" dirty="0">
                <a:latin typeface="+mj-lt"/>
                <a:ea typeface="+mj-ea"/>
                <a:cs typeface="+mj-cs"/>
              </a:rPr>
              <a:t> </a:t>
            </a:r>
            <a:r>
              <a:rPr lang="en-US" sz="2000" b="1" dirty="0" err="1">
                <a:latin typeface="+mj-lt"/>
                <a:ea typeface="+mj-ea"/>
                <a:cs typeface="+mj-cs"/>
              </a:rPr>
              <a:t>são</a:t>
            </a:r>
            <a:r>
              <a:rPr lang="en-US" sz="2000" b="1" dirty="0">
                <a:latin typeface="+mj-lt"/>
                <a:ea typeface="+mj-ea"/>
                <a:cs typeface="+mj-cs"/>
              </a:rPr>
              <a:t> </a:t>
            </a:r>
            <a:r>
              <a:rPr lang="en-US" sz="2000" b="1" dirty="0" err="1">
                <a:latin typeface="+mj-lt"/>
                <a:ea typeface="+mj-ea"/>
                <a:cs typeface="+mj-cs"/>
              </a:rPr>
              <a:t>Variáveis</a:t>
            </a:r>
            <a:r>
              <a:rPr lang="en-US" sz="2000" b="1" dirty="0">
                <a:latin typeface="+mj-lt"/>
                <a:ea typeface="+mj-ea"/>
                <a:cs typeface="+mj-cs"/>
              </a:rPr>
              <a:t>?</a:t>
            </a:r>
          </a:p>
          <a:p>
            <a:pPr>
              <a:spcBef>
                <a:spcPts val="1000"/>
              </a:spcBef>
              <a:buClr>
                <a:schemeClr val="bg2">
                  <a:lumMod val="40000"/>
                  <a:lumOff val="60000"/>
                </a:schemeClr>
              </a:buClr>
              <a:buSzPct val="80000"/>
            </a:pPr>
            <a:endParaRPr lang="en-US" b="1" dirty="0">
              <a:solidFill>
                <a:srgbClr val="FFC000"/>
              </a:solidFill>
              <a:latin typeface="+mj-lt"/>
              <a:ea typeface="+mj-ea"/>
              <a:cs typeface="+mj-cs"/>
            </a:endParaRPr>
          </a:p>
          <a:p>
            <a:pPr marL="285750" indent="-285750">
              <a:spcBef>
                <a:spcPts val="1000"/>
              </a:spcBef>
              <a:buClr>
                <a:schemeClr val="bg2">
                  <a:lumMod val="40000"/>
                  <a:lumOff val="60000"/>
                </a:schemeClr>
              </a:buClr>
              <a:buSzPct val="80000"/>
              <a:buFont typeface="Arial" panose="020B0604020202020204" pitchFamily="34" charset="0"/>
              <a:buChar char="•"/>
            </a:pPr>
            <a:r>
              <a:rPr lang="en-US" b="1" dirty="0">
                <a:solidFill>
                  <a:srgbClr val="FFC000"/>
                </a:solidFill>
                <a:latin typeface="+mj-lt"/>
                <a:ea typeface="+mj-ea"/>
                <a:cs typeface="+mj-cs"/>
              </a:rPr>
              <a:t>São </a:t>
            </a:r>
            <a:r>
              <a:rPr lang="en-US" b="1" dirty="0" err="1">
                <a:solidFill>
                  <a:srgbClr val="FFC000"/>
                </a:solidFill>
                <a:latin typeface="+mj-lt"/>
                <a:ea typeface="+mj-ea"/>
                <a:cs typeface="+mj-cs"/>
              </a:rPr>
              <a:t>espaços</a:t>
            </a:r>
            <a:r>
              <a:rPr lang="en-US" b="1" dirty="0">
                <a:solidFill>
                  <a:srgbClr val="FFC000"/>
                </a:solidFill>
                <a:latin typeface="+mj-lt"/>
                <a:ea typeface="+mj-ea"/>
                <a:cs typeface="+mj-cs"/>
              </a:rPr>
              <a:t> </a:t>
            </a:r>
            <a:r>
              <a:rPr lang="en-US" b="1" dirty="0" err="1">
                <a:solidFill>
                  <a:srgbClr val="FFC000"/>
                </a:solidFill>
                <a:latin typeface="+mj-lt"/>
                <a:ea typeface="+mj-ea"/>
                <a:cs typeface="+mj-cs"/>
              </a:rPr>
              <a:t>na</a:t>
            </a:r>
            <a:r>
              <a:rPr lang="en-US" b="1" dirty="0">
                <a:solidFill>
                  <a:srgbClr val="FFC000"/>
                </a:solidFill>
                <a:latin typeface="+mj-lt"/>
                <a:ea typeface="+mj-ea"/>
                <a:cs typeface="+mj-cs"/>
              </a:rPr>
              <a:t> </a:t>
            </a:r>
            <a:r>
              <a:rPr lang="en-US" b="1" dirty="0" err="1">
                <a:solidFill>
                  <a:srgbClr val="FFC000"/>
                </a:solidFill>
                <a:latin typeface="+mj-lt"/>
                <a:ea typeface="+mj-ea"/>
                <a:cs typeface="+mj-cs"/>
              </a:rPr>
              <a:t>memória</a:t>
            </a:r>
            <a:r>
              <a:rPr lang="en-US" b="1" dirty="0">
                <a:solidFill>
                  <a:srgbClr val="FFC000"/>
                </a:solidFill>
                <a:latin typeface="+mj-lt"/>
                <a:ea typeface="+mj-ea"/>
                <a:cs typeface="+mj-cs"/>
              </a:rPr>
              <a:t> do </a:t>
            </a:r>
            <a:r>
              <a:rPr lang="en-US" b="1" dirty="0" err="1">
                <a:solidFill>
                  <a:srgbClr val="FFC000"/>
                </a:solidFill>
                <a:latin typeface="+mj-lt"/>
                <a:ea typeface="+mj-ea"/>
                <a:cs typeface="+mj-cs"/>
              </a:rPr>
              <a:t>computador</a:t>
            </a:r>
            <a:r>
              <a:rPr lang="en-US" b="1" dirty="0">
                <a:solidFill>
                  <a:srgbClr val="FFC000"/>
                </a:solidFill>
                <a:latin typeface="+mj-lt"/>
                <a:ea typeface="+mj-ea"/>
                <a:cs typeface="+mj-cs"/>
              </a:rPr>
              <a:t> </a:t>
            </a:r>
          </a:p>
          <a:p>
            <a:pPr marL="285750" indent="-285750">
              <a:spcBef>
                <a:spcPts val="1000"/>
              </a:spcBef>
              <a:buClr>
                <a:schemeClr val="bg2">
                  <a:lumMod val="40000"/>
                  <a:lumOff val="60000"/>
                </a:schemeClr>
              </a:buClr>
              <a:buSzPct val="80000"/>
              <a:buFont typeface="Arial" panose="020B0604020202020204" pitchFamily="34" charset="0"/>
              <a:buChar char="•"/>
            </a:pPr>
            <a:r>
              <a:rPr lang="en-US" b="1" dirty="0">
                <a:solidFill>
                  <a:srgbClr val="FFC000"/>
                </a:solidFill>
                <a:latin typeface="+mj-lt"/>
                <a:ea typeface="+mj-ea"/>
                <a:cs typeface="+mj-cs"/>
              </a:rPr>
              <a:t>Usadas para </a:t>
            </a:r>
            <a:r>
              <a:rPr lang="en-US" b="1" dirty="0" err="1">
                <a:solidFill>
                  <a:srgbClr val="FFC000"/>
                </a:solidFill>
                <a:latin typeface="+mj-lt"/>
                <a:ea typeface="+mj-ea"/>
                <a:cs typeface="+mj-cs"/>
              </a:rPr>
              <a:t>armazenar</a:t>
            </a:r>
            <a:r>
              <a:rPr lang="en-US" b="1" dirty="0">
                <a:solidFill>
                  <a:srgbClr val="FFC000"/>
                </a:solidFill>
                <a:latin typeface="+mj-lt"/>
                <a:ea typeface="+mj-ea"/>
                <a:cs typeface="+mj-cs"/>
              </a:rPr>
              <a:t> dados </a:t>
            </a:r>
          </a:p>
          <a:p>
            <a:pPr marL="285750" indent="-285750">
              <a:spcBef>
                <a:spcPts val="1000"/>
              </a:spcBef>
              <a:buClr>
                <a:schemeClr val="bg2">
                  <a:lumMod val="40000"/>
                  <a:lumOff val="60000"/>
                </a:schemeClr>
              </a:buClr>
              <a:buSzPct val="80000"/>
              <a:buFont typeface="Arial" panose="020B0604020202020204" pitchFamily="34" charset="0"/>
              <a:buChar char="•"/>
            </a:pPr>
            <a:r>
              <a:rPr lang="en-US" b="1" dirty="0" err="1">
                <a:solidFill>
                  <a:srgbClr val="FFC000"/>
                </a:solidFill>
                <a:latin typeface="+mj-lt"/>
                <a:ea typeface="+mj-ea"/>
                <a:cs typeface="+mj-cs"/>
              </a:rPr>
              <a:t>Podem</a:t>
            </a:r>
            <a:r>
              <a:rPr lang="en-US" b="1" dirty="0">
                <a:solidFill>
                  <a:srgbClr val="FFC000"/>
                </a:solidFill>
                <a:latin typeface="+mj-lt"/>
                <a:ea typeface="+mj-ea"/>
                <a:cs typeface="+mj-cs"/>
              </a:rPr>
              <a:t> mudar </a:t>
            </a:r>
            <a:r>
              <a:rPr lang="en-US" b="1" dirty="0" err="1">
                <a:solidFill>
                  <a:srgbClr val="FFC000"/>
                </a:solidFill>
                <a:latin typeface="+mj-lt"/>
                <a:ea typeface="+mj-ea"/>
                <a:cs typeface="+mj-cs"/>
              </a:rPr>
              <a:t>durante</a:t>
            </a:r>
            <a:r>
              <a:rPr lang="en-US" b="1" dirty="0">
                <a:solidFill>
                  <a:srgbClr val="FFC000"/>
                </a:solidFill>
                <a:latin typeface="+mj-lt"/>
                <a:ea typeface="+mj-ea"/>
                <a:cs typeface="+mj-cs"/>
              </a:rPr>
              <a:t> a </a:t>
            </a:r>
            <a:r>
              <a:rPr lang="en-US" b="1" dirty="0" err="1">
                <a:solidFill>
                  <a:srgbClr val="FFC000"/>
                </a:solidFill>
                <a:latin typeface="+mj-lt"/>
                <a:ea typeface="+mj-ea"/>
                <a:cs typeface="+mj-cs"/>
              </a:rPr>
              <a:t>execução</a:t>
            </a:r>
            <a:r>
              <a:rPr lang="en-US" b="1" dirty="0">
                <a:solidFill>
                  <a:srgbClr val="FFC000"/>
                </a:solidFill>
                <a:latin typeface="+mj-lt"/>
                <a:ea typeface="+mj-ea"/>
                <a:cs typeface="+mj-cs"/>
              </a:rPr>
              <a:t> do </a:t>
            </a:r>
            <a:r>
              <a:rPr lang="en-US" b="1" dirty="0" err="1">
                <a:solidFill>
                  <a:srgbClr val="FFC000"/>
                </a:solidFill>
                <a:latin typeface="+mj-lt"/>
                <a:ea typeface="+mj-ea"/>
                <a:cs typeface="+mj-cs"/>
              </a:rPr>
              <a:t>programa</a:t>
            </a:r>
            <a:r>
              <a:rPr lang="en-US" b="1" dirty="0">
                <a:solidFill>
                  <a:srgbClr val="FFC000"/>
                </a:solidFill>
                <a:latin typeface="+mj-lt"/>
                <a:ea typeface="+mj-ea"/>
                <a:cs typeface="+mj-cs"/>
              </a:rPr>
              <a:t> </a:t>
            </a:r>
          </a:p>
          <a:p>
            <a:pPr marL="285750" indent="-285750">
              <a:spcBef>
                <a:spcPts val="1000"/>
              </a:spcBef>
              <a:buClr>
                <a:schemeClr val="bg2">
                  <a:lumMod val="40000"/>
                  <a:lumOff val="60000"/>
                </a:schemeClr>
              </a:buClr>
              <a:buSzPct val="80000"/>
              <a:buFont typeface="Arial" panose="020B0604020202020204" pitchFamily="34" charset="0"/>
              <a:buChar char="•"/>
            </a:pPr>
            <a:r>
              <a:rPr lang="en-US" b="1" dirty="0">
                <a:solidFill>
                  <a:srgbClr val="FFC000"/>
                </a:solidFill>
                <a:latin typeface="+mj-lt"/>
                <a:ea typeface="+mj-ea"/>
                <a:cs typeface="+mj-cs"/>
              </a:rPr>
              <a:t>Cada </a:t>
            </a:r>
            <a:r>
              <a:rPr lang="en-US" b="1" dirty="0" err="1">
                <a:solidFill>
                  <a:srgbClr val="FFC000"/>
                </a:solidFill>
                <a:latin typeface="+mj-lt"/>
                <a:ea typeface="+mj-ea"/>
                <a:cs typeface="+mj-cs"/>
              </a:rPr>
              <a:t>variável</a:t>
            </a:r>
            <a:r>
              <a:rPr lang="en-US" b="1" dirty="0">
                <a:solidFill>
                  <a:srgbClr val="FFC000"/>
                </a:solidFill>
                <a:latin typeface="+mj-lt"/>
                <a:ea typeface="+mj-ea"/>
                <a:cs typeface="+mj-cs"/>
              </a:rPr>
              <a:t> </a:t>
            </a:r>
            <a:r>
              <a:rPr lang="en-US" b="1" dirty="0" err="1">
                <a:solidFill>
                  <a:srgbClr val="FFC000"/>
                </a:solidFill>
                <a:latin typeface="+mj-lt"/>
                <a:ea typeface="+mj-ea"/>
                <a:cs typeface="+mj-cs"/>
              </a:rPr>
              <a:t>possui</a:t>
            </a:r>
            <a:r>
              <a:rPr lang="en-US" b="1" dirty="0">
                <a:solidFill>
                  <a:srgbClr val="FFC000"/>
                </a:solidFill>
                <a:latin typeface="+mj-lt"/>
                <a:ea typeface="+mj-ea"/>
                <a:cs typeface="+mj-cs"/>
              </a:rPr>
              <a:t> um </a:t>
            </a:r>
            <a:r>
              <a:rPr lang="en-US" b="1" dirty="0" err="1">
                <a:solidFill>
                  <a:srgbClr val="FFC000"/>
                </a:solidFill>
                <a:latin typeface="+mj-lt"/>
                <a:ea typeface="+mj-ea"/>
                <a:cs typeface="+mj-cs"/>
              </a:rPr>
              <a:t>nome</a:t>
            </a:r>
            <a:endParaRPr lang="pt-BR" altLang="pt-BR" dirty="0">
              <a:solidFill>
                <a:srgbClr val="FFC000"/>
              </a:solidFill>
              <a:latin typeface="Arial" panose="020B0604020202020204" pitchFamily="34" charset="0"/>
            </a:endParaRPr>
          </a:p>
          <a:p>
            <a:pPr marL="285750" lvl="0" indent="-285750" fontAlgn="base">
              <a:spcBef>
                <a:spcPts val="1000"/>
              </a:spcBef>
              <a:spcAft>
                <a:spcPct val="0"/>
              </a:spcAft>
              <a:buClr>
                <a:schemeClr val="bg2">
                  <a:lumMod val="40000"/>
                  <a:lumOff val="60000"/>
                </a:schemeClr>
              </a:buClr>
              <a:buSzPct val="80000"/>
              <a:buFont typeface="Arial" panose="020B0604020202020204" pitchFamily="34" charset="0"/>
              <a:buChar char="•"/>
            </a:pPr>
            <a:r>
              <a:rPr lang="pt-BR" altLang="pt-BR" b="1" dirty="0">
                <a:solidFill>
                  <a:srgbClr val="FFC000"/>
                </a:solidFill>
                <a:latin typeface="+mj-lt"/>
                <a:ea typeface="+mj-ea"/>
                <a:cs typeface="+mj-cs"/>
              </a:rPr>
              <a:t>Python é dinamicamente </a:t>
            </a:r>
            <a:r>
              <a:rPr lang="pt-BR" altLang="pt-BR" b="1" dirty="0" err="1">
                <a:solidFill>
                  <a:srgbClr val="FFC000"/>
                </a:solidFill>
                <a:latin typeface="+mj-lt"/>
                <a:ea typeface="+mj-ea"/>
                <a:cs typeface="+mj-cs"/>
              </a:rPr>
              <a:t>tipado</a:t>
            </a:r>
            <a:r>
              <a:rPr lang="pt-BR" altLang="pt-BR" b="1" dirty="0">
                <a:solidFill>
                  <a:srgbClr val="FFC000"/>
                </a:solidFill>
                <a:latin typeface="+mj-lt"/>
                <a:ea typeface="+mj-ea"/>
                <a:cs typeface="+mj-cs"/>
              </a:rPr>
              <a:t> (não precisa declarar tipo) </a:t>
            </a:r>
          </a:p>
          <a:p>
            <a:pPr>
              <a:spcBef>
                <a:spcPts val="1000"/>
              </a:spcBef>
              <a:buClr>
                <a:schemeClr val="bg2">
                  <a:lumMod val="40000"/>
                  <a:lumOff val="60000"/>
                </a:schemeClr>
              </a:buClr>
              <a:buSzPct val="80000"/>
              <a:buFont typeface="Wingdings 3" charset="2"/>
              <a:buChar char=""/>
            </a:pPr>
            <a:endParaRPr lang="en-US" b="1" dirty="0">
              <a:latin typeface="+mj-lt"/>
              <a:ea typeface="+mj-ea"/>
              <a:cs typeface="+mj-cs"/>
            </a:endParaRPr>
          </a:p>
          <a:p>
            <a:pPr>
              <a:spcBef>
                <a:spcPts val="1000"/>
              </a:spcBef>
              <a:buClr>
                <a:schemeClr val="bg2">
                  <a:lumMod val="40000"/>
                  <a:lumOff val="60000"/>
                </a:schemeClr>
              </a:buClr>
              <a:buSzPct val="80000"/>
              <a:buFont typeface="Wingdings 3" charset="2"/>
              <a:buChar char=""/>
            </a:pPr>
            <a:endParaRPr lang="en-US" b="1" dirty="0">
              <a:latin typeface="+mj-lt"/>
              <a:ea typeface="+mj-ea"/>
              <a:cs typeface="+mj-cs"/>
            </a:endParaRPr>
          </a:p>
        </p:txBody>
      </p:sp>
      <p:sp>
        <p:nvSpPr>
          <p:cNvPr id="17" name="CaixaDeTexto 16">
            <a:extLst>
              <a:ext uri="{FF2B5EF4-FFF2-40B4-BE49-F238E27FC236}">
                <a16:creationId xmlns:a16="http://schemas.microsoft.com/office/drawing/2014/main" id="{E5743203-850E-1B3D-4FAE-FE81EEBAEDFE}"/>
              </a:ext>
            </a:extLst>
          </p:cNvPr>
          <p:cNvSpPr txBox="1"/>
          <p:nvPr/>
        </p:nvSpPr>
        <p:spPr>
          <a:xfrm>
            <a:off x="8408273" y="6049903"/>
            <a:ext cx="8125968" cy="2369880"/>
          </a:xfrm>
          <a:prstGeom prst="rect">
            <a:avLst/>
          </a:prstGeom>
          <a:noFill/>
        </p:spPr>
        <p:txBody>
          <a:bodyPr wrap="square">
            <a:spAutoFit/>
          </a:bodyPr>
          <a:lstStyle/>
          <a:p>
            <a:pPr>
              <a:buNone/>
            </a:pPr>
            <a:r>
              <a:rPr lang="pt-BR" sz="2000" b="1" dirty="0"/>
              <a:t>Regras de nomenclatura (nomes de variáveis)</a:t>
            </a:r>
          </a:p>
          <a:p>
            <a:pPr>
              <a:buNone/>
            </a:pPr>
            <a:endParaRPr lang="pt-BR" sz="2000" b="1" dirty="0"/>
          </a:p>
          <a:p>
            <a:pPr>
              <a:buNone/>
            </a:pPr>
            <a:r>
              <a:rPr lang="pt-BR" dirty="0"/>
              <a:t>✔ Devem começar com letra ou </a:t>
            </a:r>
            <a:r>
              <a:rPr lang="pt-BR" dirty="0">
                <a:latin typeface="Courier New" panose="02070309020205020404" pitchFamily="49" charset="0"/>
              </a:rPr>
              <a:t>_</a:t>
            </a:r>
            <a:br>
              <a:rPr lang="pt-BR" dirty="0"/>
            </a:br>
            <a:r>
              <a:rPr lang="pt-BR" dirty="0"/>
              <a:t>✔ Não podem começar com números</a:t>
            </a:r>
            <a:br>
              <a:rPr lang="pt-BR" dirty="0"/>
            </a:br>
            <a:r>
              <a:rPr lang="pt-BR" dirty="0"/>
              <a:t>✔ Não podem conter espaços</a:t>
            </a:r>
            <a:br>
              <a:rPr lang="pt-BR" dirty="0"/>
            </a:br>
            <a:r>
              <a:rPr lang="pt-BR" dirty="0"/>
              <a:t>✔ Não podem usar caracteres especiais (@, !, %, etc.)</a:t>
            </a:r>
            <a:br>
              <a:rPr lang="pt-BR" dirty="0"/>
            </a:br>
            <a:r>
              <a:rPr lang="pt-BR" dirty="0"/>
              <a:t>✔ Python diferencia maiúsculas e minúsculas</a:t>
            </a:r>
            <a:br>
              <a:rPr lang="pt-BR" dirty="0"/>
            </a:br>
            <a:r>
              <a:rPr lang="pt-BR" dirty="0"/>
              <a:t>✔ Não podem ser palavras reservadas (</a:t>
            </a:r>
            <a:r>
              <a:rPr lang="pt-BR" dirty="0" err="1"/>
              <a:t>ex</a:t>
            </a:r>
            <a:r>
              <a:rPr lang="pt-BR" dirty="0"/>
              <a:t>: </a:t>
            </a:r>
            <a:r>
              <a:rPr lang="pt-BR" dirty="0" err="1"/>
              <a:t>if</a:t>
            </a:r>
            <a:r>
              <a:rPr lang="pt-BR" dirty="0"/>
              <a:t>, </a:t>
            </a:r>
            <a:r>
              <a:rPr lang="pt-BR" dirty="0" err="1"/>
              <a:t>while</a:t>
            </a:r>
            <a:r>
              <a:rPr lang="pt-BR" dirty="0"/>
              <a:t>, print)</a:t>
            </a:r>
          </a:p>
        </p:txBody>
      </p:sp>
    </p:spTree>
    <p:extLst>
      <p:ext uri="{BB962C8B-B14F-4D97-AF65-F5344CB8AC3E}">
        <p14:creationId xmlns:p14="http://schemas.microsoft.com/office/powerpoint/2010/main" val="8919471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5088EA60-2B23-BA9D-78A2-6486B684B1DC}"/>
              </a:ext>
            </a:extLst>
          </p:cNvPr>
          <p:cNvSpPr txBox="1"/>
          <p:nvPr/>
        </p:nvSpPr>
        <p:spPr>
          <a:xfrm>
            <a:off x="508000" y="1066800"/>
            <a:ext cx="8128000" cy="738664"/>
          </a:xfrm>
          <a:prstGeom prst="rect">
            <a:avLst/>
          </a:prstGeom>
          <a:noFill/>
        </p:spPr>
        <p:txBody>
          <a:bodyPr wrap="square">
            <a:spAutoFit/>
          </a:bodyPr>
          <a:lstStyle/>
          <a:p>
            <a:r>
              <a:rPr lang="pt-BR" sz="4200" dirty="0">
                <a:solidFill>
                  <a:schemeClr val="tx2"/>
                </a:solidFill>
                <a:latin typeface="+mj-lt"/>
                <a:ea typeface="+mj-ea"/>
                <a:cs typeface="+mj-cs"/>
              </a:rPr>
              <a:t>Tipos de Dados em Python</a:t>
            </a:r>
          </a:p>
        </p:txBody>
      </p:sp>
      <p:sp>
        <p:nvSpPr>
          <p:cNvPr id="6" name="CaixaDeTexto 5">
            <a:extLst>
              <a:ext uri="{FF2B5EF4-FFF2-40B4-BE49-F238E27FC236}">
                <a16:creationId xmlns:a16="http://schemas.microsoft.com/office/drawing/2014/main" id="{5E24FBE1-1C08-FFC5-5F8B-BDB3DB41CA5E}"/>
              </a:ext>
            </a:extLst>
          </p:cNvPr>
          <p:cNvSpPr txBox="1"/>
          <p:nvPr/>
        </p:nvSpPr>
        <p:spPr>
          <a:xfrm>
            <a:off x="510032" y="2208091"/>
            <a:ext cx="11351768" cy="2246769"/>
          </a:xfrm>
          <a:prstGeom prst="rect">
            <a:avLst/>
          </a:prstGeom>
          <a:noFill/>
        </p:spPr>
        <p:txBody>
          <a:bodyPr wrap="square">
            <a:spAutoFit/>
          </a:bodyPr>
          <a:lstStyle/>
          <a:p>
            <a:pPr>
              <a:buNone/>
            </a:pPr>
            <a:r>
              <a:rPr lang="pt-BR" sz="2000" b="1" dirty="0"/>
              <a:t>Tipos Numéricos</a:t>
            </a:r>
          </a:p>
          <a:p>
            <a:pPr>
              <a:buNone/>
            </a:pPr>
            <a:endParaRPr lang="pt-BR" sz="2000" b="1" dirty="0"/>
          </a:p>
          <a:p>
            <a:pPr>
              <a:buFont typeface="Arial" panose="020B0604020202020204" pitchFamily="34" charset="0"/>
              <a:buChar char="•"/>
            </a:pPr>
            <a:r>
              <a:rPr lang="pt-BR" sz="2000" b="1" dirty="0" err="1">
                <a:solidFill>
                  <a:srgbClr val="FFC000"/>
                </a:solidFill>
                <a:latin typeface="Courier New" panose="02070309020205020404" pitchFamily="49" charset="0"/>
              </a:rPr>
              <a:t>int</a:t>
            </a:r>
            <a:r>
              <a:rPr lang="pt-BR" sz="2000" b="1" dirty="0"/>
              <a:t> → números inteiros (</a:t>
            </a:r>
            <a:r>
              <a:rPr lang="pt-BR" sz="2000" b="1" dirty="0" err="1">
                <a:solidFill>
                  <a:srgbClr val="FFC000"/>
                </a:solidFill>
              </a:rPr>
              <a:t>ex</a:t>
            </a:r>
            <a:r>
              <a:rPr lang="pt-BR" sz="2000" b="1" dirty="0">
                <a:solidFill>
                  <a:srgbClr val="FFC000"/>
                </a:solidFill>
              </a:rPr>
              <a:t>: 10, -5</a:t>
            </a:r>
            <a:r>
              <a:rPr lang="pt-BR" sz="2000" b="1" dirty="0"/>
              <a:t>) - </a:t>
            </a:r>
            <a:r>
              <a:rPr lang="pt-BR" sz="2000" dirty="0"/>
              <a:t>Não tem limite fixo definido</a:t>
            </a:r>
            <a:endParaRPr lang="pt-BR" sz="2000" b="1" dirty="0"/>
          </a:p>
          <a:p>
            <a:pPr>
              <a:buFont typeface="Arial" panose="020B0604020202020204" pitchFamily="34" charset="0"/>
              <a:buChar char="•"/>
            </a:pPr>
            <a:endParaRPr lang="pt-BR" sz="2000" b="1" dirty="0"/>
          </a:p>
          <a:p>
            <a:pPr>
              <a:buFont typeface="Arial" panose="020B0604020202020204" pitchFamily="34" charset="0"/>
              <a:buChar char="•"/>
            </a:pPr>
            <a:r>
              <a:rPr lang="pt-BR" sz="2000" b="1" dirty="0" err="1">
                <a:solidFill>
                  <a:srgbClr val="FFC000"/>
                </a:solidFill>
                <a:latin typeface="Courier New" panose="02070309020205020404" pitchFamily="49" charset="0"/>
              </a:rPr>
              <a:t>float</a:t>
            </a:r>
            <a:r>
              <a:rPr lang="pt-BR" sz="2000" b="1" dirty="0"/>
              <a:t> → números decimais (</a:t>
            </a:r>
            <a:r>
              <a:rPr lang="pt-BR" sz="2000" b="1" dirty="0" err="1">
                <a:solidFill>
                  <a:srgbClr val="FFC000"/>
                </a:solidFill>
              </a:rPr>
              <a:t>ex</a:t>
            </a:r>
            <a:r>
              <a:rPr lang="pt-BR" sz="2000" b="1" dirty="0">
                <a:solidFill>
                  <a:srgbClr val="FFC000"/>
                </a:solidFill>
              </a:rPr>
              <a:t>: 3.14</a:t>
            </a:r>
            <a:r>
              <a:rPr lang="pt-BR" sz="2000" b="1" dirty="0"/>
              <a:t>) - </a:t>
            </a:r>
            <a:r>
              <a:rPr lang="pt-BR" sz="2000" dirty="0"/>
              <a:t>Precisão: cerca de </a:t>
            </a:r>
            <a:r>
              <a:rPr lang="pt-BR" sz="2000" b="1" dirty="0"/>
              <a:t>15 a 17 dígitos</a:t>
            </a:r>
          </a:p>
          <a:p>
            <a:pPr>
              <a:buFont typeface="Arial" panose="020B0604020202020204" pitchFamily="34" charset="0"/>
              <a:buChar char="•"/>
            </a:pPr>
            <a:endParaRPr lang="pt-BR" sz="2000" b="1" dirty="0"/>
          </a:p>
          <a:p>
            <a:pPr>
              <a:buFont typeface="Arial" panose="020B0604020202020204" pitchFamily="34" charset="0"/>
              <a:buChar char="•"/>
            </a:pPr>
            <a:r>
              <a:rPr lang="pt-BR" sz="2000" b="1" dirty="0" err="1">
                <a:solidFill>
                  <a:srgbClr val="FFC000"/>
                </a:solidFill>
                <a:latin typeface="Courier New" panose="02070309020205020404" pitchFamily="49" charset="0"/>
              </a:rPr>
              <a:t>complex</a:t>
            </a:r>
            <a:r>
              <a:rPr lang="pt-BR" sz="2000" b="1" dirty="0"/>
              <a:t> → números complexos (</a:t>
            </a:r>
            <a:r>
              <a:rPr lang="pt-BR" sz="2000" b="1" dirty="0" err="1">
                <a:solidFill>
                  <a:srgbClr val="FFC000"/>
                </a:solidFill>
              </a:rPr>
              <a:t>ex</a:t>
            </a:r>
            <a:r>
              <a:rPr lang="pt-BR" sz="2000" b="1" dirty="0">
                <a:solidFill>
                  <a:srgbClr val="FFC000"/>
                </a:solidFill>
              </a:rPr>
              <a:t>: 2 + 3j</a:t>
            </a:r>
            <a:r>
              <a:rPr lang="pt-BR" sz="2000" b="1" dirty="0"/>
              <a:t>) </a:t>
            </a:r>
          </a:p>
        </p:txBody>
      </p:sp>
      <p:sp>
        <p:nvSpPr>
          <p:cNvPr id="12" name="CaixaDeTexto 11">
            <a:extLst>
              <a:ext uri="{FF2B5EF4-FFF2-40B4-BE49-F238E27FC236}">
                <a16:creationId xmlns:a16="http://schemas.microsoft.com/office/drawing/2014/main" id="{D120FAFF-0020-2BCF-F427-D0590D7A6D16}"/>
              </a:ext>
            </a:extLst>
          </p:cNvPr>
          <p:cNvSpPr txBox="1"/>
          <p:nvPr/>
        </p:nvSpPr>
        <p:spPr>
          <a:xfrm>
            <a:off x="7975600" y="5968663"/>
            <a:ext cx="8125968" cy="2554545"/>
          </a:xfrm>
          <a:prstGeom prst="rect">
            <a:avLst/>
          </a:prstGeom>
          <a:noFill/>
        </p:spPr>
        <p:txBody>
          <a:bodyPr wrap="square">
            <a:spAutoFit/>
          </a:bodyPr>
          <a:lstStyle/>
          <a:p>
            <a:pPr>
              <a:buNone/>
            </a:pPr>
            <a:r>
              <a:rPr lang="pt-BR" sz="2000" b="1" dirty="0"/>
              <a:t>Quando usar </a:t>
            </a:r>
            <a:r>
              <a:rPr lang="pt-BR" sz="2000" b="1" dirty="0" err="1">
                <a:solidFill>
                  <a:srgbClr val="FFC000"/>
                </a:solidFill>
                <a:latin typeface="Courier New" panose="02070309020205020404" pitchFamily="49" charset="0"/>
              </a:rPr>
              <a:t>complex</a:t>
            </a:r>
            <a:r>
              <a:rPr lang="pt-BR" sz="2000" b="1" dirty="0"/>
              <a:t>?</a:t>
            </a:r>
          </a:p>
          <a:p>
            <a:pPr>
              <a:buNone/>
            </a:pPr>
            <a:r>
              <a:rPr lang="pt-BR" sz="2000" b="1" dirty="0"/>
              <a:t>Você usa números complexos quando trabalha com cálculos mais avançados, como:</a:t>
            </a:r>
          </a:p>
          <a:p>
            <a:pPr>
              <a:buNone/>
            </a:pPr>
            <a:endParaRPr lang="pt-BR" sz="2000" b="1" dirty="0"/>
          </a:p>
          <a:p>
            <a:pPr>
              <a:buFont typeface="Arial" panose="020B0604020202020204" pitchFamily="34" charset="0"/>
              <a:buChar char="•"/>
            </a:pPr>
            <a:r>
              <a:rPr lang="pt-BR" sz="2000" b="1" dirty="0"/>
              <a:t> Engenharia elétrica </a:t>
            </a:r>
            <a:r>
              <a:rPr lang="pt-BR" sz="2000" b="1" dirty="0">
                <a:solidFill>
                  <a:srgbClr val="FFC000"/>
                </a:solidFill>
              </a:rPr>
              <a:t>(análise de circuitos) </a:t>
            </a:r>
          </a:p>
          <a:p>
            <a:pPr>
              <a:buFont typeface="Arial" panose="020B0604020202020204" pitchFamily="34" charset="0"/>
              <a:buChar char="•"/>
            </a:pPr>
            <a:r>
              <a:rPr lang="pt-BR" sz="2000" b="1" dirty="0"/>
              <a:t> Sinais e ondas </a:t>
            </a:r>
            <a:r>
              <a:rPr lang="pt-BR" sz="2000" b="1" dirty="0">
                <a:solidFill>
                  <a:srgbClr val="FFC000"/>
                </a:solidFill>
              </a:rPr>
              <a:t>(frequência) </a:t>
            </a:r>
          </a:p>
          <a:p>
            <a:pPr>
              <a:buFont typeface="Arial" panose="020B0604020202020204" pitchFamily="34" charset="0"/>
              <a:buChar char="•"/>
            </a:pPr>
            <a:r>
              <a:rPr lang="pt-BR" sz="2000" b="1" dirty="0"/>
              <a:t> Matemática avançada </a:t>
            </a:r>
          </a:p>
          <a:p>
            <a:pPr>
              <a:buFont typeface="Arial" panose="020B0604020202020204" pitchFamily="34" charset="0"/>
              <a:buChar char="•"/>
            </a:pPr>
            <a:r>
              <a:rPr lang="pt-BR" sz="2000" b="1" dirty="0"/>
              <a:t> Algumas áreas de gráficos e simulações</a:t>
            </a:r>
          </a:p>
        </p:txBody>
      </p:sp>
      <p:cxnSp>
        <p:nvCxnSpPr>
          <p:cNvPr id="14" name="Conector de Seta Reta 13">
            <a:extLst>
              <a:ext uri="{FF2B5EF4-FFF2-40B4-BE49-F238E27FC236}">
                <a16:creationId xmlns:a16="http://schemas.microsoft.com/office/drawing/2014/main" id="{6A9DDF18-C212-354C-6F07-37F9410AB671}"/>
              </a:ext>
            </a:extLst>
          </p:cNvPr>
          <p:cNvCxnSpPr>
            <a:cxnSpLocks/>
          </p:cNvCxnSpPr>
          <p:nvPr/>
        </p:nvCxnSpPr>
        <p:spPr>
          <a:xfrm>
            <a:off x="5994400" y="4330550"/>
            <a:ext cx="3962400" cy="1638113"/>
          </a:xfrm>
          <a:prstGeom prst="straightConnector1">
            <a:avLst/>
          </a:prstGeom>
          <a:ln>
            <a:solidFill>
              <a:srgbClr val="FFC000"/>
            </a:solidFill>
            <a:tailEnd type="triangle"/>
          </a:ln>
          <a:effectLst>
            <a:outerShdw blurRad="50800" dist="38100" dir="13500000" algn="b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pic>
        <p:nvPicPr>
          <p:cNvPr id="19" name="Imagem 18">
            <a:extLst>
              <a:ext uri="{FF2B5EF4-FFF2-40B4-BE49-F238E27FC236}">
                <a16:creationId xmlns:a16="http://schemas.microsoft.com/office/drawing/2014/main" id="{0D111549-EE8E-DD43-4629-D9E5BD843B31}"/>
              </a:ext>
            </a:extLst>
          </p:cNvPr>
          <p:cNvPicPr>
            <a:picLocks noChangeAspect="1"/>
          </p:cNvPicPr>
          <p:nvPr/>
        </p:nvPicPr>
        <p:blipFill>
          <a:blip r:embed="rId2"/>
          <a:stretch>
            <a:fillRect/>
          </a:stretch>
        </p:blipFill>
        <p:spPr>
          <a:xfrm>
            <a:off x="588026" y="5486400"/>
            <a:ext cx="6560870" cy="2819400"/>
          </a:xfrm>
          <a:prstGeom prst="rect">
            <a:avLst/>
          </a:prstGeom>
        </p:spPr>
      </p:pic>
    </p:spTree>
    <p:extLst>
      <p:ext uri="{BB962C8B-B14F-4D97-AF65-F5344CB8AC3E}">
        <p14:creationId xmlns:p14="http://schemas.microsoft.com/office/powerpoint/2010/main" val="25001830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C92D91-E2B8-102B-F1EC-09F16B9FD016}"/>
            </a:ext>
          </a:extLst>
        </p:cNvPr>
        <p:cNvGrpSpPr/>
        <p:nvPr/>
      </p:nvGrpSpPr>
      <p:grpSpPr>
        <a:xfrm>
          <a:off x="0" y="0"/>
          <a:ext cx="0" cy="0"/>
          <a:chOff x="0" y="0"/>
          <a:chExt cx="0" cy="0"/>
        </a:xfrm>
      </p:grpSpPr>
      <p:sp>
        <p:nvSpPr>
          <p:cNvPr id="4" name="CaixaDeTexto 3">
            <a:extLst>
              <a:ext uri="{FF2B5EF4-FFF2-40B4-BE49-F238E27FC236}">
                <a16:creationId xmlns:a16="http://schemas.microsoft.com/office/drawing/2014/main" id="{89BB3624-03BE-2A41-623A-169FCE95F548}"/>
              </a:ext>
            </a:extLst>
          </p:cNvPr>
          <p:cNvSpPr txBox="1"/>
          <p:nvPr/>
        </p:nvSpPr>
        <p:spPr>
          <a:xfrm>
            <a:off x="508000" y="1066800"/>
            <a:ext cx="8128000" cy="738664"/>
          </a:xfrm>
          <a:prstGeom prst="rect">
            <a:avLst/>
          </a:prstGeom>
          <a:noFill/>
        </p:spPr>
        <p:txBody>
          <a:bodyPr wrap="square">
            <a:spAutoFit/>
          </a:bodyPr>
          <a:lstStyle/>
          <a:p>
            <a:r>
              <a:rPr lang="pt-BR" sz="4200" dirty="0">
                <a:solidFill>
                  <a:schemeClr val="tx2"/>
                </a:solidFill>
                <a:latin typeface="+mj-lt"/>
                <a:ea typeface="+mj-ea"/>
                <a:cs typeface="+mj-cs"/>
              </a:rPr>
              <a:t>Tipos de Dados em Python</a:t>
            </a:r>
          </a:p>
        </p:txBody>
      </p:sp>
      <p:sp>
        <p:nvSpPr>
          <p:cNvPr id="8" name="CaixaDeTexto 7">
            <a:extLst>
              <a:ext uri="{FF2B5EF4-FFF2-40B4-BE49-F238E27FC236}">
                <a16:creationId xmlns:a16="http://schemas.microsoft.com/office/drawing/2014/main" id="{1B8EFAD2-E4D4-EEF9-D98D-65A99114B886}"/>
              </a:ext>
            </a:extLst>
          </p:cNvPr>
          <p:cNvSpPr txBox="1"/>
          <p:nvPr/>
        </p:nvSpPr>
        <p:spPr>
          <a:xfrm>
            <a:off x="584200" y="2667000"/>
            <a:ext cx="8125968" cy="1015663"/>
          </a:xfrm>
          <a:prstGeom prst="rect">
            <a:avLst/>
          </a:prstGeom>
          <a:noFill/>
        </p:spPr>
        <p:txBody>
          <a:bodyPr wrap="square">
            <a:spAutoFit/>
          </a:bodyPr>
          <a:lstStyle/>
          <a:p>
            <a:pPr>
              <a:buNone/>
            </a:pPr>
            <a:r>
              <a:rPr lang="pt-BR" sz="2000" b="1" dirty="0"/>
              <a:t>Tipo Texto</a:t>
            </a:r>
          </a:p>
          <a:p>
            <a:pPr>
              <a:buNone/>
            </a:pPr>
            <a:endParaRPr lang="pt-BR" sz="2000" b="1" dirty="0"/>
          </a:p>
          <a:p>
            <a:pPr>
              <a:buFont typeface="Arial" panose="020B0604020202020204" pitchFamily="34" charset="0"/>
              <a:buChar char="•"/>
            </a:pPr>
            <a:r>
              <a:rPr lang="pt-BR" sz="2000" b="1" dirty="0" err="1">
                <a:solidFill>
                  <a:srgbClr val="FFC000"/>
                </a:solidFill>
                <a:latin typeface="Courier New" panose="02070309020205020404" pitchFamily="49" charset="0"/>
              </a:rPr>
              <a:t>str</a:t>
            </a:r>
            <a:r>
              <a:rPr lang="pt-BR" sz="2000" b="1" dirty="0"/>
              <a:t> → cadeias de caracteres </a:t>
            </a:r>
            <a:r>
              <a:rPr lang="pt-BR" sz="2000" b="1" dirty="0">
                <a:solidFill>
                  <a:srgbClr val="FFC000"/>
                </a:solidFill>
              </a:rPr>
              <a:t>(</a:t>
            </a:r>
            <a:r>
              <a:rPr lang="pt-BR" sz="2000" b="1" dirty="0" err="1">
                <a:solidFill>
                  <a:srgbClr val="FFC000"/>
                </a:solidFill>
              </a:rPr>
              <a:t>ex</a:t>
            </a:r>
            <a:r>
              <a:rPr lang="pt-BR" sz="2000" b="1" dirty="0">
                <a:solidFill>
                  <a:srgbClr val="FFC000"/>
                </a:solidFill>
              </a:rPr>
              <a:t>: "Olá")</a:t>
            </a:r>
          </a:p>
        </p:txBody>
      </p:sp>
      <p:sp>
        <p:nvSpPr>
          <p:cNvPr id="10" name="CaixaDeTexto 9">
            <a:extLst>
              <a:ext uri="{FF2B5EF4-FFF2-40B4-BE49-F238E27FC236}">
                <a16:creationId xmlns:a16="http://schemas.microsoft.com/office/drawing/2014/main" id="{1EC5AA34-2123-A2C3-D5D6-552B052DB6FC}"/>
              </a:ext>
            </a:extLst>
          </p:cNvPr>
          <p:cNvSpPr txBox="1"/>
          <p:nvPr/>
        </p:nvSpPr>
        <p:spPr>
          <a:xfrm>
            <a:off x="7508240" y="2564993"/>
            <a:ext cx="8125968" cy="1631216"/>
          </a:xfrm>
          <a:prstGeom prst="rect">
            <a:avLst/>
          </a:prstGeom>
          <a:noFill/>
        </p:spPr>
        <p:txBody>
          <a:bodyPr wrap="square">
            <a:spAutoFit/>
          </a:bodyPr>
          <a:lstStyle/>
          <a:p>
            <a:pPr>
              <a:buNone/>
            </a:pPr>
            <a:r>
              <a:rPr lang="pt-BR" sz="2000" b="1" dirty="0"/>
              <a:t>Tipo Booleano</a:t>
            </a:r>
          </a:p>
          <a:p>
            <a:pPr>
              <a:buNone/>
            </a:pPr>
            <a:endParaRPr lang="pt-BR" sz="2000" b="1" dirty="0"/>
          </a:p>
          <a:p>
            <a:pPr>
              <a:buFont typeface="Arial" panose="020B0604020202020204" pitchFamily="34" charset="0"/>
              <a:buChar char="•"/>
            </a:pPr>
            <a:r>
              <a:rPr lang="pt-BR" sz="2000" b="1" dirty="0" err="1">
                <a:solidFill>
                  <a:srgbClr val="FFC000"/>
                </a:solidFill>
                <a:latin typeface="Courier New" panose="02070309020205020404" pitchFamily="49" charset="0"/>
              </a:rPr>
              <a:t>bool</a:t>
            </a:r>
            <a:r>
              <a:rPr lang="pt-BR" sz="2000" b="1" dirty="0"/>
              <a:t> → valores lógicos </a:t>
            </a:r>
          </a:p>
          <a:p>
            <a:pPr marL="742950" lvl="1" indent="-285750">
              <a:buFont typeface="Arial" panose="020B0604020202020204" pitchFamily="34" charset="0"/>
              <a:buChar char="•"/>
            </a:pPr>
            <a:r>
              <a:rPr lang="pt-BR" sz="2000" b="1" dirty="0" err="1">
                <a:solidFill>
                  <a:srgbClr val="FFC000"/>
                </a:solidFill>
                <a:latin typeface="Courier New" panose="02070309020205020404" pitchFamily="49" charset="0"/>
              </a:rPr>
              <a:t>True</a:t>
            </a:r>
            <a:r>
              <a:rPr lang="pt-BR" sz="2000" b="1" dirty="0">
                <a:solidFill>
                  <a:srgbClr val="FFC000"/>
                </a:solidFill>
              </a:rPr>
              <a:t> </a:t>
            </a:r>
          </a:p>
          <a:p>
            <a:pPr marL="742950" lvl="1" indent="-285750">
              <a:buFont typeface="Arial" panose="020B0604020202020204" pitchFamily="34" charset="0"/>
              <a:buChar char="•"/>
            </a:pPr>
            <a:r>
              <a:rPr lang="pt-BR" sz="2000" b="1" dirty="0">
                <a:solidFill>
                  <a:srgbClr val="FFC000"/>
                </a:solidFill>
                <a:latin typeface="Courier New" panose="02070309020205020404" pitchFamily="49" charset="0"/>
              </a:rPr>
              <a:t>False</a:t>
            </a:r>
            <a:endParaRPr lang="pt-BR" sz="2000" b="1" dirty="0">
              <a:solidFill>
                <a:srgbClr val="FFC000"/>
              </a:solidFill>
            </a:endParaRPr>
          </a:p>
        </p:txBody>
      </p:sp>
      <p:pic>
        <p:nvPicPr>
          <p:cNvPr id="3" name="Imagem 2">
            <a:extLst>
              <a:ext uri="{FF2B5EF4-FFF2-40B4-BE49-F238E27FC236}">
                <a16:creationId xmlns:a16="http://schemas.microsoft.com/office/drawing/2014/main" id="{599D1B08-0667-CAA4-5CD9-04CADDCFECBA}"/>
              </a:ext>
            </a:extLst>
          </p:cNvPr>
          <p:cNvPicPr>
            <a:picLocks noChangeAspect="1"/>
          </p:cNvPicPr>
          <p:nvPr/>
        </p:nvPicPr>
        <p:blipFill>
          <a:blip r:embed="rId2"/>
          <a:stretch>
            <a:fillRect/>
          </a:stretch>
        </p:blipFill>
        <p:spPr>
          <a:xfrm>
            <a:off x="595376" y="4919162"/>
            <a:ext cx="10439400" cy="3743519"/>
          </a:xfrm>
          <a:prstGeom prst="rect">
            <a:avLst/>
          </a:prstGeom>
        </p:spPr>
      </p:pic>
    </p:spTree>
    <p:extLst>
      <p:ext uri="{BB962C8B-B14F-4D97-AF65-F5344CB8AC3E}">
        <p14:creationId xmlns:p14="http://schemas.microsoft.com/office/powerpoint/2010/main" val="22790969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D00960A-368C-8A53-977C-7E32C673C952}"/>
            </a:ext>
          </a:extLst>
        </p:cNvPr>
        <p:cNvGrpSpPr/>
        <p:nvPr/>
      </p:nvGrpSpPr>
      <p:grpSpPr>
        <a:xfrm>
          <a:off x="0" y="0"/>
          <a:ext cx="0" cy="0"/>
          <a:chOff x="0" y="0"/>
          <a:chExt cx="0" cy="0"/>
        </a:xfrm>
      </p:grpSpPr>
      <p:pic>
        <p:nvPicPr>
          <p:cNvPr id="44" name="Picture 43">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46" name="Picture 45">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48" name="Oval 47">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50" name="Picture 49">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52" name="Picture 51">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54" name="Rectangle 53">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56" name="Rectangle 55">
            <a:extLst>
              <a:ext uri="{FF2B5EF4-FFF2-40B4-BE49-F238E27FC236}">
                <a16:creationId xmlns:a16="http://schemas.microsoft.com/office/drawing/2014/main" id="{C0B13FF8-2B3C-4BC1-B3E4-254B3F8C3E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3" name="CaixaDeTexto 2">
            <a:extLst>
              <a:ext uri="{FF2B5EF4-FFF2-40B4-BE49-F238E27FC236}">
                <a16:creationId xmlns:a16="http://schemas.microsoft.com/office/drawing/2014/main" id="{5FB78228-B47D-6050-C552-B52FC70D8312}"/>
              </a:ext>
            </a:extLst>
          </p:cNvPr>
          <p:cNvSpPr txBox="1"/>
          <p:nvPr/>
        </p:nvSpPr>
        <p:spPr>
          <a:xfrm>
            <a:off x="846964" y="839021"/>
            <a:ext cx="4155586" cy="7459405"/>
          </a:xfrm>
          <a:prstGeom prst="rect">
            <a:avLst/>
          </a:prstGeom>
        </p:spPr>
        <p:txBody>
          <a:bodyPr vert="horz" lIns="91440" tIns="45720" rIns="91440" bIns="45720" rtlCol="0" anchor="ctr">
            <a:normAutofit/>
          </a:bodyPr>
          <a:lstStyle/>
          <a:p>
            <a:pPr>
              <a:spcBef>
                <a:spcPct val="0"/>
              </a:spcBef>
              <a:spcAft>
                <a:spcPts val="600"/>
              </a:spcAft>
            </a:pPr>
            <a:r>
              <a:rPr lang="en-US" sz="6400" b="0" i="0" kern="1200" dirty="0" err="1">
                <a:solidFill>
                  <a:srgbClr val="EBEBEB"/>
                </a:solidFill>
                <a:latin typeface="+mj-lt"/>
                <a:ea typeface="+mj-ea"/>
                <a:cs typeface="+mj-cs"/>
              </a:rPr>
              <a:t>Variáveis</a:t>
            </a:r>
            <a:endParaRPr lang="en-US" sz="6400" b="0" i="0" kern="1200" dirty="0">
              <a:solidFill>
                <a:srgbClr val="EBEBEB"/>
              </a:solidFill>
              <a:latin typeface="+mj-lt"/>
              <a:ea typeface="+mj-ea"/>
              <a:cs typeface="+mj-cs"/>
            </a:endParaRPr>
          </a:p>
        </p:txBody>
      </p:sp>
      <p:sp>
        <p:nvSpPr>
          <p:cNvPr id="58" name="Freeform 7">
            <a:extLst>
              <a:ext uri="{FF2B5EF4-FFF2-40B4-BE49-F238E27FC236}">
                <a16:creationId xmlns:a16="http://schemas.microsoft.com/office/drawing/2014/main" id="{B9C1207E-FFD8-4821-AFE6-71C7243609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64146" y="-1"/>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60" name="Freeform: Shape 59">
            <a:extLst>
              <a:ext uri="{FF2B5EF4-FFF2-40B4-BE49-F238E27FC236}">
                <a16:creationId xmlns:a16="http://schemas.microsoft.com/office/drawing/2014/main" id="{2B199503-2632-490F-8EB2-759D88708F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6330207" y="-781793"/>
            <a:ext cx="9144001" cy="10707588"/>
          </a:xfrm>
          <a:custGeom>
            <a:avLst/>
            <a:gdLst>
              <a:gd name="connsiteX0" fmla="*/ 6858001 w 6858001"/>
              <a:gd name="connsiteY0" fmla="*/ 1177 h 8030691"/>
              <a:gd name="connsiteX1" fmla="*/ 6858001 w 6858001"/>
              <a:gd name="connsiteY1" fmla="*/ 1344715 h 8030691"/>
              <a:gd name="connsiteX2" fmla="*/ 6858000 w 6858001"/>
              <a:gd name="connsiteY2" fmla="*/ 1344715 h 8030691"/>
              <a:gd name="connsiteX3" fmla="*/ 6858000 w 6858001"/>
              <a:gd name="connsiteY3" fmla="*/ 8030691 h 8030691"/>
              <a:gd name="connsiteX4" fmla="*/ 0 w 6858001"/>
              <a:gd name="connsiteY4" fmla="*/ 8030690 h 8030691"/>
              <a:gd name="connsiteX5" fmla="*/ 0 w 6858001"/>
              <a:gd name="connsiteY5" fmla="*/ 477747 h 8030691"/>
              <a:gd name="connsiteX6" fmla="*/ 1 w 6858001"/>
              <a:gd name="connsiteY6" fmla="*/ 477747 h 8030691"/>
              <a:gd name="connsiteX7" fmla="*/ 1 w 6858001"/>
              <a:gd name="connsiteY7" fmla="*/ 0 h 8030691"/>
              <a:gd name="connsiteX8" fmla="*/ 40463 w 6858001"/>
              <a:gd name="connsiteY8" fmla="*/ 5883 h 8030691"/>
              <a:gd name="connsiteX9" fmla="*/ 159107 w 6858001"/>
              <a:gd name="connsiteY9" fmla="*/ 23196 h 8030691"/>
              <a:gd name="connsiteX10" fmla="*/ 245518 w 6858001"/>
              <a:gd name="connsiteY10" fmla="*/ 35299 h 8030691"/>
              <a:gd name="connsiteX11" fmla="*/ 348388 w 6858001"/>
              <a:gd name="connsiteY11" fmla="*/ 48074 h 8030691"/>
              <a:gd name="connsiteX12" fmla="*/ 470460 w 6858001"/>
              <a:gd name="connsiteY12" fmla="*/ 63370 h 8030691"/>
              <a:gd name="connsiteX13" fmla="*/ 605563 w 6858001"/>
              <a:gd name="connsiteY13" fmla="*/ 79507 h 8030691"/>
              <a:gd name="connsiteX14" fmla="*/ 757810 w 6858001"/>
              <a:gd name="connsiteY14" fmla="*/ 96484 h 8030691"/>
              <a:gd name="connsiteX15" fmla="*/ 923774 w 6858001"/>
              <a:gd name="connsiteY15" fmla="*/ 114469 h 8030691"/>
              <a:gd name="connsiteX16" fmla="*/ 1104139 w 6858001"/>
              <a:gd name="connsiteY16" fmla="*/ 132455 h 8030691"/>
              <a:gd name="connsiteX17" fmla="*/ 1296163 w 6858001"/>
              <a:gd name="connsiteY17" fmla="*/ 150776 h 8030691"/>
              <a:gd name="connsiteX18" fmla="*/ 1503275 w 6858001"/>
              <a:gd name="connsiteY18" fmla="*/ 167753 h 8030691"/>
              <a:gd name="connsiteX19" fmla="*/ 1719988 w 6858001"/>
              <a:gd name="connsiteY19" fmla="*/ 184058 h 8030691"/>
              <a:gd name="connsiteX20" fmla="*/ 1949045 w 6858001"/>
              <a:gd name="connsiteY20" fmla="*/ 198850 h 8030691"/>
              <a:gd name="connsiteX21" fmla="*/ 2187703 w 6858001"/>
              <a:gd name="connsiteY21" fmla="*/ 212969 h 8030691"/>
              <a:gd name="connsiteX22" fmla="*/ 2436649 w 6858001"/>
              <a:gd name="connsiteY22" fmla="*/ 226249 h 8030691"/>
              <a:gd name="connsiteX23" fmla="*/ 2564208 w 6858001"/>
              <a:gd name="connsiteY23" fmla="*/ 230955 h 8030691"/>
              <a:gd name="connsiteX24" fmla="*/ 2694509 w 6858001"/>
              <a:gd name="connsiteY24" fmla="*/ 236166 h 8030691"/>
              <a:gd name="connsiteX25" fmla="*/ 2826869 w 6858001"/>
              <a:gd name="connsiteY25" fmla="*/ 241040 h 8030691"/>
              <a:gd name="connsiteX26" fmla="*/ 2959914 w 6858001"/>
              <a:gd name="connsiteY26" fmla="*/ 244234 h 8030691"/>
              <a:gd name="connsiteX27" fmla="*/ 3095702 w 6858001"/>
              <a:gd name="connsiteY27" fmla="*/ 247092 h 8030691"/>
              <a:gd name="connsiteX28" fmla="*/ 3232862 w 6858001"/>
              <a:gd name="connsiteY28" fmla="*/ 250117 h 8030691"/>
              <a:gd name="connsiteX29" fmla="*/ 3372766 w 6858001"/>
              <a:gd name="connsiteY29" fmla="*/ 252134 h 8030691"/>
              <a:gd name="connsiteX30" fmla="*/ 3514040 w 6858001"/>
              <a:gd name="connsiteY30" fmla="*/ 252134 h 8030691"/>
              <a:gd name="connsiteX31" fmla="*/ 3656686 w 6858001"/>
              <a:gd name="connsiteY31" fmla="*/ 253143 h 8030691"/>
              <a:gd name="connsiteX32" fmla="*/ 3800705 w 6858001"/>
              <a:gd name="connsiteY32" fmla="*/ 252134 h 8030691"/>
              <a:gd name="connsiteX33" fmla="*/ 3946780 w 6858001"/>
              <a:gd name="connsiteY33" fmla="*/ 250117 h 8030691"/>
              <a:gd name="connsiteX34" fmla="*/ 4092856 w 6858001"/>
              <a:gd name="connsiteY34" fmla="*/ 248268 h 8030691"/>
              <a:gd name="connsiteX35" fmla="*/ 4240988 w 6858001"/>
              <a:gd name="connsiteY35" fmla="*/ 244234 h 8030691"/>
              <a:gd name="connsiteX36" fmla="*/ 4390492 w 6858001"/>
              <a:gd name="connsiteY36" fmla="*/ 240032 h 8030691"/>
              <a:gd name="connsiteX37" fmla="*/ 4539997 w 6858001"/>
              <a:gd name="connsiteY37" fmla="*/ 235157 h 8030691"/>
              <a:gd name="connsiteX38" fmla="*/ 4690873 w 6858001"/>
              <a:gd name="connsiteY38" fmla="*/ 228266 h 8030691"/>
              <a:gd name="connsiteX39" fmla="*/ 4843120 w 6858001"/>
              <a:gd name="connsiteY39" fmla="*/ 220029 h 8030691"/>
              <a:gd name="connsiteX40" fmla="*/ 4996054 w 6858001"/>
              <a:gd name="connsiteY40" fmla="*/ 212129 h 8030691"/>
              <a:gd name="connsiteX41" fmla="*/ 5148987 w 6858001"/>
              <a:gd name="connsiteY41" fmla="*/ 202044 h 8030691"/>
              <a:gd name="connsiteX42" fmla="*/ 5303978 w 6858001"/>
              <a:gd name="connsiteY42" fmla="*/ 189941 h 8030691"/>
              <a:gd name="connsiteX43" fmla="*/ 5456911 w 6858001"/>
              <a:gd name="connsiteY43" fmla="*/ 177839 h 8030691"/>
              <a:gd name="connsiteX44" fmla="*/ 5612588 w 6858001"/>
              <a:gd name="connsiteY44" fmla="*/ 163887 h 8030691"/>
              <a:gd name="connsiteX45" fmla="*/ 5768950 w 6858001"/>
              <a:gd name="connsiteY45" fmla="*/ 148591 h 8030691"/>
              <a:gd name="connsiteX46" fmla="*/ 5923255 w 6858001"/>
              <a:gd name="connsiteY46" fmla="*/ 132455 h 8030691"/>
              <a:gd name="connsiteX47" fmla="*/ 6079618 w 6858001"/>
              <a:gd name="connsiteY47" fmla="*/ 113629 h 8030691"/>
              <a:gd name="connsiteX48" fmla="*/ 6235294 w 6858001"/>
              <a:gd name="connsiteY48" fmla="*/ 93458 h 8030691"/>
              <a:gd name="connsiteX49" fmla="*/ 6391657 w 6858001"/>
              <a:gd name="connsiteY49" fmla="*/ 73455 h 8030691"/>
              <a:gd name="connsiteX50" fmla="*/ 6547333 w 6858001"/>
              <a:gd name="connsiteY50" fmla="*/ 50091 h 8030691"/>
              <a:gd name="connsiteX51" fmla="*/ 6702324 w 6858001"/>
              <a:gd name="connsiteY51" fmla="*/ 26222 h 8030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8030691">
                <a:moveTo>
                  <a:pt x="6858001" y="1177"/>
                </a:moveTo>
                <a:lnTo>
                  <a:pt x="6858001" y="1344715"/>
                </a:lnTo>
                <a:lnTo>
                  <a:pt x="6858000" y="1344715"/>
                </a:lnTo>
                <a:lnTo>
                  <a:pt x="6858000" y="8030691"/>
                </a:lnTo>
                <a:lnTo>
                  <a:pt x="0" y="8030690"/>
                </a:lnTo>
                <a:lnTo>
                  <a:pt x="0" y="477747"/>
                </a:lnTo>
                <a:lnTo>
                  <a:pt x="1" y="477747"/>
                </a:lnTo>
                <a:lnTo>
                  <a:pt x="1" y="0"/>
                </a:lnTo>
                <a:lnTo>
                  <a:pt x="40463" y="5883"/>
                </a:lnTo>
                <a:lnTo>
                  <a:pt x="159107" y="23196"/>
                </a:lnTo>
                <a:lnTo>
                  <a:pt x="245518" y="35299"/>
                </a:lnTo>
                <a:lnTo>
                  <a:pt x="348388" y="48074"/>
                </a:lnTo>
                <a:lnTo>
                  <a:pt x="470460" y="63370"/>
                </a:lnTo>
                <a:lnTo>
                  <a:pt x="605563" y="79507"/>
                </a:lnTo>
                <a:lnTo>
                  <a:pt x="757810" y="96484"/>
                </a:lnTo>
                <a:lnTo>
                  <a:pt x="923774" y="114469"/>
                </a:lnTo>
                <a:lnTo>
                  <a:pt x="1104139" y="132455"/>
                </a:lnTo>
                <a:lnTo>
                  <a:pt x="1296163" y="150776"/>
                </a:lnTo>
                <a:lnTo>
                  <a:pt x="1503275" y="167753"/>
                </a:lnTo>
                <a:lnTo>
                  <a:pt x="1719988" y="184058"/>
                </a:lnTo>
                <a:lnTo>
                  <a:pt x="1949045" y="198850"/>
                </a:lnTo>
                <a:lnTo>
                  <a:pt x="2187703" y="212969"/>
                </a:lnTo>
                <a:lnTo>
                  <a:pt x="2436649" y="226249"/>
                </a:lnTo>
                <a:lnTo>
                  <a:pt x="2564208" y="230955"/>
                </a:lnTo>
                <a:lnTo>
                  <a:pt x="2694509" y="236166"/>
                </a:lnTo>
                <a:lnTo>
                  <a:pt x="2826869" y="241040"/>
                </a:lnTo>
                <a:lnTo>
                  <a:pt x="2959914" y="244234"/>
                </a:lnTo>
                <a:lnTo>
                  <a:pt x="3095702" y="247092"/>
                </a:lnTo>
                <a:lnTo>
                  <a:pt x="3232862" y="250117"/>
                </a:lnTo>
                <a:lnTo>
                  <a:pt x="3372766" y="252134"/>
                </a:lnTo>
                <a:lnTo>
                  <a:pt x="3514040" y="252134"/>
                </a:lnTo>
                <a:lnTo>
                  <a:pt x="3656686" y="253143"/>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pt-BR"/>
          </a:p>
        </p:txBody>
      </p:sp>
      <p:sp>
        <p:nvSpPr>
          <p:cNvPr id="62" name="Rectangle 61">
            <a:extLst>
              <a:ext uri="{FF2B5EF4-FFF2-40B4-BE49-F238E27FC236}">
                <a16:creationId xmlns:a16="http://schemas.microsoft.com/office/drawing/2014/main" id="{F11C7CB4-0228-486A-931A-262ABB670E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4" name="CaixaDeTexto 3">
            <a:extLst>
              <a:ext uri="{FF2B5EF4-FFF2-40B4-BE49-F238E27FC236}">
                <a16:creationId xmlns:a16="http://schemas.microsoft.com/office/drawing/2014/main" id="{EDFAFD16-AAA9-D70F-970A-57F3E534471C}"/>
              </a:ext>
            </a:extLst>
          </p:cNvPr>
          <p:cNvSpPr txBox="1"/>
          <p:nvPr/>
        </p:nvSpPr>
        <p:spPr>
          <a:xfrm>
            <a:off x="6731269" y="1880612"/>
            <a:ext cx="8661129" cy="2513528"/>
          </a:xfrm>
          <a:prstGeom prst="rect">
            <a:avLst/>
          </a:prstGeom>
        </p:spPr>
        <p:txBody>
          <a:bodyPr vert="horz" lIns="91440" tIns="45720" rIns="91440" bIns="45720" rtlCol="0">
            <a:normAutofit/>
          </a:bodyPr>
          <a:lstStyle/>
          <a:p>
            <a:pPr>
              <a:lnSpc>
                <a:spcPct val="90000"/>
              </a:lnSpc>
              <a:spcBef>
                <a:spcPts val="1000"/>
              </a:spcBef>
              <a:buClr>
                <a:schemeClr val="bg2">
                  <a:lumMod val="40000"/>
                  <a:lumOff val="60000"/>
                </a:schemeClr>
              </a:buClr>
              <a:buSzPct val="80000"/>
            </a:pPr>
            <a:r>
              <a:rPr lang="en-US" sz="2400" b="1" dirty="0">
                <a:latin typeface="+mj-lt"/>
                <a:ea typeface="+mj-ea"/>
                <a:cs typeface="+mj-cs"/>
              </a:rPr>
              <a:t>Boas práticas de nomes</a:t>
            </a:r>
          </a:p>
          <a:p>
            <a:pPr>
              <a:lnSpc>
                <a:spcPct val="90000"/>
              </a:lnSpc>
              <a:spcBef>
                <a:spcPts val="1000"/>
              </a:spcBef>
              <a:buClr>
                <a:schemeClr val="bg2">
                  <a:lumMod val="40000"/>
                  <a:lumOff val="60000"/>
                </a:schemeClr>
              </a:buClr>
              <a:buSzPct val="80000"/>
              <a:buFont typeface="Wingdings 3" charset="2"/>
              <a:buChar char=""/>
            </a:pPr>
            <a:endParaRPr lang="en-US" dirty="0">
              <a:latin typeface="+mj-lt"/>
              <a:ea typeface="+mj-ea"/>
              <a:cs typeface="+mj-cs"/>
            </a:endParaRPr>
          </a:p>
          <a:p>
            <a:pPr>
              <a:lnSpc>
                <a:spcPct val="90000"/>
              </a:lnSpc>
              <a:spcBef>
                <a:spcPts val="1000"/>
              </a:spcBef>
              <a:buClr>
                <a:schemeClr val="bg2">
                  <a:lumMod val="40000"/>
                  <a:lumOff val="60000"/>
                </a:schemeClr>
              </a:buClr>
              <a:buSzPct val="80000"/>
            </a:pPr>
            <a:r>
              <a:rPr lang="en-US" b="1" dirty="0">
                <a:latin typeface="+mj-lt"/>
                <a:ea typeface="+mj-ea"/>
                <a:cs typeface="+mj-cs"/>
              </a:rPr>
              <a:t>✔ Usar nomes descritivos</a:t>
            </a:r>
          </a:p>
          <a:p>
            <a:pPr>
              <a:lnSpc>
                <a:spcPct val="90000"/>
              </a:lnSpc>
              <a:spcBef>
                <a:spcPts val="1000"/>
              </a:spcBef>
              <a:buClr>
                <a:schemeClr val="bg2">
                  <a:lumMod val="40000"/>
                  <a:lumOff val="60000"/>
                </a:schemeClr>
              </a:buClr>
              <a:buSzPct val="80000"/>
            </a:pPr>
            <a:br>
              <a:rPr lang="en-US" b="1" dirty="0">
                <a:latin typeface="+mj-lt"/>
                <a:ea typeface="+mj-ea"/>
                <a:cs typeface="+mj-cs"/>
              </a:rPr>
            </a:br>
            <a:r>
              <a:rPr lang="en-US" b="1" dirty="0">
                <a:latin typeface="+mj-lt"/>
                <a:ea typeface="+mj-ea"/>
                <a:cs typeface="+mj-cs"/>
              </a:rPr>
              <a:t>✔ Usar </a:t>
            </a:r>
            <a:r>
              <a:rPr lang="en-US" b="1" dirty="0">
                <a:solidFill>
                  <a:srgbClr val="FFC000"/>
                </a:solidFill>
                <a:latin typeface="+mj-lt"/>
                <a:ea typeface="+mj-ea"/>
                <a:cs typeface="+mj-cs"/>
              </a:rPr>
              <a:t>snake_case </a:t>
            </a:r>
            <a:r>
              <a:rPr lang="en-US" b="1" dirty="0">
                <a:latin typeface="+mj-lt"/>
                <a:ea typeface="+mj-ea"/>
                <a:cs typeface="+mj-cs"/>
              </a:rPr>
              <a:t>(padrão Python)</a:t>
            </a:r>
          </a:p>
          <a:p>
            <a:pPr>
              <a:lnSpc>
                <a:spcPct val="90000"/>
              </a:lnSpc>
              <a:spcBef>
                <a:spcPts val="1000"/>
              </a:spcBef>
              <a:buClr>
                <a:schemeClr val="bg2">
                  <a:lumMod val="40000"/>
                  <a:lumOff val="60000"/>
                </a:schemeClr>
              </a:buClr>
              <a:buSzPct val="80000"/>
            </a:pPr>
            <a:br>
              <a:rPr lang="en-US" b="1" dirty="0">
                <a:latin typeface="+mj-lt"/>
                <a:ea typeface="+mj-ea"/>
                <a:cs typeface="+mj-cs"/>
              </a:rPr>
            </a:br>
            <a:r>
              <a:rPr lang="en-US" b="1" dirty="0">
                <a:latin typeface="+mj-lt"/>
                <a:ea typeface="+mj-ea"/>
                <a:cs typeface="+mj-cs"/>
              </a:rPr>
              <a:t>✔ Evitar abreviações confusas</a:t>
            </a:r>
          </a:p>
        </p:txBody>
      </p:sp>
      <p:pic>
        <p:nvPicPr>
          <p:cNvPr id="7" name="Imagem 6">
            <a:extLst>
              <a:ext uri="{FF2B5EF4-FFF2-40B4-BE49-F238E27FC236}">
                <a16:creationId xmlns:a16="http://schemas.microsoft.com/office/drawing/2014/main" id="{30BB7675-CDF7-CB61-7C6B-FA2816734FB1}"/>
              </a:ext>
            </a:extLst>
          </p:cNvPr>
          <p:cNvPicPr>
            <a:picLocks noChangeAspect="1"/>
          </p:cNvPicPr>
          <p:nvPr/>
        </p:nvPicPr>
        <p:blipFill>
          <a:blip r:embed="rId6"/>
          <a:stretch>
            <a:fillRect/>
          </a:stretch>
        </p:blipFill>
        <p:spPr>
          <a:xfrm>
            <a:off x="6731269" y="4749860"/>
            <a:ext cx="8661129" cy="3226270"/>
          </a:xfrm>
          <a:prstGeom prst="rect">
            <a:avLst/>
          </a:prstGeom>
          <a:effectLst/>
        </p:spPr>
      </p:pic>
    </p:spTree>
    <p:extLst>
      <p:ext uri="{BB962C8B-B14F-4D97-AF65-F5344CB8AC3E}">
        <p14:creationId xmlns:p14="http://schemas.microsoft.com/office/powerpoint/2010/main" val="1494476233"/>
      </p:ext>
    </p:extLst>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D4B4485E-99E9-6C0F-77E7-251F3DE00DAE}"/>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021EA20D-57C7-C0B1-9A3A-7934AAFF7F7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16" name="Picture 15">
            <a:extLst>
              <a:ext uri="{FF2B5EF4-FFF2-40B4-BE49-F238E27FC236}">
                <a16:creationId xmlns:a16="http://schemas.microsoft.com/office/drawing/2014/main" id="{EF4AD721-22FE-8296-7AFB-6DE04242742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18" name="Oval 17">
            <a:extLst>
              <a:ext uri="{FF2B5EF4-FFF2-40B4-BE49-F238E27FC236}">
                <a16:creationId xmlns:a16="http://schemas.microsoft.com/office/drawing/2014/main" id="{08BB9411-21A1-D076-7272-61D0B3D091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20" name="Picture 19">
            <a:extLst>
              <a:ext uri="{FF2B5EF4-FFF2-40B4-BE49-F238E27FC236}">
                <a16:creationId xmlns:a16="http://schemas.microsoft.com/office/drawing/2014/main" id="{DCCF79B4-5017-8054-2A16-C37D104EBA5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22" name="Picture 21">
            <a:extLst>
              <a:ext uri="{FF2B5EF4-FFF2-40B4-BE49-F238E27FC236}">
                <a16:creationId xmlns:a16="http://schemas.microsoft.com/office/drawing/2014/main" id="{9A42EF07-66EC-A70C-AEF6-EACED835EC1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24" name="Rectangle 23">
            <a:extLst>
              <a:ext uri="{FF2B5EF4-FFF2-40B4-BE49-F238E27FC236}">
                <a16:creationId xmlns:a16="http://schemas.microsoft.com/office/drawing/2014/main" id="{95C25B32-EB48-A9C4-9260-8573A1DA03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 name="CaixaDeTexto 2">
            <a:extLst>
              <a:ext uri="{FF2B5EF4-FFF2-40B4-BE49-F238E27FC236}">
                <a16:creationId xmlns:a16="http://schemas.microsoft.com/office/drawing/2014/main" id="{8D1C19FA-079C-E892-36C3-D5A86949CED5}"/>
              </a:ext>
            </a:extLst>
          </p:cNvPr>
          <p:cNvSpPr txBox="1"/>
          <p:nvPr/>
        </p:nvSpPr>
        <p:spPr>
          <a:xfrm>
            <a:off x="385207" y="1382965"/>
            <a:ext cx="7183797" cy="2189315"/>
          </a:xfrm>
          <a:prstGeom prst="rect">
            <a:avLst/>
          </a:prstGeom>
        </p:spPr>
        <p:txBody>
          <a:bodyPr vert="horz" lIns="91440" tIns="45720" rIns="91440" bIns="45720" rtlCol="0" anchor="t">
            <a:normAutofit/>
          </a:bodyPr>
          <a:lstStyle/>
          <a:p>
            <a:pPr algn="ctr">
              <a:spcBef>
                <a:spcPct val="0"/>
              </a:spcBef>
              <a:spcAft>
                <a:spcPts val="600"/>
              </a:spcAft>
            </a:pPr>
            <a:r>
              <a:rPr lang="en-US" sz="4200" dirty="0" err="1">
                <a:solidFill>
                  <a:schemeClr val="tx2"/>
                </a:solidFill>
                <a:latin typeface="+mj-lt"/>
                <a:ea typeface="+mj-ea"/>
                <a:cs typeface="+mj-cs"/>
              </a:rPr>
              <a:t>Constantes</a:t>
            </a:r>
            <a:r>
              <a:rPr lang="en-US" sz="4200" dirty="0">
                <a:solidFill>
                  <a:schemeClr val="tx2"/>
                </a:solidFill>
                <a:latin typeface="+mj-lt"/>
                <a:ea typeface="+mj-ea"/>
                <a:cs typeface="+mj-cs"/>
              </a:rPr>
              <a:t> </a:t>
            </a:r>
            <a:r>
              <a:rPr lang="en-US" sz="4200" dirty="0" err="1">
                <a:solidFill>
                  <a:schemeClr val="tx2"/>
                </a:solidFill>
                <a:latin typeface="+mj-lt"/>
                <a:ea typeface="+mj-ea"/>
                <a:cs typeface="+mj-cs"/>
              </a:rPr>
              <a:t>em</a:t>
            </a:r>
            <a:r>
              <a:rPr lang="en-US" sz="4200" dirty="0">
                <a:solidFill>
                  <a:schemeClr val="tx2"/>
                </a:solidFill>
                <a:latin typeface="+mj-lt"/>
                <a:ea typeface="+mj-ea"/>
                <a:cs typeface="+mj-cs"/>
              </a:rPr>
              <a:t> Python</a:t>
            </a:r>
          </a:p>
        </p:txBody>
      </p:sp>
      <p:sp>
        <p:nvSpPr>
          <p:cNvPr id="5" name="CaixaDeTexto 4">
            <a:extLst>
              <a:ext uri="{FF2B5EF4-FFF2-40B4-BE49-F238E27FC236}">
                <a16:creationId xmlns:a16="http://schemas.microsoft.com/office/drawing/2014/main" id="{5588D673-2D1E-C655-1B7E-35DDEBC82E15}"/>
              </a:ext>
            </a:extLst>
          </p:cNvPr>
          <p:cNvSpPr txBox="1"/>
          <p:nvPr/>
        </p:nvSpPr>
        <p:spPr>
          <a:xfrm>
            <a:off x="7954211" y="3454401"/>
            <a:ext cx="8058300" cy="5079998"/>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pPr>
            <a:r>
              <a:rPr lang="en-US" sz="2000" b="1" dirty="0">
                <a:latin typeface="+mj-lt"/>
                <a:ea typeface="+mj-ea"/>
                <a:cs typeface="+mj-cs"/>
              </a:rPr>
              <a:t>O </a:t>
            </a:r>
            <a:r>
              <a:rPr lang="en-US" sz="2000" b="1" dirty="0" err="1">
                <a:latin typeface="+mj-lt"/>
                <a:ea typeface="+mj-ea"/>
                <a:cs typeface="+mj-cs"/>
              </a:rPr>
              <a:t>que</a:t>
            </a:r>
            <a:r>
              <a:rPr lang="en-US" sz="2000" b="1" dirty="0">
                <a:latin typeface="+mj-lt"/>
                <a:ea typeface="+mj-ea"/>
                <a:cs typeface="+mj-cs"/>
              </a:rPr>
              <a:t> </a:t>
            </a:r>
            <a:r>
              <a:rPr lang="en-US" sz="2000" b="1" dirty="0" err="1">
                <a:latin typeface="+mj-lt"/>
                <a:ea typeface="+mj-ea"/>
                <a:cs typeface="+mj-cs"/>
              </a:rPr>
              <a:t>são</a:t>
            </a:r>
            <a:r>
              <a:rPr lang="en-US" sz="2000" b="1" dirty="0">
                <a:latin typeface="+mj-lt"/>
                <a:ea typeface="+mj-ea"/>
                <a:cs typeface="+mj-cs"/>
              </a:rPr>
              <a:t> </a:t>
            </a:r>
            <a:r>
              <a:rPr lang="en-US" sz="2000" b="1" dirty="0" err="1">
                <a:latin typeface="+mj-lt"/>
                <a:ea typeface="+mj-ea"/>
                <a:cs typeface="+mj-cs"/>
              </a:rPr>
              <a:t>Constantes</a:t>
            </a:r>
            <a:r>
              <a:rPr lang="en-US" sz="2000" b="1" dirty="0">
                <a:latin typeface="+mj-lt"/>
                <a:ea typeface="+mj-ea"/>
                <a:cs typeface="+mj-cs"/>
              </a:rPr>
              <a:t>?</a:t>
            </a:r>
          </a:p>
          <a:p>
            <a:pPr marL="342900" indent="-342900">
              <a:spcBef>
                <a:spcPts val="1000"/>
              </a:spcBef>
              <a:buClr>
                <a:schemeClr val="bg2">
                  <a:lumMod val="40000"/>
                  <a:lumOff val="60000"/>
                </a:schemeClr>
              </a:buClr>
              <a:buSzPct val="80000"/>
              <a:buFont typeface="Arial" panose="020B0604020202020204" pitchFamily="34" charset="0"/>
              <a:buChar char="•"/>
            </a:pPr>
            <a:endParaRPr lang="en-US" b="1" dirty="0">
              <a:solidFill>
                <a:srgbClr val="FFC000"/>
              </a:solidFill>
              <a:latin typeface="+mj-lt"/>
              <a:ea typeface="+mj-ea"/>
              <a:cs typeface="+mj-cs"/>
            </a:endParaRPr>
          </a:p>
          <a:p>
            <a:pPr marL="342900" indent="-342900">
              <a:spcBef>
                <a:spcPts val="1000"/>
              </a:spcBef>
              <a:buClr>
                <a:schemeClr val="bg2">
                  <a:lumMod val="40000"/>
                  <a:lumOff val="60000"/>
                </a:schemeClr>
              </a:buClr>
              <a:buSzPct val="80000"/>
              <a:buFont typeface="Arial" panose="020B0604020202020204" pitchFamily="34" charset="0"/>
              <a:buChar char="•"/>
            </a:pPr>
            <a:r>
              <a:rPr lang="pt-BR" b="1" dirty="0">
                <a:solidFill>
                  <a:srgbClr val="FFC000"/>
                </a:solidFill>
              </a:rPr>
              <a:t>São valores que não deveriam ser alterados durante o programa</a:t>
            </a:r>
          </a:p>
          <a:p>
            <a:pPr marL="342900" indent="-342900">
              <a:spcBef>
                <a:spcPts val="1000"/>
              </a:spcBef>
              <a:buClr>
                <a:schemeClr val="bg2">
                  <a:lumMod val="40000"/>
                  <a:lumOff val="60000"/>
                </a:schemeClr>
              </a:buClr>
              <a:buSzPct val="80000"/>
              <a:buFont typeface="Arial" panose="020B0604020202020204" pitchFamily="34" charset="0"/>
              <a:buChar char="•"/>
            </a:pPr>
            <a:r>
              <a:rPr lang="pt-BR" b="1" dirty="0">
                <a:solidFill>
                  <a:srgbClr val="FFC000"/>
                </a:solidFill>
              </a:rPr>
              <a:t>Python não possui constantes reais (apenas por convenção)</a:t>
            </a:r>
          </a:p>
          <a:p>
            <a:pPr marL="342900" indent="-342900">
              <a:spcBef>
                <a:spcPts val="1000"/>
              </a:spcBef>
              <a:buClr>
                <a:schemeClr val="bg2">
                  <a:lumMod val="40000"/>
                  <a:lumOff val="60000"/>
                </a:schemeClr>
              </a:buClr>
              <a:buSzPct val="80000"/>
              <a:buFont typeface="Arial" panose="020B0604020202020204" pitchFamily="34" charset="0"/>
              <a:buChar char="•"/>
            </a:pPr>
            <a:r>
              <a:rPr lang="pt-BR" b="1" dirty="0">
                <a:solidFill>
                  <a:srgbClr val="FFC000"/>
                </a:solidFill>
              </a:rPr>
              <a:t>Usa-se letras maiúsculas para indicar constantes</a:t>
            </a:r>
          </a:p>
          <a:p>
            <a:pPr marL="342900" indent="-342900">
              <a:spcBef>
                <a:spcPts val="1000"/>
              </a:spcBef>
              <a:buClr>
                <a:schemeClr val="bg2">
                  <a:lumMod val="40000"/>
                  <a:lumOff val="60000"/>
                </a:schemeClr>
              </a:buClr>
              <a:buSzPct val="80000"/>
              <a:buFont typeface="Arial" panose="020B0604020202020204" pitchFamily="34" charset="0"/>
              <a:buChar char="•"/>
            </a:pPr>
            <a:r>
              <a:rPr lang="pt-BR" b="1" dirty="0">
                <a:solidFill>
                  <a:srgbClr val="FFC000"/>
                </a:solidFill>
              </a:rPr>
              <a:t>Exemplo: </a:t>
            </a:r>
            <a:r>
              <a:rPr lang="pt-BR" b="1" dirty="0"/>
              <a:t>PI = 3.14, MAX_USUARIOS = 100</a:t>
            </a:r>
          </a:p>
          <a:p>
            <a:pPr marL="342900" indent="-342900">
              <a:spcBef>
                <a:spcPts val="1000"/>
              </a:spcBef>
              <a:buClr>
                <a:schemeClr val="bg2">
                  <a:lumMod val="40000"/>
                  <a:lumOff val="60000"/>
                </a:schemeClr>
              </a:buClr>
              <a:buSzPct val="80000"/>
              <a:buFont typeface="Arial" panose="020B0604020202020204" pitchFamily="34" charset="0"/>
              <a:buChar char="•"/>
            </a:pPr>
            <a:r>
              <a:rPr lang="pt-BR" b="1" dirty="0">
                <a:solidFill>
                  <a:srgbClr val="FFC000"/>
                </a:solidFill>
              </a:rPr>
              <a:t>O Python permite alterar esses valores mesmo assim</a:t>
            </a:r>
          </a:p>
          <a:p>
            <a:pPr marL="342900" indent="-342900">
              <a:spcBef>
                <a:spcPts val="1000"/>
              </a:spcBef>
              <a:buClr>
                <a:schemeClr val="bg2">
                  <a:lumMod val="40000"/>
                  <a:lumOff val="60000"/>
                </a:schemeClr>
              </a:buClr>
              <a:buSzPct val="80000"/>
              <a:buFont typeface="Arial" panose="020B0604020202020204" pitchFamily="34" charset="0"/>
              <a:buChar char="•"/>
            </a:pPr>
            <a:r>
              <a:rPr lang="pt-BR" b="1" dirty="0">
                <a:solidFill>
                  <a:srgbClr val="FFC000"/>
                </a:solidFill>
              </a:rPr>
              <a:t>São usadas para representar dados fixos no programa</a:t>
            </a:r>
            <a:endParaRPr lang="en-US" b="1" dirty="0">
              <a:solidFill>
                <a:srgbClr val="FFC000"/>
              </a:solidFill>
              <a:latin typeface="+mj-lt"/>
              <a:ea typeface="+mj-ea"/>
              <a:cs typeface="+mj-cs"/>
            </a:endParaRPr>
          </a:p>
        </p:txBody>
      </p:sp>
      <p:pic>
        <p:nvPicPr>
          <p:cNvPr id="4" name="Imagem 3">
            <a:extLst>
              <a:ext uri="{FF2B5EF4-FFF2-40B4-BE49-F238E27FC236}">
                <a16:creationId xmlns:a16="http://schemas.microsoft.com/office/drawing/2014/main" id="{0EA69811-7DCC-A86D-8B85-373618E7BE3B}"/>
              </a:ext>
            </a:extLst>
          </p:cNvPr>
          <p:cNvPicPr>
            <a:picLocks noChangeAspect="1"/>
          </p:cNvPicPr>
          <p:nvPr/>
        </p:nvPicPr>
        <p:blipFill>
          <a:blip r:embed="rId7"/>
          <a:stretch>
            <a:fillRect/>
          </a:stretch>
        </p:blipFill>
        <p:spPr>
          <a:xfrm>
            <a:off x="284797" y="4923262"/>
            <a:ext cx="7286239" cy="3153938"/>
          </a:xfrm>
          <a:prstGeom prst="rect">
            <a:avLst/>
          </a:prstGeom>
        </p:spPr>
      </p:pic>
    </p:spTree>
    <p:extLst>
      <p:ext uri="{BB962C8B-B14F-4D97-AF65-F5344CB8AC3E}">
        <p14:creationId xmlns:p14="http://schemas.microsoft.com/office/powerpoint/2010/main" val="42818616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D85D5AA8-773B-469A-8802-9645A4DC9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m 3">
            <a:extLst>
              <a:ext uri="{FF2B5EF4-FFF2-40B4-BE49-F238E27FC236}">
                <a16:creationId xmlns:a16="http://schemas.microsoft.com/office/drawing/2014/main" id="{364534E1-9354-C852-BB47-F4E7F4378C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12871" y="857956"/>
            <a:ext cx="11128222" cy="7428088"/>
          </a:xfrm>
          <a:prstGeom prst="rect">
            <a:avLst/>
          </a:prstGeom>
          <a:ln>
            <a:noFill/>
          </a:ln>
          <a:effectLst>
            <a:outerShdw blurRad="292100" dist="139700" dir="2700000" algn="tl" rotWithShape="0">
              <a:srgbClr val="333333">
                <a:alpha val="65000"/>
              </a:srgbClr>
            </a:outerShdw>
          </a:effectLst>
        </p:spPr>
      </p:pic>
      <p:sp>
        <p:nvSpPr>
          <p:cNvPr id="18" name="Rectangle 17">
            <a:extLst>
              <a:ext uri="{FF2B5EF4-FFF2-40B4-BE49-F238E27FC236}">
                <a16:creationId xmlns:a16="http://schemas.microsoft.com/office/drawing/2014/main" id="{C75AF42C-C556-454E-B2D3-2C917CB812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Tree>
    <p:extLst>
      <p:ext uri="{BB962C8B-B14F-4D97-AF65-F5344CB8AC3E}">
        <p14:creationId xmlns:p14="http://schemas.microsoft.com/office/powerpoint/2010/main" val="17090941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457B9B4-C7C9-D633-89B7-E67204C851B4}"/>
            </a:ext>
          </a:extLst>
        </p:cNvPr>
        <p:cNvGrpSpPr/>
        <p:nvPr/>
      </p:nvGrpSpPr>
      <p:grpSpPr>
        <a:xfrm>
          <a:off x="0" y="0"/>
          <a:ext cx="0" cy="0"/>
          <a:chOff x="0" y="0"/>
          <a:chExt cx="0" cy="0"/>
        </a:xfrm>
      </p:grpSpPr>
      <p:pic>
        <p:nvPicPr>
          <p:cNvPr id="3079" name="Picture 3078">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3081" name="Picture 3080">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3083" name="Oval 3082">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3085" name="Picture 3084">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3087" name="Picture 3086">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3089" name="Rectangle 3088">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091" name="Rectangle 3090">
            <a:extLst>
              <a:ext uri="{FF2B5EF4-FFF2-40B4-BE49-F238E27FC236}">
                <a16:creationId xmlns:a16="http://schemas.microsoft.com/office/drawing/2014/main" id="{49076D5E-68ED-4CD1-A04F-E7934EBFAA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3093" name="Rectangle 3092">
            <a:extLst>
              <a:ext uri="{FF2B5EF4-FFF2-40B4-BE49-F238E27FC236}">
                <a16:creationId xmlns:a16="http://schemas.microsoft.com/office/drawing/2014/main" id="{21BE0A6B-EBF8-4301-B1AE-F6A1C4003E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85408" y="0"/>
            <a:ext cx="10070592" cy="9144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095" name="Rounded Rectangle 9">
            <a:extLst>
              <a:ext uri="{FF2B5EF4-FFF2-40B4-BE49-F238E27FC236}">
                <a16:creationId xmlns:a16="http://schemas.microsoft.com/office/drawing/2014/main" id="{03C06118-B3FE-4B51-80A1-B82C2E9F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31584" y="646176"/>
            <a:ext cx="8778797" cy="7652249"/>
          </a:xfrm>
          <a:prstGeom prst="roundRect">
            <a:avLst>
              <a:gd name="adj" fmla="val 0"/>
            </a:avLst>
          </a:prstGeom>
          <a:ln w="12700">
            <a:solidFill>
              <a:schemeClr val="bg2"/>
            </a:solidFill>
          </a:ln>
          <a:effectLst>
            <a:outerShdw blurRad="50800" dist="50800" dir="54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GitHub - rbolsoni/Resolucao-exercicios-python-Udemy: Resolução dos  exercícios do curso de programação em Python - Do básico ao avançado - Geek  Academy - Udemy · GitHub">
            <a:extLst>
              <a:ext uri="{FF2B5EF4-FFF2-40B4-BE49-F238E27FC236}">
                <a16:creationId xmlns:a16="http://schemas.microsoft.com/office/drawing/2014/main" id="{740D4CEE-0CCD-69AA-FA37-F49E779269F9}"/>
              </a:ext>
            </a:extLst>
          </p:cNvPr>
          <p:cNvPicPr>
            <a:picLocks noChangeAspect="1" noChangeArrowheads="1"/>
          </p:cNvPicPr>
          <p:nvPr/>
        </p:nvPicPr>
        <p:blipFill>
          <a:blip r:embed="rId6">
            <a:extLst>
              <a:ext uri="{28A0092B-C50C-407E-A947-70E740481C1C}">
                <a14:useLocalDpi xmlns:a14="http://schemas.microsoft.com/office/drawing/2010/main" val="0"/>
              </a:ext>
            </a:extLst>
          </a:blip>
          <a:stretch>
            <a:fillRect/>
          </a:stretch>
        </p:blipFill>
        <p:spPr bwMode="auto">
          <a:xfrm>
            <a:off x="7477758" y="2354933"/>
            <a:ext cx="7486447" cy="4229842"/>
          </a:xfrm>
          <a:prstGeom prst="rect">
            <a:avLst/>
          </a:prstGeom>
          <a:noFill/>
          <a:effectLst/>
          <a:extLst>
            <a:ext uri="{909E8E84-426E-40DD-AFC4-6F175D3DCCD1}">
              <a14:hiddenFill xmlns:a14="http://schemas.microsoft.com/office/drawing/2010/main">
                <a:solidFill>
                  <a:srgbClr val="FFFFFF"/>
                </a:solidFill>
              </a14:hiddenFill>
            </a:ext>
          </a:extLst>
        </p:spPr>
      </p:pic>
      <p:sp>
        <p:nvSpPr>
          <p:cNvPr id="3097" name="Rectangle 3096">
            <a:extLst>
              <a:ext uri="{FF2B5EF4-FFF2-40B4-BE49-F238E27FC236}">
                <a16:creationId xmlns:a16="http://schemas.microsoft.com/office/drawing/2014/main" id="{172BE3F8-96D6-4535-9AE4-694DC4F5B1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23264"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2" name="CaixaDeTexto 1">
            <a:extLst>
              <a:ext uri="{FF2B5EF4-FFF2-40B4-BE49-F238E27FC236}">
                <a16:creationId xmlns:a16="http://schemas.microsoft.com/office/drawing/2014/main" id="{4FC9D4DE-C96C-6351-25B8-A5CAEC030CB4}"/>
              </a:ext>
            </a:extLst>
          </p:cNvPr>
          <p:cNvSpPr txBox="1"/>
          <p:nvPr/>
        </p:nvSpPr>
        <p:spPr>
          <a:xfrm>
            <a:off x="328358" y="646176"/>
            <a:ext cx="6036050" cy="8108033"/>
          </a:xfrm>
          <a:prstGeom prst="rect">
            <a:avLst/>
          </a:prstGeom>
        </p:spPr>
        <p:txBody>
          <a:bodyPr vert="horz" lIns="91440" tIns="45720" rIns="91440" bIns="45720" rtlCol="0">
            <a:normAutofit fontScale="25000" lnSpcReduction="20000"/>
          </a:bodyPr>
          <a:lstStyle/>
          <a:p>
            <a:pPr>
              <a:lnSpc>
                <a:spcPct val="90000"/>
              </a:lnSpc>
              <a:spcBef>
                <a:spcPts val="1000"/>
              </a:spcBef>
              <a:buClr>
                <a:schemeClr val="bg2">
                  <a:lumMod val="40000"/>
                  <a:lumOff val="60000"/>
                </a:schemeClr>
              </a:buClr>
              <a:buSzPct val="80000"/>
            </a:pPr>
            <a:r>
              <a:rPr lang="en-US" sz="8000" b="1" dirty="0" err="1">
                <a:solidFill>
                  <a:srgbClr val="FFFFFF"/>
                </a:solidFill>
                <a:latin typeface="+mj-lt"/>
                <a:ea typeface="+mj-ea"/>
                <a:cs typeface="+mj-cs"/>
              </a:rPr>
              <a:t>Capítulo</a:t>
            </a:r>
            <a:r>
              <a:rPr lang="en-US" sz="8000" b="1" dirty="0">
                <a:solidFill>
                  <a:srgbClr val="FFFFFF"/>
                </a:solidFill>
                <a:latin typeface="+mj-lt"/>
                <a:ea typeface="+mj-ea"/>
                <a:cs typeface="+mj-cs"/>
              </a:rPr>
              <a:t> 1: </a:t>
            </a:r>
            <a:r>
              <a:rPr lang="en-US" sz="8000" b="1" dirty="0">
                <a:solidFill>
                  <a:srgbClr val="FFC000"/>
                </a:solidFill>
                <a:latin typeface="+mj-lt"/>
                <a:ea typeface="+mj-ea"/>
                <a:cs typeface="+mj-cs"/>
              </a:rPr>
              <a:t>Atividade01</a:t>
            </a:r>
          </a:p>
          <a:p>
            <a:pPr>
              <a:lnSpc>
                <a:spcPct val="90000"/>
              </a:lnSpc>
              <a:spcBef>
                <a:spcPts val="1000"/>
              </a:spcBef>
              <a:buClr>
                <a:schemeClr val="bg2">
                  <a:lumMod val="40000"/>
                  <a:lumOff val="60000"/>
                </a:schemeClr>
              </a:buClr>
              <a:buSzPct val="80000"/>
            </a:pPr>
            <a:endParaRPr lang="en-US" sz="8000" b="1" dirty="0">
              <a:solidFill>
                <a:srgbClr val="FFFFFF"/>
              </a:solidFill>
              <a:latin typeface="+mj-lt"/>
              <a:ea typeface="+mj-ea"/>
              <a:cs typeface="+mj-cs"/>
            </a:endParaRPr>
          </a:p>
          <a:p>
            <a:pPr>
              <a:lnSpc>
                <a:spcPct val="90000"/>
              </a:lnSpc>
              <a:spcBef>
                <a:spcPts val="1000"/>
              </a:spcBef>
              <a:buClr>
                <a:schemeClr val="bg2">
                  <a:lumMod val="40000"/>
                  <a:lumOff val="60000"/>
                </a:schemeClr>
              </a:buClr>
              <a:buSzPct val="80000"/>
            </a:pPr>
            <a:r>
              <a:rPr lang="en-US" sz="8000" b="1" dirty="0" err="1">
                <a:solidFill>
                  <a:srgbClr val="FFFFFF"/>
                </a:solidFill>
                <a:latin typeface="+mj-lt"/>
                <a:ea typeface="+mj-ea"/>
                <a:cs typeface="+mj-cs"/>
              </a:rPr>
              <a:t>Crie</a:t>
            </a:r>
            <a:r>
              <a:rPr lang="en-US" sz="8000" b="1" dirty="0">
                <a:solidFill>
                  <a:srgbClr val="FFFFFF"/>
                </a:solidFill>
                <a:latin typeface="+mj-lt"/>
                <a:ea typeface="+mj-ea"/>
                <a:cs typeface="+mj-cs"/>
              </a:rPr>
              <a:t> um </a:t>
            </a:r>
            <a:r>
              <a:rPr lang="en-US" sz="8000" b="1" dirty="0" err="1">
                <a:solidFill>
                  <a:srgbClr val="FFFFFF"/>
                </a:solidFill>
                <a:latin typeface="+mj-lt"/>
                <a:ea typeface="+mj-ea"/>
                <a:cs typeface="+mj-cs"/>
              </a:rPr>
              <a:t>programa</a:t>
            </a:r>
            <a:r>
              <a:rPr lang="en-US" sz="8000" b="1" dirty="0">
                <a:solidFill>
                  <a:srgbClr val="FFFFFF"/>
                </a:solidFill>
                <a:latin typeface="+mj-lt"/>
                <a:ea typeface="+mj-ea"/>
                <a:cs typeface="+mj-cs"/>
              </a:rPr>
              <a:t> </a:t>
            </a:r>
            <a:r>
              <a:rPr lang="en-US" sz="8000" b="1" dirty="0" err="1">
                <a:solidFill>
                  <a:srgbClr val="FFFFFF"/>
                </a:solidFill>
                <a:latin typeface="+mj-lt"/>
                <a:ea typeface="+mj-ea"/>
                <a:cs typeface="+mj-cs"/>
              </a:rPr>
              <a:t>que</a:t>
            </a:r>
            <a:r>
              <a:rPr lang="en-US" sz="8000" b="1" dirty="0">
                <a:solidFill>
                  <a:srgbClr val="FFFFFF"/>
                </a:solidFill>
                <a:latin typeface="+mj-lt"/>
                <a:ea typeface="+mj-ea"/>
                <a:cs typeface="+mj-cs"/>
              </a:rPr>
              <a:t>:</a:t>
            </a:r>
          </a:p>
          <a:p>
            <a:pPr>
              <a:lnSpc>
                <a:spcPct val="90000"/>
              </a:lnSpc>
              <a:spcBef>
                <a:spcPts val="1000"/>
              </a:spcBef>
              <a:buClr>
                <a:schemeClr val="bg2">
                  <a:lumMod val="40000"/>
                  <a:lumOff val="60000"/>
                </a:schemeClr>
              </a:buClr>
              <a:buSzPct val="80000"/>
            </a:pPr>
            <a:endParaRPr lang="en-US" sz="8000" b="1" dirty="0">
              <a:solidFill>
                <a:srgbClr val="FFFFFF"/>
              </a:solidFill>
              <a:latin typeface="+mj-lt"/>
              <a:ea typeface="+mj-ea"/>
              <a:cs typeface="+mj-cs"/>
            </a:endParaRPr>
          </a:p>
          <a:p>
            <a:pPr>
              <a:lnSpc>
                <a:spcPct val="90000"/>
              </a:lnSpc>
              <a:spcBef>
                <a:spcPts val="1000"/>
              </a:spcBef>
              <a:buClr>
                <a:schemeClr val="bg2">
                  <a:lumMod val="40000"/>
                  <a:lumOff val="60000"/>
                </a:schemeClr>
              </a:buClr>
              <a:buSzPct val="80000"/>
            </a:pPr>
            <a:r>
              <a:rPr lang="en-US" sz="8000" b="1" dirty="0" err="1">
                <a:solidFill>
                  <a:srgbClr val="FFFFFF"/>
                </a:solidFill>
                <a:latin typeface="+mj-lt"/>
                <a:ea typeface="+mj-ea"/>
                <a:cs typeface="+mj-cs"/>
              </a:rPr>
              <a:t>Pergunte</a:t>
            </a:r>
            <a:r>
              <a:rPr lang="en-US" sz="8000" b="1" dirty="0">
                <a:solidFill>
                  <a:srgbClr val="FFFFFF"/>
                </a:solidFill>
                <a:latin typeface="+mj-lt"/>
                <a:ea typeface="+mj-ea"/>
                <a:cs typeface="+mj-cs"/>
              </a:rPr>
              <a:t> </a:t>
            </a:r>
            <a:r>
              <a:rPr lang="en-US" sz="8000" b="1" dirty="0" err="1">
                <a:solidFill>
                  <a:srgbClr val="FFFFFF"/>
                </a:solidFill>
                <a:latin typeface="+mj-lt"/>
                <a:ea typeface="+mj-ea"/>
                <a:cs typeface="+mj-cs"/>
              </a:rPr>
              <a:t>ao</a:t>
            </a:r>
            <a:r>
              <a:rPr lang="en-US" sz="8000" b="1" dirty="0">
                <a:solidFill>
                  <a:srgbClr val="FFFFFF"/>
                </a:solidFill>
                <a:latin typeface="+mj-lt"/>
                <a:ea typeface="+mj-ea"/>
                <a:cs typeface="+mj-cs"/>
              </a:rPr>
              <a:t> </a:t>
            </a:r>
            <a:r>
              <a:rPr lang="en-US" sz="8000" b="1" dirty="0" err="1">
                <a:solidFill>
                  <a:srgbClr val="FFFFFF"/>
                </a:solidFill>
                <a:latin typeface="+mj-lt"/>
                <a:ea typeface="+mj-ea"/>
                <a:cs typeface="+mj-cs"/>
              </a:rPr>
              <a:t>usuário</a:t>
            </a:r>
            <a:r>
              <a:rPr lang="en-US" sz="8000" b="1" dirty="0">
                <a:solidFill>
                  <a:srgbClr val="FFFFFF"/>
                </a:solidFill>
                <a:latin typeface="+mj-lt"/>
                <a:ea typeface="+mj-ea"/>
                <a:cs typeface="+mj-cs"/>
              </a:rPr>
              <a:t>: </a:t>
            </a:r>
          </a:p>
          <a:p>
            <a:pPr lvl="1">
              <a:lnSpc>
                <a:spcPct val="90000"/>
              </a:lnSpc>
              <a:spcBef>
                <a:spcPts val="1000"/>
              </a:spcBef>
              <a:buClr>
                <a:schemeClr val="bg2">
                  <a:lumMod val="40000"/>
                  <a:lumOff val="60000"/>
                </a:schemeClr>
              </a:buClr>
              <a:buSzPct val="80000"/>
            </a:pPr>
            <a:r>
              <a:rPr lang="en-US" sz="8000" b="1" dirty="0">
                <a:solidFill>
                  <a:srgbClr val="FFC000"/>
                </a:solidFill>
                <a:latin typeface="+mj-lt"/>
                <a:ea typeface="+mj-ea"/>
                <a:cs typeface="+mj-cs"/>
              </a:rPr>
              <a:t>Nome </a:t>
            </a:r>
          </a:p>
          <a:p>
            <a:pPr lvl="1">
              <a:lnSpc>
                <a:spcPct val="90000"/>
              </a:lnSpc>
              <a:spcBef>
                <a:spcPts val="1000"/>
              </a:spcBef>
              <a:buClr>
                <a:schemeClr val="bg2">
                  <a:lumMod val="40000"/>
                  <a:lumOff val="60000"/>
                </a:schemeClr>
              </a:buClr>
              <a:buSzPct val="80000"/>
            </a:pPr>
            <a:r>
              <a:rPr lang="en-US" sz="8000" b="1" dirty="0" err="1">
                <a:solidFill>
                  <a:srgbClr val="FFC000"/>
                </a:solidFill>
                <a:latin typeface="+mj-lt"/>
                <a:ea typeface="+mj-ea"/>
                <a:cs typeface="+mj-cs"/>
              </a:rPr>
              <a:t>Idade</a:t>
            </a:r>
            <a:r>
              <a:rPr lang="en-US" sz="8000" b="1" dirty="0">
                <a:solidFill>
                  <a:srgbClr val="FFC000"/>
                </a:solidFill>
                <a:latin typeface="+mj-lt"/>
                <a:ea typeface="+mj-ea"/>
                <a:cs typeface="+mj-cs"/>
              </a:rPr>
              <a:t> </a:t>
            </a:r>
          </a:p>
          <a:p>
            <a:pPr lvl="1">
              <a:lnSpc>
                <a:spcPct val="90000"/>
              </a:lnSpc>
              <a:spcBef>
                <a:spcPts val="1000"/>
              </a:spcBef>
              <a:buClr>
                <a:schemeClr val="bg2">
                  <a:lumMod val="40000"/>
                  <a:lumOff val="60000"/>
                </a:schemeClr>
              </a:buClr>
              <a:buSzPct val="80000"/>
            </a:pPr>
            <a:r>
              <a:rPr lang="en-US" sz="8000" b="1" dirty="0" err="1">
                <a:solidFill>
                  <a:srgbClr val="FFC000"/>
                </a:solidFill>
                <a:latin typeface="+mj-lt"/>
                <a:ea typeface="+mj-ea"/>
                <a:cs typeface="+mj-cs"/>
              </a:rPr>
              <a:t>Cidade</a:t>
            </a:r>
            <a:r>
              <a:rPr lang="en-US" sz="8000" b="1" dirty="0">
                <a:solidFill>
                  <a:srgbClr val="FFC000"/>
                </a:solidFill>
                <a:latin typeface="+mj-lt"/>
                <a:ea typeface="+mj-ea"/>
                <a:cs typeface="+mj-cs"/>
              </a:rPr>
              <a:t> </a:t>
            </a:r>
          </a:p>
          <a:p>
            <a:pPr lvl="1">
              <a:lnSpc>
                <a:spcPct val="90000"/>
              </a:lnSpc>
              <a:spcBef>
                <a:spcPts val="1000"/>
              </a:spcBef>
              <a:buClr>
                <a:schemeClr val="bg2">
                  <a:lumMod val="40000"/>
                  <a:lumOff val="60000"/>
                </a:schemeClr>
              </a:buClr>
              <a:buSzPct val="80000"/>
            </a:pPr>
            <a:endParaRPr lang="en-US" sz="8000" b="1" dirty="0">
              <a:solidFill>
                <a:srgbClr val="FFFFFF"/>
              </a:solidFill>
              <a:latin typeface="+mj-lt"/>
              <a:ea typeface="+mj-ea"/>
              <a:cs typeface="+mj-cs"/>
            </a:endParaRPr>
          </a:p>
          <a:p>
            <a:pPr>
              <a:lnSpc>
                <a:spcPct val="90000"/>
              </a:lnSpc>
              <a:spcBef>
                <a:spcPts val="1000"/>
              </a:spcBef>
              <a:buClr>
                <a:schemeClr val="bg2">
                  <a:lumMod val="40000"/>
                  <a:lumOff val="60000"/>
                </a:schemeClr>
              </a:buClr>
              <a:buSzPct val="80000"/>
            </a:pPr>
            <a:r>
              <a:rPr lang="en-US" sz="8000" b="1" dirty="0">
                <a:solidFill>
                  <a:srgbClr val="FFFFFF"/>
                </a:solidFill>
              </a:rPr>
              <a:t> - </a:t>
            </a:r>
            <a:r>
              <a:rPr lang="en-US" sz="8000" b="1" dirty="0">
                <a:solidFill>
                  <a:srgbClr val="FFC000"/>
                </a:solidFill>
              </a:rPr>
              <a:t>Salve o </a:t>
            </a:r>
            <a:r>
              <a:rPr lang="en-US" sz="8000" b="1" dirty="0" err="1">
                <a:solidFill>
                  <a:srgbClr val="FFC000"/>
                </a:solidFill>
              </a:rPr>
              <a:t>arquivo</a:t>
            </a:r>
            <a:r>
              <a:rPr lang="en-US" sz="8000" b="1" dirty="0">
                <a:solidFill>
                  <a:srgbClr val="FFC000"/>
                </a:solidFill>
              </a:rPr>
              <a:t> com o </a:t>
            </a:r>
            <a:r>
              <a:rPr lang="en-US" sz="8000" b="1" dirty="0" err="1">
                <a:solidFill>
                  <a:srgbClr val="FFC000"/>
                </a:solidFill>
              </a:rPr>
              <a:t>nome</a:t>
            </a:r>
            <a:r>
              <a:rPr lang="en-US" sz="8000" b="1" dirty="0">
                <a:solidFill>
                  <a:srgbClr val="FFC000"/>
                </a:solidFill>
              </a:rPr>
              <a:t> </a:t>
            </a:r>
            <a:r>
              <a:rPr lang="en-US" sz="8000" b="1" dirty="0">
                <a:solidFill>
                  <a:schemeClr val="bg1"/>
                </a:solidFill>
              </a:rPr>
              <a:t>cap1_atv01.py</a:t>
            </a:r>
          </a:p>
          <a:p>
            <a:pPr>
              <a:lnSpc>
                <a:spcPct val="90000"/>
              </a:lnSpc>
              <a:spcBef>
                <a:spcPts val="1000"/>
              </a:spcBef>
              <a:buClr>
                <a:schemeClr val="bg2">
                  <a:lumMod val="40000"/>
                  <a:lumOff val="60000"/>
                </a:schemeClr>
              </a:buClr>
              <a:buSzPct val="80000"/>
            </a:pPr>
            <a:r>
              <a:rPr lang="en-US" sz="8000" b="1" dirty="0">
                <a:solidFill>
                  <a:srgbClr val="FFFFFF"/>
                </a:solidFill>
              </a:rPr>
              <a:t> - </a:t>
            </a:r>
            <a:r>
              <a:rPr lang="en-US" sz="8000" b="1" dirty="0" err="1">
                <a:solidFill>
                  <a:srgbClr val="FFC000"/>
                </a:solidFill>
              </a:rPr>
              <a:t>Exiba</a:t>
            </a:r>
            <a:r>
              <a:rPr lang="en-US" sz="8000" b="1" dirty="0">
                <a:solidFill>
                  <a:srgbClr val="FFC000"/>
                </a:solidFill>
              </a:rPr>
              <a:t> </a:t>
            </a:r>
            <a:r>
              <a:rPr lang="en-US" sz="8000" b="1" dirty="0" err="1">
                <a:solidFill>
                  <a:srgbClr val="FFC000"/>
                </a:solidFill>
              </a:rPr>
              <a:t>uma</a:t>
            </a:r>
            <a:r>
              <a:rPr lang="en-US" sz="8000" b="1" dirty="0">
                <a:solidFill>
                  <a:srgbClr val="FFC000"/>
                </a:solidFill>
              </a:rPr>
              <a:t> </a:t>
            </a:r>
            <a:r>
              <a:rPr lang="en-US" sz="8000" b="1" dirty="0" err="1">
                <a:solidFill>
                  <a:srgbClr val="FFC000"/>
                </a:solidFill>
              </a:rPr>
              <a:t>mensagem</a:t>
            </a:r>
            <a:r>
              <a:rPr lang="en-US" sz="8000" b="1" dirty="0">
                <a:solidFill>
                  <a:srgbClr val="FFC000"/>
                </a:solidFill>
              </a:rPr>
              <a:t> final</a:t>
            </a:r>
          </a:p>
          <a:p>
            <a:pPr>
              <a:lnSpc>
                <a:spcPct val="90000"/>
              </a:lnSpc>
              <a:spcBef>
                <a:spcPts val="1000"/>
              </a:spcBef>
              <a:buClr>
                <a:schemeClr val="bg2">
                  <a:lumMod val="40000"/>
                  <a:lumOff val="60000"/>
                </a:schemeClr>
              </a:buClr>
              <a:buSzPct val="80000"/>
            </a:pPr>
            <a:r>
              <a:rPr lang="en-US" sz="8000" b="1" dirty="0">
                <a:solidFill>
                  <a:srgbClr val="FFC000"/>
                </a:solidFill>
              </a:rPr>
              <a:t> - Use </a:t>
            </a:r>
            <a:r>
              <a:rPr lang="en-US" sz="8000" b="1" dirty="0" err="1">
                <a:solidFill>
                  <a:srgbClr val="FFC000"/>
                </a:solidFill>
              </a:rPr>
              <a:t>comentários</a:t>
            </a:r>
            <a:r>
              <a:rPr lang="en-US" sz="8000" b="1" dirty="0">
                <a:solidFill>
                  <a:srgbClr val="FFC000"/>
                </a:solidFill>
              </a:rPr>
              <a:t> </a:t>
            </a:r>
            <a:r>
              <a:rPr lang="en-US" sz="8000" b="1" dirty="0" err="1">
                <a:solidFill>
                  <a:srgbClr val="FFC000"/>
                </a:solidFill>
              </a:rPr>
              <a:t>explicando</a:t>
            </a:r>
            <a:r>
              <a:rPr lang="en-US" sz="8000" b="1" dirty="0">
                <a:solidFill>
                  <a:srgbClr val="FFC000"/>
                </a:solidFill>
              </a:rPr>
              <a:t> </a:t>
            </a:r>
            <a:r>
              <a:rPr lang="en-US" sz="8000" b="1" dirty="0" err="1">
                <a:solidFill>
                  <a:srgbClr val="FFC000"/>
                </a:solidFill>
              </a:rPr>
              <a:t>cada</a:t>
            </a:r>
            <a:r>
              <a:rPr lang="en-US" sz="8000" b="1" dirty="0">
                <a:solidFill>
                  <a:srgbClr val="FFC000"/>
                </a:solidFill>
              </a:rPr>
              <a:t> </a:t>
            </a:r>
            <a:r>
              <a:rPr lang="en-US" sz="8000" b="1" dirty="0" err="1">
                <a:solidFill>
                  <a:srgbClr val="FFC000"/>
                </a:solidFill>
              </a:rPr>
              <a:t>parte</a:t>
            </a:r>
            <a:r>
              <a:rPr lang="en-US" sz="8000" b="1" dirty="0">
                <a:solidFill>
                  <a:srgbClr val="FFC000"/>
                </a:solidFill>
              </a:rPr>
              <a:t> </a:t>
            </a:r>
          </a:p>
          <a:p>
            <a:pPr>
              <a:lnSpc>
                <a:spcPct val="90000"/>
              </a:lnSpc>
              <a:spcBef>
                <a:spcPts val="1000"/>
              </a:spcBef>
              <a:buClr>
                <a:schemeClr val="bg2">
                  <a:lumMod val="40000"/>
                  <a:lumOff val="60000"/>
                </a:schemeClr>
              </a:buClr>
              <a:buSzPct val="80000"/>
            </a:pPr>
            <a:endParaRPr lang="en-US" sz="8000" b="1" dirty="0">
              <a:solidFill>
                <a:srgbClr val="FFC000"/>
              </a:solidFill>
              <a:latin typeface="+mj-lt"/>
              <a:ea typeface="+mj-ea"/>
              <a:cs typeface="+mj-cs"/>
            </a:endParaRPr>
          </a:p>
          <a:p>
            <a:pPr>
              <a:lnSpc>
                <a:spcPct val="90000"/>
              </a:lnSpc>
              <a:spcBef>
                <a:spcPts val="1000"/>
              </a:spcBef>
              <a:buClr>
                <a:schemeClr val="bg2">
                  <a:lumMod val="40000"/>
                  <a:lumOff val="60000"/>
                </a:schemeClr>
              </a:buClr>
              <a:buSzPct val="80000"/>
            </a:pPr>
            <a:endParaRPr lang="en-US" sz="8000" b="1" dirty="0">
              <a:solidFill>
                <a:srgbClr val="FFFFFF"/>
              </a:solidFill>
              <a:latin typeface="+mj-lt"/>
              <a:ea typeface="+mj-ea"/>
              <a:cs typeface="+mj-cs"/>
            </a:endParaRPr>
          </a:p>
          <a:p>
            <a:pPr>
              <a:lnSpc>
                <a:spcPct val="90000"/>
              </a:lnSpc>
              <a:spcBef>
                <a:spcPts val="1000"/>
              </a:spcBef>
              <a:buClr>
                <a:schemeClr val="bg2">
                  <a:lumMod val="40000"/>
                  <a:lumOff val="60000"/>
                </a:schemeClr>
              </a:buClr>
              <a:buSzPct val="80000"/>
            </a:pPr>
            <a:r>
              <a:rPr lang="en-US" sz="8000" b="1" dirty="0" err="1">
                <a:solidFill>
                  <a:srgbClr val="FFFFFF"/>
                </a:solidFill>
                <a:latin typeface="+mj-lt"/>
                <a:ea typeface="+mj-ea"/>
                <a:cs typeface="+mj-cs"/>
              </a:rPr>
              <a:t>Exemplo</a:t>
            </a:r>
            <a:r>
              <a:rPr lang="en-US" sz="8000" b="1" dirty="0">
                <a:solidFill>
                  <a:srgbClr val="FFFFFF"/>
                </a:solidFill>
                <a:latin typeface="+mj-lt"/>
                <a:ea typeface="+mj-ea"/>
                <a:cs typeface="+mj-cs"/>
              </a:rPr>
              <a:t> </a:t>
            </a:r>
            <a:r>
              <a:rPr lang="en-US" sz="8000" b="1" dirty="0" err="1">
                <a:solidFill>
                  <a:srgbClr val="FFFFFF"/>
                </a:solidFill>
                <a:latin typeface="+mj-lt"/>
                <a:ea typeface="+mj-ea"/>
                <a:cs typeface="+mj-cs"/>
              </a:rPr>
              <a:t>esperado</a:t>
            </a:r>
            <a:r>
              <a:rPr lang="en-US" sz="8000" b="1" dirty="0">
                <a:solidFill>
                  <a:srgbClr val="FFFFFF"/>
                </a:solidFill>
                <a:latin typeface="+mj-lt"/>
                <a:ea typeface="+mj-ea"/>
                <a:cs typeface="+mj-cs"/>
              </a:rPr>
              <a:t>:</a:t>
            </a:r>
          </a:p>
          <a:p>
            <a:pPr>
              <a:lnSpc>
                <a:spcPct val="90000"/>
              </a:lnSpc>
              <a:spcBef>
                <a:spcPts val="1000"/>
              </a:spcBef>
              <a:buClr>
                <a:schemeClr val="bg2">
                  <a:lumMod val="40000"/>
                  <a:lumOff val="60000"/>
                </a:schemeClr>
              </a:buClr>
              <a:buSzPct val="80000"/>
            </a:pPr>
            <a:endParaRPr lang="en-US" sz="8000" dirty="0">
              <a:solidFill>
                <a:srgbClr val="FFFFFF"/>
              </a:solidFill>
              <a:latin typeface="+mj-lt"/>
              <a:ea typeface="+mj-ea"/>
              <a:cs typeface="+mj-cs"/>
            </a:endParaRPr>
          </a:p>
          <a:p>
            <a:pPr>
              <a:lnSpc>
                <a:spcPct val="90000"/>
              </a:lnSpc>
              <a:spcBef>
                <a:spcPts val="1000"/>
              </a:spcBef>
              <a:buClr>
                <a:schemeClr val="bg2">
                  <a:lumMod val="40000"/>
                  <a:lumOff val="60000"/>
                </a:schemeClr>
              </a:buClr>
              <a:buSzPct val="80000"/>
            </a:pPr>
            <a:r>
              <a:rPr lang="en-US" sz="8000" b="1" dirty="0">
                <a:solidFill>
                  <a:srgbClr val="FFC000"/>
                </a:solidFill>
                <a:latin typeface="+mj-lt"/>
                <a:ea typeface="+mj-ea"/>
                <a:cs typeface="+mj-cs"/>
              </a:rPr>
              <a:t>Olá João!</a:t>
            </a:r>
            <a:br>
              <a:rPr lang="en-US" sz="8000" b="1" dirty="0">
                <a:solidFill>
                  <a:srgbClr val="FFC000"/>
                </a:solidFill>
                <a:latin typeface="+mj-lt"/>
                <a:ea typeface="+mj-ea"/>
                <a:cs typeface="+mj-cs"/>
              </a:rPr>
            </a:br>
            <a:r>
              <a:rPr lang="en-US" sz="8000" b="1" dirty="0" err="1">
                <a:solidFill>
                  <a:srgbClr val="FFC000"/>
                </a:solidFill>
                <a:latin typeface="+mj-lt"/>
                <a:ea typeface="+mj-ea"/>
                <a:cs typeface="+mj-cs"/>
              </a:rPr>
              <a:t>Você</a:t>
            </a:r>
            <a:r>
              <a:rPr lang="en-US" sz="8000" b="1" dirty="0">
                <a:solidFill>
                  <a:srgbClr val="FFC000"/>
                </a:solidFill>
                <a:latin typeface="+mj-lt"/>
                <a:ea typeface="+mj-ea"/>
                <a:cs typeface="+mj-cs"/>
              </a:rPr>
              <a:t> </a:t>
            </a:r>
            <a:r>
              <a:rPr lang="en-US" sz="8000" b="1" dirty="0" err="1">
                <a:solidFill>
                  <a:srgbClr val="FFC000"/>
                </a:solidFill>
                <a:latin typeface="+mj-lt"/>
                <a:ea typeface="+mj-ea"/>
                <a:cs typeface="+mj-cs"/>
              </a:rPr>
              <a:t>tem</a:t>
            </a:r>
            <a:r>
              <a:rPr lang="en-US" sz="8000" b="1" dirty="0">
                <a:solidFill>
                  <a:srgbClr val="FFC000"/>
                </a:solidFill>
                <a:latin typeface="+mj-lt"/>
                <a:ea typeface="+mj-ea"/>
                <a:cs typeface="+mj-cs"/>
              </a:rPr>
              <a:t> 20 </a:t>
            </a:r>
            <a:r>
              <a:rPr lang="en-US" sz="8000" b="1" dirty="0" err="1">
                <a:solidFill>
                  <a:srgbClr val="FFC000"/>
                </a:solidFill>
                <a:latin typeface="+mj-lt"/>
                <a:ea typeface="+mj-ea"/>
                <a:cs typeface="+mj-cs"/>
              </a:rPr>
              <a:t>anos</a:t>
            </a:r>
            <a:r>
              <a:rPr lang="en-US" sz="8000" b="1" dirty="0">
                <a:solidFill>
                  <a:srgbClr val="FFC000"/>
                </a:solidFill>
                <a:latin typeface="+mj-lt"/>
                <a:ea typeface="+mj-ea"/>
                <a:cs typeface="+mj-cs"/>
              </a:rPr>
              <a:t> e mora </a:t>
            </a:r>
            <a:r>
              <a:rPr lang="en-US" sz="8000" b="1" dirty="0" err="1">
                <a:solidFill>
                  <a:srgbClr val="FFC000"/>
                </a:solidFill>
                <a:latin typeface="+mj-lt"/>
                <a:ea typeface="+mj-ea"/>
                <a:cs typeface="+mj-cs"/>
              </a:rPr>
              <a:t>em</a:t>
            </a:r>
            <a:r>
              <a:rPr lang="en-US" sz="8000" b="1" dirty="0">
                <a:solidFill>
                  <a:srgbClr val="FFC000"/>
                </a:solidFill>
                <a:latin typeface="+mj-lt"/>
                <a:ea typeface="+mj-ea"/>
                <a:cs typeface="+mj-cs"/>
              </a:rPr>
              <a:t> São Paulo.</a:t>
            </a:r>
            <a:br>
              <a:rPr lang="en-US" sz="8000" b="1" dirty="0">
                <a:solidFill>
                  <a:srgbClr val="FFC000"/>
                </a:solidFill>
                <a:latin typeface="+mj-lt"/>
                <a:ea typeface="+mj-ea"/>
                <a:cs typeface="+mj-cs"/>
              </a:rPr>
            </a:br>
            <a:r>
              <a:rPr lang="en-US" sz="8000" b="1" dirty="0">
                <a:solidFill>
                  <a:srgbClr val="FFC000"/>
                </a:solidFill>
                <a:latin typeface="+mj-lt"/>
                <a:ea typeface="+mj-ea"/>
                <a:cs typeface="+mj-cs"/>
              </a:rPr>
              <a:t>Bem-</a:t>
            </a:r>
            <a:r>
              <a:rPr lang="en-US" sz="8000" b="1" dirty="0" err="1">
                <a:solidFill>
                  <a:srgbClr val="FFC000"/>
                </a:solidFill>
                <a:latin typeface="+mj-lt"/>
                <a:ea typeface="+mj-ea"/>
                <a:cs typeface="+mj-cs"/>
              </a:rPr>
              <a:t>vindo</a:t>
            </a:r>
            <a:r>
              <a:rPr lang="en-US" sz="8000" b="1" dirty="0">
                <a:solidFill>
                  <a:srgbClr val="FFC000"/>
                </a:solidFill>
                <a:latin typeface="+mj-lt"/>
                <a:ea typeface="+mj-ea"/>
                <a:cs typeface="+mj-cs"/>
              </a:rPr>
              <a:t> </a:t>
            </a:r>
            <a:r>
              <a:rPr lang="en-US" sz="8000" b="1" dirty="0" err="1">
                <a:solidFill>
                  <a:srgbClr val="FFC000"/>
                </a:solidFill>
                <a:latin typeface="+mj-lt"/>
                <a:ea typeface="+mj-ea"/>
                <a:cs typeface="+mj-cs"/>
              </a:rPr>
              <a:t>ao</a:t>
            </a:r>
            <a:r>
              <a:rPr lang="en-US" sz="8000" b="1" dirty="0">
                <a:solidFill>
                  <a:srgbClr val="FFC000"/>
                </a:solidFill>
                <a:latin typeface="+mj-lt"/>
                <a:ea typeface="+mj-ea"/>
                <a:cs typeface="+mj-cs"/>
              </a:rPr>
              <a:t> </a:t>
            </a:r>
            <a:r>
              <a:rPr lang="en-US" sz="8000" b="1" dirty="0" err="1">
                <a:solidFill>
                  <a:srgbClr val="FFC000"/>
                </a:solidFill>
                <a:latin typeface="+mj-lt"/>
                <a:ea typeface="+mj-ea"/>
                <a:cs typeface="+mj-cs"/>
              </a:rPr>
              <a:t>mundo</a:t>
            </a:r>
            <a:r>
              <a:rPr lang="en-US" sz="8000" b="1" dirty="0">
                <a:solidFill>
                  <a:srgbClr val="FFC000"/>
                </a:solidFill>
                <a:latin typeface="+mj-lt"/>
                <a:ea typeface="+mj-ea"/>
                <a:cs typeface="+mj-cs"/>
              </a:rPr>
              <a:t> da </a:t>
            </a:r>
            <a:r>
              <a:rPr lang="en-US" sz="8000" b="1" dirty="0" err="1">
                <a:solidFill>
                  <a:srgbClr val="FFC000"/>
                </a:solidFill>
                <a:latin typeface="+mj-lt"/>
                <a:ea typeface="+mj-ea"/>
                <a:cs typeface="+mj-cs"/>
              </a:rPr>
              <a:t>programação</a:t>
            </a:r>
            <a:r>
              <a:rPr lang="en-US" sz="8000" b="1" dirty="0">
                <a:solidFill>
                  <a:srgbClr val="FFC000"/>
                </a:solidFill>
                <a:latin typeface="+mj-lt"/>
                <a:ea typeface="+mj-ea"/>
                <a:cs typeface="+mj-cs"/>
              </a:rPr>
              <a:t> Python!</a:t>
            </a:r>
          </a:p>
          <a:p>
            <a:pPr>
              <a:lnSpc>
                <a:spcPct val="90000"/>
              </a:lnSpc>
              <a:spcBef>
                <a:spcPts val="1000"/>
              </a:spcBef>
              <a:buClr>
                <a:schemeClr val="bg2">
                  <a:lumMod val="40000"/>
                  <a:lumOff val="60000"/>
                </a:schemeClr>
              </a:buClr>
              <a:buSzPct val="80000"/>
            </a:pPr>
            <a:endParaRPr lang="en-US" sz="8000" dirty="0">
              <a:solidFill>
                <a:srgbClr val="FFFFFF"/>
              </a:solidFill>
              <a:latin typeface="+mj-lt"/>
              <a:ea typeface="+mj-ea"/>
              <a:cs typeface="+mj-cs"/>
            </a:endParaRPr>
          </a:p>
          <a:p>
            <a:pPr>
              <a:lnSpc>
                <a:spcPct val="90000"/>
              </a:lnSpc>
              <a:spcBef>
                <a:spcPts val="1000"/>
              </a:spcBef>
              <a:buClr>
                <a:schemeClr val="bg2">
                  <a:lumMod val="40000"/>
                  <a:lumOff val="60000"/>
                </a:schemeClr>
              </a:buClr>
              <a:buSzPct val="80000"/>
            </a:pPr>
            <a:endParaRPr lang="en-US" sz="8000" dirty="0">
              <a:solidFill>
                <a:srgbClr val="FFFFFF"/>
              </a:solidFill>
              <a:latin typeface="+mj-lt"/>
              <a:ea typeface="+mj-ea"/>
              <a:cs typeface="+mj-cs"/>
            </a:endParaRPr>
          </a:p>
          <a:p>
            <a:pPr>
              <a:lnSpc>
                <a:spcPct val="90000"/>
              </a:lnSpc>
              <a:spcBef>
                <a:spcPts val="1000"/>
              </a:spcBef>
              <a:buClr>
                <a:schemeClr val="bg2">
                  <a:lumMod val="40000"/>
                  <a:lumOff val="60000"/>
                </a:schemeClr>
              </a:buClr>
              <a:buSzPct val="80000"/>
              <a:buFont typeface="Wingdings 3" charset="2"/>
              <a:buChar char=""/>
            </a:pPr>
            <a:endParaRPr lang="en-US" sz="1400" dirty="0">
              <a:solidFill>
                <a:srgbClr val="FFFFFF"/>
              </a:solidFill>
              <a:latin typeface="+mj-lt"/>
              <a:ea typeface="+mj-ea"/>
              <a:cs typeface="+mj-cs"/>
            </a:endParaRPr>
          </a:p>
        </p:txBody>
      </p:sp>
      <p:sp>
        <p:nvSpPr>
          <p:cNvPr id="4" name="CaixaDeTexto 3">
            <a:extLst>
              <a:ext uri="{FF2B5EF4-FFF2-40B4-BE49-F238E27FC236}">
                <a16:creationId xmlns:a16="http://schemas.microsoft.com/office/drawing/2014/main" id="{BB226ECD-DCBE-3F3E-6582-648FA8F20087}"/>
              </a:ext>
            </a:extLst>
          </p:cNvPr>
          <p:cNvSpPr txBox="1"/>
          <p:nvPr/>
        </p:nvSpPr>
        <p:spPr>
          <a:xfrm>
            <a:off x="194714" y="760938"/>
            <a:ext cx="7655020" cy="4439441"/>
          </a:xfrm>
          <a:prstGeom prst="rect">
            <a:avLst/>
          </a:prstGeom>
        </p:spPr>
        <p:txBody>
          <a:bodyPr vert="horz" lIns="91440" tIns="45720" rIns="91440" bIns="45720" rtlCol="0" anchor="b">
            <a:normAutofit/>
          </a:bodyPr>
          <a:lstStyle/>
          <a:p>
            <a:pPr algn="ctr">
              <a:spcBef>
                <a:spcPct val="0"/>
              </a:spcBef>
              <a:spcAft>
                <a:spcPts val="600"/>
              </a:spcAft>
            </a:pPr>
            <a:endParaRPr lang="en-US" sz="6700" dirty="0">
              <a:solidFill>
                <a:schemeClr val="tx2"/>
              </a:solidFill>
              <a:latin typeface="+mj-lt"/>
              <a:ea typeface="+mj-ea"/>
              <a:cs typeface="+mj-cs"/>
            </a:endParaRPr>
          </a:p>
        </p:txBody>
      </p:sp>
      <p:sp>
        <p:nvSpPr>
          <p:cNvPr id="3" name="Rectangle 1">
            <a:extLst>
              <a:ext uri="{FF2B5EF4-FFF2-40B4-BE49-F238E27FC236}">
                <a16:creationId xmlns:a16="http://schemas.microsoft.com/office/drawing/2014/main" id="{08512E9D-47E9-2AA4-721A-CA381EB09FF7}"/>
              </a:ext>
            </a:extLst>
          </p:cNvPr>
          <p:cNvSpPr>
            <a:spLocks noChangeArrowheads="1"/>
          </p:cNvSpPr>
          <p:nvPr/>
        </p:nvSpPr>
        <p:spPr bwMode="auto">
          <a:xfrm>
            <a:off x="6756400" y="1775013"/>
            <a:ext cx="8762000" cy="559397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R="0" lvl="0" fontAlgn="base">
              <a:spcBef>
                <a:spcPts val="1000"/>
              </a:spcBef>
              <a:buClr>
                <a:schemeClr val="bg2">
                  <a:lumMod val="40000"/>
                  <a:lumOff val="60000"/>
                </a:schemeClr>
              </a:buClr>
              <a:buSzPct val="80000"/>
              <a:tabLst/>
            </a:pPr>
            <a:r>
              <a:rPr kumimoji="0" lang="en-US" altLang="pt-BR" sz="2800" u="none" strike="noStrike" cap="none" normalizeH="0" baseline="0" dirty="0">
                <a:ln>
                  <a:noFill/>
                </a:ln>
                <a:effectLst/>
                <a:latin typeface="+mj-lt"/>
                <a:ea typeface="+mj-ea"/>
                <a:cs typeface="+mj-cs"/>
              </a:rPr>
              <a:t> </a:t>
            </a:r>
          </a:p>
        </p:txBody>
      </p:sp>
    </p:spTree>
    <p:extLst>
      <p:ext uri="{BB962C8B-B14F-4D97-AF65-F5344CB8AC3E}">
        <p14:creationId xmlns:p14="http://schemas.microsoft.com/office/powerpoint/2010/main" val="2678311637"/>
      </p:ext>
    </p:extLst>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12" name="Picture 11">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14" name="Oval 13">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16" name="Picture 15">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18" name="Picture 17">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20" name="Rectangle 19">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22" name="Rectangle 21">
            <a:extLst>
              <a:ext uri="{FF2B5EF4-FFF2-40B4-BE49-F238E27FC236}">
                <a16:creationId xmlns:a16="http://schemas.microsoft.com/office/drawing/2014/main" id="{F3F4807A-5068-4492-8025-D75F320E90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6256000" cy="9144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3" name="CaixaDeTexto 2">
            <a:extLst>
              <a:ext uri="{FF2B5EF4-FFF2-40B4-BE49-F238E27FC236}">
                <a16:creationId xmlns:a16="http://schemas.microsoft.com/office/drawing/2014/main" id="{9A09ED3A-F973-7826-5B48-A275B115C943}"/>
              </a:ext>
            </a:extLst>
          </p:cNvPr>
          <p:cNvSpPr txBox="1"/>
          <p:nvPr/>
        </p:nvSpPr>
        <p:spPr>
          <a:xfrm>
            <a:off x="9357630" y="3434442"/>
            <a:ext cx="6128644" cy="1360716"/>
          </a:xfrm>
          <a:prstGeom prst="rect">
            <a:avLst/>
          </a:prstGeom>
        </p:spPr>
        <p:txBody>
          <a:bodyPr vert="horz" lIns="91440" tIns="45720" rIns="91440" bIns="45720" rtlCol="0" anchor="b">
            <a:normAutofit/>
          </a:bodyPr>
          <a:lstStyle/>
          <a:p>
            <a:pPr>
              <a:lnSpc>
                <a:spcPct val="90000"/>
              </a:lnSpc>
              <a:spcBef>
                <a:spcPct val="0"/>
              </a:spcBef>
              <a:spcAft>
                <a:spcPts val="600"/>
              </a:spcAft>
              <a:buClr>
                <a:schemeClr val="bg2">
                  <a:lumMod val="40000"/>
                  <a:lumOff val="60000"/>
                </a:schemeClr>
              </a:buClr>
              <a:buSzPct val="80000"/>
            </a:pPr>
            <a:r>
              <a:rPr lang="en-US" sz="7200" b="0" i="0" kern="1200" dirty="0" err="1">
                <a:solidFill>
                  <a:srgbClr val="EBEBEB"/>
                </a:solidFill>
                <a:latin typeface="+mj-lt"/>
                <a:ea typeface="+mj-ea"/>
                <a:cs typeface="+mj-cs"/>
              </a:rPr>
              <a:t>Atividade</a:t>
            </a:r>
            <a:r>
              <a:rPr lang="en-US" sz="7200" b="0" i="0" kern="1200" dirty="0">
                <a:solidFill>
                  <a:srgbClr val="EBEBEB"/>
                </a:solidFill>
                <a:latin typeface="+mj-lt"/>
                <a:ea typeface="+mj-ea"/>
                <a:cs typeface="+mj-cs"/>
              </a:rPr>
              <a:t> 01</a:t>
            </a:r>
          </a:p>
        </p:txBody>
      </p:sp>
      <p:sp>
        <p:nvSpPr>
          <p:cNvPr id="24" name="Freeform 36">
            <a:extLst>
              <a:ext uri="{FF2B5EF4-FFF2-40B4-BE49-F238E27FC236}">
                <a16:creationId xmlns:a16="http://schemas.microsoft.com/office/drawing/2014/main" id="{B24996F8-180C-4DCB-8A26-DFA336CDE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66194" y="-1"/>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37" name="Freeform: Shape 25">
            <a:extLst>
              <a:ext uri="{FF2B5EF4-FFF2-40B4-BE49-F238E27FC236}">
                <a16:creationId xmlns:a16="http://schemas.microsoft.com/office/drawing/2014/main" id="{D8B22DE2-C518-4F77-BE90-E1B6B1909D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5400000" flipH="1">
            <a:off x="91947" y="-91947"/>
            <a:ext cx="9144001" cy="9327891"/>
          </a:xfrm>
          <a:custGeom>
            <a:avLst/>
            <a:gdLst>
              <a:gd name="connsiteX0" fmla="*/ 6858001 w 6858001"/>
              <a:gd name="connsiteY0" fmla="*/ 1344715 h 6995918"/>
              <a:gd name="connsiteX1" fmla="*/ 6858001 w 6858001"/>
              <a:gd name="connsiteY1" fmla="*/ 1177 h 6995918"/>
              <a:gd name="connsiteX2" fmla="*/ 6702324 w 6858001"/>
              <a:gd name="connsiteY2" fmla="*/ 26222 h 6995918"/>
              <a:gd name="connsiteX3" fmla="*/ 6547333 w 6858001"/>
              <a:gd name="connsiteY3" fmla="*/ 50091 h 6995918"/>
              <a:gd name="connsiteX4" fmla="*/ 6391657 w 6858001"/>
              <a:gd name="connsiteY4" fmla="*/ 73455 h 6995918"/>
              <a:gd name="connsiteX5" fmla="*/ 6235294 w 6858001"/>
              <a:gd name="connsiteY5" fmla="*/ 93458 h 6995918"/>
              <a:gd name="connsiteX6" fmla="*/ 6079618 w 6858001"/>
              <a:gd name="connsiteY6" fmla="*/ 113629 h 6995918"/>
              <a:gd name="connsiteX7" fmla="*/ 5923255 w 6858001"/>
              <a:gd name="connsiteY7" fmla="*/ 132455 h 6995918"/>
              <a:gd name="connsiteX8" fmla="*/ 5768950 w 6858001"/>
              <a:gd name="connsiteY8" fmla="*/ 148591 h 6995918"/>
              <a:gd name="connsiteX9" fmla="*/ 5612588 w 6858001"/>
              <a:gd name="connsiteY9" fmla="*/ 163887 h 6995918"/>
              <a:gd name="connsiteX10" fmla="*/ 5456911 w 6858001"/>
              <a:gd name="connsiteY10" fmla="*/ 177839 h 6995918"/>
              <a:gd name="connsiteX11" fmla="*/ 5303978 w 6858001"/>
              <a:gd name="connsiteY11" fmla="*/ 189941 h 6995918"/>
              <a:gd name="connsiteX12" fmla="*/ 5148987 w 6858001"/>
              <a:gd name="connsiteY12" fmla="*/ 202044 h 6995918"/>
              <a:gd name="connsiteX13" fmla="*/ 4996054 w 6858001"/>
              <a:gd name="connsiteY13" fmla="*/ 212129 h 6995918"/>
              <a:gd name="connsiteX14" fmla="*/ 4843120 w 6858001"/>
              <a:gd name="connsiteY14" fmla="*/ 220029 h 6995918"/>
              <a:gd name="connsiteX15" fmla="*/ 4690873 w 6858001"/>
              <a:gd name="connsiteY15" fmla="*/ 228266 h 6995918"/>
              <a:gd name="connsiteX16" fmla="*/ 4539997 w 6858001"/>
              <a:gd name="connsiteY16" fmla="*/ 235157 h 6995918"/>
              <a:gd name="connsiteX17" fmla="*/ 4390492 w 6858001"/>
              <a:gd name="connsiteY17" fmla="*/ 240032 h 6995918"/>
              <a:gd name="connsiteX18" fmla="*/ 4240988 w 6858001"/>
              <a:gd name="connsiteY18" fmla="*/ 244234 h 6995918"/>
              <a:gd name="connsiteX19" fmla="*/ 4092855 w 6858001"/>
              <a:gd name="connsiteY19" fmla="*/ 248268 h 6995918"/>
              <a:gd name="connsiteX20" fmla="*/ 3946780 w 6858001"/>
              <a:gd name="connsiteY20" fmla="*/ 250117 h 6995918"/>
              <a:gd name="connsiteX21" fmla="*/ 3800704 w 6858001"/>
              <a:gd name="connsiteY21" fmla="*/ 252134 h 6995918"/>
              <a:gd name="connsiteX22" fmla="*/ 3656686 w 6858001"/>
              <a:gd name="connsiteY22" fmla="*/ 253143 h 6995918"/>
              <a:gd name="connsiteX23" fmla="*/ 3514040 w 6858001"/>
              <a:gd name="connsiteY23" fmla="*/ 252134 h 6995918"/>
              <a:gd name="connsiteX24" fmla="*/ 3372765 w 6858001"/>
              <a:gd name="connsiteY24" fmla="*/ 252134 h 6995918"/>
              <a:gd name="connsiteX25" fmla="*/ 3232862 w 6858001"/>
              <a:gd name="connsiteY25" fmla="*/ 250117 h 6995918"/>
              <a:gd name="connsiteX26" fmla="*/ 3095702 w 6858001"/>
              <a:gd name="connsiteY26" fmla="*/ 247092 h 6995918"/>
              <a:gd name="connsiteX27" fmla="*/ 2959914 w 6858001"/>
              <a:gd name="connsiteY27" fmla="*/ 244234 h 6995918"/>
              <a:gd name="connsiteX28" fmla="*/ 2826868 w 6858001"/>
              <a:gd name="connsiteY28" fmla="*/ 241040 h 6995918"/>
              <a:gd name="connsiteX29" fmla="*/ 2694509 w 6858001"/>
              <a:gd name="connsiteY29" fmla="*/ 236166 h 6995918"/>
              <a:gd name="connsiteX30" fmla="*/ 2564208 w 6858001"/>
              <a:gd name="connsiteY30" fmla="*/ 230955 h 6995918"/>
              <a:gd name="connsiteX31" fmla="*/ 2436649 w 6858001"/>
              <a:gd name="connsiteY31" fmla="*/ 226249 h 6995918"/>
              <a:gd name="connsiteX32" fmla="*/ 2187703 w 6858001"/>
              <a:gd name="connsiteY32" fmla="*/ 212969 h 6995918"/>
              <a:gd name="connsiteX33" fmla="*/ 1949045 w 6858001"/>
              <a:gd name="connsiteY33" fmla="*/ 198850 h 6995918"/>
              <a:gd name="connsiteX34" fmla="*/ 1719988 w 6858001"/>
              <a:gd name="connsiteY34" fmla="*/ 184058 h 6995918"/>
              <a:gd name="connsiteX35" fmla="*/ 1503275 w 6858001"/>
              <a:gd name="connsiteY35" fmla="*/ 167753 h 6995918"/>
              <a:gd name="connsiteX36" fmla="*/ 1296163 w 6858001"/>
              <a:gd name="connsiteY36" fmla="*/ 150776 h 6995918"/>
              <a:gd name="connsiteX37" fmla="*/ 1104139 w 6858001"/>
              <a:gd name="connsiteY37" fmla="*/ 132455 h 6995918"/>
              <a:gd name="connsiteX38" fmla="*/ 923774 w 6858001"/>
              <a:gd name="connsiteY38" fmla="*/ 114469 h 6995918"/>
              <a:gd name="connsiteX39" fmla="*/ 757810 w 6858001"/>
              <a:gd name="connsiteY39" fmla="*/ 96484 h 6995918"/>
              <a:gd name="connsiteX40" fmla="*/ 605563 w 6858001"/>
              <a:gd name="connsiteY40" fmla="*/ 79507 h 6995918"/>
              <a:gd name="connsiteX41" fmla="*/ 470460 w 6858001"/>
              <a:gd name="connsiteY41" fmla="*/ 63370 h 6995918"/>
              <a:gd name="connsiteX42" fmla="*/ 348388 w 6858001"/>
              <a:gd name="connsiteY42" fmla="*/ 48074 h 6995918"/>
              <a:gd name="connsiteX43" fmla="*/ 245518 w 6858001"/>
              <a:gd name="connsiteY43" fmla="*/ 35299 h 6995918"/>
              <a:gd name="connsiteX44" fmla="*/ 159107 w 6858001"/>
              <a:gd name="connsiteY44" fmla="*/ 23197 h 6995918"/>
              <a:gd name="connsiteX45" fmla="*/ 40463 w 6858001"/>
              <a:gd name="connsiteY45" fmla="*/ 5883 h 6995918"/>
              <a:gd name="connsiteX46" fmla="*/ 1 w 6858001"/>
              <a:gd name="connsiteY46" fmla="*/ 0 h 6995918"/>
              <a:gd name="connsiteX47" fmla="*/ 1 w 6858001"/>
              <a:gd name="connsiteY47" fmla="*/ 905354 h 6995918"/>
              <a:gd name="connsiteX48" fmla="*/ 0 w 6858001"/>
              <a:gd name="connsiteY48" fmla="*/ 905354 h 6995918"/>
              <a:gd name="connsiteX49" fmla="*/ 0 w 6858001"/>
              <a:gd name="connsiteY49" fmla="*/ 6995918 h 6995918"/>
              <a:gd name="connsiteX50" fmla="*/ 6858000 w 6858001"/>
              <a:gd name="connsiteY50" fmla="*/ 6995918 h 6995918"/>
              <a:gd name="connsiteX51" fmla="*/ 6858000 w 6858001"/>
              <a:gd name="connsiteY51" fmla="*/ 1344715 h 6995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95918">
                <a:moveTo>
                  <a:pt x="6858001" y="1344715"/>
                </a:moveTo>
                <a:lnTo>
                  <a:pt x="6858001" y="1177"/>
                </a:lnTo>
                <a:lnTo>
                  <a:pt x="6702324" y="26222"/>
                </a:lnTo>
                <a:lnTo>
                  <a:pt x="6547333" y="50091"/>
                </a:lnTo>
                <a:lnTo>
                  <a:pt x="6391657" y="73455"/>
                </a:lnTo>
                <a:lnTo>
                  <a:pt x="6235294" y="93458"/>
                </a:lnTo>
                <a:lnTo>
                  <a:pt x="6079618" y="113629"/>
                </a:lnTo>
                <a:lnTo>
                  <a:pt x="5923255" y="132455"/>
                </a:lnTo>
                <a:lnTo>
                  <a:pt x="5768950" y="148591"/>
                </a:lnTo>
                <a:lnTo>
                  <a:pt x="5612588" y="163887"/>
                </a:lnTo>
                <a:lnTo>
                  <a:pt x="5456911" y="177839"/>
                </a:lnTo>
                <a:lnTo>
                  <a:pt x="5303978" y="189941"/>
                </a:lnTo>
                <a:lnTo>
                  <a:pt x="5148987" y="202044"/>
                </a:lnTo>
                <a:lnTo>
                  <a:pt x="4996054" y="212129"/>
                </a:lnTo>
                <a:lnTo>
                  <a:pt x="4843120" y="220029"/>
                </a:lnTo>
                <a:lnTo>
                  <a:pt x="4690873" y="228266"/>
                </a:lnTo>
                <a:lnTo>
                  <a:pt x="4539997" y="235157"/>
                </a:lnTo>
                <a:lnTo>
                  <a:pt x="4390492" y="240032"/>
                </a:lnTo>
                <a:lnTo>
                  <a:pt x="4240988" y="244234"/>
                </a:lnTo>
                <a:lnTo>
                  <a:pt x="4092855" y="248268"/>
                </a:lnTo>
                <a:lnTo>
                  <a:pt x="3946780" y="250117"/>
                </a:lnTo>
                <a:lnTo>
                  <a:pt x="3800704" y="252134"/>
                </a:lnTo>
                <a:lnTo>
                  <a:pt x="3656686" y="253143"/>
                </a:lnTo>
                <a:lnTo>
                  <a:pt x="3514040" y="252134"/>
                </a:lnTo>
                <a:lnTo>
                  <a:pt x="3372765" y="252134"/>
                </a:lnTo>
                <a:lnTo>
                  <a:pt x="3232862" y="250117"/>
                </a:lnTo>
                <a:lnTo>
                  <a:pt x="3095702" y="247092"/>
                </a:lnTo>
                <a:lnTo>
                  <a:pt x="2959914" y="244234"/>
                </a:lnTo>
                <a:lnTo>
                  <a:pt x="2826868" y="241040"/>
                </a:lnTo>
                <a:lnTo>
                  <a:pt x="2694509" y="236166"/>
                </a:lnTo>
                <a:lnTo>
                  <a:pt x="2564208" y="230955"/>
                </a:lnTo>
                <a:lnTo>
                  <a:pt x="2436649" y="226249"/>
                </a:lnTo>
                <a:lnTo>
                  <a:pt x="2187703" y="212969"/>
                </a:lnTo>
                <a:lnTo>
                  <a:pt x="1949045" y="198850"/>
                </a:lnTo>
                <a:lnTo>
                  <a:pt x="1719988" y="184058"/>
                </a:lnTo>
                <a:lnTo>
                  <a:pt x="1503275" y="167753"/>
                </a:lnTo>
                <a:lnTo>
                  <a:pt x="1296163" y="150776"/>
                </a:lnTo>
                <a:lnTo>
                  <a:pt x="1104139" y="132455"/>
                </a:lnTo>
                <a:lnTo>
                  <a:pt x="923774" y="114469"/>
                </a:lnTo>
                <a:lnTo>
                  <a:pt x="757810" y="96484"/>
                </a:lnTo>
                <a:lnTo>
                  <a:pt x="605563" y="79507"/>
                </a:lnTo>
                <a:lnTo>
                  <a:pt x="470460" y="63370"/>
                </a:lnTo>
                <a:lnTo>
                  <a:pt x="348388" y="48074"/>
                </a:lnTo>
                <a:lnTo>
                  <a:pt x="245518" y="35299"/>
                </a:lnTo>
                <a:lnTo>
                  <a:pt x="159107" y="23197"/>
                </a:lnTo>
                <a:lnTo>
                  <a:pt x="40463" y="5883"/>
                </a:lnTo>
                <a:lnTo>
                  <a:pt x="1" y="0"/>
                </a:lnTo>
                <a:lnTo>
                  <a:pt x="1" y="905354"/>
                </a:lnTo>
                <a:lnTo>
                  <a:pt x="0" y="905354"/>
                </a:lnTo>
                <a:lnTo>
                  <a:pt x="0" y="6995918"/>
                </a:lnTo>
                <a:lnTo>
                  <a:pt x="6858000" y="6995918"/>
                </a:lnTo>
                <a:lnTo>
                  <a:pt x="6858000" y="1344715"/>
                </a:lnTo>
                <a:close/>
              </a:path>
            </a:pathLst>
          </a:custGeom>
          <a:ln>
            <a:noFill/>
          </a:ln>
        </p:spPr>
        <p:txBody>
          <a:bodyPr/>
          <a:lstStyle/>
          <a:p>
            <a:endParaRPr lang="pt-BR"/>
          </a:p>
        </p:txBody>
      </p:sp>
      <p:sp>
        <p:nvSpPr>
          <p:cNvPr id="38" name="Rectangle 27">
            <a:extLst>
              <a:ext uri="{FF2B5EF4-FFF2-40B4-BE49-F238E27FC236}">
                <a16:creationId xmlns:a16="http://schemas.microsoft.com/office/drawing/2014/main" id="{630182B0-3559-41D5-9EBC-0BD86BEDA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5" name="Imagem 4">
            <a:extLst>
              <a:ext uri="{FF2B5EF4-FFF2-40B4-BE49-F238E27FC236}">
                <a16:creationId xmlns:a16="http://schemas.microsoft.com/office/drawing/2014/main" id="{17BABB47-BC8C-A5F8-2884-2BA120C217F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98691" y="2159000"/>
            <a:ext cx="7267409" cy="4850995"/>
          </a:xfrm>
          <a:prstGeom prst="rect">
            <a:avLst/>
          </a:prstGeom>
          <a:effectLst/>
        </p:spPr>
      </p:pic>
    </p:spTree>
    <p:extLst>
      <p:ext uri="{BB962C8B-B14F-4D97-AF65-F5344CB8AC3E}">
        <p14:creationId xmlns:p14="http://schemas.microsoft.com/office/powerpoint/2010/main" val="1687592288"/>
      </p:ext>
    </p:extLst>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4A1C2ED-A286-7F9E-1641-E303A3D8FA71}"/>
            </a:ext>
          </a:extLst>
        </p:cNvPr>
        <p:cNvGrpSpPr/>
        <p:nvPr/>
      </p:nvGrpSpPr>
      <p:grpSpPr>
        <a:xfrm>
          <a:off x="0" y="0"/>
          <a:ext cx="0" cy="0"/>
          <a:chOff x="0" y="0"/>
          <a:chExt cx="0" cy="0"/>
        </a:xfrm>
      </p:grpSpPr>
      <p:pic>
        <p:nvPicPr>
          <p:cNvPr id="3079" name="Picture 3078">
            <a:extLst>
              <a:ext uri="{FF2B5EF4-FFF2-40B4-BE49-F238E27FC236}">
                <a16:creationId xmlns:a16="http://schemas.microsoft.com/office/drawing/2014/main" id="{75549318-7EFA-F472-ED6A-51A1B968781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3081" name="Picture 3080">
            <a:extLst>
              <a:ext uri="{FF2B5EF4-FFF2-40B4-BE49-F238E27FC236}">
                <a16:creationId xmlns:a16="http://schemas.microsoft.com/office/drawing/2014/main" id="{21C68C59-9A9F-1748-8AB1-D246FE4B5B4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3083" name="Oval 3082">
            <a:extLst>
              <a:ext uri="{FF2B5EF4-FFF2-40B4-BE49-F238E27FC236}">
                <a16:creationId xmlns:a16="http://schemas.microsoft.com/office/drawing/2014/main" id="{DFF9001F-F3BE-03FE-EDE4-CD855C439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3085" name="Picture 3084">
            <a:extLst>
              <a:ext uri="{FF2B5EF4-FFF2-40B4-BE49-F238E27FC236}">
                <a16:creationId xmlns:a16="http://schemas.microsoft.com/office/drawing/2014/main" id="{7ACB3C2A-F074-A7C4-BD04-C617BC59D5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3087" name="Picture 3086">
            <a:extLst>
              <a:ext uri="{FF2B5EF4-FFF2-40B4-BE49-F238E27FC236}">
                <a16:creationId xmlns:a16="http://schemas.microsoft.com/office/drawing/2014/main" id="{66482DCB-DE19-C0B8-2A13-8F4562A93BC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3089" name="Rectangle 3088">
            <a:extLst>
              <a:ext uri="{FF2B5EF4-FFF2-40B4-BE49-F238E27FC236}">
                <a16:creationId xmlns:a16="http://schemas.microsoft.com/office/drawing/2014/main" id="{B0E38C02-9CA1-662D-996F-22153A59DE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091" name="Rectangle 3090">
            <a:extLst>
              <a:ext uri="{FF2B5EF4-FFF2-40B4-BE49-F238E27FC236}">
                <a16:creationId xmlns:a16="http://schemas.microsoft.com/office/drawing/2014/main" id="{90EBE168-55F3-9706-D92E-22FE6A1733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3093" name="Rectangle 3092">
            <a:extLst>
              <a:ext uri="{FF2B5EF4-FFF2-40B4-BE49-F238E27FC236}">
                <a16:creationId xmlns:a16="http://schemas.microsoft.com/office/drawing/2014/main" id="{25B21A62-1946-875A-DF65-BF6C7E19A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85408" y="0"/>
            <a:ext cx="10070592" cy="9144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095" name="Rounded Rectangle 9">
            <a:extLst>
              <a:ext uri="{FF2B5EF4-FFF2-40B4-BE49-F238E27FC236}">
                <a16:creationId xmlns:a16="http://schemas.microsoft.com/office/drawing/2014/main" id="{590C26AA-23A4-FDAE-7C81-83A8B8E751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31584" y="646176"/>
            <a:ext cx="8778797" cy="7652249"/>
          </a:xfrm>
          <a:prstGeom prst="roundRect">
            <a:avLst>
              <a:gd name="adj" fmla="val 0"/>
            </a:avLst>
          </a:prstGeom>
          <a:ln w="12700">
            <a:solidFill>
              <a:schemeClr val="bg2"/>
            </a:solidFill>
          </a:ln>
          <a:effectLst>
            <a:outerShdw blurRad="50800" dist="50800" dir="54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GitHub - rbolsoni/Resolucao-exercicios-python-Udemy: Resolução dos  exercícios do curso de programação em Python - Do básico ao avançado - Geek  Academy - Udemy · GitHub">
            <a:extLst>
              <a:ext uri="{FF2B5EF4-FFF2-40B4-BE49-F238E27FC236}">
                <a16:creationId xmlns:a16="http://schemas.microsoft.com/office/drawing/2014/main" id="{90E276CA-D3DC-2630-8B77-8DF9F5185310}"/>
              </a:ext>
            </a:extLst>
          </p:cNvPr>
          <p:cNvPicPr>
            <a:picLocks noChangeAspect="1" noChangeArrowheads="1"/>
          </p:cNvPicPr>
          <p:nvPr/>
        </p:nvPicPr>
        <p:blipFill>
          <a:blip r:embed="rId6">
            <a:extLst>
              <a:ext uri="{28A0092B-C50C-407E-A947-70E740481C1C}">
                <a14:useLocalDpi xmlns:a14="http://schemas.microsoft.com/office/drawing/2010/main" val="0"/>
              </a:ext>
            </a:extLst>
          </a:blip>
          <a:stretch>
            <a:fillRect/>
          </a:stretch>
        </p:blipFill>
        <p:spPr bwMode="auto">
          <a:xfrm>
            <a:off x="7477758" y="2354933"/>
            <a:ext cx="7486447" cy="4229842"/>
          </a:xfrm>
          <a:prstGeom prst="rect">
            <a:avLst/>
          </a:prstGeom>
          <a:noFill/>
          <a:effectLst/>
          <a:extLst>
            <a:ext uri="{909E8E84-426E-40DD-AFC4-6F175D3DCCD1}">
              <a14:hiddenFill xmlns:a14="http://schemas.microsoft.com/office/drawing/2010/main">
                <a:solidFill>
                  <a:srgbClr val="FFFFFF"/>
                </a:solidFill>
              </a14:hiddenFill>
            </a:ext>
          </a:extLst>
        </p:spPr>
      </p:pic>
      <p:sp>
        <p:nvSpPr>
          <p:cNvPr id="3097" name="Rectangle 3096">
            <a:extLst>
              <a:ext uri="{FF2B5EF4-FFF2-40B4-BE49-F238E27FC236}">
                <a16:creationId xmlns:a16="http://schemas.microsoft.com/office/drawing/2014/main" id="{8BBF0B65-CE32-EA97-9752-B9A344BA4E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23264"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2" name="CaixaDeTexto 1">
            <a:extLst>
              <a:ext uri="{FF2B5EF4-FFF2-40B4-BE49-F238E27FC236}">
                <a16:creationId xmlns:a16="http://schemas.microsoft.com/office/drawing/2014/main" id="{5018FD31-70A1-569C-0C72-DD0C1064C543}"/>
              </a:ext>
            </a:extLst>
          </p:cNvPr>
          <p:cNvSpPr txBox="1"/>
          <p:nvPr/>
        </p:nvSpPr>
        <p:spPr>
          <a:xfrm>
            <a:off x="215939" y="760938"/>
            <a:ext cx="5969469" cy="8108033"/>
          </a:xfrm>
          <a:prstGeom prst="rect">
            <a:avLst/>
          </a:prstGeom>
        </p:spPr>
        <p:txBody>
          <a:bodyPr vert="horz" lIns="91440" tIns="45720" rIns="91440" bIns="45720" rtlCol="0">
            <a:normAutofit/>
          </a:bodyPr>
          <a:lstStyle/>
          <a:p>
            <a:pPr>
              <a:lnSpc>
                <a:spcPct val="90000"/>
              </a:lnSpc>
              <a:spcBef>
                <a:spcPts val="1000"/>
              </a:spcBef>
              <a:buClr>
                <a:schemeClr val="bg2">
                  <a:lumMod val="40000"/>
                  <a:lumOff val="60000"/>
                </a:schemeClr>
              </a:buClr>
              <a:buSzPct val="80000"/>
            </a:pPr>
            <a:r>
              <a:rPr lang="pt-BR" sz="2400" b="1" dirty="0">
                <a:solidFill>
                  <a:srgbClr val="FFFFFF"/>
                </a:solidFill>
                <a:latin typeface="+mj-lt"/>
                <a:ea typeface="+mj-ea"/>
                <a:cs typeface="+mj-cs"/>
              </a:rPr>
              <a:t>Capítulo 1: </a:t>
            </a:r>
            <a:r>
              <a:rPr lang="pt-BR" sz="2400" b="1" dirty="0">
                <a:solidFill>
                  <a:srgbClr val="FFC000"/>
                </a:solidFill>
                <a:latin typeface="+mj-lt"/>
                <a:ea typeface="+mj-ea"/>
                <a:cs typeface="+mj-cs"/>
              </a:rPr>
              <a:t>Atividade 02</a:t>
            </a:r>
          </a:p>
          <a:p>
            <a:pPr>
              <a:lnSpc>
                <a:spcPct val="90000"/>
              </a:lnSpc>
              <a:spcBef>
                <a:spcPts val="1000"/>
              </a:spcBef>
              <a:buClr>
                <a:schemeClr val="bg2">
                  <a:lumMod val="40000"/>
                  <a:lumOff val="60000"/>
                </a:schemeClr>
              </a:buClr>
              <a:buSzPct val="80000"/>
            </a:pPr>
            <a:endParaRPr lang="pt-BR" sz="2400" b="1" dirty="0">
              <a:solidFill>
                <a:srgbClr val="FFFFFF"/>
              </a:solidFill>
              <a:latin typeface="+mj-lt"/>
              <a:ea typeface="+mj-ea"/>
              <a:cs typeface="+mj-cs"/>
            </a:endParaRPr>
          </a:p>
          <a:p>
            <a:pPr>
              <a:lnSpc>
                <a:spcPct val="90000"/>
              </a:lnSpc>
              <a:spcBef>
                <a:spcPts val="1000"/>
              </a:spcBef>
              <a:buClr>
                <a:schemeClr val="bg2">
                  <a:lumMod val="40000"/>
                  <a:lumOff val="60000"/>
                </a:schemeClr>
              </a:buClr>
              <a:buSzPct val="80000"/>
            </a:pPr>
            <a:r>
              <a:rPr lang="pt-BR" sz="2400" b="1" dirty="0">
                <a:solidFill>
                  <a:srgbClr val="FFFFFF"/>
                </a:solidFill>
                <a:latin typeface="+mj-lt"/>
                <a:ea typeface="+mj-ea"/>
                <a:cs typeface="+mj-cs"/>
              </a:rPr>
              <a:t>Crie um programa que:</a:t>
            </a:r>
          </a:p>
          <a:p>
            <a:pPr>
              <a:lnSpc>
                <a:spcPct val="90000"/>
              </a:lnSpc>
              <a:spcBef>
                <a:spcPts val="1000"/>
              </a:spcBef>
              <a:buClr>
                <a:schemeClr val="bg2">
                  <a:lumMod val="40000"/>
                  <a:lumOff val="60000"/>
                </a:schemeClr>
              </a:buClr>
              <a:buSzPct val="80000"/>
            </a:pPr>
            <a:endParaRPr lang="pt-BR" sz="2000" b="1" dirty="0">
              <a:solidFill>
                <a:srgbClr val="FFFFFF"/>
              </a:solidFill>
              <a:latin typeface="+mj-lt"/>
              <a:ea typeface="+mj-ea"/>
              <a:cs typeface="+mj-cs"/>
            </a:endParaRPr>
          </a:p>
          <a:p>
            <a:pPr>
              <a:lnSpc>
                <a:spcPct val="90000"/>
              </a:lnSpc>
              <a:spcBef>
                <a:spcPts val="1000"/>
              </a:spcBef>
              <a:buClr>
                <a:schemeClr val="bg2">
                  <a:lumMod val="40000"/>
                  <a:lumOff val="60000"/>
                </a:schemeClr>
              </a:buClr>
              <a:buSzPct val="80000"/>
            </a:pPr>
            <a:r>
              <a:rPr lang="pt-BR" sz="2400" b="1" dirty="0">
                <a:solidFill>
                  <a:srgbClr val="FFC000"/>
                </a:solidFill>
                <a:latin typeface="+mj-lt"/>
                <a:ea typeface="+mj-ea"/>
                <a:cs typeface="+mj-cs"/>
              </a:rPr>
              <a:t>Solicite ao usuário dois números </a:t>
            </a:r>
          </a:p>
          <a:p>
            <a:pPr>
              <a:lnSpc>
                <a:spcPct val="90000"/>
              </a:lnSpc>
              <a:spcBef>
                <a:spcPts val="1000"/>
              </a:spcBef>
              <a:buClr>
                <a:schemeClr val="bg2">
                  <a:lumMod val="40000"/>
                  <a:lumOff val="60000"/>
                </a:schemeClr>
              </a:buClr>
              <a:buSzPct val="80000"/>
            </a:pPr>
            <a:r>
              <a:rPr lang="pt-BR" sz="2400" b="1" dirty="0">
                <a:solidFill>
                  <a:srgbClr val="FFC000"/>
                </a:solidFill>
                <a:latin typeface="+mj-lt"/>
                <a:ea typeface="+mj-ea"/>
                <a:cs typeface="+mj-cs"/>
              </a:rPr>
              <a:t>Realize a soma desses números </a:t>
            </a:r>
          </a:p>
          <a:p>
            <a:pPr>
              <a:lnSpc>
                <a:spcPct val="90000"/>
              </a:lnSpc>
              <a:spcBef>
                <a:spcPts val="1000"/>
              </a:spcBef>
              <a:buClr>
                <a:schemeClr val="bg2">
                  <a:lumMod val="40000"/>
                  <a:lumOff val="60000"/>
                </a:schemeClr>
              </a:buClr>
              <a:buSzPct val="80000"/>
            </a:pPr>
            <a:r>
              <a:rPr lang="pt-BR" sz="2400" b="1" dirty="0">
                <a:solidFill>
                  <a:srgbClr val="FFC000"/>
                </a:solidFill>
              </a:rPr>
              <a:t>Utilize variáveis para armazenar os valores informados </a:t>
            </a:r>
          </a:p>
          <a:p>
            <a:pPr>
              <a:lnSpc>
                <a:spcPct val="90000"/>
              </a:lnSpc>
              <a:spcBef>
                <a:spcPts val="1000"/>
              </a:spcBef>
              <a:buClr>
                <a:schemeClr val="bg2">
                  <a:lumMod val="40000"/>
                  <a:lumOff val="60000"/>
                </a:schemeClr>
              </a:buClr>
              <a:buSzPct val="80000"/>
            </a:pPr>
            <a:r>
              <a:rPr lang="pt-BR" sz="2400" b="1" dirty="0">
                <a:solidFill>
                  <a:srgbClr val="FFC000"/>
                </a:solidFill>
                <a:latin typeface="+mj-lt"/>
                <a:ea typeface="+mj-ea"/>
                <a:cs typeface="+mj-cs"/>
              </a:rPr>
              <a:t>Exiba o resultado da soma </a:t>
            </a:r>
          </a:p>
          <a:p>
            <a:pPr>
              <a:lnSpc>
                <a:spcPct val="90000"/>
              </a:lnSpc>
              <a:spcBef>
                <a:spcPts val="1000"/>
              </a:spcBef>
              <a:buClr>
                <a:schemeClr val="bg2">
                  <a:lumMod val="40000"/>
                  <a:lumOff val="60000"/>
                </a:schemeClr>
              </a:buClr>
              <a:buSzPct val="80000"/>
            </a:pPr>
            <a:r>
              <a:rPr lang="pt-BR" sz="2400" b="1" dirty="0">
                <a:solidFill>
                  <a:srgbClr val="FFC000"/>
                </a:solidFill>
                <a:latin typeface="+mj-lt"/>
                <a:ea typeface="+mj-ea"/>
                <a:cs typeface="+mj-cs"/>
              </a:rPr>
              <a:t>Salve o arquivo com o nome </a:t>
            </a:r>
            <a:r>
              <a:rPr lang="pt-BR" sz="2400" b="1" dirty="0">
                <a:solidFill>
                  <a:schemeClr val="bg1"/>
                </a:solidFill>
                <a:latin typeface="+mj-lt"/>
                <a:ea typeface="+mj-ea"/>
                <a:cs typeface="+mj-cs"/>
              </a:rPr>
              <a:t>cap02_atv01.py </a:t>
            </a:r>
          </a:p>
          <a:p>
            <a:pPr>
              <a:lnSpc>
                <a:spcPct val="90000"/>
              </a:lnSpc>
              <a:spcBef>
                <a:spcPts val="1000"/>
              </a:spcBef>
              <a:buClr>
                <a:schemeClr val="bg2">
                  <a:lumMod val="40000"/>
                  <a:lumOff val="60000"/>
                </a:schemeClr>
              </a:buClr>
              <a:buSzPct val="80000"/>
            </a:pPr>
            <a:endParaRPr lang="pt-BR" sz="2400" b="1" dirty="0">
              <a:solidFill>
                <a:schemeClr val="bg1"/>
              </a:solidFill>
              <a:latin typeface="+mj-lt"/>
              <a:ea typeface="+mj-ea"/>
              <a:cs typeface="+mj-cs"/>
            </a:endParaRPr>
          </a:p>
          <a:p>
            <a:pPr>
              <a:lnSpc>
                <a:spcPct val="90000"/>
              </a:lnSpc>
              <a:spcBef>
                <a:spcPts val="1000"/>
              </a:spcBef>
              <a:buClr>
                <a:schemeClr val="bg2">
                  <a:lumMod val="40000"/>
                  <a:lumOff val="60000"/>
                </a:schemeClr>
              </a:buClr>
              <a:buSzPct val="80000"/>
            </a:pPr>
            <a:endParaRPr lang="en-US" sz="4000" dirty="0">
              <a:solidFill>
                <a:srgbClr val="FFFFFF"/>
              </a:solidFill>
              <a:latin typeface="+mj-lt"/>
              <a:ea typeface="+mj-ea"/>
              <a:cs typeface="+mj-cs"/>
            </a:endParaRPr>
          </a:p>
          <a:p>
            <a:pPr>
              <a:lnSpc>
                <a:spcPct val="90000"/>
              </a:lnSpc>
              <a:spcBef>
                <a:spcPts val="1000"/>
              </a:spcBef>
              <a:buClr>
                <a:schemeClr val="bg2">
                  <a:lumMod val="40000"/>
                  <a:lumOff val="60000"/>
                </a:schemeClr>
              </a:buClr>
              <a:buSzPct val="80000"/>
            </a:pPr>
            <a:endParaRPr lang="en-US" sz="4000" dirty="0">
              <a:solidFill>
                <a:srgbClr val="FFFFFF"/>
              </a:solidFill>
              <a:latin typeface="+mj-lt"/>
              <a:ea typeface="+mj-ea"/>
              <a:cs typeface="+mj-cs"/>
            </a:endParaRPr>
          </a:p>
          <a:p>
            <a:pPr>
              <a:lnSpc>
                <a:spcPct val="90000"/>
              </a:lnSpc>
              <a:spcBef>
                <a:spcPts val="1000"/>
              </a:spcBef>
              <a:buClr>
                <a:schemeClr val="bg2">
                  <a:lumMod val="40000"/>
                  <a:lumOff val="60000"/>
                </a:schemeClr>
              </a:buClr>
              <a:buSzPct val="80000"/>
              <a:buFont typeface="Wingdings 3" charset="2"/>
              <a:buChar char=""/>
            </a:pPr>
            <a:endParaRPr lang="en-US" sz="600" dirty="0">
              <a:solidFill>
                <a:srgbClr val="FFFFFF"/>
              </a:solidFill>
              <a:latin typeface="+mj-lt"/>
              <a:ea typeface="+mj-ea"/>
              <a:cs typeface="+mj-cs"/>
            </a:endParaRPr>
          </a:p>
        </p:txBody>
      </p:sp>
      <p:sp>
        <p:nvSpPr>
          <p:cNvPr id="4" name="CaixaDeTexto 3">
            <a:extLst>
              <a:ext uri="{FF2B5EF4-FFF2-40B4-BE49-F238E27FC236}">
                <a16:creationId xmlns:a16="http://schemas.microsoft.com/office/drawing/2014/main" id="{FAA755B3-C4AB-BFB7-5127-F16C34ADD288}"/>
              </a:ext>
            </a:extLst>
          </p:cNvPr>
          <p:cNvSpPr txBox="1"/>
          <p:nvPr/>
        </p:nvSpPr>
        <p:spPr>
          <a:xfrm>
            <a:off x="194714" y="760938"/>
            <a:ext cx="7655020" cy="4439441"/>
          </a:xfrm>
          <a:prstGeom prst="rect">
            <a:avLst/>
          </a:prstGeom>
        </p:spPr>
        <p:txBody>
          <a:bodyPr vert="horz" lIns="91440" tIns="45720" rIns="91440" bIns="45720" rtlCol="0" anchor="b">
            <a:normAutofit/>
          </a:bodyPr>
          <a:lstStyle/>
          <a:p>
            <a:pPr algn="ctr">
              <a:spcBef>
                <a:spcPct val="0"/>
              </a:spcBef>
              <a:spcAft>
                <a:spcPts val="600"/>
              </a:spcAft>
            </a:pPr>
            <a:endParaRPr lang="en-US" sz="6700" dirty="0">
              <a:solidFill>
                <a:schemeClr val="tx2"/>
              </a:solidFill>
              <a:latin typeface="+mj-lt"/>
              <a:ea typeface="+mj-ea"/>
              <a:cs typeface="+mj-cs"/>
            </a:endParaRPr>
          </a:p>
        </p:txBody>
      </p:sp>
      <p:sp>
        <p:nvSpPr>
          <p:cNvPr id="3" name="Rectangle 1">
            <a:extLst>
              <a:ext uri="{FF2B5EF4-FFF2-40B4-BE49-F238E27FC236}">
                <a16:creationId xmlns:a16="http://schemas.microsoft.com/office/drawing/2014/main" id="{E55D91EE-DF4B-A8B7-5500-65F86B7A49EB}"/>
              </a:ext>
            </a:extLst>
          </p:cNvPr>
          <p:cNvSpPr>
            <a:spLocks noChangeArrowheads="1"/>
          </p:cNvSpPr>
          <p:nvPr/>
        </p:nvSpPr>
        <p:spPr bwMode="auto">
          <a:xfrm>
            <a:off x="6756400" y="1775013"/>
            <a:ext cx="8762000" cy="559397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R="0" lvl="0" fontAlgn="base">
              <a:spcBef>
                <a:spcPts val="1000"/>
              </a:spcBef>
              <a:buClr>
                <a:schemeClr val="bg2">
                  <a:lumMod val="40000"/>
                  <a:lumOff val="60000"/>
                </a:schemeClr>
              </a:buClr>
              <a:buSzPct val="80000"/>
              <a:tabLst/>
            </a:pPr>
            <a:r>
              <a:rPr kumimoji="0" lang="en-US" altLang="pt-BR" sz="2800" u="none" strike="noStrike" cap="none" normalizeH="0" baseline="0" dirty="0">
                <a:ln>
                  <a:noFill/>
                </a:ln>
                <a:effectLst/>
                <a:latin typeface="+mj-lt"/>
                <a:ea typeface="+mj-ea"/>
                <a:cs typeface="+mj-cs"/>
              </a:rPr>
              <a:t> </a:t>
            </a:r>
          </a:p>
        </p:txBody>
      </p:sp>
      <p:sp>
        <p:nvSpPr>
          <p:cNvPr id="6" name="CaixaDeTexto 5">
            <a:extLst>
              <a:ext uri="{FF2B5EF4-FFF2-40B4-BE49-F238E27FC236}">
                <a16:creationId xmlns:a16="http://schemas.microsoft.com/office/drawing/2014/main" id="{474FD64A-425C-1C63-7C3D-E7B86B83EA36}"/>
              </a:ext>
            </a:extLst>
          </p:cNvPr>
          <p:cNvSpPr txBox="1"/>
          <p:nvPr/>
        </p:nvSpPr>
        <p:spPr>
          <a:xfrm>
            <a:off x="208938" y="6360835"/>
            <a:ext cx="8125968" cy="1938992"/>
          </a:xfrm>
          <a:prstGeom prst="rect">
            <a:avLst/>
          </a:prstGeom>
          <a:noFill/>
        </p:spPr>
        <p:txBody>
          <a:bodyPr wrap="square">
            <a:spAutoFit/>
          </a:bodyPr>
          <a:lstStyle/>
          <a:p>
            <a:pPr>
              <a:buNone/>
            </a:pPr>
            <a:r>
              <a:rPr lang="pt-BR" sz="2000" b="1" dirty="0">
                <a:solidFill>
                  <a:schemeClr val="bg1"/>
                </a:solidFill>
              </a:rPr>
              <a:t>Exemplo esperado:</a:t>
            </a:r>
          </a:p>
          <a:p>
            <a:pPr>
              <a:buNone/>
            </a:pPr>
            <a:endParaRPr lang="pt-BR" sz="2000" b="1" dirty="0">
              <a:solidFill>
                <a:srgbClr val="FFC000"/>
              </a:solidFill>
            </a:endParaRPr>
          </a:p>
          <a:p>
            <a:pPr>
              <a:buNone/>
            </a:pPr>
            <a:r>
              <a:rPr lang="pt-BR" sz="2000" b="1" dirty="0">
                <a:solidFill>
                  <a:srgbClr val="FFC000"/>
                </a:solidFill>
              </a:rPr>
              <a:t>Informe o primeiro número: 10</a:t>
            </a:r>
            <a:br>
              <a:rPr lang="pt-BR" sz="2000" b="1" dirty="0">
                <a:solidFill>
                  <a:srgbClr val="FFC000"/>
                </a:solidFill>
              </a:rPr>
            </a:br>
            <a:r>
              <a:rPr lang="pt-BR" sz="2000" b="1" dirty="0">
                <a:solidFill>
                  <a:srgbClr val="FFC000"/>
                </a:solidFill>
              </a:rPr>
              <a:t>Informe o segundo número: 5</a:t>
            </a:r>
          </a:p>
          <a:p>
            <a:pPr>
              <a:buNone/>
            </a:pPr>
            <a:endParaRPr lang="pt-BR" sz="2000" b="1" dirty="0">
              <a:solidFill>
                <a:srgbClr val="FFC000"/>
              </a:solidFill>
            </a:endParaRPr>
          </a:p>
          <a:p>
            <a:pPr>
              <a:buNone/>
            </a:pPr>
            <a:r>
              <a:rPr lang="pt-BR" sz="2000" b="1" dirty="0">
                <a:solidFill>
                  <a:srgbClr val="FFC000"/>
                </a:solidFill>
              </a:rPr>
              <a:t>A soma é = 15</a:t>
            </a:r>
          </a:p>
        </p:txBody>
      </p:sp>
    </p:spTree>
    <p:extLst>
      <p:ext uri="{BB962C8B-B14F-4D97-AF65-F5344CB8AC3E}">
        <p14:creationId xmlns:p14="http://schemas.microsoft.com/office/powerpoint/2010/main" val="1807475147"/>
      </p:ext>
    </p:extLst>
  </p:cSld>
  <p:clrMapOvr>
    <a:overrideClrMapping bg1="lt1" tx1="dk1" bg2="lt2" tx2="dk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F5BAC11-7858-278C-D091-4E5C9CF77265}"/>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FCE9F2B9-6D36-5D11-1A42-AD3F0003E8A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12" name="Picture 11">
            <a:extLst>
              <a:ext uri="{FF2B5EF4-FFF2-40B4-BE49-F238E27FC236}">
                <a16:creationId xmlns:a16="http://schemas.microsoft.com/office/drawing/2014/main" id="{AB0E5FA9-4585-92FB-1520-FDB8FBFBAC3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14" name="Oval 13">
            <a:extLst>
              <a:ext uri="{FF2B5EF4-FFF2-40B4-BE49-F238E27FC236}">
                <a16:creationId xmlns:a16="http://schemas.microsoft.com/office/drawing/2014/main" id="{157F028F-C7E1-62E3-7193-06E8063D7E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16" name="Picture 15">
            <a:extLst>
              <a:ext uri="{FF2B5EF4-FFF2-40B4-BE49-F238E27FC236}">
                <a16:creationId xmlns:a16="http://schemas.microsoft.com/office/drawing/2014/main" id="{986EB21E-FD51-DC99-794A-833B570B1A1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18" name="Picture 17">
            <a:extLst>
              <a:ext uri="{FF2B5EF4-FFF2-40B4-BE49-F238E27FC236}">
                <a16:creationId xmlns:a16="http://schemas.microsoft.com/office/drawing/2014/main" id="{2A9A3EA3-BA52-4CA8-A4A3-5941970A8FD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20" name="Rectangle 19">
            <a:extLst>
              <a:ext uri="{FF2B5EF4-FFF2-40B4-BE49-F238E27FC236}">
                <a16:creationId xmlns:a16="http://schemas.microsoft.com/office/drawing/2014/main" id="{FA055EAF-80CC-088B-AE79-04754BFF84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22" name="Rectangle 21">
            <a:extLst>
              <a:ext uri="{FF2B5EF4-FFF2-40B4-BE49-F238E27FC236}">
                <a16:creationId xmlns:a16="http://schemas.microsoft.com/office/drawing/2014/main" id="{8FDF37A0-0182-D329-008F-570B9DBAA9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6256000" cy="9144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3" name="CaixaDeTexto 2">
            <a:extLst>
              <a:ext uri="{FF2B5EF4-FFF2-40B4-BE49-F238E27FC236}">
                <a16:creationId xmlns:a16="http://schemas.microsoft.com/office/drawing/2014/main" id="{F314C983-7E7F-9CD8-79DA-A15B7E7F1148}"/>
              </a:ext>
            </a:extLst>
          </p:cNvPr>
          <p:cNvSpPr txBox="1"/>
          <p:nvPr/>
        </p:nvSpPr>
        <p:spPr>
          <a:xfrm>
            <a:off x="9357630" y="3434442"/>
            <a:ext cx="6128644" cy="1360716"/>
          </a:xfrm>
          <a:prstGeom prst="rect">
            <a:avLst/>
          </a:prstGeom>
        </p:spPr>
        <p:txBody>
          <a:bodyPr vert="horz" lIns="91440" tIns="45720" rIns="91440" bIns="45720" rtlCol="0" anchor="b">
            <a:normAutofit/>
          </a:bodyPr>
          <a:lstStyle/>
          <a:p>
            <a:pPr>
              <a:lnSpc>
                <a:spcPct val="90000"/>
              </a:lnSpc>
              <a:spcBef>
                <a:spcPct val="0"/>
              </a:spcBef>
              <a:spcAft>
                <a:spcPts val="600"/>
              </a:spcAft>
              <a:buClr>
                <a:schemeClr val="bg2">
                  <a:lumMod val="40000"/>
                  <a:lumOff val="60000"/>
                </a:schemeClr>
              </a:buClr>
              <a:buSzPct val="80000"/>
            </a:pPr>
            <a:r>
              <a:rPr lang="en-US" sz="7200" b="0" i="0" kern="1200" dirty="0" err="1">
                <a:solidFill>
                  <a:srgbClr val="EBEBEB"/>
                </a:solidFill>
                <a:latin typeface="+mj-lt"/>
                <a:ea typeface="+mj-ea"/>
                <a:cs typeface="+mj-cs"/>
              </a:rPr>
              <a:t>Atividade</a:t>
            </a:r>
            <a:r>
              <a:rPr lang="en-US" sz="7200" b="0" i="0" kern="1200" dirty="0">
                <a:solidFill>
                  <a:srgbClr val="EBEBEB"/>
                </a:solidFill>
                <a:latin typeface="+mj-lt"/>
                <a:ea typeface="+mj-ea"/>
                <a:cs typeface="+mj-cs"/>
              </a:rPr>
              <a:t> 02</a:t>
            </a:r>
          </a:p>
        </p:txBody>
      </p:sp>
      <p:sp>
        <p:nvSpPr>
          <p:cNvPr id="24" name="Freeform 36">
            <a:extLst>
              <a:ext uri="{FF2B5EF4-FFF2-40B4-BE49-F238E27FC236}">
                <a16:creationId xmlns:a16="http://schemas.microsoft.com/office/drawing/2014/main" id="{0B3F6608-DA5C-2DF6-32DA-76ADEF6D38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66194" y="-1"/>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37" name="Freeform: Shape 25">
            <a:extLst>
              <a:ext uri="{FF2B5EF4-FFF2-40B4-BE49-F238E27FC236}">
                <a16:creationId xmlns:a16="http://schemas.microsoft.com/office/drawing/2014/main" id="{49B7C135-9C1F-40A1-09D3-BEBC07E306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5400000" flipH="1">
            <a:off x="91947" y="-91947"/>
            <a:ext cx="9144001" cy="9327891"/>
          </a:xfrm>
          <a:custGeom>
            <a:avLst/>
            <a:gdLst>
              <a:gd name="connsiteX0" fmla="*/ 6858001 w 6858001"/>
              <a:gd name="connsiteY0" fmla="*/ 1344715 h 6995918"/>
              <a:gd name="connsiteX1" fmla="*/ 6858001 w 6858001"/>
              <a:gd name="connsiteY1" fmla="*/ 1177 h 6995918"/>
              <a:gd name="connsiteX2" fmla="*/ 6702324 w 6858001"/>
              <a:gd name="connsiteY2" fmla="*/ 26222 h 6995918"/>
              <a:gd name="connsiteX3" fmla="*/ 6547333 w 6858001"/>
              <a:gd name="connsiteY3" fmla="*/ 50091 h 6995918"/>
              <a:gd name="connsiteX4" fmla="*/ 6391657 w 6858001"/>
              <a:gd name="connsiteY4" fmla="*/ 73455 h 6995918"/>
              <a:gd name="connsiteX5" fmla="*/ 6235294 w 6858001"/>
              <a:gd name="connsiteY5" fmla="*/ 93458 h 6995918"/>
              <a:gd name="connsiteX6" fmla="*/ 6079618 w 6858001"/>
              <a:gd name="connsiteY6" fmla="*/ 113629 h 6995918"/>
              <a:gd name="connsiteX7" fmla="*/ 5923255 w 6858001"/>
              <a:gd name="connsiteY7" fmla="*/ 132455 h 6995918"/>
              <a:gd name="connsiteX8" fmla="*/ 5768950 w 6858001"/>
              <a:gd name="connsiteY8" fmla="*/ 148591 h 6995918"/>
              <a:gd name="connsiteX9" fmla="*/ 5612588 w 6858001"/>
              <a:gd name="connsiteY9" fmla="*/ 163887 h 6995918"/>
              <a:gd name="connsiteX10" fmla="*/ 5456911 w 6858001"/>
              <a:gd name="connsiteY10" fmla="*/ 177839 h 6995918"/>
              <a:gd name="connsiteX11" fmla="*/ 5303978 w 6858001"/>
              <a:gd name="connsiteY11" fmla="*/ 189941 h 6995918"/>
              <a:gd name="connsiteX12" fmla="*/ 5148987 w 6858001"/>
              <a:gd name="connsiteY12" fmla="*/ 202044 h 6995918"/>
              <a:gd name="connsiteX13" fmla="*/ 4996054 w 6858001"/>
              <a:gd name="connsiteY13" fmla="*/ 212129 h 6995918"/>
              <a:gd name="connsiteX14" fmla="*/ 4843120 w 6858001"/>
              <a:gd name="connsiteY14" fmla="*/ 220029 h 6995918"/>
              <a:gd name="connsiteX15" fmla="*/ 4690873 w 6858001"/>
              <a:gd name="connsiteY15" fmla="*/ 228266 h 6995918"/>
              <a:gd name="connsiteX16" fmla="*/ 4539997 w 6858001"/>
              <a:gd name="connsiteY16" fmla="*/ 235157 h 6995918"/>
              <a:gd name="connsiteX17" fmla="*/ 4390492 w 6858001"/>
              <a:gd name="connsiteY17" fmla="*/ 240032 h 6995918"/>
              <a:gd name="connsiteX18" fmla="*/ 4240988 w 6858001"/>
              <a:gd name="connsiteY18" fmla="*/ 244234 h 6995918"/>
              <a:gd name="connsiteX19" fmla="*/ 4092855 w 6858001"/>
              <a:gd name="connsiteY19" fmla="*/ 248268 h 6995918"/>
              <a:gd name="connsiteX20" fmla="*/ 3946780 w 6858001"/>
              <a:gd name="connsiteY20" fmla="*/ 250117 h 6995918"/>
              <a:gd name="connsiteX21" fmla="*/ 3800704 w 6858001"/>
              <a:gd name="connsiteY21" fmla="*/ 252134 h 6995918"/>
              <a:gd name="connsiteX22" fmla="*/ 3656686 w 6858001"/>
              <a:gd name="connsiteY22" fmla="*/ 253143 h 6995918"/>
              <a:gd name="connsiteX23" fmla="*/ 3514040 w 6858001"/>
              <a:gd name="connsiteY23" fmla="*/ 252134 h 6995918"/>
              <a:gd name="connsiteX24" fmla="*/ 3372765 w 6858001"/>
              <a:gd name="connsiteY24" fmla="*/ 252134 h 6995918"/>
              <a:gd name="connsiteX25" fmla="*/ 3232862 w 6858001"/>
              <a:gd name="connsiteY25" fmla="*/ 250117 h 6995918"/>
              <a:gd name="connsiteX26" fmla="*/ 3095702 w 6858001"/>
              <a:gd name="connsiteY26" fmla="*/ 247092 h 6995918"/>
              <a:gd name="connsiteX27" fmla="*/ 2959914 w 6858001"/>
              <a:gd name="connsiteY27" fmla="*/ 244234 h 6995918"/>
              <a:gd name="connsiteX28" fmla="*/ 2826868 w 6858001"/>
              <a:gd name="connsiteY28" fmla="*/ 241040 h 6995918"/>
              <a:gd name="connsiteX29" fmla="*/ 2694509 w 6858001"/>
              <a:gd name="connsiteY29" fmla="*/ 236166 h 6995918"/>
              <a:gd name="connsiteX30" fmla="*/ 2564208 w 6858001"/>
              <a:gd name="connsiteY30" fmla="*/ 230955 h 6995918"/>
              <a:gd name="connsiteX31" fmla="*/ 2436649 w 6858001"/>
              <a:gd name="connsiteY31" fmla="*/ 226249 h 6995918"/>
              <a:gd name="connsiteX32" fmla="*/ 2187703 w 6858001"/>
              <a:gd name="connsiteY32" fmla="*/ 212969 h 6995918"/>
              <a:gd name="connsiteX33" fmla="*/ 1949045 w 6858001"/>
              <a:gd name="connsiteY33" fmla="*/ 198850 h 6995918"/>
              <a:gd name="connsiteX34" fmla="*/ 1719988 w 6858001"/>
              <a:gd name="connsiteY34" fmla="*/ 184058 h 6995918"/>
              <a:gd name="connsiteX35" fmla="*/ 1503275 w 6858001"/>
              <a:gd name="connsiteY35" fmla="*/ 167753 h 6995918"/>
              <a:gd name="connsiteX36" fmla="*/ 1296163 w 6858001"/>
              <a:gd name="connsiteY36" fmla="*/ 150776 h 6995918"/>
              <a:gd name="connsiteX37" fmla="*/ 1104139 w 6858001"/>
              <a:gd name="connsiteY37" fmla="*/ 132455 h 6995918"/>
              <a:gd name="connsiteX38" fmla="*/ 923774 w 6858001"/>
              <a:gd name="connsiteY38" fmla="*/ 114469 h 6995918"/>
              <a:gd name="connsiteX39" fmla="*/ 757810 w 6858001"/>
              <a:gd name="connsiteY39" fmla="*/ 96484 h 6995918"/>
              <a:gd name="connsiteX40" fmla="*/ 605563 w 6858001"/>
              <a:gd name="connsiteY40" fmla="*/ 79507 h 6995918"/>
              <a:gd name="connsiteX41" fmla="*/ 470460 w 6858001"/>
              <a:gd name="connsiteY41" fmla="*/ 63370 h 6995918"/>
              <a:gd name="connsiteX42" fmla="*/ 348388 w 6858001"/>
              <a:gd name="connsiteY42" fmla="*/ 48074 h 6995918"/>
              <a:gd name="connsiteX43" fmla="*/ 245518 w 6858001"/>
              <a:gd name="connsiteY43" fmla="*/ 35299 h 6995918"/>
              <a:gd name="connsiteX44" fmla="*/ 159107 w 6858001"/>
              <a:gd name="connsiteY44" fmla="*/ 23197 h 6995918"/>
              <a:gd name="connsiteX45" fmla="*/ 40463 w 6858001"/>
              <a:gd name="connsiteY45" fmla="*/ 5883 h 6995918"/>
              <a:gd name="connsiteX46" fmla="*/ 1 w 6858001"/>
              <a:gd name="connsiteY46" fmla="*/ 0 h 6995918"/>
              <a:gd name="connsiteX47" fmla="*/ 1 w 6858001"/>
              <a:gd name="connsiteY47" fmla="*/ 905354 h 6995918"/>
              <a:gd name="connsiteX48" fmla="*/ 0 w 6858001"/>
              <a:gd name="connsiteY48" fmla="*/ 905354 h 6995918"/>
              <a:gd name="connsiteX49" fmla="*/ 0 w 6858001"/>
              <a:gd name="connsiteY49" fmla="*/ 6995918 h 6995918"/>
              <a:gd name="connsiteX50" fmla="*/ 6858000 w 6858001"/>
              <a:gd name="connsiteY50" fmla="*/ 6995918 h 6995918"/>
              <a:gd name="connsiteX51" fmla="*/ 6858000 w 6858001"/>
              <a:gd name="connsiteY51" fmla="*/ 1344715 h 6995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95918">
                <a:moveTo>
                  <a:pt x="6858001" y="1344715"/>
                </a:moveTo>
                <a:lnTo>
                  <a:pt x="6858001" y="1177"/>
                </a:lnTo>
                <a:lnTo>
                  <a:pt x="6702324" y="26222"/>
                </a:lnTo>
                <a:lnTo>
                  <a:pt x="6547333" y="50091"/>
                </a:lnTo>
                <a:lnTo>
                  <a:pt x="6391657" y="73455"/>
                </a:lnTo>
                <a:lnTo>
                  <a:pt x="6235294" y="93458"/>
                </a:lnTo>
                <a:lnTo>
                  <a:pt x="6079618" y="113629"/>
                </a:lnTo>
                <a:lnTo>
                  <a:pt x="5923255" y="132455"/>
                </a:lnTo>
                <a:lnTo>
                  <a:pt x="5768950" y="148591"/>
                </a:lnTo>
                <a:lnTo>
                  <a:pt x="5612588" y="163887"/>
                </a:lnTo>
                <a:lnTo>
                  <a:pt x="5456911" y="177839"/>
                </a:lnTo>
                <a:lnTo>
                  <a:pt x="5303978" y="189941"/>
                </a:lnTo>
                <a:lnTo>
                  <a:pt x="5148987" y="202044"/>
                </a:lnTo>
                <a:lnTo>
                  <a:pt x="4996054" y="212129"/>
                </a:lnTo>
                <a:lnTo>
                  <a:pt x="4843120" y="220029"/>
                </a:lnTo>
                <a:lnTo>
                  <a:pt x="4690873" y="228266"/>
                </a:lnTo>
                <a:lnTo>
                  <a:pt x="4539997" y="235157"/>
                </a:lnTo>
                <a:lnTo>
                  <a:pt x="4390492" y="240032"/>
                </a:lnTo>
                <a:lnTo>
                  <a:pt x="4240988" y="244234"/>
                </a:lnTo>
                <a:lnTo>
                  <a:pt x="4092855" y="248268"/>
                </a:lnTo>
                <a:lnTo>
                  <a:pt x="3946780" y="250117"/>
                </a:lnTo>
                <a:lnTo>
                  <a:pt x="3800704" y="252134"/>
                </a:lnTo>
                <a:lnTo>
                  <a:pt x="3656686" y="253143"/>
                </a:lnTo>
                <a:lnTo>
                  <a:pt x="3514040" y="252134"/>
                </a:lnTo>
                <a:lnTo>
                  <a:pt x="3372765" y="252134"/>
                </a:lnTo>
                <a:lnTo>
                  <a:pt x="3232862" y="250117"/>
                </a:lnTo>
                <a:lnTo>
                  <a:pt x="3095702" y="247092"/>
                </a:lnTo>
                <a:lnTo>
                  <a:pt x="2959914" y="244234"/>
                </a:lnTo>
                <a:lnTo>
                  <a:pt x="2826868" y="241040"/>
                </a:lnTo>
                <a:lnTo>
                  <a:pt x="2694509" y="236166"/>
                </a:lnTo>
                <a:lnTo>
                  <a:pt x="2564208" y="230955"/>
                </a:lnTo>
                <a:lnTo>
                  <a:pt x="2436649" y="226249"/>
                </a:lnTo>
                <a:lnTo>
                  <a:pt x="2187703" y="212969"/>
                </a:lnTo>
                <a:lnTo>
                  <a:pt x="1949045" y="198850"/>
                </a:lnTo>
                <a:lnTo>
                  <a:pt x="1719988" y="184058"/>
                </a:lnTo>
                <a:lnTo>
                  <a:pt x="1503275" y="167753"/>
                </a:lnTo>
                <a:lnTo>
                  <a:pt x="1296163" y="150776"/>
                </a:lnTo>
                <a:lnTo>
                  <a:pt x="1104139" y="132455"/>
                </a:lnTo>
                <a:lnTo>
                  <a:pt x="923774" y="114469"/>
                </a:lnTo>
                <a:lnTo>
                  <a:pt x="757810" y="96484"/>
                </a:lnTo>
                <a:lnTo>
                  <a:pt x="605563" y="79507"/>
                </a:lnTo>
                <a:lnTo>
                  <a:pt x="470460" y="63370"/>
                </a:lnTo>
                <a:lnTo>
                  <a:pt x="348388" y="48074"/>
                </a:lnTo>
                <a:lnTo>
                  <a:pt x="245518" y="35299"/>
                </a:lnTo>
                <a:lnTo>
                  <a:pt x="159107" y="23197"/>
                </a:lnTo>
                <a:lnTo>
                  <a:pt x="40463" y="5883"/>
                </a:lnTo>
                <a:lnTo>
                  <a:pt x="1" y="0"/>
                </a:lnTo>
                <a:lnTo>
                  <a:pt x="1" y="905354"/>
                </a:lnTo>
                <a:lnTo>
                  <a:pt x="0" y="905354"/>
                </a:lnTo>
                <a:lnTo>
                  <a:pt x="0" y="6995918"/>
                </a:lnTo>
                <a:lnTo>
                  <a:pt x="6858000" y="6995918"/>
                </a:lnTo>
                <a:lnTo>
                  <a:pt x="6858000" y="1344715"/>
                </a:lnTo>
                <a:close/>
              </a:path>
            </a:pathLst>
          </a:custGeom>
          <a:ln>
            <a:noFill/>
          </a:ln>
        </p:spPr>
        <p:txBody>
          <a:bodyPr/>
          <a:lstStyle/>
          <a:p>
            <a:endParaRPr lang="pt-BR"/>
          </a:p>
        </p:txBody>
      </p:sp>
      <p:sp>
        <p:nvSpPr>
          <p:cNvPr id="38" name="Rectangle 27">
            <a:extLst>
              <a:ext uri="{FF2B5EF4-FFF2-40B4-BE49-F238E27FC236}">
                <a16:creationId xmlns:a16="http://schemas.microsoft.com/office/drawing/2014/main" id="{17378C1B-0CBA-21C7-5D54-37196E7150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5" name="Imagem 4">
            <a:extLst>
              <a:ext uri="{FF2B5EF4-FFF2-40B4-BE49-F238E27FC236}">
                <a16:creationId xmlns:a16="http://schemas.microsoft.com/office/drawing/2014/main" id="{142ADE68-D089-4AB5-76D0-249CB5F0230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98691" y="2159000"/>
            <a:ext cx="7267409" cy="4850995"/>
          </a:xfrm>
          <a:prstGeom prst="rect">
            <a:avLst/>
          </a:prstGeom>
          <a:effectLst/>
        </p:spPr>
      </p:pic>
    </p:spTree>
    <p:extLst>
      <p:ext uri="{BB962C8B-B14F-4D97-AF65-F5344CB8AC3E}">
        <p14:creationId xmlns:p14="http://schemas.microsoft.com/office/powerpoint/2010/main" val="2790212994"/>
      </p:ext>
    </p:extLst>
  </p:cSld>
  <p:clrMapOvr>
    <a:overrideClrMapping bg1="lt1" tx1="dk1" bg2="lt2" tx2="dk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FD5ABF9C-A102-5CB8-9349-EA96BF21372D}"/>
              </a:ext>
            </a:extLst>
          </p:cNvPr>
          <p:cNvSpPr txBox="1"/>
          <p:nvPr/>
        </p:nvSpPr>
        <p:spPr>
          <a:xfrm>
            <a:off x="660400" y="914400"/>
            <a:ext cx="8125968" cy="461665"/>
          </a:xfrm>
          <a:prstGeom prst="rect">
            <a:avLst/>
          </a:prstGeom>
          <a:noFill/>
        </p:spPr>
        <p:txBody>
          <a:bodyPr wrap="square">
            <a:spAutoFit/>
          </a:bodyPr>
          <a:lstStyle/>
          <a:p>
            <a:r>
              <a:rPr lang="pt-BR" sz="2400" b="1" dirty="0"/>
              <a:t>CONVERSÃO DE TIPOS EM PYTHON</a:t>
            </a:r>
          </a:p>
        </p:txBody>
      </p:sp>
      <p:sp>
        <p:nvSpPr>
          <p:cNvPr id="5" name="CaixaDeTexto 4">
            <a:extLst>
              <a:ext uri="{FF2B5EF4-FFF2-40B4-BE49-F238E27FC236}">
                <a16:creationId xmlns:a16="http://schemas.microsoft.com/office/drawing/2014/main" id="{570D5C9D-6350-D908-8C06-7461D8EA59E9}"/>
              </a:ext>
            </a:extLst>
          </p:cNvPr>
          <p:cNvSpPr txBox="1"/>
          <p:nvPr/>
        </p:nvSpPr>
        <p:spPr>
          <a:xfrm>
            <a:off x="660400" y="1773703"/>
            <a:ext cx="5943600" cy="1200329"/>
          </a:xfrm>
          <a:prstGeom prst="rect">
            <a:avLst/>
          </a:prstGeom>
          <a:noFill/>
        </p:spPr>
        <p:txBody>
          <a:bodyPr wrap="square">
            <a:spAutoFit/>
          </a:bodyPr>
          <a:lstStyle/>
          <a:p>
            <a:pPr>
              <a:buNone/>
            </a:pPr>
            <a:r>
              <a:rPr lang="pt-BR" b="1" dirty="0"/>
              <a:t>O que é conversão de dados?</a:t>
            </a:r>
          </a:p>
          <a:p>
            <a:pPr>
              <a:buNone/>
            </a:pPr>
            <a:endParaRPr lang="pt-BR" b="1" dirty="0"/>
          </a:p>
          <a:p>
            <a:pPr>
              <a:buNone/>
            </a:pPr>
            <a:r>
              <a:rPr lang="pt-BR" dirty="0"/>
              <a:t>É quando transformamos um tipo de dado em outro (</a:t>
            </a:r>
            <a:r>
              <a:rPr lang="pt-BR" dirty="0" err="1"/>
              <a:t>ex</a:t>
            </a:r>
            <a:r>
              <a:rPr lang="pt-BR" dirty="0"/>
              <a:t>: texto → número).</a:t>
            </a:r>
          </a:p>
        </p:txBody>
      </p:sp>
      <p:sp>
        <p:nvSpPr>
          <p:cNvPr id="7" name="CaixaDeTexto 6">
            <a:extLst>
              <a:ext uri="{FF2B5EF4-FFF2-40B4-BE49-F238E27FC236}">
                <a16:creationId xmlns:a16="http://schemas.microsoft.com/office/drawing/2014/main" id="{4B1A4AB2-E424-4F64-1121-61BD07E9A5DC}"/>
              </a:ext>
            </a:extLst>
          </p:cNvPr>
          <p:cNvSpPr txBox="1"/>
          <p:nvPr/>
        </p:nvSpPr>
        <p:spPr>
          <a:xfrm>
            <a:off x="6832600" y="1728233"/>
            <a:ext cx="4572000" cy="1200329"/>
          </a:xfrm>
          <a:prstGeom prst="rect">
            <a:avLst/>
          </a:prstGeom>
          <a:noFill/>
        </p:spPr>
        <p:txBody>
          <a:bodyPr wrap="square">
            <a:spAutoFit/>
          </a:bodyPr>
          <a:lstStyle/>
          <a:p>
            <a:pPr>
              <a:buNone/>
            </a:pPr>
            <a:r>
              <a:rPr lang="pt-BR" b="1" dirty="0"/>
              <a:t>Importante</a:t>
            </a:r>
          </a:p>
          <a:p>
            <a:pPr>
              <a:buNone/>
            </a:pPr>
            <a:endParaRPr lang="pt-BR" b="1" dirty="0"/>
          </a:p>
          <a:p>
            <a:pPr>
              <a:buNone/>
            </a:pPr>
            <a:r>
              <a:rPr lang="pt-BR" dirty="0"/>
              <a:t>O </a:t>
            </a:r>
            <a:r>
              <a:rPr lang="pt-BR" dirty="0">
                <a:latin typeface="Courier New" panose="02070309020205020404" pitchFamily="49" charset="0"/>
              </a:rPr>
              <a:t>input()</a:t>
            </a:r>
            <a:r>
              <a:rPr lang="pt-BR" dirty="0"/>
              <a:t> sempre retorna </a:t>
            </a:r>
            <a:r>
              <a:rPr lang="pt-BR" b="1" dirty="0"/>
              <a:t>texto (</a:t>
            </a:r>
            <a:r>
              <a:rPr lang="pt-BR" b="1" dirty="0" err="1"/>
              <a:t>str</a:t>
            </a:r>
            <a:r>
              <a:rPr lang="pt-BR" b="1" dirty="0"/>
              <a:t>)</a:t>
            </a:r>
            <a:r>
              <a:rPr lang="pt-BR" dirty="0"/>
              <a:t>, mesmo que o usuário digite números.</a:t>
            </a:r>
          </a:p>
        </p:txBody>
      </p:sp>
      <p:sp>
        <p:nvSpPr>
          <p:cNvPr id="8" name="Rectangle 1">
            <a:extLst>
              <a:ext uri="{FF2B5EF4-FFF2-40B4-BE49-F238E27FC236}">
                <a16:creationId xmlns:a16="http://schemas.microsoft.com/office/drawing/2014/main" id="{9E2A822A-AAF4-2377-C164-93B3CA0D2541}"/>
              </a:ext>
            </a:extLst>
          </p:cNvPr>
          <p:cNvSpPr>
            <a:spLocks noChangeArrowheads="1"/>
          </p:cNvSpPr>
          <p:nvPr/>
        </p:nvSpPr>
        <p:spPr bwMode="auto">
          <a:xfrm>
            <a:off x="528212" y="6019800"/>
            <a:ext cx="14401800"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pt-BR" altLang="pt-BR" sz="2400" b="0" i="0" u="none" strike="noStrike" cap="none" normalizeH="0" baseline="0" dirty="0" err="1">
                <a:ln>
                  <a:noFill/>
                </a:ln>
                <a:solidFill>
                  <a:srgbClr val="FFC000"/>
                </a:solidFill>
                <a:effectLst/>
                <a:latin typeface="Arial Unicode MS" panose="020B0604020202020204" pitchFamily="34" charset="-128"/>
              </a:rPr>
              <a:t>int</a:t>
            </a:r>
            <a:r>
              <a:rPr kumimoji="0" lang="pt-BR" altLang="pt-BR" sz="2400" b="0" i="0" u="none" strike="noStrike" cap="none" normalizeH="0" baseline="0" dirty="0">
                <a:ln>
                  <a:noFill/>
                </a:ln>
                <a:solidFill>
                  <a:srgbClr val="FFC000"/>
                </a:solidFill>
                <a:effectLst/>
                <a:latin typeface="Arial Unicode MS" panose="020B0604020202020204" pitchFamily="34" charset="-128"/>
              </a:rPr>
              <a:t>()</a:t>
            </a:r>
            <a:r>
              <a:rPr kumimoji="0" lang="pt-BR" altLang="pt-BR" sz="2400" b="0" i="0" u="none" strike="noStrike" cap="none" normalizeH="0" baseline="0" dirty="0">
                <a:ln>
                  <a:noFill/>
                </a:ln>
                <a:solidFill>
                  <a:srgbClr val="FFC000"/>
                </a:solidFill>
                <a:effectLst/>
              </a:rPr>
              <a:t> </a:t>
            </a:r>
            <a:r>
              <a:rPr kumimoji="0" lang="pt-BR" altLang="pt-BR" sz="2400" b="0" i="0" u="none" strike="noStrike" cap="none" normalizeH="0" baseline="0" dirty="0">
                <a:ln>
                  <a:noFill/>
                </a:ln>
                <a:solidFill>
                  <a:schemeClr val="tx1"/>
                </a:solidFill>
                <a:effectLst/>
              </a:rPr>
              <a:t>→ inteiro </a:t>
            </a:r>
            <a:endParaRPr kumimoji="0" lang="pt-BR" altLang="pt-BR" sz="4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pt-BR" altLang="pt-BR" sz="2400" b="0" i="0" u="none" strike="noStrike" cap="none" normalizeH="0" baseline="0" dirty="0" err="1">
                <a:ln>
                  <a:noFill/>
                </a:ln>
                <a:solidFill>
                  <a:srgbClr val="FFC000"/>
                </a:solidFill>
                <a:effectLst/>
                <a:latin typeface="Arial Unicode MS" panose="020B0604020202020204" pitchFamily="34" charset="-128"/>
              </a:rPr>
              <a:t>float</a:t>
            </a:r>
            <a:r>
              <a:rPr kumimoji="0" lang="pt-BR" altLang="pt-BR" sz="2400" b="0" i="0" u="none" strike="noStrike" cap="none" normalizeH="0" baseline="0" dirty="0">
                <a:ln>
                  <a:noFill/>
                </a:ln>
                <a:solidFill>
                  <a:srgbClr val="FFC000"/>
                </a:solidFill>
                <a:effectLst/>
                <a:latin typeface="Arial Unicode MS" panose="020B0604020202020204" pitchFamily="34" charset="-128"/>
              </a:rPr>
              <a:t>()</a:t>
            </a:r>
            <a:r>
              <a:rPr kumimoji="0" lang="pt-BR" altLang="pt-BR" sz="2400" b="0" i="0" u="none" strike="noStrike" cap="none" normalizeH="0" baseline="0" dirty="0">
                <a:ln>
                  <a:noFill/>
                </a:ln>
                <a:solidFill>
                  <a:srgbClr val="FFC000"/>
                </a:solidFill>
                <a:effectLst/>
              </a:rPr>
              <a:t> </a:t>
            </a:r>
            <a:r>
              <a:rPr kumimoji="0" lang="pt-BR" altLang="pt-BR" sz="2400" b="0" i="0" u="none" strike="noStrike" cap="none" normalizeH="0" baseline="0" dirty="0">
                <a:ln>
                  <a:noFill/>
                </a:ln>
                <a:solidFill>
                  <a:schemeClr val="tx1"/>
                </a:solidFill>
                <a:effectLst/>
              </a:rPr>
              <a:t>→ decimal </a:t>
            </a:r>
            <a:endParaRPr kumimoji="0" lang="pt-BR" altLang="pt-BR" sz="4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pt-BR" altLang="pt-BR" sz="2400" b="0" i="0" u="none" strike="noStrike" cap="none" normalizeH="0" baseline="0" dirty="0" err="1">
                <a:ln>
                  <a:noFill/>
                </a:ln>
                <a:solidFill>
                  <a:srgbClr val="FFC000"/>
                </a:solidFill>
                <a:effectLst/>
                <a:latin typeface="Arial Unicode MS" panose="020B0604020202020204" pitchFamily="34" charset="-128"/>
              </a:rPr>
              <a:t>str</a:t>
            </a:r>
            <a:r>
              <a:rPr kumimoji="0" lang="pt-BR" altLang="pt-BR" sz="2400" b="0" i="0" u="none" strike="noStrike" cap="none" normalizeH="0" baseline="0" dirty="0">
                <a:ln>
                  <a:noFill/>
                </a:ln>
                <a:solidFill>
                  <a:srgbClr val="FFC000"/>
                </a:solidFill>
                <a:effectLst/>
                <a:latin typeface="Arial Unicode MS" panose="020B0604020202020204" pitchFamily="34" charset="-128"/>
              </a:rPr>
              <a:t>()</a:t>
            </a:r>
            <a:r>
              <a:rPr kumimoji="0" lang="pt-BR" altLang="pt-BR" sz="2400" b="0" i="0" u="none" strike="noStrike" cap="none" normalizeH="0" baseline="0" dirty="0">
                <a:ln>
                  <a:noFill/>
                </a:ln>
                <a:solidFill>
                  <a:srgbClr val="FFC000"/>
                </a:solidFill>
                <a:effectLst/>
              </a:rPr>
              <a:t> </a:t>
            </a:r>
            <a:r>
              <a:rPr kumimoji="0" lang="pt-BR" altLang="pt-BR" sz="2400" b="0" i="0" u="none" strike="noStrike" cap="none" normalizeH="0" baseline="0" dirty="0">
                <a:ln>
                  <a:noFill/>
                </a:ln>
                <a:solidFill>
                  <a:schemeClr val="tx1"/>
                </a:solidFill>
                <a:effectLst/>
              </a:rPr>
              <a:t>→ texto </a:t>
            </a:r>
            <a:endParaRPr kumimoji="0" lang="pt-BR" altLang="pt-BR" sz="4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pt-BR" altLang="pt-BR" sz="2400" b="0" i="0" u="none" strike="noStrike" cap="none" normalizeH="0" baseline="0" dirty="0" err="1">
                <a:ln>
                  <a:noFill/>
                </a:ln>
                <a:solidFill>
                  <a:srgbClr val="FFC000"/>
                </a:solidFill>
                <a:effectLst/>
                <a:latin typeface="Arial Unicode MS" panose="020B0604020202020204" pitchFamily="34" charset="-128"/>
              </a:rPr>
              <a:t>bool</a:t>
            </a:r>
            <a:r>
              <a:rPr kumimoji="0" lang="pt-BR" altLang="pt-BR" sz="2400" b="0" i="0" u="none" strike="noStrike" cap="none" normalizeH="0" baseline="0" dirty="0">
                <a:ln>
                  <a:noFill/>
                </a:ln>
                <a:solidFill>
                  <a:srgbClr val="FFC000"/>
                </a:solidFill>
                <a:effectLst/>
                <a:latin typeface="Arial Unicode MS" panose="020B0604020202020204" pitchFamily="34" charset="-128"/>
              </a:rPr>
              <a:t>()</a:t>
            </a:r>
            <a:r>
              <a:rPr kumimoji="0" lang="pt-BR" altLang="pt-BR" sz="2400" b="0" i="0" u="none" strike="noStrike" cap="none" normalizeH="0" baseline="0" dirty="0">
                <a:ln>
                  <a:noFill/>
                </a:ln>
                <a:solidFill>
                  <a:srgbClr val="FFC000"/>
                </a:solidFill>
                <a:effectLst/>
              </a:rPr>
              <a:t> </a:t>
            </a:r>
            <a:r>
              <a:rPr kumimoji="0" lang="pt-BR" altLang="pt-BR" sz="2400" b="0" i="0" u="none" strike="noStrike" cap="none" normalizeH="0" baseline="0" dirty="0">
                <a:ln>
                  <a:noFill/>
                </a:ln>
                <a:solidFill>
                  <a:schemeClr val="tx1"/>
                </a:solidFill>
                <a:effectLst/>
              </a:rPr>
              <a:t>→ verdadeiro/falso </a:t>
            </a:r>
            <a:endParaRPr lang="pt-BR" altLang="pt-BR" sz="32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pt-BR" altLang="pt-BR" sz="3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pt-BR" altLang="pt-BR" sz="3200" b="0" i="0" u="none" strike="noStrike" cap="none" normalizeH="0" baseline="0" dirty="0">
                <a:ln>
                  <a:noFill/>
                </a:ln>
                <a:solidFill>
                  <a:srgbClr val="FFC000"/>
                </a:solidFill>
                <a:effectLst/>
                <a:latin typeface="Arial" panose="020B0604020202020204" pitchFamily="34" charset="0"/>
              </a:rPr>
              <a:t>Conversão é essencial para cálculos com entrada de dados </a:t>
            </a:r>
          </a:p>
        </p:txBody>
      </p:sp>
      <p:pic>
        <p:nvPicPr>
          <p:cNvPr id="10" name="Imagem 9">
            <a:extLst>
              <a:ext uri="{FF2B5EF4-FFF2-40B4-BE49-F238E27FC236}">
                <a16:creationId xmlns:a16="http://schemas.microsoft.com/office/drawing/2014/main" id="{F1089BD3-9031-ECD5-CDE6-21C6E12199C9}"/>
              </a:ext>
            </a:extLst>
          </p:cNvPr>
          <p:cNvPicPr>
            <a:picLocks noChangeAspect="1"/>
          </p:cNvPicPr>
          <p:nvPr/>
        </p:nvPicPr>
        <p:blipFill>
          <a:blip r:embed="rId2"/>
          <a:stretch>
            <a:fillRect/>
          </a:stretch>
        </p:blipFill>
        <p:spPr>
          <a:xfrm>
            <a:off x="660400" y="3186011"/>
            <a:ext cx="8326012" cy="2562583"/>
          </a:xfrm>
          <a:prstGeom prst="rect">
            <a:avLst/>
          </a:prstGeom>
        </p:spPr>
      </p:pic>
    </p:spTree>
    <p:extLst>
      <p:ext uri="{BB962C8B-B14F-4D97-AF65-F5344CB8AC3E}">
        <p14:creationId xmlns:p14="http://schemas.microsoft.com/office/powerpoint/2010/main" val="33679977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57E09-C045-69ED-901A-D9FA5FE20E25}"/>
            </a:ext>
          </a:extLst>
        </p:cNvPr>
        <p:cNvGrpSpPr/>
        <p:nvPr/>
      </p:nvGrpSpPr>
      <p:grpSpPr>
        <a:xfrm>
          <a:off x="0" y="0"/>
          <a:ext cx="0" cy="0"/>
          <a:chOff x="0" y="0"/>
          <a:chExt cx="0" cy="0"/>
        </a:xfrm>
      </p:grpSpPr>
      <p:pic>
        <p:nvPicPr>
          <p:cNvPr id="4" name="Imagem 3">
            <a:extLst>
              <a:ext uri="{FF2B5EF4-FFF2-40B4-BE49-F238E27FC236}">
                <a16:creationId xmlns:a16="http://schemas.microsoft.com/office/drawing/2014/main" id="{02C99884-8FA6-2606-C478-E9D72A380584}"/>
              </a:ext>
            </a:extLst>
          </p:cNvPr>
          <p:cNvPicPr>
            <a:picLocks noChangeAspect="1"/>
          </p:cNvPicPr>
          <p:nvPr/>
        </p:nvPicPr>
        <p:blipFill>
          <a:blip r:embed="rId2"/>
          <a:stretch>
            <a:fillRect/>
          </a:stretch>
        </p:blipFill>
        <p:spPr>
          <a:xfrm>
            <a:off x="584200" y="533400"/>
            <a:ext cx="7010400" cy="2151029"/>
          </a:xfrm>
          <a:prstGeom prst="rect">
            <a:avLst/>
          </a:prstGeom>
        </p:spPr>
      </p:pic>
      <p:sp>
        <p:nvSpPr>
          <p:cNvPr id="6" name="CaixaDeTexto 5">
            <a:extLst>
              <a:ext uri="{FF2B5EF4-FFF2-40B4-BE49-F238E27FC236}">
                <a16:creationId xmlns:a16="http://schemas.microsoft.com/office/drawing/2014/main" id="{E11A9001-CAFD-F6C3-FCF1-CD76432C23C2}"/>
              </a:ext>
            </a:extLst>
          </p:cNvPr>
          <p:cNvSpPr txBox="1"/>
          <p:nvPr/>
        </p:nvSpPr>
        <p:spPr>
          <a:xfrm>
            <a:off x="584200" y="3657600"/>
            <a:ext cx="15316200" cy="2708434"/>
          </a:xfrm>
          <a:prstGeom prst="rect">
            <a:avLst/>
          </a:prstGeom>
          <a:noFill/>
        </p:spPr>
        <p:txBody>
          <a:bodyPr wrap="square">
            <a:spAutoFit/>
          </a:bodyPr>
          <a:lstStyle/>
          <a:p>
            <a:r>
              <a:rPr lang="pt-BR" sz="3200" b="1" dirty="0"/>
              <a:t>Estruturas Condicionais </a:t>
            </a:r>
          </a:p>
          <a:p>
            <a:endParaRPr lang="pt-BR" dirty="0"/>
          </a:p>
          <a:p>
            <a:pPr algn="just"/>
            <a:r>
              <a:rPr lang="pt-BR" sz="2400" b="1" dirty="0"/>
              <a:t>Neste capítulo você vai aprender a usar </a:t>
            </a:r>
            <a:r>
              <a:rPr lang="pt-BR" sz="2400" b="1" dirty="0">
                <a:solidFill>
                  <a:srgbClr val="FFC000"/>
                </a:solidFill>
              </a:rPr>
              <a:t>estruturas</a:t>
            </a:r>
            <a:r>
              <a:rPr lang="pt-BR" sz="2400" b="1" dirty="0"/>
              <a:t> </a:t>
            </a:r>
            <a:r>
              <a:rPr lang="pt-BR" sz="2400" b="1" dirty="0">
                <a:solidFill>
                  <a:srgbClr val="FFC000"/>
                </a:solidFill>
              </a:rPr>
              <a:t>condicionais</a:t>
            </a:r>
            <a:r>
              <a:rPr lang="pt-BR" sz="2400" b="1" dirty="0"/>
              <a:t> para tomadas de decisão, toda tomada de decisão parte de uma condição lógica. </a:t>
            </a:r>
          </a:p>
          <a:p>
            <a:pPr algn="just"/>
            <a:endParaRPr lang="pt-BR" sz="2400" b="1" dirty="0"/>
          </a:p>
          <a:p>
            <a:pPr algn="just"/>
            <a:r>
              <a:rPr lang="pt-BR" sz="2400" b="1" dirty="0"/>
              <a:t>No Python a decisão simples que seria apenas verdadeiro ou falso usamos o comando </a:t>
            </a:r>
            <a:r>
              <a:rPr lang="pt-BR" sz="2400" b="1" dirty="0" err="1">
                <a:solidFill>
                  <a:srgbClr val="FFC000"/>
                </a:solidFill>
              </a:rPr>
              <a:t>if</a:t>
            </a:r>
            <a:r>
              <a:rPr lang="pt-BR" sz="2400" b="1" dirty="0">
                <a:solidFill>
                  <a:srgbClr val="FFC000"/>
                </a:solidFill>
              </a:rPr>
              <a:t> /</a:t>
            </a:r>
            <a:r>
              <a:rPr lang="pt-BR" sz="2400" b="1" dirty="0" err="1">
                <a:solidFill>
                  <a:srgbClr val="FFC000"/>
                </a:solidFill>
              </a:rPr>
              <a:t>else</a:t>
            </a:r>
            <a:r>
              <a:rPr lang="pt-BR" sz="2400" b="1" dirty="0">
                <a:solidFill>
                  <a:srgbClr val="FFC000"/>
                </a:solidFill>
              </a:rPr>
              <a:t> </a:t>
            </a:r>
            <a:r>
              <a:rPr lang="pt-BR" sz="2400" b="1" dirty="0"/>
              <a:t>e para quando precisamos de mais que duas opções de decisão podemos usar o </a:t>
            </a:r>
            <a:r>
              <a:rPr lang="pt-BR" sz="2400" b="1" dirty="0" err="1">
                <a:solidFill>
                  <a:srgbClr val="FFC000"/>
                </a:solidFill>
              </a:rPr>
              <a:t>if</a:t>
            </a:r>
            <a:r>
              <a:rPr lang="pt-BR" sz="2400" b="1" dirty="0">
                <a:solidFill>
                  <a:srgbClr val="FFC000"/>
                </a:solidFill>
              </a:rPr>
              <a:t> / </a:t>
            </a:r>
            <a:r>
              <a:rPr lang="pt-BR" sz="2400" b="1" dirty="0" err="1">
                <a:solidFill>
                  <a:srgbClr val="FFC000"/>
                </a:solidFill>
              </a:rPr>
              <a:t>elif</a:t>
            </a:r>
            <a:r>
              <a:rPr lang="pt-BR" sz="2400" b="1" dirty="0">
                <a:solidFill>
                  <a:srgbClr val="FFC000"/>
                </a:solidFill>
              </a:rPr>
              <a:t> / </a:t>
            </a:r>
            <a:r>
              <a:rPr lang="pt-BR" sz="2400" b="1" dirty="0" err="1">
                <a:solidFill>
                  <a:srgbClr val="FFC000"/>
                </a:solidFill>
              </a:rPr>
              <a:t>else</a:t>
            </a:r>
            <a:r>
              <a:rPr lang="pt-BR" sz="2400" b="1" dirty="0"/>
              <a:t>.</a:t>
            </a:r>
          </a:p>
        </p:txBody>
      </p:sp>
    </p:spTree>
    <p:extLst>
      <p:ext uri="{BB962C8B-B14F-4D97-AF65-F5344CB8AC3E}">
        <p14:creationId xmlns:p14="http://schemas.microsoft.com/office/powerpoint/2010/main" val="32340799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2F5F3-223D-36A3-583C-CD19EDEC68B8}"/>
            </a:ext>
          </a:extLst>
        </p:cNvPr>
        <p:cNvGrpSpPr/>
        <p:nvPr/>
      </p:nvGrpSpPr>
      <p:grpSpPr>
        <a:xfrm>
          <a:off x="0" y="0"/>
          <a:ext cx="0" cy="0"/>
          <a:chOff x="0" y="0"/>
          <a:chExt cx="0" cy="0"/>
        </a:xfrm>
      </p:grpSpPr>
      <p:pic>
        <p:nvPicPr>
          <p:cNvPr id="4" name="Imagem 3">
            <a:extLst>
              <a:ext uri="{FF2B5EF4-FFF2-40B4-BE49-F238E27FC236}">
                <a16:creationId xmlns:a16="http://schemas.microsoft.com/office/drawing/2014/main" id="{1D03ADBF-1ED5-132E-E849-738CC0E87A24}"/>
              </a:ext>
            </a:extLst>
          </p:cNvPr>
          <p:cNvPicPr>
            <a:picLocks noChangeAspect="1"/>
          </p:cNvPicPr>
          <p:nvPr/>
        </p:nvPicPr>
        <p:blipFill>
          <a:blip r:embed="rId2"/>
          <a:stretch>
            <a:fillRect/>
          </a:stretch>
        </p:blipFill>
        <p:spPr>
          <a:xfrm>
            <a:off x="584200" y="533400"/>
            <a:ext cx="7010400" cy="2151029"/>
          </a:xfrm>
          <a:prstGeom prst="rect">
            <a:avLst/>
          </a:prstGeom>
        </p:spPr>
      </p:pic>
      <p:sp>
        <p:nvSpPr>
          <p:cNvPr id="6" name="CaixaDeTexto 5">
            <a:extLst>
              <a:ext uri="{FF2B5EF4-FFF2-40B4-BE49-F238E27FC236}">
                <a16:creationId xmlns:a16="http://schemas.microsoft.com/office/drawing/2014/main" id="{4BD318BE-63A1-8A9A-7B21-A4305F2E50FF}"/>
              </a:ext>
            </a:extLst>
          </p:cNvPr>
          <p:cNvSpPr txBox="1"/>
          <p:nvPr/>
        </p:nvSpPr>
        <p:spPr>
          <a:xfrm>
            <a:off x="584200" y="3657600"/>
            <a:ext cx="15316200" cy="3970318"/>
          </a:xfrm>
          <a:prstGeom prst="rect">
            <a:avLst/>
          </a:prstGeom>
          <a:noFill/>
        </p:spPr>
        <p:txBody>
          <a:bodyPr wrap="square">
            <a:spAutoFit/>
          </a:bodyPr>
          <a:lstStyle/>
          <a:p>
            <a:r>
              <a:rPr lang="pt-BR" sz="2800" b="1" dirty="0"/>
              <a:t>Objetivos: </a:t>
            </a:r>
          </a:p>
          <a:p>
            <a:endParaRPr lang="pt-BR" sz="2800" b="1" dirty="0"/>
          </a:p>
          <a:p>
            <a:r>
              <a:rPr lang="pt-BR" sz="2800" b="1" dirty="0"/>
              <a:t> Criar estruturas condicionais de decisão simples e complexas usando </a:t>
            </a:r>
            <a:r>
              <a:rPr lang="pt-BR" sz="2800" b="1" dirty="0" err="1"/>
              <a:t>if</a:t>
            </a:r>
            <a:r>
              <a:rPr lang="pt-BR" sz="2800" b="1" dirty="0"/>
              <a:t> / </a:t>
            </a:r>
            <a:r>
              <a:rPr lang="pt-BR" sz="2800" b="1" dirty="0" err="1"/>
              <a:t>elif</a:t>
            </a:r>
            <a:r>
              <a:rPr lang="pt-BR" sz="2800" b="1" dirty="0"/>
              <a:t> / </a:t>
            </a:r>
            <a:r>
              <a:rPr lang="pt-BR" sz="2800" b="1" dirty="0" err="1"/>
              <a:t>else</a:t>
            </a:r>
            <a:r>
              <a:rPr lang="pt-BR" sz="2800" b="1" dirty="0"/>
              <a:t>.</a:t>
            </a:r>
          </a:p>
          <a:p>
            <a:r>
              <a:rPr lang="pt-BR" sz="2800" b="1" dirty="0"/>
              <a:t> </a:t>
            </a:r>
          </a:p>
          <a:p>
            <a:r>
              <a:rPr lang="pt-BR" sz="2800" b="1" dirty="0"/>
              <a:t> Conhecer os operadores básicos de comparação do teste lógico de um </a:t>
            </a:r>
            <a:r>
              <a:rPr lang="pt-BR" sz="2800" b="1" dirty="0" err="1"/>
              <a:t>if</a:t>
            </a:r>
            <a:r>
              <a:rPr lang="pt-BR" sz="2800" b="1" dirty="0"/>
              <a:t>. </a:t>
            </a:r>
          </a:p>
          <a:p>
            <a:endParaRPr lang="pt-BR" sz="2800" b="1" dirty="0"/>
          </a:p>
          <a:p>
            <a:r>
              <a:rPr lang="pt-BR" sz="2800" b="1" dirty="0"/>
              <a:t> Utilizar um </a:t>
            </a:r>
            <a:r>
              <a:rPr lang="pt-BR" sz="2800" b="1" dirty="0" err="1"/>
              <a:t>if</a:t>
            </a:r>
            <a:r>
              <a:rPr lang="pt-BR" sz="2800" b="1" dirty="0"/>
              <a:t> aninhado. </a:t>
            </a:r>
          </a:p>
          <a:p>
            <a:endParaRPr lang="pt-BR" sz="2800" b="1" dirty="0"/>
          </a:p>
          <a:p>
            <a:r>
              <a:rPr lang="pt-BR" sz="2800" b="1" dirty="0"/>
              <a:t> Saber construir um </a:t>
            </a:r>
            <a:r>
              <a:rPr lang="pt-BR" sz="2800" b="1" dirty="0" err="1"/>
              <a:t>if</a:t>
            </a:r>
            <a:r>
              <a:rPr lang="pt-BR" sz="2800" b="1" dirty="0"/>
              <a:t> ternário, </a:t>
            </a:r>
            <a:r>
              <a:rPr lang="pt-BR" sz="2800" b="1" dirty="0" err="1"/>
              <a:t>if</a:t>
            </a:r>
            <a:r>
              <a:rPr lang="pt-BR" sz="2800" b="1" dirty="0"/>
              <a:t> escrito em uma linha apenas.</a:t>
            </a:r>
            <a:endParaRPr lang="pt-BR" sz="2000" b="1" dirty="0"/>
          </a:p>
        </p:txBody>
      </p:sp>
    </p:spTree>
    <p:extLst>
      <p:ext uri="{BB962C8B-B14F-4D97-AF65-F5344CB8AC3E}">
        <p14:creationId xmlns:p14="http://schemas.microsoft.com/office/powerpoint/2010/main" val="34282807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DC92B2-02F5-3D7D-F84F-5C2F97CCF470}"/>
            </a:ext>
          </a:extLst>
        </p:cNvPr>
        <p:cNvGrpSpPr/>
        <p:nvPr/>
      </p:nvGrpSpPr>
      <p:grpSpPr>
        <a:xfrm>
          <a:off x="0" y="0"/>
          <a:ext cx="0" cy="0"/>
          <a:chOff x="0" y="0"/>
          <a:chExt cx="0" cy="0"/>
        </a:xfrm>
      </p:grpSpPr>
      <p:pic>
        <p:nvPicPr>
          <p:cNvPr id="4" name="Imagem 3">
            <a:extLst>
              <a:ext uri="{FF2B5EF4-FFF2-40B4-BE49-F238E27FC236}">
                <a16:creationId xmlns:a16="http://schemas.microsoft.com/office/drawing/2014/main" id="{B75A34E6-C06C-6F7B-E883-5085CC0FE54C}"/>
              </a:ext>
            </a:extLst>
          </p:cNvPr>
          <p:cNvPicPr>
            <a:picLocks noChangeAspect="1"/>
          </p:cNvPicPr>
          <p:nvPr/>
        </p:nvPicPr>
        <p:blipFill>
          <a:blip r:embed="rId2"/>
          <a:stretch>
            <a:fillRect/>
          </a:stretch>
        </p:blipFill>
        <p:spPr>
          <a:xfrm>
            <a:off x="584200" y="533400"/>
            <a:ext cx="7010400" cy="2151029"/>
          </a:xfrm>
          <a:prstGeom prst="rect">
            <a:avLst/>
          </a:prstGeom>
        </p:spPr>
      </p:pic>
      <p:sp>
        <p:nvSpPr>
          <p:cNvPr id="3" name="CaixaDeTexto 2">
            <a:extLst>
              <a:ext uri="{FF2B5EF4-FFF2-40B4-BE49-F238E27FC236}">
                <a16:creationId xmlns:a16="http://schemas.microsoft.com/office/drawing/2014/main" id="{47C0379A-A1CD-7DAC-0903-2CF295AAFE0B}"/>
              </a:ext>
            </a:extLst>
          </p:cNvPr>
          <p:cNvSpPr txBox="1"/>
          <p:nvPr/>
        </p:nvSpPr>
        <p:spPr>
          <a:xfrm>
            <a:off x="610616" y="2971800"/>
            <a:ext cx="10363200" cy="1754326"/>
          </a:xfrm>
          <a:prstGeom prst="rect">
            <a:avLst/>
          </a:prstGeom>
          <a:noFill/>
        </p:spPr>
        <p:txBody>
          <a:bodyPr wrap="square">
            <a:spAutoFit/>
          </a:bodyPr>
          <a:lstStyle/>
          <a:p>
            <a:r>
              <a:rPr lang="pt-BR" sz="3600" b="1" dirty="0">
                <a:solidFill>
                  <a:srgbClr val="FFC000"/>
                </a:solidFill>
              </a:rPr>
              <a:t>Vamos praticar...</a:t>
            </a:r>
          </a:p>
          <a:p>
            <a:endParaRPr lang="pt-BR" sz="3600" b="1" dirty="0">
              <a:solidFill>
                <a:srgbClr val="FFC000"/>
              </a:solidFill>
            </a:endParaRPr>
          </a:p>
          <a:p>
            <a:r>
              <a:rPr lang="pt-BR" sz="3600" b="1" dirty="0">
                <a:solidFill>
                  <a:srgbClr val="FFC000"/>
                </a:solidFill>
              </a:rPr>
              <a:t>Atividade 1 – Verificar Número Par e Ímpar</a:t>
            </a:r>
          </a:p>
        </p:txBody>
      </p:sp>
      <p:sp>
        <p:nvSpPr>
          <p:cNvPr id="5" name="CaixaDeTexto 4">
            <a:extLst>
              <a:ext uri="{FF2B5EF4-FFF2-40B4-BE49-F238E27FC236}">
                <a16:creationId xmlns:a16="http://schemas.microsoft.com/office/drawing/2014/main" id="{E0E4EC3B-36E0-ABEF-DF65-ABFEA321E0C6}"/>
              </a:ext>
            </a:extLst>
          </p:cNvPr>
          <p:cNvSpPr txBox="1"/>
          <p:nvPr/>
        </p:nvSpPr>
        <p:spPr>
          <a:xfrm>
            <a:off x="584200" y="5022641"/>
            <a:ext cx="14908784" cy="3231654"/>
          </a:xfrm>
          <a:prstGeom prst="rect">
            <a:avLst/>
          </a:prstGeom>
          <a:noFill/>
        </p:spPr>
        <p:txBody>
          <a:bodyPr wrap="square">
            <a:spAutoFit/>
          </a:bodyPr>
          <a:lstStyle/>
          <a:p>
            <a:r>
              <a:rPr lang="pt-BR" b="1" dirty="0"/>
              <a:t>Objetivo: Nesta atividade você vai usar uma estrutura de decisão (</a:t>
            </a:r>
            <a:r>
              <a:rPr lang="pt-BR" b="1" dirty="0" err="1"/>
              <a:t>if</a:t>
            </a:r>
            <a:r>
              <a:rPr lang="pt-BR" b="1" dirty="0"/>
              <a:t> / </a:t>
            </a:r>
            <a:r>
              <a:rPr lang="pt-BR" b="1" dirty="0" err="1"/>
              <a:t>else</a:t>
            </a:r>
            <a:r>
              <a:rPr lang="pt-BR" b="1" dirty="0"/>
              <a:t>) para verificar se um número é par ou ímpar. </a:t>
            </a:r>
          </a:p>
          <a:p>
            <a:endParaRPr lang="pt-BR" b="1" dirty="0"/>
          </a:p>
          <a:p>
            <a:r>
              <a:rPr lang="pt-BR" b="1" dirty="0"/>
              <a:t>Comandos utilizados: Comando </a:t>
            </a:r>
            <a:r>
              <a:rPr lang="pt-BR" b="1" dirty="0" err="1">
                <a:solidFill>
                  <a:srgbClr val="FFC000"/>
                </a:solidFill>
              </a:rPr>
              <a:t>If</a:t>
            </a:r>
            <a:r>
              <a:rPr lang="pt-BR" b="1" dirty="0"/>
              <a:t>, operador </a:t>
            </a:r>
            <a:r>
              <a:rPr lang="pt-BR" b="1" dirty="0">
                <a:solidFill>
                  <a:srgbClr val="FFC000"/>
                </a:solidFill>
              </a:rPr>
              <a:t>%</a:t>
            </a:r>
            <a:r>
              <a:rPr lang="pt-BR" b="1" dirty="0"/>
              <a:t> (retorna o resto da divisão entre operandos) </a:t>
            </a:r>
            <a:r>
              <a:rPr lang="pt-BR" b="1" dirty="0" err="1">
                <a:solidFill>
                  <a:srgbClr val="FFC000"/>
                </a:solidFill>
              </a:rPr>
              <a:t>If</a:t>
            </a:r>
            <a:r>
              <a:rPr lang="pt-BR" b="1" dirty="0">
                <a:solidFill>
                  <a:srgbClr val="FFC000"/>
                </a:solidFill>
              </a:rPr>
              <a:t> / </a:t>
            </a:r>
            <a:r>
              <a:rPr lang="pt-BR" b="1" dirty="0" err="1">
                <a:solidFill>
                  <a:srgbClr val="FFC000"/>
                </a:solidFill>
              </a:rPr>
              <a:t>else</a:t>
            </a:r>
            <a:r>
              <a:rPr lang="pt-BR" b="1" dirty="0">
                <a:solidFill>
                  <a:srgbClr val="FFC000"/>
                </a:solidFill>
              </a:rPr>
              <a:t> </a:t>
            </a:r>
          </a:p>
          <a:p>
            <a:endParaRPr lang="pt-BR" b="1" dirty="0"/>
          </a:p>
          <a:p>
            <a:r>
              <a:rPr lang="pt-BR" sz="2400" b="1" dirty="0">
                <a:solidFill>
                  <a:srgbClr val="FFC000"/>
                </a:solidFill>
              </a:rPr>
              <a:t>  </a:t>
            </a:r>
            <a:r>
              <a:rPr lang="pt-BR" sz="2400" b="1" dirty="0" err="1">
                <a:solidFill>
                  <a:srgbClr val="FFC000"/>
                </a:solidFill>
              </a:rPr>
              <a:t>If</a:t>
            </a:r>
            <a:r>
              <a:rPr lang="pt-BR" sz="2400" b="1" dirty="0">
                <a:solidFill>
                  <a:srgbClr val="FFC000"/>
                </a:solidFill>
              </a:rPr>
              <a:t> (teste lógico): </a:t>
            </a:r>
          </a:p>
          <a:p>
            <a:r>
              <a:rPr lang="pt-BR" sz="2400" b="1" dirty="0">
                <a:solidFill>
                  <a:srgbClr val="FFC000"/>
                </a:solidFill>
              </a:rPr>
              <a:t>     #código para condição verdadeira do teste, tem que ser indentado.</a:t>
            </a:r>
          </a:p>
          <a:p>
            <a:r>
              <a:rPr lang="pt-BR" sz="2400" b="1" dirty="0">
                <a:solidFill>
                  <a:srgbClr val="FFC000"/>
                </a:solidFill>
              </a:rPr>
              <a:t>  </a:t>
            </a:r>
            <a:r>
              <a:rPr lang="pt-BR" sz="2400" b="1" dirty="0" err="1">
                <a:solidFill>
                  <a:srgbClr val="FFC000"/>
                </a:solidFill>
              </a:rPr>
              <a:t>else</a:t>
            </a:r>
            <a:r>
              <a:rPr lang="pt-BR" sz="2400" b="1" dirty="0">
                <a:solidFill>
                  <a:srgbClr val="FFC000"/>
                </a:solidFill>
              </a:rPr>
              <a:t>: </a:t>
            </a:r>
          </a:p>
          <a:p>
            <a:r>
              <a:rPr lang="pt-BR" sz="2400" b="1" dirty="0">
                <a:solidFill>
                  <a:srgbClr val="FFC000"/>
                </a:solidFill>
              </a:rPr>
              <a:t>     #código para condição falsa do teste, tem que ser indentado.</a:t>
            </a:r>
          </a:p>
          <a:p>
            <a:endParaRPr lang="pt-BR" b="1" dirty="0"/>
          </a:p>
          <a:p>
            <a:r>
              <a:rPr lang="pt-BR" b="1" dirty="0"/>
              <a:t> O texto lógico normalmente é a comparação entre duas informações.</a:t>
            </a:r>
          </a:p>
        </p:txBody>
      </p:sp>
    </p:spTree>
    <p:extLst>
      <p:ext uri="{BB962C8B-B14F-4D97-AF65-F5344CB8AC3E}">
        <p14:creationId xmlns:p14="http://schemas.microsoft.com/office/powerpoint/2010/main" val="10257442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01022-AABD-9B39-1B77-29C1B264BFA7}"/>
            </a:ext>
          </a:extLst>
        </p:cNvPr>
        <p:cNvGrpSpPr/>
        <p:nvPr/>
      </p:nvGrpSpPr>
      <p:grpSpPr>
        <a:xfrm>
          <a:off x="0" y="0"/>
          <a:ext cx="0" cy="0"/>
          <a:chOff x="0" y="0"/>
          <a:chExt cx="0" cy="0"/>
        </a:xfrm>
      </p:grpSpPr>
      <p:pic>
        <p:nvPicPr>
          <p:cNvPr id="4" name="Imagem 3">
            <a:extLst>
              <a:ext uri="{FF2B5EF4-FFF2-40B4-BE49-F238E27FC236}">
                <a16:creationId xmlns:a16="http://schemas.microsoft.com/office/drawing/2014/main" id="{956EF033-7230-56C2-9538-8AE19AEDBE6E}"/>
              </a:ext>
            </a:extLst>
          </p:cNvPr>
          <p:cNvPicPr>
            <a:picLocks noChangeAspect="1"/>
          </p:cNvPicPr>
          <p:nvPr/>
        </p:nvPicPr>
        <p:blipFill>
          <a:blip r:embed="rId2"/>
          <a:stretch>
            <a:fillRect/>
          </a:stretch>
        </p:blipFill>
        <p:spPr>
          <a:xfrm>
            <a:off x="584200" y="533400"/>
            <a:ext cx="7010400" cy="2151029"/>
          </a:xfrm>
          <a:prstGeom prst="rect">
            <a:avLst/>
          </a:prstGeom>
        </p:spPr>
      </p:pic>
      <p:sp>
        <p:nvSpPr>
          <p:cNvPr id="7" name="CaixaDeTexto 6">
            <a:extLst>
              <a:ext uri="{FF2B5EF4-FFF2-40B4-BE49-F238E27FC236}">
                <a16:creationId xmlns:a16="http://schemas.microsoft.com/office/drawing/2014/main" id="{A1850489-541E-CB32-4A23-1083EB704BBE}"/>
              </a:ext>
            </a:extLst>
          </p:cNvPr>
          <p:cNvSpPr txBox="1"/>
          <p:nvPr/>
        </p:nvSpPr>
        <p:spPr>
          <a:xfrm>
            <a:off x="610616" y="3886200"/>
            <a:ext cx="12241784" cy="4031873"/>
          </a:xfrm>
          <a:prstGeom prst="rect">
            <a:avLst/>
          </a:prstGeom>
          <a:noFill/>
        </p:spPr>
        <p:txBody>
          <a:bodyPr wrap="square">
            <a:spAutoFit/>
          </a:bodyPr>
          <a:lstStyle/>
          <a:p>
            <a:r>
              <a:rPr lang="pt-BR" sz="3200" b="1" dirty="0"/>
              <a:t>Operadores de teste lógico que são:</a:t>
            </a:r>
          </a:p>
          <a:p>
            <a:endParaRPr lang="pt-BR" sz="3200" b="1" dirty="0"/>
          </a:p>
          <a:p>
            <a:r>
              <a:rPr lang="pt-BR" sz="3200" b="1" dirty="0">
                <a:solidFill>
                  <a:srgbClr val="FFC000"/>
                </a:solidFill>
              </a:rPr>
              <a:t>==</a:t>
            </a:r>
            <a:r>
              <a:rPr lang="pt-BR" sz="3200" b="1" dirty="0"/>
              <a:t>  igualdade</a:t>
            </a:r>
          </a:p>
          <a:p>
            <a:r>
              <a:rPr lang="pt-BR" sz="3200" b="1" dirty="0">
                <a:solidFill>
                  <a:srgbClr val="FFC000"/>
                </a:solidFill>
              </a:rPr>
              <a:t>!=</a:t>
            </a:r>
            <a:r>
              <a:rPr lang="pt-BR" sz="3200" b="1" dirty="0"/>
              <a:t>   diferente </a:t>
            </a:r>
          </a:p>
          <a:p>
            <a:r>
              <a:rPr lang="pt-BR" sz="3200" b="1" dirty="0">
                <a:solidFill>
                  <a:srgbClr val="FFC000"/>
                </a:solidFill>
              </a:rPr>
              <a:t>&gt;=</a:t>
            </a:r>
            <a:r>
              <a:rPr lang="pt-BR" sz="3200" b="1" dirty="0"/>
              <a:t>  maior igual </a:t>
            </a:r>
          </a:p>
          <a:p>
            <a:r>
              <a:rPr lang="pt-BR" sz="3200" b="1" dirty="0">
                <a:solidFill>
                  <a:srgbClr val="FFC000"/>
                </a:solidFill>
              </a:rPr>
              <a:t>&gt;</a:t>
            </a:r>
            <a:r>
              <a:rPr lang="pt-BR" sz="3200" b="1" dirty="0"/>
              <a:t>    maior </a:t>
            </a:r>
          </a:p>
          <a:p>
            <a:r>
              <a:rPr lang="pt-BR" sz="3200" b="1" dirty="0">
                <a:solidFill>
                  <a:srgbClr val="FFC000"/>
                </a:solidFill>
              </a:rPr>
              <a:t>&lt;=</a:t>
            </a:r>
            <a:r>
              <a:rPr lang="pt-BR" sz="3200" b="1" dirty="0"/>
              <a:t>  menor igual </a:t>
            </a:r>
          </a:p>
          <a:p>
            <a:r>
              <a:rPr lang="pt-BR" sz="3200" b="1" dirty="0">
                <a:solidFill>
                  <a:srgbClr val="FFC000"/>
                </a:solidFill>
              </a:rPr>
              <a:t>&lt;</a:t>
            </a:r>
            <a:r>
              <a:rPr lang="pt-BR" sz="3200" b="1" dirty="0"/>
              <a:t>    menor</a:t>
            </a:r>
          </a:p>
        </p:txBody>
      </p:sp>
    </p:spTree>
    <p:extLst>
      <p:ext uri="{BB962C8B-B14F-4D97-AF65-F5344CB8AC3E}">
        <p14:creationId xmlns:p14="http://schemas.microsoft.com/office/powerpoint/2010/main" val="4310855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48894-3263-369D-BCA5-ACFD9D79AAD6}"/>
            </a:ext>
          </a:extLst>
        </p:cNvPr>
        <p:cNvGrpSpPr/>
        <p:nvPr/>
      </p:nvGrpSpPr>
      <p:grpSpPr>
        <a:xfrm>
          <a:off x="0" y="0"/>
          <a:ext cx="0" cy="0"/>
          <a:chOff x="0" y="0"/>
          <a:chExt cx="0" cy="0"/>
        </a:xfrm>
      </p:grpSpPr>
      <p:pic>
        <p:nvPicPr>
          <p:cNvPr id="4" name="Imagem 3">
            <a:extLst>
              <a:ext uri="{FF2B5EF4-FFF2-40B4-BE49-F238E27FC236}">
                <a16:creationId xmlns:a16="http://schemas.microsoft.com/office/drawing/2014/main" id="{2B4F7BEB-2651-3A1B-E24A-325A1AA96A28}"/>
              </a:ext>
            </a:extLst>
          </p:cNvPr>
          <p:cNvPicPr>
            <a:picLocks noChangeAspect="1"/>
          </p:cNvPicPr>
          <p:nvPr/>
        </p:nvPicPr>
        <p:blipFill>
          <a:blip r:embed="rId2"/>
          <a:stretch>
            <a:fillRect/>
          </a:stretch>
        </p:blipFill>
        <p:spPr>
          <a:xfrm>
            <a:off x="584200" y="533400"/>
            <a:ext cx="7010400" cy="2151029"/>
          </a:xfrm>
          <a:prstGeom prst="rect">
            <a:avLst/>
          </a:prstGeom>
        </p:spPr>
      </p:pic>
      <p:sp>
        <p:nvSpPr>
          <p:cNvPr id="3" name="CaixaDeTexto 2">
            <a:extLst>
              <a:ext uri="{FF2B5EF4-FFF2-40B4-BE49-F238E27FC236}">
                <a16:creationId xmlns:a16="http://schemas.microsoft.com/office/drawing/2014/main" id="{A5D8E233-5249-B8A3-04E3-23F6CD65EABA}"/>
              </a:ext>
            </a:extLst>
          </p:cNvPr>
          <p:cNvSpPr txBox="1"/>
          <p:nvPr/>
        </p:nvSpPr>
        <p:spPr>
          <a:xfrm>
            <a:off x="610616" y="2971800"/>
            <a:ext cx="10363200" cy="1754326"/>
          </a:xfrm>
          <a:prstGeom prst="rect">
            <a:avLst/>
          </a:prstGeom>
          <a:noFill/>
        </p:spPr>
        <p:txBody>
          <a:bodyPr wrap="square">
            <a:spAutoFit/>
          </a:bodyPr>
          <a:lstStyle/>
          <a:p>
            <a:r>
              <a:rPr lang="pt-BR" sz="3600" b="1" dirty="0">
                <a:solidFill>
                  <a:srgbClr val="FFC000"/>
                </a:solidFill>
              </a:rPr>
              <a:t>Vamos praticar...</a:t>
            </a:r>
          </a:p>
          <a:p>
            <a:endParaRPr lang="pt-BR" sz="3600" b="1" dirty="0">
              <a:solidFill>
                <a:srgbClr val="FFC000"/>
              </a:solidFill>
            </a:endParaRPr>
          </a:p>
          <a:p>
            <a:r>
              <a:rPr lang="pt-BR" sz="3600" b="1" dirty="0">
                <a:solidFill>
                  <a:srgbClr val="FFC000"/>
                </a:solidFill>
              </a:rPr>
              <a:t>Atividade 2 – Conversor de Medidas</a:t>
            </a:r>
          </a:p>
        </p:txBody>
      </p:sp>
      <p:sp>
        <p:nvSpPr>
          <p:cNvPr id="5" name="CaixaDeTexto 4">
            <a:extLst>
              <a:ext uri="{FF2B5EF4-FFF2-40B4-BE49-F238E27FC236}">
                <a16:creationId xmlns:a16="http://schemas.microsoft.com/office/drawing/2014/main" id="{D4456030-C70F-32F9-92B5-E74787ADF370}"/>
              </a:ext>
            </a:extLst>
          </p:cNvPr>
          <p:cNvSpPr txBox="1"/>
          <p:nvPr/>
        </p:nvSpPr>
        <p:spPr>
          <a:xfrm>
            <a:off x="610616" y="4800600"/>
            <a:ext cx="14908784" cy="3908762"/>
          </a:xfrm>
          <a:prstGeom prst="rect">
            <a:avLst/>
          </a:prstGeom>
          <a:noFill/>
        </p:spPr>
        <p:txBody>
          <a:bodyPr wrap="square">
            <a:spAutoFit/>
          </a:bodyPr>
          <a:lstStyle/>
          <a:p>
            <a:r>
              <a:rPr lang="pt-BR" b="1" dirty="0"/>
              <a:t>Objetivo: Nesta atividade você vai converter um número em centímetros para Polegada, Pé ou Jarda. Será necessário usar o comando </a:t>
            </a:r>
            <a:r>
              <a:rPr lang="pt-BR" b="1" dirty="0" err="1"/>
              <a:t>if</a:t>
            </a:r>
            <a:r>
              <a:rPr lang="pt-BR" b="1" dirty="0"/>
              <a:t> / </a:t>
            </a:r>
            <a:r>
              <a:rPr lang="pt-BR" b="1" dirty="0" err="1"/>
              <a:t>elif</a:t>
            </a:r>
            <a:r>
              <a:rPr lang="pt-BR" b="1" dirty="0"/>
              <a:t> / </a:t>
            </a:r>
            <a:r>
              <a:rPr lang="pt-BR" b="1" dirty="0" err="1"/>
              <a:t>else</a:t>
            </a:r>
            <a:r>
              <a:rPr lang="pt-BR" b="1" dirty="0"/>
              <a:t>. </a:t>
            </a:r>
          </a:p>
          <a:p>
            <a:endParaRPr lang="pt-BR" b="1" dirty="0"/>
          </a:p>
          <a:p>
            <a:r>
              <a:rPr lang="pt-BR" b="1" dirty="0"/>
              <a:t>Comandos utilizados: </a:t>
            </a:r>
            <a:r>
              <a:rPr lang="pt-BR" b="1" dirty="0" err="1"/>
              <a:t>If</a:t>
            </a:r>
            <a:r>
              <a:rPr lang="pt-BR" b="1" dirty="0"/>
              <a:t> / </a:t>
            </a:r>
            <a:r>
              <a:rPr lang="pt-BR" b="1" dirty="0" err="1"/>
              <a:t>elif</a:t>
            </a:r>
            <a:r>
              <a:rPr lang="pt-BR" b="1" dirty="0"/>
              <a:t> / </a:t>
            </a:r>
            <a:r>
              <a:rPr lang="pt-BR" b="1" dirty="0" err="1"/>
              <a:t>else</a:t>
            </a:r>
            <a:endParaRPr lang="pt-BR" b="1" dirty="0"/>
          </a:p>
          <a:p>
            <a:endParaRPr lang="pt-BR" sz="2000" dirty="0">
              <a:solidFill>
                <a:srgbClr val="FFC000"/>
              </a:solidFill>
            </a:endParaRPr>
          </a:p>
          <a:p>
            <a:r>
              <a:rPr lang="pt-BR" sz="2000" b="1" dirty="0" err="1">
                <a:solidFill>
                  <a:srgbClr val="FFC000"/>
                </a:solidFill>
              </a:rPr>
              <a:t>If</a:t>
            </a:r>
            <a:r>
              <a:rPr lang="pt-BR" sz="2000" b="1" dirty="0">
                <a:solidFill>
                  <a:srgbClr val="FFC000"/>
                </a:solidFill>
              </a:rPr>
              <a:t> (teste lógico): </a:t>
            </a:r>
          </a:p>
          <a:p>
            <a:r>
              <a:rPr lang="pt-BR" sz="2000" b="1" dirty="0">
                <a:solidFill>
                  <a:srgbClr val="FFC000"/>
                </a:solidFill>
              </a:rPr>
              <a:t>	</a:t>
            </a:r>
            <a:r>
              <a:rPr lang="pt-BR" sz="2000" b="1" dirty="0"/>
              <a:t>#código para condição verdadeira do teste, tem que ser indentado. </a:t>
            </a:r>
            <a:r>
              <a:rPr lang="pt-BR" sz="2000" dirty="0"/>
              <a:t>polegadas = medida / 2.54 </a:t>
            </a:r>
            <a:endParaRPr lang="pt-BR" sz="2000" b="1" dirty="0"/>
          </a:p>
          <a:p>
            <a:r>
              <a:rPr lang="pt-BR" sz="2000" b="1" dirty="0" err="1">
                <a:solidFill>
                  <a:srgbClr val="FFC000"/>
                </a:solidFill>
              </a:rPr>
              <a:t>elif</a:t>
            </a:r>
            <a:r>
              <a:rPr lang="pt-BR" sz="2000" b="1" dirty="0">
                <a:solidFill>
                  <a:srgbClr val="FFC000"/>
                </a:solidFill>
              </a:rPr>
              <a:t> (novo teste lógico): </a:t>
            </a:r>
          </a:p>
          <a:p>
            <a:r>
              <a:rPr lang="pt-BR" sz="2000" b="1" dirty="0">
                <a:solidFill>
                  <a:srgbClr val="FFC000"/>
                </a:solidFill>
              </a:rPr>
              <a:t>	</a:t>
            </a:r>
            <a:r>
              <a:rPr lang="pt-BR" sz="2000" b="1" dirty="0"/>
              <a:t>#código para condição verdadeira do teste, tem que ser indentado </a:t>
            </a:r>
            <a:r>
              <a:rPr lang="pt-BR" sz="2000" dirty="0" err="1"/>
              <a:t>pes</a:t>
            </a:r>
            <a:r>
              <a:rPr lang="pt-BR" sz="2000" dirty="0"/>
              <a:t> = medida / 30.48 </a:t>
            </a:r>
            <a:endParaRPr lang="pt-BR" sz="2000" b="1" dirty="0"/>
          </a:p>
          <a:p>
            <a:r>
              <a:rPr lang="pt-BR" sz="2000" b="1" dirty="0" err="1">
                <a:solidFill>
                  <a:srgbClr val="FFC000"/>
                </a:solidFill>
              </a:rPr>
              <a:t>else</a:t>
            </a:r>
            <a:r>
              <a:rPr lang="pt-BR" sz="2000" b="1" dirty="0">
                <a:solidFill>
                  <a:srgbClr val="FFC000"/>
                </a:solidFill>
              </a:rPr>
              <a:t>: </a:t>
            </a:r>
          </a:p>
          <a:p>
            <a:r>
              <a:rPr lang="pt-BR" sz="2000" b="1" dirty="0">
                <a:solidFill>
                  <a:srgbClr val="FFC000"/>
                </a:solidFill>
              </a:rPr>
              <a:t>	</a:t>
            </a:r>
            <a:r>
              <a:rPr lang="pt-BR" sz="2000" b="1" dirty="0"/>
              <a:t>#código para condição falsa dos testes, tem que ser indentado. </a:t>
            </a:r>
            <a:r>
              <a:rPr lang="pt-BR" sz="2000" dirty="0"/>
              <a:t>jardas = medida / 91.44 </a:t>
            </a:r>
            <a:endParaRPr lang="pt-BR" sz="2000" b="1" dirty="0"/>
          </a:p>
          <a:p>
            <a:endParaRPr lang="pt-BR" b="1" dirty="0"/>
          </a:p>
          <a:p>
            <a:r>
              <a:rPr lang="pt-BR" b="1" dirty="0"/>
              <a:t> </a:t>
            </a:r>
          </a:p>
        </p:txBody>
      </p:sp>
    </p:spTree>
    <p:extLst>
      <p:ext uri="{BB962C8B-B14F-4D97-AF65-F5344CB8AC3E}">
        <p14:creationId xmlns:p14="http://schemas.microsoft.com/office/powerpoint/2010/main" val="30697810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03BCF-8803-76CB-B7F7-6F422A50BB6F}"/>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D662D4A6-43EF-04E3-0EDF-F777C2A871CF}"/>
              </a:ext>
            </a:extLst>
          </p:cNvPr>
          <p:cNvSpPr txBox="1"/>
          <p:nvPr/>
        </p:nvSpPr>
        <p:spPr>
          <a:xfrm>
            <a:off x="4165600" y="3602504"/>
            <a:ext cx="8125968" cy="1938992"/>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tabLst/>
            </a:pPr>
            <a:r>
              <a:rPr kumimoji="0" lang="pt-BR" altLang="pt-BR" sz="6000" b="0" i="0" u="none" strike="noStrike" cap="none" normalizeH="0" baseline="0" dirty="0">
                <a:ln>
                  <a:noFill/>
                </a:ln>
                <a:solidFill>
                  <a:srgbClr val="FFC000"/>
                </a:solidFill>
                <a:effectLst/>
                <a:latin typeface="Arial" panose="020B0604020202020204" pitchFamily="34" charset="0"/>
              </a:rPr>
              <a:t>Lista de exercícios   PYTHON</a:t>
            </a:r>
          </a:p>
        </p:txBody>
      </p:sp>
    </p:spTree>
    <p:extLst>
      <p:ext uri="{BB962C8B-B14F-4D97-AF65-F5344CB8AC3E}">
        <p14:creationId xmlns:p14="http://schemas.microsoft.com/office/powerpoint/2010/main" val="38174822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C0526F47-4E05-7884-AE73-F8B2EAC14DEC}"/>
            </a:ext>
          </a:extLst>
        </p:cNvPr>
        <p:cNvGrpSpPr/>
        <p:nvPr/>
      </p:nvGrpSpPr>
      <p:grpSpPr>
        <a:xfrm>
          <a:off x="0" y="0"/>
          <a:ext cx="0" cy="0"/>
          <a:chOff x="0" y="0"/>
          <a:chExt cx="0" cy="0"/>
        </a:xfrm>
      </p:grpSpPr>
      <p:pic>
        <p:nvPicPr>
          <p:cNvPr id="32" name="Picture 31">
            <a:extLst>
              <a:ext uri="{FF2B5EF4-FFF2-40B4-BE49-F238E27FC236}">
                <a16:creationId xmlns:a16="http://schemas.microsoft.com/office/drawing/2014/main" id="{0F7302AF-86B9-441B-8D24-AC382E2A43A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34" name="Picture 33">
            <a:extLst>
              <a:ext uri="{FF2B5EF4-FFF2-40B4-BE49-F238E27FC236}">
                <a16:creationId xmlns:a16="http://schemas.microsoft.com/office/drawing/2014/main" id="{99A2A6C2-D371-4C6B-B50F-CC71C6D0103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36" name="Oval 35">
            <a:extLst>
              <a:ext uri="{FF2B5EF4-FFF2-40B4-BE49-F238E27FC236}">
                <a16:creationId xmlns:a16="http://schemas.microsoft.com/office/drawing/2014/main" id="{5F07A6A6-E44B-411E-AA18-65E4811366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38" name="Picture 37">
            <a:extLst>
              <a:ext uri="{FF2B5EF4-FFF2-40B4-BE49-F238E27FC236}">
                <a16:creationId xmlns:a16="http://schemas.microsoft.com/office/drawing/2014/main" id="{8CC3468F-5EED-42B0-8507-F30360E1D51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40" name="Picture 39">
            <a:extLst>
              <a:ext uri="{FF2B5EF4-FFF2-40B4-BE49-F238E27FC236}">
                <a16:creationId xmlns:a16="http://schemas.microsoft.com/office/drawing/2014/main" id="{591711EE-029D-453C-9AE9-E87829F1D3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42" name="Rectangle 41">
            <a:extLst>
              <a:ext uri="{FF2B5EF4-FFF2-40B4-BE49-F238E27FC236}">
                <a16:creationId xmlns:a16="http://schemas.microsoft.com/office/drawing/2014/main" id="{5D5A8E14-301B-40C0-A174-D2232EF95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 name="CaixaDeTexto 2">
            <a:extLst>
              <a:ext uri="{FF2B5EF4-FFF2-40B4-BE49-F238E27FC236}">
                <a16:creationId xmlns:a16="http://schemas.microsoft.com/office/drawing/2014/main" id="{88E8A59B-12CB-D481-498A-F9755F041F2C}"/>
              </a:ext>
            </a:extLst>
          </p:cNvPr>
          <p:cNvSpPr txBox="1"/>
          <p:nvPr/>
        </p:nvSpPr>
        <p:spPr>
          <a:xfrm>
            <a:off x="861482" y="603624"/>
            <a:ext cx="5791589" cy="1867373"/>
          </a:xfrm>
          <a:prstGeom prst="rect">
            <a:avLst/>
          </a:prstGeom>
        </p:spPr>
        <p:txBody>
          <a:bodyPr vert="horz" lIns="91440" tIns="45720" rIns="91440" bIns="45720" rtlCol="0" anchor="t">
            <a:normAutofit/>
          </a:bodyPr>
          <a:lstStyle/>
          <a:p>
            <a:pPr>
              <a:spcBef>
                <a:spcPct val="0"/>
              </a:spcBef>
              <a:spcAft>
                <a:spcPts val="600"/>
              </a:spcAft>
            </a:pPr>
            <a:r>
              <a:rPr lang="en-US" sz="4200" dirty="0" err="1">
                <a:solidFill>
                  <a:schemeClr val="tx2"/>
                </a:solidFill>
                <a:latin typeface="+mj-lt"/>
                <a:ea typeface="+mj-ea"/>
                <a:cs typeface="+mj-cs"/>
              </a:rPr>
              <a:t>Atividade</a:t>
            </a:r>
            <a:r>
              <a:rPr lang="en-US" sz="4200" dirty="0">
                <a:solidFill>
                  <a:schemeClr val="tx2"/>
                </a:solidFill>
                <a:latin typeface="+mj-lt"/>
                <a:ea typeface="+mj-ea"/>
                <a:cs typeface="+mj-cs"/>
              </a:rPr>
              <a:t>   </a:t>
            </a:r>
          </a:p>
          <a:p>
            <a:pPr>
              <a:spcBef>
                <a:spcPct val="0"/>
              </a:spcBef>
              <a:spcAft>
                <a:spcPts val="600"/>
              </a:spcAft>
            </a:pPr>
            <a:r>
              <a:rPr lang="en-US" sz="4200" dirty="0">
                <a:solidFill>
                  <a:schemeClr val="tx2"/>
                </a:solidFill>
                <a:latin typeface="+mj-lt"/>
                <a:ea typeface="+mj-ea"/>
                <a:cs typeface="+mj-cs"/>
              </a:rPr>
              <a:t>Folha de </a:t>
            </a:r>
            <a:r>
              <a:rPr lang="en-US" sz="4200" dirty="0" err="1">
                <a:solidFill>
                  <a:schemeClr val="tx2"/>
                </a:solidFill>
                <a:latin typeface="+mj-lt"/>
                <a:ea typeface="+mj-ea"/>
                <a:cs typeface="+mj-cs"/>
              </a:rPr>
              <a:t>Pagamento</a:t>
            </a:r>
            <a:r>
              <a:rPr lang="en-US" sz="4200" dirty="0">
                <a:solidFill>
                  <a:schemeClr val="tx2"/>
                </a:solidFill>
                <a:latin typeface="+mj-lt"/>
                <a:ea typeface="+mj-ea"/>
                <a:cs typeface="+mj-cs"/>
              </a:rPr>
              <a:t> </a:t>
            </a:r>
          </a:p>
        </p:txBody>
      </p:sp>
      <p:sp>
        <p:nvSpPr>
          <p:cNvPr id="44" name="Freeform: Shape 43">
            <a:extLst>
              <a:ext uri="{FF2B5EF4-FFF2-40B4-BE49-F238E27FC236}">
                <a16:creationId xmlns:a16="http://schemas.microsoft.com/office/drawing/2014/main" id="{475CE30D-8C95-4716-A3AB-29EC9A5F19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7027199" y="-84800"/>
            <a:ext cx="9144001" cy="93136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7191 h 6985200"/>
              <a:gd name="connsiteX6" fmla="*/ 1 w 6858001"/>
              <a:gd name="connsiteY6" fmla="*/ 887191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7191"/>
                </a:lnTo>
                <a:lnTo>
                  <a:pt x="1" y="887191"/>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solidFill>
            <a:srgbClr val="FFFFFF"/>
          </a:solidFill>
          <a:ln>
            <a:noFill/>
          </a:ln>
        </p:spPr>
        <p:txBody>
          <a:bodyPr/>
          <a:lstStyle/>
          <a:p>
            <a:endParaRPr lang="pt-BR"/>
          </a:p>
        </p:txBody>
      </p:sp>
      <p:sp>
        <p:nvSpPr>
          <p:cNvPr id="46" name="Freeform 23">
            <a:extLst>
              <a:ext uri="{FF2B5EF4-FFF2-40B4-BE49-F238E27FC236}">
                <a16:creationId xmlns:a16="http://schemas.microsoft.com/office/drawing/2014/main" id="{5262E9D7-B5C1-4E6C-B3EF-2F48077054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58693" y="-1"/>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8" name="Imagem 7">
            <a:extLst>
              <a:ext uri="{FF2B5EF4-FFF2-40B4-BE49-F238E27FC236}">
                <a16:creationId xmlns:a16="http://schemas.microsoft.com/office/drawing/2014/main" id="{F31AC620-0FBB-540B-71EC-3F01940C2E50}"/>
              </a:ext>
            </a:extLst>
          </p:cNvPr>
          <p:cNvPicPr>
            <a:picLocks noChangeAspect="1"/>
          </p:cNvPicPr>
          <p:nvPr/>
        </p:nvPicPr>
        <p:blipFill>
          <a:blip r:embed="rId7"/>
          <a:stretch>
            <a:fillRect/>
          </a:stretch>
        </p:blipFill>
        <p:spPr>
          <a:xfrm>
            <a:off x="7379235" y="441954"/>
            <a:ext cx="6046183" cy="2631569"/>
          </a:xfrm>
          <a:prstGeom prst="rect">
            <a:avLst/>
          </a:prstGeom>
          <a:effectLst/>
        </p:spPr>
      </p:pic>
      <p:sp>
        <p:nvSpPr>
          <p:cNvPr id="48" name="Rectangle 47">
            <a:extLst>
              <a:ext uri="{FF2B5EF4-FFF2-40B4-BE49-F238E27FC236}">
                <a16:creationId xmlns:a16="http://schemas.microsoft.com/office/drawing/2014/main" id="{C8C7DA03-3808-49BC-946F-ECACEAE88D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22704"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5" name="CaixaDeTexto 4">
            <a:extLst>
              <a:ext uri="{FF2B5EF4-FFF2-40B4-BE49-F238E27FC236}">
                <a16:creationId xmlns:a16="http://schemas.microsoft.com/office/drawing/2014/main" id="{F3ED9D51-CDD2-87AF-3D8E-39E8380FFFFF}"/>
              </a:ext>
            </a:extLst>
          </p:cNvPr>
          <p:cNvSpPr txBox="1"/>
          <p:nvPr/>
        </p:nvSpPr>
        <p:spPr>
          <a:xfrm>
            <a:off x="861484" y="2737224"/>
            <a:ext cx="5553528" cy="5593974"/>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buFont typeface="Wingdings 3" charset="2"/>
              <a:buChar char=""/>
            </a:pPr>
            <a:r>
              <a:rPr lang="en-US" b="1" dirty="0" err="1">
                <a:latin typeface="+mj-lt"/>
                <a:ea typeface="+mj-ea"/>
                <a:cs typeface="+mj-cs"/>
              </a:rPr>
              <a:t>Objetivo</a:t>
            </a:r>
            <a:r>
              <a:rPr lang="en-US" b="1" dirty="0">
                <a:latin typeface="+mj-lt"/>
                <a:ea typeface="+mj-ea"/>
                <a:cs typeface="+mj-cs"/>
              </a:rPr>
              <a:t>: Nesta </a:t>
            </a:r>
            <a:r>
              <a:rPr lang="en-US" b="1" dirty="0" err="1">
                <a:latin typeface="+mj-lt"/>
                <a:ea typeface="+mj-ea"/>
                <a:cs typeface="+mj-cs"/>
              </a:rPr>
              <a:t>atividade</a:t>
            </a:r>
            <a:r>
              <a:rPr lang="en-US" b="1" dirty="0">
                <a:latin typeface="+mj-lt"/>
                <a:ea typeface="+mj-ea"/>
                <a:cs typeface="+mj-cs"/>
              </a:rPr>
              <a:t> </a:t>
            </a:r>
            <a:r>
              <a:rPr lang="en-US" b="1" dirty="0" err="1">
                <a:latin typeface="+mj-lt"/>
                <a:ea typeface="+mj-ea"/>
                <a:cs typeface="+mj-cs"/>
              </a:rPr>
              <a:t>você</a:t>
            </a:r>
            <a:r>
              <a:rPr lang="en-US" b="1" dirty="0">
                <a:latin typeface="+mj-lt"/>
                <a:ea typeface="+mj-ea"/>
                <a:cs typeface="+mj-cs"/>
              </a:rPr>
              <a:t> </a:t>
            </a:r>
            <a:r>
              <a:rPr lang="en-US" b="1" dirty="0" err="1">
                <a:latin typeface="+mj-lt"/>
                <a:ea typeface="+mj-ea"/>
                <a:cs typeface="+mj-cs"/>
              </a:rPr>
              <a:t>vai</a:t>
            </a:r>
            <a:r>
              <a:rPr lang="en-US" b="1" dirty="0">
                <a:latin typeface="+mj-lt"/>
                <a:ea typeface="+mj-ea"/>
                <a:cs typeface="+mj-cs"/>
              </a:rPr>
              <a:t> </a:t>
            </a:r>
            <a:r>
              <a:rPr lang="en-US" b="1" dirty="0" err="1">
                <a:latin typeface="+mj-lt"/>
                <a:ea typeface="+mj-ea"/>
                <a:cs typeface="+mj-cs"/>
              </a:rPr>
              <a:t>calcular</a:t>
            </a:r>
            <a:r>
              <a:rPr lang="en-US" b="1" dirty="0">
                <a:latin typeface="+mj-lt"/>
                <a:ea typeface="+mj-ea"/>
                <a:cs typeface="+mj-cs"/>
              </a:rPr>
              <a:t> </a:t>
            </a:r>
            <a:r>
              <a:rPr lang="en-US" b="1" dirty="0" err="1">
                <a:latin typeface="+mj-lt"/>
                <a:ea typeface="+mj-ea"/>
                <a:cs typeface="+mj-cs"/>
              </a:rPr>
              <a:t>uma</a:t>
            </a:r>
            <a:r>
              <a:rPr lang="en-US" b="1" dirty="0">
                <a:latin typeface="+mj-lt"/>
                <a:ea typeface="+mj-ea"/>
                <a:cs typeface="+mj-cs"/>
              </a:rPr>
              <a:t> </a:t>
            </a:r>
            <a:r>
              <a:rPr lang="en-US" b="1" dirty="0" err="1">
                <a:latin typeface="+mj-lt"/>
                <a:ea typeface="+mj-ea"/>
                <a:cs typeface="+mj-cs"/>
              </a:rPr>
              <a:t>folha</a:t>
            </a:r>
            <a:r>
              <a:rPr lang="en-US" b="1" dirty="0">
                <a:latin typeface="+mj-lt"/>
                <a:ea typeface="+mj-ea"/>
                <a:cs typeface="+mj-cs"/>
              </a:rPr>
              <a:t> de </a:t>
            </a:r>
            <a:r>
              <a:rPr lang="en-US" b="1" dirty="0" err="1">
                <a:latin typeface="+mj-lt"/>
                <a:ea typeface="+mj-ea"/>
                <a:cs typeface="+mj-cs"/>
              </a:rPr>
              <a:t>pagamento</a:t>
            </a:r>
            <a:r>
              <a:rPr lang="en-US" b="1" dirty="0">
                <a:latin typeface="+mj-lt"/>
                <a:ea typeface="+mj-ea"/>
                <a:cs typeface="+mj-cs"/>
              </a:rPr>
              <a:t> </a:t>
            </a:r>
            <a:r>
              <a:rPr lang="en-US" b="1" dirty="0" err="1">
                <a:latin typeface="+mj-lt"/>
                <a:ea typeface="+mj-ea"/>
                <a:cs typeface="+mj-cs"/>
              </a:rPr>
              <a:t>usando</a:t>
            </a:r>
            <a:r>
              <a:rPr lang="en-US" b="1" dirty="0">
                <a:latin typeface="+mj-lt"/>
                <a:ea typeface="+mj-ea"/>
                <a:cs typeface="+mj-cs"/>
              </a:rPr>
              <a:t> o </a:t>
            </a:r>
            <a:r>
              <a:rPr lang="en-US" b="1" dirty="0" err="1">
                <a:latin typeface="+mj-lt"/>
                <a:ea typeface="+mj-ea"/>
                <a:cs typeface="+mj-cs"/>
              </a:rPr>
              <a:t>comando</a:t>
            </a:r>
            <a:r>
              <a:rPr lang="en-US" b="1" dirty="0">
                <a:latin typeface="+mj-lt"/>
                <a:ea typeface="+mj-ea"/>
                <a:cs typeface="+mj-cs"/>
              </a:rPr>
              <a:t> if e </a:t>
            </a:r>
            <a:r>
              <a:rPr lang="en-US" b="1" dirty="0" err="1">
                <a:latin typeface="+mj-lt"/>
                <a:ea typeface="+mj-ea"/>
                <a:cs typeface="+mj-cs"/>
              </a:rPr>
              <a:t>mostrando</a:t>
            </a:r>
            <a:r>
              <a:rPr lang="en-US" b="1" dirty="0">
                <a:latin typeface="+mj-lt"/>
                <a:ea typeface="+mj-ea"/>
                <a:cs typeface="+mj-cs"/>
              </a:rPr>
              <a:t> o </a:t>
            </a:r>
            <a:r>
              <a:rPr lang="en-US" b="1" dirty="0" err="1">
                <a:latin typeface="+mj-lt"/>
                <a:ea typeface="+mj-ea"/>
                <a:cs typeface="+mj-cs"/>
              </a:rPr>
              <a:t>resultado</a:t>
            </a:r>
            <a:r>
              <a:rPr lang="en-US" b="1" dirty="0">
                <a:latin typeface="+mj-lt"/>
                <a:ea typeface="+mj-ea"/>
                <a:cs typeface="+mj-cs"/>
              </a:rPr>
              <a:t> dos </a:t>
            </a:r>
            <a:r>
              <a:rPr lang="en-US" b="1" dirty="0" err="1">
                <a:latin typeface="+mj-lt"/>
                <a:ea typeface="+mj-ea"/>
                <a:cs typeface="+mj-cs"/>
              </a:rPr>
              <a:t>valores</a:t>
            </a:r>
            <a:r>
              <a:rPr lang="en-US" b="1" dirty="0">
                <a:latin typeface="+mj-lt"/>
                <a:ea typeface="+mj-ea"/>
                <a:cs typeface="+mj-cs"/>
              </a:rPr>
              <a:t> de </a:t>
            </a:r>
            <a:r>
              <a:rPr lang="en-US" b="1" dirty="0" err="1">
                <a:latin typeface="+mj-lt"/>
                <a:ea typeface="+mj-ea"/>
                <a:cs typeface="+mj-cs"/>
              </a:rPr>
              <a:t>Imposto</a:t>
            </a:r>
            <a:r>
              <a:rPr lang="en-US" b="1" dirty="0">
                <a:latin typeface="+mj-lt"/>
                <a:ea typeface="+mj-ea"/>
                <a:cs typeface="+mj-cs"/>
              </a:rPr>
              <a:t> de Renda e INSS a </a:t>
            </a:r>
            <a:r>
              <a:rPr lang="en-US" b="1" dirty="0" err="1">
                <a:latin typeface="+mj-lt"/>
                <a:ea typeface="+mj-ea"/>
                <a:cs typeface="+mj-cs"/>
              </a:rPr>
              <a:t>serem</a:t>
            </a:r>
            <a:r>
              <a:rPr lang="en-US" b="1" dirty="0">
                <a:latin typeface="+mj-lt"/>
                <a:ea typeface="+mj-ea"/>
                <a:cs typeface="+mj-cs"/>
              </a:rPr>
              <a:t> </a:t>
            </a:r>
            <a:r>
              <a:rPr lang="en-US" b="1" dirty="0" err="1">
                <a:latin typeface="+mj-lt"/>
                <a:ea typeface="+mj-ea"/>
                <a:cs typeface="+mj-cs"/>
              </a:rPr>
              <a:t>pagos</a:t>
            </a:r>
            <a:r>
              <a:rPr lang="en-US" b="1" dirty="0">
                <a:latin typeface="+mj-lt"/>
                <a:ea typeface="+mj-ea"/>
                <a:cs typeface="+mj-cs"/>
              </a:rPr>
              <a:t>. </a:t>
            </a:r>
          </a:p>
          <a:p>
            <a:pPr>
              <a:spcBef>
                <a:spcPts val="1000"/>
              </a:spcBef>
              <a:buClr>
                <a:schemeClr val="bg2">
                  <a:lumMod val="40000"/>
                  <a:lumOff val="60000"/>
                </a:schemeClr>
              </a:buClr>
              <a:buSzPct val="80000"/>
              <a:buFont typeface="Wingdings 3" charset="2"/>
              <a:buChar char=""/>
            </a:pPr>
            <a:endParaRPr lang="en-US" b="1" dirty="0">
              <a:latin typeface="+mj-lt"/>
              <a:ea typeface="+mj-ea"/>
              <a:cs typeface="+mj-cs"/>
            </a:endParaRPr>
          </a:p>
          <a:p>
            <a:pPr>
              <a:spcBef>
                <a:spcPts val="1000"/>
              </a:spcBef>
              <a:buClr>
                <a:schemeClr val="bg2">
                  <a:lumMod val="40000"/>
                  <a:lumOff val="60000"/>
                </a:schemeClr>
              </a:buClr>
              <a:buSzPct val="80000"/>
              <a:buFont typeface="Wingdings 3" charset="2"/>
              <a:buChar char=""/>
            </a:pPr>
            <a:r>
              <a:rPr lang="en-US" b="1" dirty="0" err="1">
                <a:latin typeface="+mj-lt"/>
                <a:ea typeface="+mj-ea"/>
                <a:cs typeface="+mj-cs"/>
              </a:rPr>
              <a:t>Comandos</a:t>
            </a:r>
            <a:r>
              <a:rPr lang="en-US" b="1" dirty="0">
                <a:latin typeface="+mj-lt"/>
                <a:ea typeface="+mj-ea"/>
                <a:cs typeface="+mj-cs"/>
              </a:rPr>
              <a:t> </a:t>
            </a:r>
            <a:r>
              <a:rPr lang="en-US" b="1" dirty="0" err="1">
                <a:latin typeface="+mj-lt"/>
                <a:ea typeface="+mj-ea"/>
                <a:cs typeface="+mj-cs"/>
              </a:rPr>
              <a:t>utilizados</a:t>
            </a:r>
            <a:r>
              <a:rPr lang="en-US" b="1" dirty="0">
                <a:latin typeface="+mj-lt"/>
                <a:ea typeface="+mj-ea"/>
                <a:cs typeface="+mj-cs"/>
              </a:rPr>
              <a:t>: </a:t>
            </a:r>
            <a:r>
              <a:rPr lang="en-US" b="1" dirty="0" err="1">
                <a:latin typeface="+mj-lt"/>
                <a:ea typeface="+mj-ea"/>
                <a:cs typeface="+mj-cs"/>
              </a:rPr>
              <a:t>Variáveis</a:t>
            </a:r>
            <a:r>
              <a:rPr lang="en-US" b="1" dirty="0">
                <a:latin typeface="+mj-lt"/>
                <a:ea typeface="+mj-ea"/>
                <a:cs typeface="+mj-cs"/>
              </a:rPr>
              <a:t>, if, </a:t>
            </a:r>
            <a:r>
              <a:rPr lang="en-US" b="1" dirty="0" err="1">
                <a:latin typeface="+mj-lt"/>
                <a:ea typeface="+mj-ea"/>
                <a:cs typeface="+mj-cs"/>
              </a:rPr>
              <a:t>operadores</a:t>
            </a:r>
            <a:r>
              <a:rPr lang="en-US" b="1" dirty="0">
                <a:latin typeface="+mj-lt"/>
                <a:ea typeface="+mj-ea"/>
                <a:cs typeface="+mj-cs"/>
              </a:rPr>
              <a:t> </a:t>
            </a:r>
            <a:r>
              <a:rPr lang="en-US" b="1" dirty="0" err="1">
                <a:latin typeface="+mj-lt"/>
                <a:ea typeface="+mj-ea"/>
                <a:cs typeface="+mj-cs"/>
              </a:rPr>
              <a:t>matemáticos</a:t>
            </a:r>
            <a:r>
              <a:rPr lang="en-US" b="1" dirty="0">
                <a:latin typeface="+mj-lt"/>
                <a:ea typeface="+mj-ea"/>
                <a:cs typeface="+mj-cs"/>
              </a:rPr>
              <a:t> e </a:t>
            </a:r>
            <a:r>
              <a:rPr lang="en-US" b="1" dirty="0" err="1">
                <a:latin typeface="+mj-lt"/>
                <a:ea typeface="+mj-ea"/>
                <a:cs typeface="+mj-cs"/>
              </a:rPr>
              <a:t>formatação</a:t>
            </a:r>
            <a:r>
              <a:rPr lang="en-US" b="1" dirty="0">
                <a:latin typeface="+mj-lt"/>
                <a:ea typeface="+mj-ea"/>
                <a:cs typeface="+mj-cs"/>
              </a:rPr>
              <a:t> com </a:t>
            </a:r>
            <a:r>
              <a:rPr lang="en-US" b="1" dirty="0" err="1">
                <a:latin typeface="+mj-lt"/>
                <a:ea typeface="+mj-ea"/>
                <a:cs typeface="+mj-cs"/>
              </a:rPr>
              <a:t>posição</a:t>
            </a:r>
            <a:r>
              <a:rPr lang="en-US" b="1" dirty="0">
                <a:latin typeface="+mj-lt"/>
                <a:ea typeface="+mj-ea"/>
                <a:cs typeface="+mj-cs"/>
              </a:rPr>
              <a:t> de </a:t>
            </a:r>
            <a:r>
              <a:rPr lang="en-US" b="1" dirty="0" err="1">
                <a:latin typeface="+mj-lt"/>
                <a:ea typeface="+mj-ea"/>
                <a:cs typeface="+mj-cs"/>
              </a:rPr>
              <a:t>substituição</a:t>
            </a:r>
            <a:r>
              <a:rPr lang="en-US" b="1" dirty="0">
                <a:latin typeface="+mj-lt"/>
                <a:ea typeface="+mj-ea"/>
                <a:cs typeface="+mj-cs"/>
              </a:rPr>
              <a:t>.</a:t>
            </a:r>
          </a:p>
          <a:p>
            <a:pPr>
              <a:spcBef>
                <a:spcPts val="1000"/>
              </a:spcBef>
              <a:buClr>
                <a:schemeClr val="bg2">
                  <a:lumMod val="40000"/>
                  <a:lumOff val="60000"/>
                </a:schemeClr>
              </a:buClr>
              <a:buSzPct val="80000"/>
              <a:buFont typeface="Wingdings 3" charset="2"/>
              <a:buChar char=""/>
            </a:pPr>
            <a:endParaRPr lang="en-US" b="1" dirty="0">
              <a:latin typeface="+mj-lt"/>
              <a:ea typeface="+mj-ea"/>
              <a:cs typeface="+mj-cs"/>
            </a:endParaRPr>
          </a:p>
          <a:p>
            <a:pPr>
              <a:spcBef>
                <a:spcPts val="1000"/>
              </a:spcBef>
              <a:buClr>
                <a:schemeClr val="bg2">
                  <a:lumMod val="40000"/>
                  <a:lumOff val="60000"/>
                </a:schemeClr>
              </a:buClr>
              <a:buSzPct val="80000"/>
              <a:buFont typeface="Wingdings 3" charset="2"/>
              <a:buChar char=""/>
            </a:pPr>
            <a:endParaRPr lang="en-US" b="1" dirty="0">
              <a:latin typeface="+mj-lt"/>
              <a:ea typeface="+mj-ea"/>
              <a:cs typeface="+mj-cs"/>
            </a:endParaRPr>
          </a:p>
        </p:txBody>
      </p:sp>
      <p:pic>
        <p:nvPicPr>
          <p:cNvPr id="6" name="Imagem 5">
            <a:extLst>
              <a:ext uri="{FF2B5EF4-FFF2-40B4-BE49-F238E27FC236}">
                <a16:creationId xmlns:a16="http://schemas.microsoft.com/office/drawing/2014/main" id="{02BD9C5B-30CE-BE5C-362C-0A7BBEEFA067}"/>
              </a:ext>
            </a:extLst>
          </p:cNvPr>
          <p:cNvPicPr>
            <a:picLocks noChangeAspect="1"/>
          </p:cNvPicPr>
          <p:nvPr/>
        </p:nvPicPr>
        <p:blipFill>
          <a:blip r:embed="rId8"/>
          <a:stretch>
            <a:fillRect/>
          </a:stretch>
        </p:blipFill>
        <p:spPr>
          <a:xfrm>
            <a:off x="1734637" y="6145140"/>
            <a:ext cx="12639645" cy="2780721"/>
          </a:xfrm>
          <a:prstGeom prst="rect">
            <a:avLst/>
          </a:prstGeom>
          <a:effectLst/>
        </p:spPr>
      </p:pic>
      <p:pic>
        <p:nvPicPr>
          <p:cNvPr id="16" name="Imagem 15">
            <a:extLst>
              <a:ext uri="{FF2B5EF4-FFF2-40B4-BE49-F238E27FC236}">
                <a16:creationId xmlns:a16="http://schemas.microsoft.com/office/drawing/2014/main" id="{6BC6EC05-B551-D333-6E80-EBB6E1BE60F7}"/>
              </a:ext>
            </a:extLst>
          </p:cNvPr>
          <p:cNvPicPr>
            <a:picLocks noChangeAspect="1"/>
          </p:cNvPicPr>
          <p:nvPr/>
        </p:nvPicPr>
        <p:blipFill>
          <a:blip r:embed="rId9"/>
          <a:stretch>
            <a:fillRect/>
          </a:stretch>
        </p:blipFill>
        <p:spPr>
          <a:xfrm>
            <a:off x="7379235" y="3224263"/>
            <a:ext cx="6046183" cy="2833860"/>
          </a:xfrm>
          <a:prstGeom prst="rect">
            <a:avLst/>
          </a:prstGeom>
        </p:spPr>
      </p:pic>
    </p:spTree>
    <p:extLst>
      <p:ext uri="{BB962C8B-B14F-4D97-AF65-F5344CB8AC3E}">
        <p14:creationId xmlns:p14="http://schemas.microsoft.com/office/powerpoint/2010/main" val="30854498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52CC6E5B-9607-5B0D-E987-EA8AB35D8AA2}"/>
            </a:ext>
          </a:extLst>
        </p:cNvPr>
        <p:cNvGrpSpPr/>
        <p:nvPr/>
      </p:nvGrpSpPr>
      <p:grpSpPr>
        <a:xfrm>
          <a:off x="0" y="0"/>
          <a:ext cx="0" cy="0"/>
          <a:chOff x="0" y="0"/>
          <a:chExt cx="0" cy="0"/>
        </a:xfrm>
      </p:grpSpPr>
      <p:pic>
        <p:nvPicPr>
          <p:cNvPr id="33" name="Picture 32">
            <a:extLst>
              <a:ext uri="{FF2B5EF4-FFF2-40B4-BE49-F238E27FC236}">
                <a16:creationId xmlns:a16="http://schemas.microsoft.com/office/drawing/2014/main" id="{0F7302AF-86B9-441B-8D24-AC382E2A43A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35" name="Picture 34">
            <a:extLst>
              <a:ext uri="{FF2B5EF4-FFF2-40B4-BE49-F238E27FC236}">
                <a16:creationId xmlns:a16="http://schemas.microsoft.com/office/drawing/2014/main" id="{99A2A6C2-D371-4C6B-B50F-CC71C6D0103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37" name="Oval 36">
            <a:extLst>
              <a:ext uri="{FF2B5EF4-FFF2-40B4-BE49-F238E27FC236}">
                <a16:creationId xmlns:a16="http://schemas.microsoft.com/office/drawing/2014/main" id="{5F07A6A6-E44B-411E-AA18-65E4811366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39" name="Picture 38">
            <a:extLst>
              <a:ext uri="{FF2B5EF4-FFF2-40B4-BE49-F238E27FC236}">
                <a16:creationId xmlns:a16="http://schemas.microsoft.com/office/drawing/2014/main" id="{8CC3468F-5EED-42B0-8507-F30360E1D51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41" name="Picture 40">
            <a:extLst>
              <a:ext uri="{FF2B5EF4-FFF2-40B4-BE49-F238E27FC236}">
                <a16:creationId xmlns:a16="http://schemas.microsoft.com/office/drawing/2014/main" id="{591711EE-029D-453C-9AE9-E87829F1D3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43" name="Rectangle 42">
            <a:extLst>
              <a:ext uri="{FF2B5EF4-FFF2-40B4-BE49-F238E27FC236}">
                <a16:creationId xmlns:a16="http://schemas.microsoft.com/office/drawing/2014/main" id="{5D5A8E14-301B-40C0-A174-D2232EF95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 name="CaixaDeTexto 2">
            <a:extLst>
              <a:ext uri="{FF2B5EF4-FFF2-40B4-BE49-F238E27FC236}">
                <a16:creationId xmlns:a16="http://schemas.microsoft.com/office/drawing/2014/main" id="{C03DA32F-32DF-792E-EC2C-CE731E0B6275}"/>
              </a:ext>
            </a:extLst>
          </p:cNvPr>
          <p:cNvSpPr txBox="1"/>
          <p:nvPr/>
        </p:nvSpPr>
        <p:spPr>
          <a:xfrm>
            <a:off x="861482" y="603624"/>
            <a:ext cx="5554107" cy="1867373"/>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4200" dirty="0" err="1">
                <a:solidFill>
                  <a:schemeClr val="tx2"/>
                </a:solidFill>
              </a:rPr>
              <a:t>Atividade</a:t>
            </a:r>
            <a:r>
              <a:rPr lang="en-US" sz="4200" dirty="0">
                <a:solidFill>
                  <a:schemeClr val="tx2"/>
                </a:solidFill>
              </a:rPr>
              <a:t>  </a:t>
            </a:r>
          </a:p>
          <a:p>
            <a:pPr>
              <a:lnSpc>
                <a:spcPct val="90000"/>
              </a:lnSpc>
              <a:spcBef>
                <a:spcPct val="0"/>
              </a:spcBef>
              <a:spcAft>
                <a:spcPts val="600"/>
              </a:spcAft>
            </a:pPr>
            <a:r>
              <a:rPr lang="en-US" sz="4200" dirty="0" err="1">
                <a:solidFill>
                  <a:schemeClr val="tx2"/>
                </a:solidFill>
              </a:rPr>
              <a:t>Calcular</a:t>
            </a:r>
            <a:r>
              <a:rPr lang="en-US" sz="4200" dirty="0">
                <a:solidFill>
                  <a:schemeClr val="tx2"/>
                </a:solidFill>
              </a:rPr>
              <a:t> IMC</a:t>
            </a:r>
          </a:p>
        </p:txBody>
      </p:sp>
      <p:sp>
        <p:nvSpPr>
          <p:cNvPr id="45" name="Freeform: Shape 44">
            <a:extLst>
              <a:ext uri="{FF2B5EF4-FFF2-40B4-BE49-F238E27FC236}">
                <a16:creationId xmlns:a16="http://schemas.microsoft.com/office/drawing/2014/main" id="{475CE30D-8C95-4716-A3AB-29EC9A5F19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7027199" y="-84800"/>
            <a:ext cx="9144001" cy="93136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7191 h 6985200"/>
              <a:gd name="connsiteX6" fmla="*/ 1 w 6858001"/>
              <a:gd name="connsiteY6" fmla="*/ 887191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7191"/>
                </a:lnTo>
                <a:lnTo>
                  <a:pt x="1" y="887191"/>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solidFill>
            <a:srgbClr val="FFFFFF"/>
          </a:solidFill>
          <a:ln>
            <a:noFill/>
          </a:ln>
        </p:spPr>
        <p:txBody>
          <a:bodyPr/>
          <a:lstStyle/>
          <a:p>
            <a:endParaRPr lang="pt-BR"/>
          </a:p>
        </p:txBody>
      </p:sp>
      <p:sp>
        <p:nvSpPr>
          <p:cNvPr id="47" name="Freeform 23">
            <a:extLst>
              <a:ext uri="{FF2B5EF4-FFF2-40B4-BE49-F238E27FC236}">
                <a16:creationId xmlns:a16="http://schemas.microsoft.com/office/drawing/2014/main" id="{5262E9D7-B5C1-4E6C-B3EF-2F48077054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58693" y="-1"/>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7" name="Imagem 6">
            <a:extLst>
              <a:ext uri="{FF2B5EF4-FFF2-40B4-BE49-F238E27FC236}">
                <a16:creationId xmlns:a16="http://schemas.microsoft.com/office/drawing/2014/main" id="{C06E2E8A-1A64-DCE5-669C-042A36122983}"/>
              </a:ext>
            </a:extLst>
          </p:cNvPr>
          <p:cNvPicPr>
            <a:picLocks noChangeAspect="1"/>
          </p:cNvPicPr>
          <p:nvPr/>
        </p:nvPicPr>
        <p:blipFill>
          <a:blip r:embed="rId7"/>
          <a:stretch>
            <a:fillRect/>
          </a:stretch>
        </p:blipFill>
        <p:spPr>
          <a:xfrm>
            <a:off x="7932043" y="1349038"/>
            <a:ext cx="5606157" cy="3952866"/>
          </a:xfrm>
          <a:prstGeom prst="rect">
            <a:avLst/>
          </a:prstGeom>
          <a:effectLst/>
        </p:spPr>
      </p:pic>
      <p:sp>
        <p:nvSpPr>
          <p:cNvPr id="49" name="Rectangle 48">
            <a:extLst>
              <a:ext uri="{FF2B5EF4-FFF2-40B4-BE49-F238E27FC236}">
                <a16:creationId xmlns:a16="http://schemas.microsoft.com/office/drawing/2014/main" id="{C8C7DA03-3808-49BC-946F-ECACEAE88D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22704"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5" name="CaixaDeTexto 4">
            <a:extLst>
              <a:ext uri="{FF2B5EF4-FFF2-40B4-BE49-F238E27FC236}">
                <a16:creationId xmlns:a16="http://schemas.microsoft.com/office/drawing/2014/main" id="{BB4B1F89-B77E-7AD6-B473-E38CD5C2FD23}"/>
              </a:ext>
            </a:extLst>
          </p:cNvPr>
          <p:cNvSpPr txBox="1"/>
          <p:nvPr/>
        </p:nvSpPr>
        <p:spPr>
          <a:xfrm>
            <a:off x="720661" y="2106168"/>
            <a:ext cx="5553528" cy="5593974"/>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buFont typeface="Wingdings 3" charset="2"/>
              <a:buChar char=""/>
            </a:pPr>
            <a:r>
              <a:rPr lang="en-US" b="1" dirty="0" err="1">
                <a:latin typeface="+mj-lt"/>
                <a:ea typeface="+mj-ea"/>
                <a:cs typeface="+mj-cs"/>
              </a:rPr>
              <a:t>Objetivo</a:t>
            </a:r>
            <a:r>
              <a:rPr lang="en-US" b="1" dirty="0">
                <a:latin typeface="+mj-lt"/>
                <a:ea typeface="+mj-ea"/>
                <a:cs typeface="+mj-cs"/>
              </a:rPr>
              <a:t>: Nesta </a:t>
            </a:r>
            <a:r>
              <a:rPr lang="en-US" b="1" dirty="0" err="1">
                <a:latin typeface="+mj-lt"/>
                <a:ea typeface="+mj-ea"/>
                <a:cs typeface="+mj-cs"/>
              </a:rPr>
              <a:t>atividade</a:t>
            </a:r>
            <a:r>
              <a:rPr lang="en-US" b="1" dirty="0">
                <a:latin typeface="+mj-lt"/>
                <a:ea typeface="+mj-ea"/>
                <a:cs typeface="+mj-cs"/>
              </a:rPr>
              <a:t> </a:t>
            </a:r>
            <a:r>
              <a:rPr lang="en-US" b="1" dirty="0" err="1">
                <a:latin typeface="+mj-lt"/>
                <a:ea typeface="+mj-ea"/>
                <a:cs typeface="+mj-cs"/>
              </a:rPr>
              <a:t>você</a:t>
            </a:r>
            <a:r>
              <a:rPr lang="en-US" b="1" dirty="0">
                <a:latin typeface="+mj-lt"/>
                <a:ea typeface="+mj-ea"/>
                <a:cs typeface="+mj-cs"/>
              </a:rPr>
              <a:t> </a:t>
            </a:r>
            <a:r>
              <a:rPr lang="en-US" b="1" dirty="0" err="1">
                <a:latin typeface="+mj-lt"/>
                <a:ea typeface="+mj-ea"/>
                <a:cs typeface="+mj-cs"/>
              </a:rPr>
              <a:t>vai</a:t>
            </a:r>
            <a:r>
              <a:rPr lang="en-US" b="1" dirty="0">
                <a:latin typeface="+mj-lt"/>
                <a:ea typeface="+mj-ea"/>
                <a:cs typeface="+mj-cs"/>
              </a:rPr>
              <a:t> </a:t>
            </a:r>
            <a:r>
              <a:rPr lang="en-US" b="1" dirty="0" err="1">
                <a:latin typeface="+mj-lt"/>
                <a:ea typeface="+mj-ea"/>
                <a:cs typeface="+mj-cs"/>
              </a:rPr>
              <a:t>calcular</a:t>
            </a:r>
            <a:r>
              <a:rPr lang="en-US" b="1" dirty="0">
                <a:latin typeface="+mj-lt"/>
                <a:ea typeface="+mj-ea"/>
                <a:cs typeface="+mj-cs"/>
              </a:rPr>
              <a:t> o IMC a </a:t>
            </a:r>
            <a:r>
              <a:rPr lang="en-US" b="1" dirty="0" err="1">
                <a:latin typeface="+mj-lt"/>
                <a:ea typeface="+mj-ea"/>
                <a:cs typeface="+mj-cs"/>
              </a:rPr>
              <a:t>partir</a:t>
            </a:r>
            <a:r>
              <a:rPr lang="en-US" b="1" dirty="0">
                <a:latin typeface="+mj-lt"/>
                <a:ea typeface="+mj-ea"/>
                <a:cs typeface="+mj-cs"/>
              </a:rPr>
              <a:t> de um peso e </a:t>
            </a:r>
            <a:r>
              <a:rPr lang="en-US" b="1" dirty="0" err="1">
                <a:latin typeface="+mj-lt"/>
                <a:ea typeface="+mj-ea"/>
                <a:cs typeface="+mj-cs"/>
              </a:rPr>
              <a:t>uma</a:t>
            </a:r>
            <a:r>
              <a:rPr lang="en-US" b="1" dirty="0">
                <a:latin typeface="+mj-lt"/>
                <a:ea typeface="+mj-ea"/>
                <a:cs typeface="+mj-cs"/>
              </a:rPr>
              <a:t> </a:t>
            </a:r>
            <a:r>
              <a:rPr lang="en-US" b="1" dirty="0" err="1">
                <a:latin typeface="+mj-lt"/>
                <a:ea typeface="+mj-ea"/>
                <a:cs typeface="+mj-cs"/>
              </a:rPr>
              <a:t>altura</a:t>
            </a:r>
            <a:r>
              <a:rPr lang="en-US" b="1" dirty="0">
                <a:latin typeface="+mj-lt"/>
                <a:ea typeface="+mj-ea"/>
                <a:cs typeface="+mj-cs"/>
              </a:rPr>
              <a:t>, </a:t>
            </a:r>
            <a:r>
              <a:rPr lang="en-US" b="1" dirty="0" err="1">
                <a:latin typeface="+mj-lt"/>
                <a:ea typeface="+mj-ea"/>
                <a:cs typeface="+mj-cs"/>
              </a:rPr>
              <a:t>usará</a:t>
            </a:r>
            <a:r>
              <a:rPr lang="en-US" b="1" dirty="0">
                <a:latin typeface="+mj-lt"/>
                <a:ea typeface="+mj-ea"/>
                <a:cs typeface="+mj-cs"/>
              </a:rPr>
              <a:t> a </a:t>
            </a:r>
            <a:r>
              <a:rPr lang="en-US" b="1" dirty="0" err="1">
                <a:latin typeface="+mj-lt"/>
                <a:ea typeface="+mj-ea"/>
                <a:cs typeface="+mj-cs"/>
              </a:rPr>
              <a:t>comando</a:t>
            </a:r>
            <a:r>
              <a:rPr lang="en-US" b="1" dirty="0">
                <a:latin typeface="+mj-lt"/>
                <a:ea typeface="+mj-ea"/>
                <a:cs typeface="+mj-cs"/>
              </a:rPr>
              <a:t> if para </a:t>
            </a:r>
            <a:r>
              <a:rPr lang="en-US" b="1" dirty="0" err="1">
                <a:latin typeface="+mj-lt"/>
                <a:ea typeface="+mj-ea"/>
                <a:cs typeface="+mj-cs"/>
              </a:rPr>
              <a:t>mostrar</a:t>
            </a:r>
            <a:r>
              <a:rPr lang="en-US" b="1" dirty="0">
                <a:latin typeface="+mj-lt"/>
                <a:ea typeface="+mj-ea"/>
                <a:cs typeface="+mj-cs"/>
              </a:rPr>
              <a:t> o </a:t>
            </a:r>
            <a:r>
              <a:rPr lang="en-US" b="1" dirty="0" err="1">
                <a:latin typeface="+mj-lt"/>
                <a:ea typeface="+mj-ea"/>
                <a:cs typeface="+mj-cs"/>
              </a:rPr>
              <a:t>resultado</a:t>
            </a:r>
            <a:r>
              <a:rPr lang="en-US" b="1" dirty="0">
                <a:latin typeface="+mj-lt"/>
                <a:ea typeface="+mj-ea"/>
                <a:cs typeface="+mj-cs"/>
              </a:rPr>
              <a:t> do </a:t>
            </a:r>
            <a:r>
              <a:rPr lang="en-US" b="1" dirty="0" err="1">
                <a:latin typeface="+mj-lt"/>
                <a:ea typeface="+mj-ea"/>
                <a:cs typeface="+mj-cs"/>
              </a:rPr>
              <a:t>cálculo</a:t>
            </a:r>
            <a:r>
              <a:rPr lang="en-US" b="1" dirty="0">
                <a:latin typeface="+mj-lt"/>
                <a:ea typeface="+mj-ea"/>
                <a:cs typeface="+mj-cs"/>
              </a:rPr>
              <a:t> do IMC. </a:t>
            </a:r>
          </a:p>
          <a:p>
            <a:pPr>
              <a:spcBef>
                <a:spcPts val="1000"/>
              </a:spcBef>
              <a:buClr>
                <a:schemeClr val="bg2">
                  <a:lumMod val="40000"/>
                  <a:lumOff val="60000"/>
                </a:schemeClr>
              </a:buClr>
              <a:buSzPct val="80000"/>
              <a:buFont typeface="Wingdings 3" charset="2"/>
              <a:buChar char=""/>
            </a:pPr>
            <a:endParaRPr lang="en-US" b="1" dirty="0">
              <a:latin typeface="+mj-lt"/>
              <a:ea typeface="+mj-ea"/>
              <a:cs typeface="+mj-cs"/>
            </a:endParaRPr>
          </a:p>
          <a:p>
            <a:pPr>
              <a:spcBef>
                <a:spcPts val="1000"/>
              </a:spcBef>
              <a:buClr>
                <a:schemeClr val="bg2">
                  <a:lumMod val="40000"/>
                  <a:lumOff val="60000"/>
                </a:schemeClr>
              </a:buClr>
              <a:buSzPct val="80000"/>
              <a:buFont typeface="Wingdings 3" charset="2"/>
              <a:buChar char=""/>
            </a:pPr>
            <a:r>
              <a:rPr lang="en-US" b="1" dirty="0" err="1">
                <a:latin typeface="+mj-lt"/>
                <a:ea typeface="+mj-ea"/>
                <a:cs typeface="+mj-cs"/>
              </a:rPr>
              <a:t>Comandos</a:t>
            </a:r>
            <a:r>
              <a:rPr lang="en-US" b="1" dirty="0">
                <a:latin typeface="+mj-lt"/>
                <a:ea typeface="+mj-ea"/>
                <a:cs typeface="+mj-cs"/>
              </a:rPr>
              <a:t> </a:t>
            </a:r>
            <a:r>
              <a:rPr lang="en-US" b="1" dirty="0" err="1">
                <a:latin typeface="+mj-lt"/>
                <a:ea typeface="+mj-ea"/>
                <a:cs typeface="+mj-cs"/>
              </a:rPr>
              <a:t>utilizados</a:t>
            </a:r>
            <a:r>
              <a:rPr lang="en-US" b="1" dirty="0">
                <a:latin typeface="+mj-lt"/>
                <a:ea typeface="+mj-ea"/>
                <a:cs typeface="+mj-cs"/>
              </a:rPr>
              <a:t>: </a:t>
            </a:r>
            <a:r>
              <a:rPr lang="en-US" b="1" dirty="0" err="1">
                <a:latin typeface="+mj-lt"/>
                <a:ea typeface="+mj-ea"/>
                <a:cs typeface="+mj-cs"/>
              </a:rPr>
              <a:t>Variáveis</a:t>
            </a:r>
            <a:r>
              <a:rPr lang="en-US" b="1" dirty="0">
                <a:latin typeface="+mj-lt"/>
                <a:ea typeface="+mj-ea"/>
                <a:cs typeface="+mj-cs"/>
              </a:rPr>
              <a:t>, if / </a:t>
            </a:r>
            <a:r>
              <a:rPr lang="en-US" b="1" dirty="0" err="1">
                <a:latin typeface="+mj-lt"/>
                <a:ea typeface="+mj-ea"/>
                <a:cs typeface="+mj-cs"/>
              </a:rPr>
              <a:t>elif</a:t>
            </a:r>
            <a:r>
              <a:rPr lang="en-US" b="1" dirty="0">
                <a:latin typeface="+mj-lt"/>
                <a:ea typeface="+mj-ea"/>
                <a:cs typeface="+mj-cs"/>
              </a:rPr>
              <a:t> / else.  </a:t>
            </a:r>
          </a:p>
        </p:txBody>
      </p:sp>
      <p:pic>
        <p:nvPicPr>
          <p:cNvPr id="9" name="Imagem 8">
            <a:extLst>
              <a:ext uri="{FF2B5EF4-FFF2-40B4-BE49-F238E27FC236}">
                <a16:creationId xmlns:a16="http://schemas.microsoft.com/office/drawing/2014/main" id="{AE4F85AB-70C8-BB3C-4163-3A5213882143}"/>
              </a:ext>
            </a:extLst>
          </p:cNvPr>
          <p:cNvPicPr>
            <a:picLocks noChangeAspect="1"/>
          </p:cNvPicPr>
          <p:nvPr/>
        </p:nvPicPr>
        <p:blipFill>
          <a:blip r:embed="rId8"/>
          <a:stretch>
            <a:fillRect/>
          </a:stretch>
        </p:blipFill>
        <p:spPr>
          <a:xfrm>
            <a:off x="861482" y="6014210"/>
            <a:ext cx="13974801" cy="2131155"/>
          </a:xfrm>
          <a:prstGeom prst="rect">
            <a:avLst/>
          </a:prstGeom>
          <a:effectLst/>
        </p:spPr>
      </p:pic>
    </p:spTree>
    <p:extLst>
      <p:ext uri="{BB962C8B-B14F-4D97-AF65-F5344CB8AC3E}">
        <p14:creationId xmlns:p14="http://schemas.microsoft.com/office/powerpoint/2010/main" val="20461711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5A4B283B-394F-BD71-D8E7-6B355B0D0CAA}"/>
            </a:ext>
          </a:extLst>
        </p:cNvPr>
        <p:cNvGrpSpPr/>
        <p:nvPr/>
      </p:nvGrpSpPr>
      <p:grpSpPr>
        <a:xfrm>
          <a:off x="0" y="0"/>
          <a:ext cx="0" cy="0"/>
          <a:chOff x="0" y="0"/>
          <a:chExt cx="0" cy="0"/>
        </a:xfrm>
      </p:grpSpPr>
      <p:pic>
        <p:nvPicPr>
          <p:cNvPr id="71" name="Picture 52">
            <a:extLst>
              <a:ext uri="{FF2B5EF4-FFF2-40B4-BE49-F238E27FC236}">
                <a16:creationId xmlns:a16="http://schemas.microsoft.com/office/drawing/2014/main" id="{412E3267-7ABE-412B-8580-47EC0D1F61F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72" name="Picture 54">
            <a:extLst>
              <a:ext uri="{FF2B5EF4-FFF2-40B4-BE49-F238E27FC236}">
                <a16:creationId xmlns:a16="http://schemas.microsoft.com/office/drawing/2014/main" id="{20B62C5A-2250-4380-AB23-DB87446CCED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73" name="Oval 56">
            <a:extLst>
              <a:ext uri="{FF2B5EF4-FFF2-40B4-BE49-F238E27FC236}">
                <a16:creationId xmlns:a16="http://schemas.microsoft.com/office/drawing/2014/main" id="{D42CF425-7213-4F89-B0FF-4C2BDDD9C6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74" name="Picture 58">
            <a:extLst>
              <a:ext uri="{FF2B5EF4-FFF2-40B4-BE49-F238E27FC236}">
                <a16:creationId xmlns:a16="http://schemas.microsoft.com/office/drawing/2014/main" id="{D35DA97D-88F8-4249-B650-4FC9FD50A38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75" name="Picture 60">
            <a:extLst>
              <a:ext uri="{FF2B5EF4-FFF2-40B4-BE49-F238E27FC236}">
                <a16:creationId xmlns:a16="http://schemas.microsoft.com/office/drawing/2014/main" id="{43F38673-6E30-4BAE-AC67-0B283EBF42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76" name="Rectangle 62">
            <a:extLst>
              <a:ext uri="{FF2B5EF4-FFF2-40B4-BE49-F238E27FC236}">
                <a16:creationId xmlns:a16="http://schemas.microsoft.com/office/drawing/2014/main" id="{202A25CB-1ED1-4C87-AB49-8D3BC684D1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 name="CaixaDeTexto 2">
            <a:extLst>
              <a:ext uri="{FF2B5EF4-FFF2-40B4-BE49-F238E27FC236}">
                <a16:creationId xmlns:a16="http://schemas.microsoft.com/office/drawing/2014/main" id="{2510B1C0-353A-5EA0-1450-118C6546418D}"/>
              </a:ext>
            </a:extLst>
          </p:cNvPr>
          <p:cNvSpPr txBox="1"/>
          <p:nvPr/>
        </p:nvSpPr>
        <p:spPr>
          <a:xfrm>
            <a:off x="861482" y="603624"/>
            <a:ext cx="5554107" cy="1867373"/>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3900" dirty="0" err="1">
                <a:solidFill>
                  <a:schemeClr val="tx2"/>
                </a:solidFill>
                <a:latin typeface="+mj-lt"/>
                <a:ea typeface="+mj-ea"/>
                <a:cs typeface="+mj-cs"/>
              </a:rPr>
              <a:t>Atividade</a:t>
            </a:r>
            <a:r>
              <a:rPr lang="en-US" sz="3900" dirty="0">
                <a:solidFill>
                  <a:schemeClr val="tx2"/>
                </a:solidFill>
                <a:latin typeface="+mj-lt"/>
                <a:ea typeface="+mj-ea"/>
                <a:cs typeface="+mj-cs"/>
              </a:rPr>
              <a:t>  </a:t>
            </a:r>
          </a:p>
          <a:p>
            <a:pPr>
              <a:lnSpc>
                <a:spcPct val="90000"/>
              </a:lnSpc>
              <a:spcBef>
                <a:spcPct val="0"/>
              </a:spcBef>
              <a:spcAft>
                <a:spcPts val="600"/>
              </a:spcAft>
            </a:pPr>
            <a:r>
              <a:rPr lang="en-US" sz="3900" dirty="0" err="1">
                <a:solidFill>
                  <a:schemeClr val="tx2"/>
                </a:solidFill>
                <a:latin typeface="+mj-lt"/>
                <a:ea typeface="+mj-ea"/>
                <a:cs typeface="+mj-cs"/>
              </a:rPr>
              <a:t>Trabalhando</a:t>
            </a:r>
            <a:r>
              <a:rPr lang="en-US" sz="3900" dirty="0">
                <a:solidFill>
                  <a:schemeClr val="tx2"/>
                </a:solidFill>
                <a:latin typeface="+mj-lt"/>
                <a:ea typeface="+mj-ea"/>
                <a:cs typeface="+mj-cs"/>
              </a:rPr>
              <a:t> com </a:t>
            </a:r>
            <a:r>
              <a:rPr lang="en-US" sz="3900" dirty="0" err="1">
                <a:solidFill>
                  <a:schemeClr val="tx2"/>
                </a:solidFill>
                <a:latin typeface="+mj-lt"/>
                <a:ea typeface="+mj-ea"/>
                <a:cs typeface="+mj-cs"/>
              </a:rPr>
              <a:t>Textos</a:t>
            </a:r>
            <a:r>
              <a:rPr lang="en-US" sz="3900" dirty="0">
                <a:solidFill>
                  <a:schemeClr val="tx2"/>
                </a:solidFill>
                <a:latin typeface="+mj-lt"/>
                <a:ea typeface="+mj-ea"/>
                <a:cs typeface="+mj-cs"/>
              </a:rPr>
              <a:t> </a:t>
            </a:r>
          </a:p>
        </p:txBody>
      </p:sp>
      <p:sp>
        <p:nvSpPr>
          <p:cNvPr id="77" name="Freeform: Shape 64">
            <a:extLst>
              <a:ext uri="{FF2B5EF4-FFF2-40B4-BE49-F238E27FC236}">
                <a16:creationId xmlns:a16="http://schemas.microsoft.com/office/drawing/2014/main" id="{DBAF956B-591A-4461-BB3C-79AA176B09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7027759" y="-84800"/>
            <a:ext cx="9144001" cy="93136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7191 h 6985200"/>
              <a:gd name="connsiteX6" fmla="*/ 1 w 6858001"/>
              <a:gd name="connsiteY6" fmla="*/ 887191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7191"/>
                </a:lnTo>
                <a:lnTo>
                  <a:pt x="1" y="887191"/>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solidFill>
            <a:srgbClr val="FFFFFF"/>
          </a:solidFill>
          <a:ln>
            <a:noFill/>
          </a:ln>
        </p:spPr>
        <p:txBody>
          <a:bodyPr/>
          <a:lstStyle/>
          <a:p>
            <a:endParaRPr lang="pt-BR"/>
          </a:p>
        </p:txBody>
      </p:sp>
      <p:sp>
        <p:nvSpPr>
          <p:cNvPr id="78" name="Freeform 23">
            <a:extLst>
              <a:ext uri="{FF2B5EF4-FFF2-40B4-BE49-F238E27FC236}">
                <a16:creationId xmlns:a16="http://schemas.microsoft.com/office/drawing/2014/main" id="{E8895FAA-0D03-43F6-9594-A8733552E2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58693" y="-1"/>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79" name="Rectangle 68">
            <a:extLst>
              <a:ext uri="{FF2B5EF4-FFF2-40B4-BE49-F238E27FC236}">
                <a16:creationId xmlns:a16="http://schemas.microsoft.com/office/drawing/2014/main" id="{918FB696-BC5E-43A4-9768-4BB5278BDC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23264"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4" name="CaixaDeTexto 3">
            <a:extLst>
              <a:ext uri="{FF2B5EF4-FFF2-40B4-BE49-F238E27FC236}">
                <a16:creationId xmlns:a16="http://schemas.microsoft.com/office/drawing/2014/main" id="{624DE876-8C9C-13F7-F89E-419AAFCDF000}"/>
              </a:ext>
            </a:extLst>
          </p:cNvPr>
          <p:cNvSpPr txBox="1"/>
          <p:nvPr/>
        </p:nvSpPr>
        <p:spPr>
          <a:xfrm>
            <a:off x="861484" y="2737224"/>
            <a:ext cx="5553528" cy="5593974"/>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buFont typeface="Wingdings 3" charset="2"/>
              <a:buChar char=""/>
            </a:pPr>
            <a:r>
              <a:rPr lang="en-US">
                <a:latin typeface="+mj-lt"/>
                <a:ea typeface="+mj-ea"/>
                <a:cs typeface="+mj-cs"/>
              </a:rPr>
              <a:t>Objetivo: Nesta atividade você vai trabalhar com dados de texto, usando vários métodos para verificar e modificar o valor de uma variável.</a:t>
            </a:r>
          </a:p>
        </p:txBody>
      </p:sp>
      <p:pic>
        <p:nvPicPr>
          <p:cNvPr id="11" name="Imagem 10">
            <a:extLst>
              <a:ext uri="{FF2B5EF4-FFF2-40B4-BE49-F238E27FC236}">
                <a16:creationId xmlns:a16="http://schemas.microsoft.com/office/drawing/2014/main" id="{D6BFCD7D-4996-C219-0F03-3B20862CF2A6}"/>
              </a:ext>
            </a:extLst>
          </p:cNvPr>
          <p:cNvPicPr>
            <a:picLocks noChangeAspect="1"/>
          </p:cNvPicPr>
          <p:nvPr/>
        </p:nvPicPr>
        <p:blipFill>
          <a:blip r:embed="rId7"/>
          <a:stretch>
            <a:fillRect/>
          </a:stretch>
        </p:blipFill>
        <p:spPr>
          <a:xfrm>
            <a:off x="8199095" y="5447788"/>
            <a:ext cx="7119530" cy="2883409"/>
          </a:xfrm>
          <a:prstGeom prst="rect">
            <a:avLst/>
          </a:prstGeom>
          <a:effectLst/>
        </p:spPr>
      </p:pic>
      <p:pic>
        <p:nvPicPr>
          <p:cNvPr id="9" name="Imagem 8">
            <a:extLst>
              <a:ext uri="{FF2B5EF4-FFF2-40B4-BE49-F238E27FC236}">
                <a16:creationId xmlns:a16="http://schemas.microsoft.com/office/drawing/2014/main" id="{35056DFB-A555-12A8-0C21-6DEC0DC99CA9}"/>
              </a:ext>
            </a:extLst>
          </p:cNvPr>
          <p:cNvPicPr>
            <a:picLocks noChangeAspect="1"/>
          </p:cNvPicPr>
          <p:nvPr/>
        </p:nvPicPr>
        <p:blipFill>
          <a:blip r:embed="rId8"/>
          <a:stretch>
            <a:fillRect/>
          </a:stretch>
        </p:blipFill>
        <p:spPr>
          <a:xfrm>
            <a:off x="8125880" y="945185"/>
            <a:ext cx="7265961" cy="4159761"/>
          </a:xfrm>
          <a:prstGeom prst="rect">
            <a:avLst/>
          </a:prstGeom>
          <a:effectLst/>
        </p:spPr>
      </p:pic>
    </p:spTree>
    <p:extLst>
      <p:ext uri="{BB962C8B-B14F-4D97-AF65-F5344CB8AC3E}">
        <p14:creationId xmlns:p14="http://schemas.microsoft.com/office/powerpoint/2010/main" val="24490924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aixaDeTexto 10">
            <a:extLst>
              <a:ext uri="{FF2B5EF4-FFF2-40B4-BE49-F238E27FC236}">
                <a16:creationId xmlns:a16="http://schemas.microsoft.com/office/drawing/2014/main" id="{A3D17FF8-7706-0FB6-DDBC-0665254CB7EF}"/>
              </a:ext>
            </a:extLst>
          </p:cNvPr>
          <p:cNvSpPr txBox="1"/>
          <p:nvPr/>
        </p:nvSpPr>
        <p:spPr>
          <a:xfrm>
            <a:off x="4546600" y="3836087"/>
            <a:ext cx="8125968" cy="769441"/>
          </a:xfrm>
          <a:prstGeom prst="rect">
            <a:avLst/>
          </a:prstGeom>
          <a:noFill/>
        </p:spPr>
        <p:txBody>
          <a:bodyPr wrap="square">
            <a:spAutoFit/>
          </a:bodyPr>
          <a:lstStyle/>
          <a:p>
            <a:pPr algn="just"/>
            <a:r>
              <a:rPr lang="pt-BR" sz="4400" b="1" dirty="0">
                <a:solidFill>
                  <a:srgbClr val="FFC000"/>
                </a:solidFill>
              </a:rPr>
              <a:t>Estruturas de repetição</a:t>
            </a:r>
          </a:p>
        </p:txBody>
      </p:sp>
    </p:spTree>
    <p:extLst>
      <p:ext uri="{BB962C8B-B14F-4D97-AF65-F5344CB8AC3E}">
        <p14:creationId xmlns:p14="http://schemas.microsoft.com/office/powerpoint/2010/main" val="29025575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ixaDeTexto 4">
            <a:extLst>
              <a:ext uri="{FF2B5EF4-FFF2-40B4-BE49-F238E27FC236}">
                <a16:creationId xmlns:a16="http://schemas.microsoft.com/office/drawing/2014/main" id="{138672B5-3630-25FD-3C48-EF158ACC79FE}"/>
              </a:ext>
            </a:extLst>
          </p:cNvPr>
          <p:cNvSpPr txBox="1"/>
          <p:nvPr/>
        </p:nvSpPr>
        <p:spPr>
          <a:xfrm>
            <a:off x="508000" y="1905000"/>
            <a:ext cx="8686800" cy="3600986"/>
          </a:xfrm>
          <a:prstGeom prst="rect">
            <a:avLst/>
          </a:prstGeom>
          <a:noFill/>
        </p:spPr>
        <p:txBody>
          <a:bodyPr wrap="square">
            <a:spAutoFit/>
          </a:bodyPr>
          <a:lstStyle/>
          <a:p>
            <a:pPr algn="just"/>
            <a:r>
              <a:rPr lang="pt-BR" sz="3200" b="1" dirty="0">
                <a:solidFill>
                  <a:srgbClr val="FFC000"/>
                </a:solidFill>
              </a:rPr>
              <a:t>Estruturas de repetição</a:t>
            </a:r>
          </a:p>
          <a:p>
            <a:pPr algn="just"/>
            <a:endParaRPr lang="pt-BR" sz="2800" b="1" dirty="0"/>
          </a:p>
          <a:p>
            <a:pPr algn="just"/>
            <a:r>
              <a:rPr lang="pt-BR" sz="2800" b="1" dirty="0"/>
              <a:t>Neste capítulo você irá aprender a criar estruturas de repetição que são úteis para repetir uma operação determinadas vezes ou até que uma condição não seja mais verdadeira, no Python temos duas estruturas de repetição que podemos usar, comando </a:t>
            </a:r>
            <a:r>
              <a:rPr lang="pt-BR" sz="2800" b="1" dirty="0">
                <a:solidFill>
                  <a:srgbClr val="FFC000"/>
                </a:solidFill>
              </a:rPr>
              <a:t>for</a:t>
            </a:r>
            <a:r>
              <a:rPr lang="pt-BR" sz="2800" b="1" dirty="0"/>
              <a:t> e o </a:t>
            </a:r>
            <a:r>
              <a:rPr lang="pt-BR" sz="2800" b="1" dirty="0" err="1">
                <a:solidFill>
                  <a:srgbClr val="FFC000"/>
                </a:solidFill>
              </a:rPr>
              <a:t>while</a:t>
            </a:r>
            <a:r>
              <a:rPr lang="pt-BR" sz="2800" b="1" dirty="0"/>
              <a:t>. </a:t>
            </a:r>
          </a:p>
        </p:txBody>
      </p:sp>
      <p:pic>
        <p:nvPicPr>
          <p:cNvPr id="7" name="Imagem 6">
            <a:extLst>
              <a:ext uri="{FF2B5EF4-FFF2-40B4-BE49-F238E27FC236}">
                <a16:creationId xmlns:a16="http://schemas.microsoft.com/office/drawing/2014/main" id="{23B73C09-C7F1-DD4C-4611-6070C2A924AC}"/>
              </a:ext>
            </a:extLst>
          </p:cNvPr>
          <p:cNvPicPr>
            <a:picLocks noChangeAspect="1"/>
          </p:cNvPicPr>
          <p:nvPr/>
        </p:nvPicPr>
        <p:blipFill>
          <a:blip r:embed="rId2"/>
          <a:stretch>
            <a:fillRect/>
          </a:stretch>
        </p:blipFill>
        <p:spPr>
          <a:xfrm>
            <a:off x="9956800" y="0"/>
            <a:ext cx="6182588" cy="5830114"/>
          </a:xfrm>
          <a:prstGeom prst="rect">
            <a:avLst/>
          </a:prstGeom>
        </p:spPr>
      </p:pic>
    </p:spTree>
    <p:extLst>
      <p:ext uri="{BB962C8B-B14F-4D97-AF65-F5344CB8AC3E}">
        <p14:creationId xmlns:p14="http://schemas.microsoft.com/office/powerpoint/2010/main" val="23629078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4D81E-16ED-59E5-59D6-D0E36BCD509F}"/>
            </a:ext>
          </a:extLst>
        </p:cNvPr>
        <p:cNvGrpSpPr/>
        <p:nvPr/>
      </p:nvGrpSpPr>
      <p:grpSpPr>
        <a:xfrm>
          <a:off x="0" y="0"/>
          <a:ext cx="0" cy="0"/>
          <a:chOff x="0" y="0"/>
          <a:chExt cx="0" cy="0"/>
        </a:xfrm>
      </p:grpSpPr>
      <p:sp>
        <p:nvSpPr>
          <p:cNvPr id="5" name="CaixaDeTexto 4">
            <a:extLst>
              <a:ext uri="{FF2B5EF4-FFF2-40B4-BE49-F238E27FC236}">
                <a16:creationId xmlns:a16="http://schemas.microsoft.com/office/drawing/2014/main" id="{6F46CC75-3A9F-C641-AE03-FE9C2256B50A}"/>
              </a:ext>
            </a:extLst>
          </p:cNvPr>
          <p:cNvSpPr txBox="1"/>
          <p:nvPr/>
        </p:nvSpPr>
        <p:spPr>
          <a:xfrm>
            <a:off x="812800" y="5105400"/>
            <a:ext cx="14782800" cy="3416320"/>
          </a:xfrm>
          <a:prstGeom prst="rect">
            <a:avLst/>
          </a:prstGeom>
          <a:noFill/>
        </p:spPr>
        <p:txBody>
          <a:bodyPr wrap="square">
            <a:spAutoFit/>
          </a:bodyPr>
          <a:lstStyle/>
          <a:p>
            <a:r>
              <a:rPr lang="pt-BR" sz="2400" b="1" dirty="0">
                <a:solidFill>
                  <a:srgbClr val="FFC000"/>
                </a:solidFill>
              </a:rPr>
              <a:t>Objetivos: </a:t>
            </a:r>
          </a:p>
          <a:p>
            <a:endParaRPr lang="pt-BR" sz="2400" dirty="0"/>
          </a:p>
          <a:p>
            <a:r>
              <a:rPr lang="pt-BR" sz="2400" dirty="0"/>
              <a:t> Entender como funciona uma estrutura de loop for. </a:t>
            </a:r>
          </a:p>
          <a:p>
            <a:endParaRPr lang="pt-BR" sz="2400" dirty="0"/>
          </a:p>
          <a:p>
            <a:r>
              <a:rPr lang="pt-BR" sz="2400" dirty="0"/>
              <a:t> Criar loops aninhados usando o for. </a:t>
            </a:r>
          </a:p>
          <a:p>
            <a:endParaRPr lang="pt-BR" sz="2400" dirty="0"/>
          </a:p>
          <a:p>
            <a:r>
              <a:rPr lang="pt-BR" sz="2400" dirty="0"/>
              <a:t> Utilizar o </a:t>
            </a:r>
            <a:r>
              <a:rPr lang="pt-BR" sz="2400" dirty="0" err="1"/>
              <a:t>while</a:t>
            </a:r>
            <a:r>
              <a:rPr lang="pt-BR" sz="2400" dirty="0"/>
              <a:t> para criar um loop e o comando break para terminar a execução.</a:t>
            </a:r>
          </a:p>
          <a:p>
            <a:r>
              <a:rPr lang="pt-BR" sz="2400" dirty="0"/>
              <a:t> </a:t>
            </a:r>
          </a:p>
          <a:p>
            <a:r>
              <a:rPr lang="pt-BR" sz="2400" dirty="0"/>
              <a:t> Criar um menu com </a:t>
            </a:r>
            <a:r>
              <a:rPr lang="pt-BR" sz="2400" dirty="0" err="1"/>
              <a:t>while</a:t>
            </a:r>
            <a:r>
              <a:rPr lang="pt-BR" sz="2400" dirty="0"/>
              <a:t> para ser reutilizado em diversos códigos.</a:t>
            </a:r>
            <a:endParaRPr lang="pt-BR" sz="2000" b="1" dirty="0"/>
          </a:p>
        </p:txBody>
      </p:sp>
      <p:pic>
        <p:nvPicPr>
          <p:cNvPr id="4" name="Imagem 3">
            <a:extLst>
              <a:ext uri="{FF2B5EF4-FFF2-40B4-BE49-F238E27FC236}">
                <a16:creationId xmlns:a16="http://schemas.microsoft.com/office/drawing/2014/main" id="{D05EDB24-FD90-C977-82C5-7651C1321D99}"/>
              </a:ext>
            </a:extLst>
          </p:cNvPr>
          <p:cNvPicPr>
            <a:picLocks noChangeAspect="1"/>
          </p:cNvPicPr>
          <p:nvPr/>
        </p:nvPicPr>
        <p:blipFill>
          <a:blip r:embed="rId2"/>
          <a:stretch>
            <a:fillRect/>
          </a:stretch>
        </p:blipFill>
        <p:spPr>
          <a:xfrm>
            <a:off x="10073412" y="0"/>
            <a:ext cx="6182588" cy="5830114"/>
          </a:xfrm>
          <a:prstGeom prst="rect">
            <a:avLst/>
          </a:prstGeom>
        </p:spPr>
      </p:pic>
    </p:spTree>
    <p:extLst>
      <p:ext uri="{BB962C8B-B14F-4D97-AF65-F5344CB8AC3E}">
        <p14:creationId xmlns:p14="http://schemas.microsoft.com/office/powerpoint/2010/main" val="22992011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5961FEEF-6739-AB6D-5B83-73E1FF019D48}"/>
            </a:ext>
          </a:extLst>
        </p:cNvPr>
        <p:cNvGrpSpPr/>
        <p:nvPr/>
      </p:nvGrpSpPr>
      <p:grpSpPr>
        <a:xfrm>
          <a:off x="0" y="0"/>
          <a:ext cx="0" cy="0"/>
          <a:chOff x="0" y="0"/>
          <a:chExt cx="0" cy="0"/>
        </a:xfrm>
      </p:grpSpPr>
      <p:pic>
        <p:nvPicPr>
          <p:cNvPr id="33" name="Picture 32">
            <a:extLst>
              <a:ext uri="{FF2B5EF4-FFF2-40B4-BE49-F238E27FC236}">
                <a16:creationId xmlns:a16="http://schemas.microsoft.com/office/drawing/2014/main" id="{412E3267-7ABE-412B-8580-47EC0D1F61F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35" name="Picture 34">
            <a:extLst>
              <a:ext uri="{FF2B5EF4-FFF2-40B4-BE49-F238E27FC236}">
                <a16:creationId xmlns:a16="http://schemas.microsoft.com/office/drawing/2014/main" id="{20B62C5A-2250-4380-AB23-DB87446CCED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37" name="Oval 36">
            <a:extLst>
              <a:ext uri="{FF2B5EF4-FFF2-40B4-BE49-F238E27FC236}">
                <a16:creationId xmlns:a16="http://schemas.microsoft.com/office/drawing/2014/main" id="{D42CF425-7213-4F89-B0FF-4C2BDDD9C6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39" name="Picture 38">
            <a:extLst>
              <a:ext uri="{FF2B5EF4-FFF2-40B4-BE49-F238E27FC236}">
                <a16:creationId xmlns:a16="http://schemas.microsoft.com/office/drawing/2014/main" id="{D35DA97D-88F8-4249-B650-4FC9FD50A38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41" name="Picture 40">
            <a:extLst>
              <a:ext uri="{FF2B5EF4-FFF2-40B4-BE49-F238E27FC236}">
                <a16:creationId xmlns:a16="http://schemas.microsoft.com/office/drawing/2014/main" id="{43F38673-6E30-4BAE-AC67-0B283EBF42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43" name="Rectangle 42">
            <a:extLst>
              <a:ext uri="{FF2B5EF4-FFF2-40B4-BE49-F238E27FC236}">
                <a16:creationId xmlns:a16="http://schemas.microsoft.com/office/drawing/2014/main" id="{202A25CB-1ED1-4C87-AB49-8D3BC684D1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 name="CaixaDeTexto 2">
            <a:extLst>
              <a:ext uri="{FF2B5EF4-FFF2-40B4-BE49-F238E27FC236}">
                <a16:creationId xmlns:a16="http://schemas.microsoft.com/office/drawing/2014/main" id="{C3528B04-934B-C78A-72D2-DC77A10FDF9C}"/>
              </a:ext>
            </a:extLst>
          </p:cNvPr>
          <p:cNvSpPr txBox="1"/>
          <p:nvPr/>
        </p:nvSpPr>
        <p:spPr>
          <a:xfrm>
            <a:off x="861482" y="603624"/>
            <a:ext cx="7505630" cy="1867373"/>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3900" dirty="0">
                <a:solidFill>
                  <a:schemeClr val="tx2"/>
                </a:solidFill>
                <a:latin typeface="+mj-lt"/>
                <a:ea typeface="+mj-ea"/>
                <a:cs typeface="+mj-cs"/>
              </a:rPr>
              <a:t>Vamos </a:t>
            </a:r>
            <a:r>
              <a:rPr lang="en-US" sz="3900" dirty="0" err="1">
                <a:solidFill>
                  <a:schemeClr val="tx2"/>
                </a:solidFill>
                <a:latin typeface="+mj-lt"/>
                <a:ea typeface="+mj-ea"/>
                <a:cs typeface="+mj-cs"/>
              </a:rPr>
              <a:t>praticar</a:t>
            </a:r>
            <a:r>
              <a:rPr lang="en-US" sz="3900" dirty="0">
                <a:solidFill>
                  <a:schemeClr val="tx2"/>
                </a:solidFill>
                <a:latin typeface="+mj-lt"/>
                <a:ea typeface="+mj-ea"/>
                <a:cs typeface="+mj-cs"/>
              </a:rPr>
              <a:t>...</a:t>
            </a:r>
          </a:p>
          <a:p>
            <a:pPr>
              <a:lnSpc>
                <a:spcPct val="90000"/>
              </a:lnSpc>
              <a:spcBef>
                <a:spcPct val="0"/>
              </a:spcBef>
              <a:spcAft>
                <a:spcPts val="600"/>
              </a:spcAft>
            </a:pPr>
            <a:endParaRPr lang="en-US" sz="3900" dirty="0">
              <a:solidFill>
                <a:schemeClr val="tx2"/>
              </a:solidFill>
              <a:latin typeface="+mj-lt"/>
              <a:ea typeface="+mj-ea"/>
              <a:cs typeface="+mj-cs"/>
            </a:endParaRPr>
          </a:p>
          <a:p>
            <a:pPr>
              <a:lnSpc>
                <a:spcPct val="90000"/>
              </a:lnSpc>
              <a:spcBef>
                <a:spcPct val="0"/>
              </a:spcBef>
              <a:spcAft>
                <a:spcPts val="600"/>
              </a:spcAft>
            </a:pPr>
            <a:r>
              <a:rPr lang="en-US" sz="3900" dirty="0" err="1">
                <a:solidFill>
                  <a:schemeClr val="tx2"/>
                </a:solidFill>
                <a:latin typeface="+mj-lt"/>
                <a:ea typeface="+mj-ea"/>
                <a:cs typeface="+mj-cs"/>
              </a:rPr>
              <a:t>Atividade</a:t>
            </a:r>
            <a:r>
              <a:rPr lang="en-US" sz="3900" dirty="0">
                <a:solidFill>
                  <a:schemeClr val="tx2"/>
                </a:solidFill>
                <a:latin typeface="+mj-lt"/>
                <a:ea typeface="+mj-ea"/>
                <a:cs typeface="+mj-cs"/>
              </a:rPr>
              <a:t> 1 – </a:t>
            </a:r>
            <a:r>
              <a:rPr lang="en-US" sz="3900" dirty="0" err="1">
                <a:solidFill>
                  <a:schemeClr val="tx2"/>
                </a:solidFill>
                <a:latin typeface="+mj-lt"/>
                <a:ea typeface="+mj-ea"/>
                <a:cs typeface="+mj-cs"/>
              </a:rPr>
              <a:t>Tabuada</a:t>
            </a:r>
            <a:r>
              <a:rPr lang="en-US" sz="3900" dirty="0">
                <a:solidFill>
                  <a:schemeClr val="tx2"/>
                </a:solidFill>
                <a:latin typeface="+mj-lt"/>
                <a:ea typeface="+mj-ea"/>
                <a:cs typeface="+mj-cs"/>
              </a:rPr>
              <a:t> </a:t>
            </a:r>
          </a:p>
        </p:txBody>
      </p:sp>
      <p:sp>
        <p:nvSpPr>
          <p:cNvPr id="45" name="Freeform: Shape 44">
            <a:extLst>
              <a:ext uri="{FF2B5EF4-FFF2-40B4-BE49-F238E27FC236}">
                <a16:creationId xmlns:a16="http://schemas.microsoft.com/office/drawing/2014/main" id="{BDF1A5A8-1F9D-41FB-9968-E8E141CC34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7998308" y="885749"/>
            <a:ext cx="9144001" cy="7372503"/>
          </a:xfrm>
          <a:custGeom>
            <a:avLst/>
            <a:gdLst>
              <a:gd name="connsiteX0" fmla="*/ 6858001 w 6858001"/>
              <a:gd name="connsiteY0" fmla="*/ 1177 h 5529377"/>
              <a:gd name="connsiteX1" fmla="*/ 6858001 w 6858001"/>
              <a:gd name="connsiteY1" fmla="*/ 1344715 h 5529377"/>
              <a:gd name="connsiteX2" fmla="*/ 6858000 w 6858001"/>
              <a:gd name="connsiteY2" fmla="*/ 1344715 h 5529377"/>
              <a:gd name="connsiteX3" fmla="*/ 6858000 w 6858001"/>
              <a:gd name="connsiteY3" fmla="*/ 5529377 h 5529377"/>
              <a:gd name="connsiteX4" fmla="*/ 0 w 6858001"/>
              <a:gd name="connsiteY4" fmla="*/ 5529376 h 5529377"/>
              <a:gd name="connsiteX5" fmla="*/ 0 w 6858001"/>
              <a:gd name="connsiteY5" fmla="*/ 891096 h 5529377"/>
              <a:gd name="connsiteX6" fmla="*/ 1 w 6858001"/>
              <a:gd name="connsiteY6" fmla="*/ 891096 h 5529377"/>
              <a:gd name="connsiteX7" fmla="*/ 1 w 6858001"/>
              <a:gd name="connsiteY7" fmla="*/ 0 h 5529377"/>
              <a:gd name="connsiteX8" fmla="*/ 40463 w 6858001"/>
              <a:gd name="connsiteY8" fmla="*/ 5883 h 5529377"/>
              <a:gd name="connsiteX9" fmla="*/ 159107 w 6858001"/>
              <a:gd name="connsiteY9" fmla="*/ 23196 h 5529377"/>
              <a:gd name="connsiteX10" fmla="*/ 245518 w 6858001"/>
              <a:gd name="connsiteY10" fmla="*/ 35299 h 5529377"/>
              <a:gd name="connsiteX11" fmla="*/ 348388 w 6858001"/>
              <a:gd name="connsiteY11" fmla="*/ 48073 h 5529377"/>
              <a:gd name="connsiteX12" fmla="*/ 470460 w 6858001"/>
              <a:gd name="connsiteY12" fmla="*/ 63369 h 5529377"/>
              <a:gd name="connsiteX13" fmla="*/ 605563 w 6858001"/>
              <a:gd name="connsiteY13" fmla="*/ 79506 h 5529377"/>
              <a:gd name="connsiteX14" fmla="*/ 757810 w 6858001"/>
              <a:gd name="connsiteY14" fmla="*/ 96483 h 5529377"/>
              <a:gd name="connsiteX15" fmla="*/ 923774 w 6858001"/>
              <a:gd name="connsiteY15" fmla="*/ 114469 h 5529377"/>
              <a:gd name="connsiteX16" fmla="*/ 1104139 w 6858001"/>
              <a:gd name="connsiteY16" fmla="*/ 132454 h 5529377"/>
              <a:gd name="connsiteX17" fmla="*/ 1296163 w 6858001"/>
              <a:gd name="connsiteY17" fmla="*/ 150776 h 5529377"/>
              <a:gd name="connsiteX18" fmla="*/ 1503275 w 6858001"/>
              <a:gd name="connsiteY18" fmla="*/ 167753 h 5529377"/>
              <a:gd name="connsiteX19" fmla="*/ 1719988 w 6858001"/>
              <a:gd name="connsiteY19" fmla="*/ 184058 h 5529377"/>
              <a:gd name="connsiteX20" fmla="*/ 1949045 w 6858001"/>
              <a:gd name="connsiteY20" fmla="*/ 198849 h 5529377"/>
              <a:gd name="connsiteX21" fmla="*/ 2187703 w 6858001"/>
              <a:gd name="connsiteY21" fmla="*/ 212969 h 5529377"/>
              <a:gd name="connsiteX22" fmla="*/ 2436649 w 6858001"/>
              <a:gd name="connsiteY22" fmla="*/ 226248 h 5529377"/>
              <a:gd name="connsiteX23" fmla="*/ 2564208 w 6858001"/>
              <a:gd name="connsiteY23" fmla="*/ 230955 h 5529377"/>
              <a:gd name="connsiteX24" fmla="*/ 2694509 w 6858001"/>
              <a:gd name="connsiteY24" fmla="*/ 236165 h 5529377"/>
              <a:gd name="connsiteX25" fmla="*/ 2826868 w 6858001"/>
              <a:gd name="connsiteY25" fmla="*/ 241040 h 5529377"/>
              <a:gd name="connsiteX26" fmla="*/ 2959914 w 6858001"/>
              <a:gd name="connsiteY26" fmla="*/ 244234 h 5529377"/>
              <a:gd name="connsiteX27" fmla="*/ 3095702 w 6858001"/>
              <a:gd name="connsiteY27" fmla="*/ 247091 h 5529377"/>
              <a:gd name="connsiteX28" fmla="*/ 3232862 w 6858001"/>
              <a:gd name="connsiteY28" fmla="*/ 250117 h 5529377"/>
              <a:gd name="connsiteX29" fmla="*/ 3372765 w 6858001"/>
              <a:gd name="connsiteY29" fmla="*/ 252134 h 5529377"/>
              <a:gd name="connsiteX30" fmla="*/ 3514040 w 6858001"/>
              <a:gd name="connsiteY30" fmla="*/ 252134 h 5529377"/>
              <a:gd name="connsiteX31" fmla="*/ 3656686 w 6858001"/>
              <a:gd name="connsiteY31" fmla="*/ 253142 h 5529377"/>
              <a:gd name="connsiteX32" fmla="*/ 3800704 w 6858001"/>
              <a:gd name="connsiteY32" fmla="*/ 252134 h 5529377"/>
              <a:gd name="connsiteX33" fmla="*/ 3946780 w 6858001"/>
              <a:gd name="connsiteY33" fmla="*/ 250117 h 5529377"/>
              <a:gd name="connsiteX34" fmla="*/ 4092855 w 6858001"/>
              <a:gd name="connsiteY34" fmla="*/ 248268 h 5529377"/>
              <a:gd name="connsiteX35" fmla="*/ 4240988 w 6858001"/>
              <a:gd name="connsiteY35" fmla="*/ 244234 h 5529377"/>
              <a:gd name="connsiteX36" fmla="*/ 4390492 w 6858001"/>
              <a:gd name="connsiteY36" fmla="*/ 240032 h 5529377"/>
              <a:gd name="connsiteX37" fmla="*/ 4539997 w 6858001"/>
              <a:gd name="connsiteY37" fmla="*/ 235157 h 5529377"/>
              <a:gd name="connsiteX38" fmla="*/ 4690873 w 6858001"/>
              <a:gd name="connsiteY38" fmla="*/ 228266 h 5529377"/>
              <a:gd name="connsiteX39" fmla="*/ 4843120 w 6858001"/>
              <a:gd name="connsiteY39" fmla="*/ 220029 h 5529377"/>
              <a:gd name="connsiteX40" fmla="*/ 4996054 w 6858001"/>
              <a:gd name="connsiteY40" fmla="*/ 212129 h 5529377"/>
              <a:gd name="connsiteX41" fmla="*/ 5148987 w 6858001"/>
              <a:gd name="connsiteY41" fmla="*/ 202044 h 5529377"/>
              <a:gd name="connsiteX42" fmla="*/ 5303978 w 6858001"/>
              <a:gd name="connsiteY42" fmla="*/ 189941 h 5529377"/>
              <a:gd name="connsiteX43" fmla="*/ 5456911 w 6858001"/>
              <a:gd name="connsiteY43" fmla="*/ 177839 h 5529377"/>
              <a:gd name="connsiteX44" fmla="*/ 5612588 w 6858001"/>
              <a:gd name="connsiteY44" fmla="*/ 163887 h 5529377"/>
              <a:gd name="connsiteX45" fmla="*/ 5768950 w 6858001"/>
              <a:gd name="connsiteY45" fmla="*/ 148591 h 5529377"/>
              <a:gd name="connsiteX46" fmla="*/ 5923255 w 6858001"/>
              <a:gd name="connsiteY46" fmla="*/ 132455 h 5529377"/>
              <a:gd name="connsiteX47" fmla="*/ 6079618 w 6858001"/>
              <a:gd name="connsiteY47" fmla="*/ 113629 h 5529377"/>
              <a:gd name="connsiteX48" fmla="*/ 6235294 w 6858001"/>
              <a:gd name="connsiteY48" fmla="*/ 93458 h 5529377"/>
              <a:gd name="connsiteX49" fmla="*/ 6391657 w 6858001"/>
              <a:gd name="connsiteY49" fmla="*/ 73455 h 5529377"/>
              <a:gd name="connsiteX50" fmla="*/ 6547333 w 6858001"/>
              <a:gd name="connsiteY50" fmla="*/ 50091 h 5529377"/>
              <a:gd name="connsiteX51" fmla="*/ 6702324 w 6858001"/>
              <a:gd name="connsiteY51" fmla="*/ 26222 h 5529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5529377">
                <a:moveTo>
                  <a:pt x="6858001" y="1177"/>
                </a:moveTo>
                <a:lnTo>
                  <a:pt x="6858001" y="1344715"/>
                </a:lnTo>
                <a:lnTo>
                  <a:pt x="6858000" y="1344715"/>
                </a:lnTo>
                <a:lnTo>
                  <a:pt x="6858000" y="5529377"/>
                </a:lnTo>
                <a:lnTo>
                  <a:pt x="0" y="5529376"/>
                </a:lnTo>
                <a:lnTo>
                  <a:pt x="0" y="891096"/>
                </a:lnTo>
                <a:lnTo>
                  <a:pt x="1" y="891096"/>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8" y="241040"/>
                </a:lnTo>
                <a:lnTo>
                  <a:pt x="2959914" y="244234"/>
                </a:lnTo>
                <a:lnTo>
                  <a:pt x="3095702" y="247091"/>
                </a:lnTo>
                <a:lnTo>
                  <a:pt x="3232862" y="250117"/>
                </a:lnTo>
                <a:lnTo>
                  <a:pt x="3372765" y="252134"/>
                </a:lnTo>
                <a:lnTo>
                  <a:pt x="3514040" y="252134"/>
                </a:lnTo>
                <a:lnTo>
                  <a:pt x="3656686" y="253142"/>
                </a:lnTo>
                <a:lnTo>
                  <a:pt x="3800704" y="252134"/>
                </a:lnTo>
                <a:lnTo>
                  <a:pt x="3946780" y="250117"/>
                </a:lnTo>
                <a:lnTo>
                  <a:pt x="4092855"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solidFill>
            <a:srgbClr val="FFFFFF"/>
          </a:solidFill>
          <a:ln>
            <a:noFill/>
          </a:ln>
        </p:spPr>
        <p:txBody>
          <a:bodyPr/>
          <a:lstStyle/>
          <a:p>
            <a:endParaRPr lang="pt-BR"/>
          </a:p>
        </p:txBody>
      </p:sp>
      <p:sp>
        <p:nvSpPr>
          <p:cNvPr id="47" name="Freeform 7">
            <a:extLst>
              <a:ext uri="{FF2B5EF4-FFF2-40B4-BE49-F238E27FC236}">
                <a16:creationId xmlns:a16="http://schemas.microsoft.com/office/drawing/2014/main" id="{2FF8A507-56A2-4FE4-8B7E-C1BC9DD86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99790" y="-1"/>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49" name="Rectangle 48">
            <a:extLst>
              <a:ext uri="{FF2B5EF4-FFF2-40B4-BE49-F238E27FC236}">
                <a16:creationId xmlns:a16="http://schemas.microsoft.com/office/drawing/2014/main" id="{FCC54B50-93BD-4243-9020-11486472E2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23264"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5" name="CaixaDeTexto 4">
            <a:extLst>
              <a:ext uri="{FF2B5EF4-FFF2-40B4-BE49-F238E27FC236}">
                <a16:creationId xmlns:a16="http://schemas.microsoft.com/office/drawing/2014/main" id="{2ED35040-5ED2-49B7-65AE-27293FEEF0A5}"/>
              </a:ext>
            </a:extLst>
          </p:cNvPr>
          <p:cNvSpPr txBox="1"/>
          <p:nvPr/>
        </p:nvSpPr>
        <p:spPr>
          <a:xfrm>
            <a:off x="861482" y="2737224"/>
            <a:ext cx="7504847" cy="5593974"/>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buFont typeface="Wingdings 3" charset="2"/>
              <a:buChar char=""/>
            </a:pPr>
            <a:r>
              <a:rPr lang="en-US" b="1" dirty="0" err="1">
                <a:latin typeface="+mj-lt"/>
                <a:ea typeface="+mj-ea"/>
                <a:cs typeface="+mj-cs"/>
              </a:rPr>
              <a:t>Objetivo</a:t>
            </a:r>
            <a:r>
              <a:rPr lang="en-US" b="1" dirty="0">
                <a:latin typeface="+mj-lt"/>
                <a:ea typeface="+mj-ea"/>
                <a:cs typeface="+mj-cs"/>
              </a:rPr>
              <a:t>: Nesta </a:t>
            </a:r>
            <a:r>
              <a:rPr lang="en-US" b="1" dirty="0" err="1">
                <a:latin typeface="+mj-lt"/>
                <a:ea typeface="+mj-ea"/>
                <a:cs typeface="+mj-cs"/>
              </a:rPr>
              <a:t>atividade</a:t>
            </a:r>
            <a:r>
              <a:rPr lang="en-US" b="1" dirty="0">
                <a:latin typeface="+mj-lt"/>
                <a:ea typeface="+mj-ea"/>
                <a:cs typeface="+mj-cs"/>
              </a:rPr>
              <a:t> </a:t>
            </a:r>
            <a:r>
              <a:rPr lang="en-US" b="1" dirty="0" err="1">
                <a:latin typeface="+mj-lt"/>
                <a:ea typeface="+mj-ea"/>
                <a:cs typeface="+mj-cs"/>
              </a:rPr>
              <a:t>você</a:t>
            </a:r>
            <a:r>
              <a:rPr lang="en-US" b="1" dirty="0">
                <a:latin typeface="+mj-lt"/>
                <a:ea typeface="+mj-ea"/>
                <a:cs typeface="+mj-cs"/>
              </a:rPr>
              <a:t> </a:t>
            </a:r>
            <a:r>
              <a:rPr lang="en-US" b="1" dirty="0" err="1">
                <a:latin typeface="+mj-lt"/>
                <a:ea typeface="+mj-ea"/>
                <a:cs typeface="+mj-cs"/>
              </a:rPr>
              <a:t>vai</a:t>
            </a:r>
            <a:r>
              <a:rPr lang="en-US" b="1" dirty="0">
                <a:latin typeface="+mj-lt"/>
                <a:ea typeface="+mj-ea"/>
                <a:cs typeface="+mj-cs"/>
              </a:rPr>
              <a:t> </a:t>
            </a:r>
            <a:r>
              <a:rPr lang="en-US" b="1" dirty="0" err="1">
                <a:latin typeface="+mj-lt"/>
                <a:ea typeface="+mj-ea"/>
                <a:cs typeface="+mj-cs"/>
              </a:rPr>
              <a:t>montar</a:t>
            </a:r>
            <a:r>
              <a:rPr lang="en-US" b="1" dirty="0">
                <a:latin typeface="+mj-lt"/>
                <a:ea typeface="+mj-ea"/>
                <a:cs typeface="+mj-cs"/>
              </a:rPr>
              <a:t> </a:t>
            </a:r>
            <a:r>
              <a:rPr lang="en-US" b="1" dirty="0" err="1">
                <a:latin typeface="+mj-lt"/>
                <a:ea typeface="+mj-ea"/>
                <a:cs typeface="+mj-cs"/>
              </a:rPr>
              <a:t>uma</a:t>
            </a:r>
            <a:r>
              <a:rPr lang="en-US" b="1" dirty="0">
                <a:latin typeface="+mj-lt"/>
                <a:ea typeface="+mj-ea"/>
                <a:cs typeface="+mj-cs"/>
              </a:rPr>
              <a:t> </a:t>
            </a:r>
            <a:r>
              <a:rPr lang="en-US" b="1" dirty="0" err="1">
                <a:latin typeface="+mj-lt"/>
                <a:ea typeface="+mj-ea"/>
                <a:cs typeface="+mj-cs"/>
              </a:rPr>
              <a:t>Tabuada</a:t>
            </a:r>
            <a:r>
              <a:rPr lang="en-US" b="1" dirty="0">
                <a:latin typeface="+mj-lt"/>
                <a:ea typeface="+mj-ea"/>
                <a:cs typeface="+mj-cs"/>
              </a:rPr>
              <a:t> </a:t>
            </a:r>
            <a:r>
              <a:rPr lang="en-US" b="1" dirty="0" err="1">
                <a:latin typeface="+mj-lt"/>
                <a:ea typeface="+mj-ea"/>
                <a:cs typeface="+mj-cs"/>
              </a:rPr>
              <a:t>usando</a:t>
            </a:r>
            <a:r>
              <a:rPr lang="en-US" b="1" dirty="0">
                <a:latin typeface="+mj-lt"/>
                <a:ea typeface="+mj-ea"/>
                <a:cs typeface="+mj-cs"/>
              </a:rPr>
              <a:t> a </a:t>
            </a:r>
            <a:r>
              <a:rPr lang="en-US" b="1" dirty="0" err="1">
                <a:latin typeface="+mj-lt"/>
                <a:ea typeface="+mj-ea"/>
                <a:cs typeface="+mj-cs"/>
              </a:rPr>
              <a:t>estrutura</a:t>
            </a:r>
            <a:r>
              <a:rPr lang="en-US" b="1" dirty="0">
                <a:latin typeface="+mj-lt"/>
                <a:ea typeface="+mj-ea"/>
                <a:cs typeface="+mj-cs"/>
              </a:rPr>
              <a:t> de Loop do For e range. </a:t>
            </a:r>
            <a:r>
              <a:rPr lang="en-US" b="1" dirty="0" err="1">
                <a:latin typeface="+mj-lt"/>
                <a:ea typeface="+mj-ea"/>
                <a:cs typeface="+mj-cs"/>
              </a:rPr>
              <a:t>Comandos</a:t>
            </a:r>
            <a:r>
              <a:rPr lang="en-US" b="1" dirty="0">
                <a:latin typeface="+mj-lt"/>
                <a:ea typeface="+mj-ea"/>
                <a:cs typeface="+mj-cs"/>
              </a:rPr>
              <a:t> </a:t>
            </a:r>
            <a:r>
              <a:rPr lang="en-US" b="1" dirty="0" err="1">
                <a:latin typeface="+mj-lt"/>
                <a:ea typeface="+mj-ea"/>
                <a:cs typeface="+mj-cs"/>
              </a:rPr>
              <a:t>utilizados</a:t>
            </a:r>
            <a:r>
              <a:rPr lang="en-US" b="1" dirty="0">
                <a:latin typeface="+mj-lt"/>
                <a:ea typeface="+mj-ea"/>
                <a:cs typeface="+mj-cs"/>
              </a:rPr>
              <a:t>:</a:t>
            </a:r>
          </a:p>
          <a:p>
            <a:pPr>
              <a:spcBef>
                <a:spcPts val="1000"/>
              </a:spcBef>
              <a:buClr>
                <a:schemeClr val="bg2">
                  <a:lumMod val="40000"/>
                  <a:lumOff val="60000"/>
                </a:schemeClr>
              </a:buClr>
              <a:buSzPct val="80000"/>
              <a:buFont typeface="Wingdings 3" charset="2"/>
              <a:buChar char=""/>
            </a:pPr>
            <a:endParaRPr lang="en-US" b="1" dirty="0">
              <a:latin typeface="+mj-lt"/>
              <a:ea typeface="+mj-ea"/>
              <a:cs typeface="+mj-cs"/>
            </a:endParaRPr>
          </a:p>
          <a:p>
            <a:pPr>
              <a:spcBef>
                <a:spcPts val="1000"/>
              </a:spcBef>
              <a:buClr>
                <a:schemeClr val="bg2">
                  <a:lumMod val="40000"/>
                  <a:lumOff val="60000"/>
                </a:schemeClr>
              </a:buClr>
              <a:buSzPct val="80000"/>
              <a:buFont typeface="Wingdings 3" charset="2"/>
              <a:buChar char=""/>
            </a:pPr>
            <a:r>
              <a:rPr lang="en-US" b="1" dirty="0" err="1">
                <a:latin typeface="+mj-lt"/>
                <a:ea typeface="+mj-ea"/>
                <a:cs typeface="+mj-cs"/>
              </a:rPr>
              <a:t>Comandos</a:t>
            </a:r>
            <a:r>
              <a:rPr lang="en-US" b="1" dirty="0">
                <a:latin typeface="+mj-lt"/>
                <a:ea typeface="+mj-ea"/>
                <a:cs typeface="+mj-cs"/>
              </a:rPr>
              <a:t> for e range </a:t>
            </a:r>
          </a:p>
          <a:p>
            <a:pPr>
              <a:spcBef>
                <a:spcPts val="1000"/>
              </a:spcBef>
              <a:buClr>
                <a:schemeClr val="bg2">
                  <a:lumMod val="40000"/>
                  <a:lumOff val="60000"/>
                </a:schemeClr>
              </a:buClr>
              <a:buSzPct val="80000"/>
              <a:buFont typeface="Wingdings 3" charset="2"/>
              <a:buChar char=""/>
            </a:pPr>
            <a:r>
              <a:rPr lang="en-US" b="1" dirty="0">
                <a:latin typeface="+mj-lt"/>
                <a:ea typeface="+mj-ea"/>
                <a:cs typeface="+mj-cs"/>
              </a:rPr>
              <a:t>For / range O for é </a:t>
            </a:r>
            <a:r>
              <a:rPr lang="en-US" b="1" dirty="0" err="1">
                <a:latin typeface="+mj-lt"/>
                <a:ea typeface="+mj-ea"/>
                <a:cs typeface="+mj-cs"/>
              </a:rPr>
              <a:t>utilizado</a:t>
            </a:r>
            <a:r>
              <a:rPr lang="en-US" b="1" dirty="0">
                <a:latin typeface="+mj-lt"/>
                <a:ea typeface="+mj-ea"/>
                <a:cs typeface="+mj-cs"/>
              </a:rPr>
              <a:t> para </a:t>
            </a:r>
            <a:r>
              <a:rPr lang="en-US" b="1" dirty="0" err="1">
                <a:latin typeface="+mj-lt"/>
                <a:ea typeface="+mj-ea"/>
                <a:cs typeface="+mj-cs"/>
              </a:rPr>
              <a:t>criar</a:t>
            </a:r>
            <a:r>
              <a:rPr lang="en-US" b="1" dirty="0">
                <a:latin typeface="+mj-lt"/>
                <a:ea typeface="+mj-ea"/>
                <a:cs typeface="+mj-cs"/>
              </a:rPr>
              <a:t> um loop, no for é </a:t>
            </a:r>
            <a:r>
              <a:rPr lang="en-US" b="1" dirty="0" err="1">
                <a:latin typeface="+mj-lt"/>
                <a:ea typeface="+mj-ea"/>
                <a:cs typeface="+mj-cs"/>
              </a:rPr>
              <a:t>indicado</a:t>
            </a:r>
            <a:r>
              <a:rPr lang="en-US" b="1" dirty="0">
                <a:latin typeface="+mj-lt"/>
                <a:ea typeface="+mj-ea"/>
                <a:cs typeface="+mj-cs"/>
              </a:rPr>
              <a:t> </a:t>
            </a:r>
            <a:r>
              <a:rPr lang="en-US" b="1" dirty="0" err="1">
                <a:latin typeface="+mj-lt"/>
                <a:ea typeface="+mj-ea"/>
                <a:cs typeface="+mj-cs"/>
              </a:rPr>
              <a:t>quantas</a:t>
            </a:r>
            <a:r>
              <a:rPr lang="en-US" b="1" dirty="0">
                <a:latin typeface="+mj-lt"/>
                <a:ea typeface="+mj-ea"/>
                <a:cs typeface="+mj-cs"/>
              </a:rPr>
              <a:t> </a:t>
            </a:r>
            <a:r>
              <a:rPr lang="en-US" b="1" dirty="0" err="1">
                <a:latin typeface="+mj-lt"/>
                <a:ea typeface="+mj-ea"/>
                <a:cs typeface="+mj-cs"/>
              </a:rPr>
              <a:t>vezes</a:t>
            </a:r>
            <a:r>
              <a:rPr lang="en-US" b="1" dirty="0">
                <a:latin typeface="+mj-lt"/>
                <a:ea typeface="+mj-ea"/>
                <a:cs typeface="+mj-cs"/>
              </a:rPr>
              <a:t> o loop </a:t>
            </a:r>
            <a:r>
              <a:rPr lang="en-US" b="1" dirty="0" err="1">
                <a:latin typeface="+mj-lt"/>
                <a:ea typeface="+mj-ea"/>
                <a:cs typeface="+mj-cs"/>
              </a:rPr>
              <a:t>será</a:t>
            </a:r>
            <a:r>
              <a:rPr lang="en-US" b="1" dirty="0">
                <a:latin typeface="+mj-lt"/>
                <a:ea typeface="+mj-ea"/>
                <a:cs typeface="+mj-cs"/>
              </a:rPr>
              <a:t> </a:t>
            </a:r>
            <a:r>
              <a:rPr lang="en-US" b="1" dirty="0" err="1">
                <a:latin typeface="+mj-lt"/>
                <a:ea typeface="+mj-ea"/>
                <a:cs typeface="+mj-cs"/>
              </a:rPr>
              <a:t>executado</a:t>
            </a:r>
            <a:r>
              <a:rPr lang="en-US" b="1" dirty="0">
                <a:latin typeface="+mj-lt"/>
                <a:ea typeface="+mj-ea"/>
                <a:cs typeface="+mj-cs"/>
              </a:rPr>
              <a:t> atrás do range. </a:t>
            </a:r>
          </a:p>
          <a:p>
            <a:pPr>
              <a:spcBef>
                <a:spcPts val="1000"/>
              </a:spcBef>
              <a:buClr>
                <a:schemeClr val="bg2">
                  <a:lumMod val="40000"/>
                  <a:lumOff val="60000"/>
                </a:schemeClr>
              </a:buClr>
              <a:buSzPct val="80000"/>
              <a:buFont typeface="Wingdings 3" charset="2"/>
              <a:buChar char=""/>
            </a:pPr>
            <a:endParaRPr lang="en-US" b="1" dirty="0">
              <a:latin typeface="+mj-lt"/>
              <a:ea typeface="+mj-ea"/>
              <a:cs typeface="+mj-cs"/>
            </a:endParaRPr>
          </a:p>
          <a:p>
            <a:pPr>
              <a:spcBef>
                <a:spcPts val="1000"/>
              </a:spcBef>
              <a:buClr>
                <a:schemeClr val="bg2">
                  <a:lumMod val="40000"/>
                  <a:lumOff val="60000"/>
                </a:schemeClr>
              </a:buClr>
              <a:buSzPct val="80000"/>
              <a:buFont typeface="Wingdings 3" charset="2"/>
              <a:buChar char=""/>
            </a:pPr>
            <a:r>
              <a:rPr lang="en-US" b="1" dirty="0">
                <a:solidFill>
                  <a:srgbClr val="FFC000"/>
                </a:solidFill>
                <a:latin typeface="+mj-lt"/>
                <a:ea typeface="+mj-ea"/>
                <a:cs typeface="+mj-cs"/>
              </a:rPr>
              <a:t>for </a:t>
            </a:r>
            <a:r>
              <a:rPr lang="en-US" b="1" dirty="0" err="1">
                <a:solidFill>
                  <a:srgbClr val="FFC000"/>
                </a:solidFill>
                <a:latin typeface="+mj-lt"/>
                <a:ea typeface="+mj-ea"/>
                <a:cs typeface="+mj-cs"/>
              </a:rPr>
              <a:t>i</a:t>
            </a:r>
            <a:r>
              <a:rPr lang="en-US" b="1" dirty="0">
                <a:solidFill>
                  <a:srgbClr val="FFC000"/>
                </a:solidFill>
                <a:latin typeface="+mj-lt"/>
                <a:ea typeface="+mj-ea"/>
                <a:cs typeface="+mj-cs"/>
              </a:rPr>
              <a:t> in range(10) </a:t>
            </a:r>
          </a:p>
          <a:p>
            <a:pPr>
              <a:spcBef>
                <a:spcPts val="1000"/>
              </a:spcBef>
              <a:buClr>
                <a:schemeClr val="bg2">
                  <a:lumMod val="40000"/>
                  <a:lumOff val="60000"/>
                </a:schemeClr>
              </a:buClr>
              <a:buSzPct val="80000"/>
              <a:buFont typeface="Wingdings 3" charset="2"/>
              <a:buChar char=""/>
            </a:pPr>
            <a:r>
              <a:rPr lang="en-US" b="1" dirty="0">
                <a:latin typeface="+mj-lt"/>
                <a:ea typeface="+mj-ea"/>
                <a:cs typeface="+mj-cs"/>
              </a:rPr>
              <a:t>#loop </a:t>
            </a:r>
            <a:r>
              <a:rPr lang="en-US" b="1" dirty="0" err="1">
                <a:latin typeface="+mj-lt"/>
                <a:ea typeface="+mj-ea"/>
                <a:cs typeface="+mj-cs"/>
              </a:rPr>
              <a:t>começando</a:t>
            </a:r>
            <a:r>
              <a:rPr lang="en-US" b="1" dirty="0">
                <a:latin typeface="+mj-lt"/>
                <a:ea typeface="+mj-ea"/>
                <a:cs typeface="+mj-cs"/>
              </a:rPr>
              <a:t> </a:t>
            </a:r>
            <a:r>
              <a:rPr lang="en-US" b="1" dirty="0" err="1">
                <a:latin typeface="+mj-lt"/>
                <a:ea typeface="+mj-ea"/>
                <a:cs typeface="+mj-cs"/>
              </a:rPr>
              <a:t>em</a:t>
            </a:r>
            <a:r>
              <a:rPr lang="en-US" b="1" dirty="0">
                <a:latin typeface="+mj-lt"/>
                <a:ea typeface="+mj-ea"/>
                <a:cs typeface="+mj-cs"/>
              </a:rPr>
              <a:t> 0 </a:t>
            </a:r>
            <a:r>
              <a:rPr lang="en-US" b="1" dirty="0" err="1">
                <a:latin typeface="+mj-lt"/>
                <a:ea typeface="+mj-ea"/>
                <a:cs typeface="+mj-cs"/>
              </a:rPr>
              <a:t>até</a:t>
            </a:r>
            <a:r>
              <a:rPr lang="en-US" b="1" dirty="0">
                <a:latin typeface="+mj-lt"/>
                <a:ea typeface="+mj-ea"/>
                <a:cs typeface="+mj-cs"/>
              </a:rPr>
              <a:t> 9 (10 </a:t>
            </a:r>
            <a:r>
              <a:rPr lang="en-US" b="1" dirty="0" err="1">
                <a:latin typeface="+mj-lt"/>
                <a:ea typeface="+mj-ea"/>
                <a:cs typeface="+mj-cs"/>
              </a:rPr>
              <a:t>vezes</a:t>
            </a:r>
            <a:r>
              <a:rPr lang="en-US" b="1" dirty="0">
                <a:latin typeface="+mj-lt"/>
                <a:ea typeface="+mj-ea"/>
                <a:cs typeface="+mj-cs"/>
              </a:rPr>
              <a:t>).</a:t>
            </a:r>
          </a:p>
          <a:p>
            <a:pPr>
              <a:spcBef>
                <a:spcPts val="1000"/>
              </a:spcBef>
              <a:buClr>
                <a:schemeClr val="bg2">
                  <a:lumMod val="40000"/>
                  <a:lumOff val="60000"/>
                </a:schemeClr>
              </a:buClr>
              <a:buSzPct val="80000"/>
              <a:buFont typeface="Wingdings 3" charset="2"/>
              <a:buChar char=""/>
            </a:pPr>
            <a:endParaRPr lang="en-US" b="1" dirty="0">
              <a:latin typeface="+mj-lt"/>
              <a:ea typeface="+mj-ea"/>
              <a:cs typeface="+mj-cs"/>
            </a:endParaRPr>
          </a:p>
          <a:p>
            <a:pPr>
              <a:spcBef>
                <a:spcPts val="1000"/>
              </a:spcBef>
              <a:buClr>
                <a:schemeClr val="bg2">
                  <a:lumMod val="40000"/>
                  <a:lumOff val="60000"/>
                </a:schemeClr>
              </a:buClr>
              <a:buSzPct val="80000"/>
              <a:buFont typeface="Wingdings 3" charset="2"/>
              <a:buChar char=""/>
            </a:pPr>
            <a:r>
              <a:rPr lang="en-US" b="1" dirty="0">
                <a:solidFill>
                  <a:srgbClr val="FFC000"/>
                </a:solidFill>
                <a:latin typeface="+mj-lt"/>
                <a:ea typeface="+mj-ea"/>
                <a:cs typeface="+mj-cs"/>
              </a:rPr>
              <a:t>for </a:t>
            </a:r>
            <a:r>
              <a:rPr lang="en-US" b="1" dirty="0" err="1">
                <a:solidFill>
                  <a:srgbClr val="FFC000"/>
                </a:solidFill>
                <a:latin typeface="+mj-lt"/>
                <a:ea typeface="+mj-ea"/>
                <a:cs typeface="+mj-cs"/>
              </a:rPr>
              <a:t>i</a:t>
            </a:r>
            <a:r>
              <a:rPr lang="en-US" b="1" dirty="0">
                <a:solidFill>
                  <a:srgbClr val="FFC000"/>
                </a:solidFill>
                <a:latin typeface="+mj-lt"/>
                <a:ea typeface="+mj-ea"/>
                <a:cs typeface="+mj-cs"/>
              </a:rPr>
              <a:t> in range(2, 10) </a:t>
            </a:r>
          </a:p>
          <a:p>
            <a:pPr>
              <a:spcBef>
                <a:spcPts val="1000"/>
              </a:spcBef>
              <a:buClr>
                <a:schemeClr val="bg2">
                  <a:lumMod val="40000"/>
                  <a:lumOff val="60000"/>
                </a:schemeClr>
              </a:buClr>
              <a:buSzPct val="80000"/>
              <a:buFont typeface="Wingdings 3" charset="2"/>
              <a:buChar char=""/>
            </a:pPr>
            <a:r>
              <a:rPr lang="en-US" b="1" dirty="0">
                <a:latin typeface="+mj-lt"/>
                <a:ea typeface="+mj-ea"/>
                <a:cs typeface="+mj-cs"/>
              </a:rPr>
              <a:t>#loop </a:t>
            </a:r>
            <a:r>
              <a:rPr lang="en-US" b="1" dirty="0" err="1">
                <a:latin typeface="+mj-lt"/>
                <a:ea typeface="+mj-ea"/>
                <a:cs typeface="+mj-cs"/>
              </a:rPr>
              <a:t>começando</a:t>
            </a:r>
            <a:r>
              <a:rPr lang="en-US" b="1" dirty="0">
                <a:latin typeface="+mj-lt"/>
                <a:ea typeface="+mj-ea"/>
                <a:cs typeface="+mj-cs"/>
              </a:rPr>
              <a:t> </a:t>
            </a:r>
            <a:r>
              <a:rPr lang="en-US" b="1" dirty="0" err="1">
                <a:latin typeface="+mj-lt"/>
                <a:ea typeface="+mj-ea"/>
                <a:cs typeface="+mj-cs"/>
              </a:rPr>
              <a:t>em</a:t>
            </a:r>
            <a:r>
              <a:rPr lang="en-US" b="1" dirty="0">
                <a:latin typeface="+mj-lt"/>
                <a:ea typeface="+mj-ea"/>
                <a:cs typeface="+mj-cs"/>
              </a:rPr>
              <a:t> 2 </a:t>
            </a:r>
            <a:r>
              <a:rPr lang="en-US" b="1" dirty="0" err="1">
                <a:latin typeface="+mj-lt"/>
                <a:ea typeface="+mj-ea"/>
                <a:cs typeface="+mj-cs"/>
              </a:rPr>
              <a:t>até</a:t>
            </a:r>
            <a:r>
              <a:rPr lang="en-US" b="1" dirty="0">
                <a:latin typeface="+mj-lt"/>
                <a:ea typeface="+mj-ea"/>
                <a:cs typeface="+mj-cs"/>
              </a:rPr>
              <a:t> 9 (8 </a:t>
            </a:r>
            <a:r>
              <a:rPr lang="en-US" b="1" dirty="0" err="1">
                <a:latin typeface="+mj-lt"/>
                <a:ea typeface="+mj-ea"/>
                <a:cs typeface="+mj-cs"/>
              </a:rPr>
              <a:t>vezes</a:t>
            </a:r>
            <a:r>
              <a:rPr lang="en-US" b="1" dirty="0">
                <a:latin typeface="+mj-lt"/>
                <a:ea typeface="+mj-ea"/>
                <a:cs typeface="+mj-cs"/>
              </a:rPr>
              <a:t>).</a:t>
            </a:r>
          </a:p>
        </p:txBody>
      </p:sp>
      <p:pic>
        <p:nvPicPr>
          <p:cNvPr id="7" name="Imagem 6">
            <a:extLst>
              <a:ext uri="{FF2B5EF4-FFF2-40B4-BE49-F238E27FC236}">
                <a16:creationId xmlns:a16="http://schemas.microsoft.com/office/drawing/2014/main" id="{4329D3BF-BB57-AB7C-3FFA-7F205A213E2C}"/>
              </a:ext>
            </a:extLst>
          </p:cNvPr>
          <p:cNvPicPr>
            <a:picLocks noChangeAspect="1"/>
          </p:cNvPicPr>
          <p:nvPr/>
        </p:nvPicPr>
        <p:blipFill>
          <a:blip r:embed="rId7"/>
          <a:stretch>
            <a:fillRect/>
          </a:stretch>
        </p:blipFill>
        <p:spPr>
          <a:xfrm>
            <a:off x="10084989" y="6020496"/>
            <a:ext cx="5306852" cy="1737993"/>
          </a:xfrm>
          <a:prstGeom prst="rect">
            <a:avLst/>
          </a:prstGeom>
          <a:effectLst/>
        </p:spPr>
      </p:pic>
      <p:pic>
        <p:nvPicPr>
          <p:cNvPr id="9" name="Imagem 8">
            <a:extLst>
              <a:ext uri="{FF2B5EF4-FFF2-40B4-BE49-F238E27FC236}">
                <a16:creationId xmlns:a16="http://schemas.microsoft.com/office/drawing/2014/main" id="{39498A01-D2C6-BBF6-DD50-07FF78843409}"/>
              </a:ext>
            </a:extLst>
          </p:cNvPr>
          <p:cNvPicPr>
            <a:picLocks noChangeAspect="1"/>
          </p:cNvPicPr>
          <p:nvPr/>
        </p:nvPicPr>
        <p:blipFill>
          <a:blip r:embed="rId8"/>
          <a:stretch>
            <a:fillRect/>
          </a:stretch>
        </p:blipFill>
        <p:spPr>
          <a:xfrm>
            <a:off x="10445080" y="863598"/>
            <a:ext cx="4586670" cy="4322936"/>
          </a:xfrm>
          <a:prstGeom prst="rect">
            <a:avLst/>
          </a:prstGeom>
          <a:effectLst/>
        </p:spPr>
      </p:pic>
    </p:spTree>
    <p:extLst>
      <p:ext uri="{BB962C8B-B14F-4D97-AF65-F5344CB8AC3E}">
        <p14:creationId xmlns:p14="http://schemas.microsoft.com/office/powerpoint/2010/main" val="19504587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7FAC7028-8551-6919-7F2A-02D37F77F986}"/>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E7A3FD09-B055-68E5-0E55-9D9DDD0DCED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14" name="Picture 13">
            <a:extLst>
              <a:ext uri="{FF2B5EF4-FFF2-40B4-BE49-F238E27FC236}">
                <a16:creationId xmlns:a16="http://schemas.microsoft.com/office/drawing/2014/main" id="{BA541176-D415-8122-E006-9FD8C4102D2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16" name="Oval 15">
            <a:extLst>
              <a:ext uri="{FF2B5EF4-FFF2-40B4-BE49-F238E27FC236}">
                <a16:creationId xmlns:a16="http://schemas.microsoft.com/office/drawing/2014/main" id="{DBAA5DFE-F72C-1187-1B6F-4C7ABCFB17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18" name="Picture 17">
            <a:extLst>
              <a:ext uri="{FF2B5EF4-FFF2-40B4-BE49-F238E27FC236}">
                <a16:creationId xmlns:a16="http://schemas.microsoft.com/office/drawing/2014/main" id="{73194FB0-AA97-0D0B-7BD2-829DFBA51A5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20" name="Picture 19">
            <a:extLst>
              <a:ext uri="{FF2B5EF4-FFF2-40B4-BE49-F238E27FC236}">
                <a16:creationId xmlns:a16="http://schemas.microsoft.com/office/drawing/2014/main" id="{80B691E7-C5C5-4BA2-9474-48036F8026F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22" name="Rectangle 21">
            <a:extLst>
              <a:ext uri="{FF2B5EF4-FFF2-40B4-BE49-F238E27FC236}">
                <a16:creationId xmlns:a16="http://schemas.microsoft.com/office/drawing/2014/main" id="{8DB3A86A-592A-CB81-9B92-CCA3D04DCD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 name="CaixaDeTexto 2">
            <a:extLst>
              <a:ext uri="{FF2B5EF4-FFF2-40B4-BE49-F238E27FC236}">
                <a16:creationId xmlns:a16="http://schemas.microsoft.com/office/drawing/2014/main" id="{7CDC691F-4268-D568-91BE-6C3C8787EE22}"/>
              </a:ext>
            </a:extLst>
          </p:cNvPr>
          <p:cNvSpPr txBox="1"/>
          <p:nvPr/>
        </p:nvSpPr>
        <p:spPr>
          <a:xfrm>
            <a:off x="384436" y="812802"/>
            <a:ext cx="6876072" cy="1867373"/>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3600" dirty="0">
                <a:solidFill>
                  <a:schemeClr val="tx2"/>
                </a:solidFill>
                <a:latin typeface="+mj-lt"/>
                <a:ea typeface="+mj-ea"/>
                <a:cs typeface="+mj-cs"/>
              </a:rPr>
              <a:t>Vamos </a:t>
            </a:r>
            <a:r>
              <a:rPr lang="en-US" sz="3600" dirty="0" err="1">
                <a:solidFill>
                  <a:schemeClr val="tx2"/>
                </a:solidFill>
                <a:latin typeface="+mj-lt"/>
                <a:ea typeface="+mj-ea"/>
                <a:cs typeface="+mj-cs"/>
              </a:rPr>
              <a:t>praticar</a:t>
            </a:r>
            <a:r>
              <a:rPr lang="en-US" sz="3600" dirty="0">
                <a:solidFill>
                  <a:schemeClr val="tx2"/>
                </a:solidFill>
                <a:latin typeface="+mj-lt"/>
                <a:ea typeface="+mj-ea"/>
                <a:cs typeface="+mj-cs"/>
              </a:rPr>
              <a:t>...</a:t>
            </a:r>
          </a:p>
          <a:p>
            <a:pPr>
              <a:lnSpc>
                <a:spcPct val="90000"/>
              </a:lnSpc>
              <a:spcBef>
                <a:spcPct val="0"/>
              </a:spcBef>
              <a:spcAft>
                <a:spcPts val="600"/>
              </a:spcAft>
            </a:pPr>
            <a:endParaRPr lang="en-US" sz="3600" dirty="0">
              <a:solidFill>
                <a:schemeClr val="tx2"/>
              </a:solidFill>
              <a:latin typeface="+mj-lt"/>
              <a:ea typeface="+mj-ea"/>
              <a:cs typeface="+mj-cs"/>
            </a:endParaRPr>
          </a:p>
          <a:p>
            <a:pPr>
              <a:lnSpc>
                <a:spcPct val="90000"/>
              </a:lnSpc>
              <a:spcBef>
                <a:spcPct val="0"/>
              </a:spcBef>
              <a:spcAft>
                <a:spcPts val="600"/>
              </a:spcAft>
            </a:pPr>
            <a:r>
              <a:rPr lang="pt-BR" sz="3600" dirty="0">
                <a:solidFill>
                  <a:schemeClr val="tx2"/>
                </a:solidFill>
                <a:latin typeface="+mj-lt"/>
                <a:ea typeface="+mj-ea"/>
                <a:cs typeface="+mj-cs"/>
              </a:rPr>
              <a:t>Atividade 2 – </a:t>
            </a:r>
            <a:r>
              <a:rPr lang="pt-BR" sz="3600" dirty="0" err="1">
                <a:solidFill>
                  <a:schemeClr val="tx2"/>
                </a:solidFill>
                <a:latin typeface="+mj-lt"/>
                <a:ea typeface="+mj-ea"/>
                <a:cs typeface="+mj-cs"/>
              </a:rPr>
              <a:t>MultiTabuada</a:t>
            </a:r>
            <a:endParaRPr lang="en-US" sz="3600" dirty="0">
              <a:solidFill>
                <a:schemeClr val="tx2"/>
              </a:solidFill>
              <a:latin typeface="+mj-lt"/>
              <a:ea typeface="+mj-ea"/>
              <a:cs typeface="+mj-cs"/>
            </a:endParaRPr>
          </a:p>
        </p:txBody>
      </p:sp>
      <p:sp>
        <p:nvSpPr>
          <p:cNvPr id="24" name="Freeform: Shape 23">
            <a:extLst>
              <a:ext uri="{FF2B5EF4-FFF2-40B4-BE49-F238E27FC236}">
                <a16:creationId xmlns:a16="http://schemas.microsoft.com/office/drawing/2014/main" id="{FB76AC3F-EBA1-3EBA-EE17-6F227F8227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7027759" y="-84800"/>
            <a:ext cx="9144001" cy="93136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7191 h 6985200"/>
              <a:gd name="connsiteX6" fmla="*/ 1 w 6858001"/>
              <a:gd name="connsiteY6" fmla="*/ 887191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7191"/>
                </a:lnTo>
                <a:lnTo>
                  <a:pt x="1" y="887191"/>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solidFill>
            <a:srgbClr val="FFFFFF"/>
          </a:solidFill>
          <a:ln>
            <a:noFill/>
          </a:ln>
        </p:spPr>
        <p:txBody>
          <a:bodyPr/>
          <a:lstStyle/>
          <a:p>
            <a:endParaRPr lang="pt-BR"/>
          </a:p>
        </p:txBody>
      </p:sp>
      <p:sp>
        <p:nvSpPr>
          <p:cNvPr id="26" name="Freeform 23">
            <a:extLst>
              <a:ext uri="{FF2B5EF4-FFF2-40B4-BE49-F238E27FC236}">
                <a16:creationId xmlns:a16="http://schemas.microsoft.com/office/drawing/2014/main" id="{7896F989-1AB2-CF88-75E9-D5B3E0DBAB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58693" y="-1"/>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28" name="Rectangle 27">
            <a:extLst>
              <a:ext uri="{FF2B5EF4-FFF2-40B4-BE49-F238E27FC236}">
                <a16:creationId xmlns:a16="http://schemas.microsoft.com/office/drawing/2014/main" id="{2BBEC190-9926-7B1F-1358-77C7020CBB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23264"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5" name="CaixaDeTexto 4">
            <a:extLst>
              <a:ext uri="{FF2B5EF4-FFF2-40B4-BE49-F238E27FC236}">
                <a16:creationId xmlns:a16="http://schemas.microsoft.com/office/drawing/2014/main" id="{68C57F6E-333B-6C5C-8220-6E40C5239C7F}"/>
              </a:ext>
            </a:extLst>
          </p:cNvPr>
          <p:cNvSpPr txBox="1"/>
          <p:nvPr/>
        </p:nvSpPr>
        <p:spPr>
          <a:xfrm>
            <a:off x="467160" y="2895600"/>
            <a:ext cx="5553528" cy="5593974"/>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buFont typeface="Wingdings 3" charset="2"/>
              <a:buChar char=""/>
            </a:pPr>
            <a:r>
              <a:rPr lang="pt-BR" b="1" dirty="0"/>
              <a:t>Objetivo: Nesta atividade você vai construir uma multitabuada usando </a:t>
            </a:r>
            <a:r>
              <a:rPr lang="pt-BR" b="1" dirty="0">
                <a:solidFill>
                  <a:srgbClr val="FFC000"/>
                </a:solidFill>
              </a:rPr>
              <a:t>for</a:t>
            </a:r>
            <a:endParaRPr lang="en-US" b="1" dirty="0">
              <a:solidFill>
                <a:srgbClr val="FFC000"/>
              </a:solidFill>
              <a:latin typeface="+mj-lt"/>
              <a:ea typeface="+mj-ea"/>
              <a:cs typeface="+mj-cs"/>
            </a:endParaRPr>
          </a:p>
        </p:txBody>
      </p:sp>
      <p:pic>
        <p:nvPicPr>
          <p:cNvPr id="6" name="Imagem 5">
            <a:extLst>
              <a:ext uri="{FF2B5EF4-FFF2-40B4-BE49-F238E27FC236}">
                <a16:creationId xmlns:a16="http://schemas.microsoft.com/office/drawing/2014/main" id="{98DBCDD9-B440-872B-9E0F-E17C05FF9A3D}"/>
              </a:ext>
            </a:extLst>
          </p:cNvPr>
          <p:cNvPicPr>
            <a:picLocks noChangeAspect="1"/>
          </p:cNvPicPr>
          <p:nvPr/>
        </p:nvPicPr>
        <p:blipFill>
          <a:blip r:embed="rId7"/>
          <a:stretch>
            <a:fillRect/>
          </a:stretch>
        </p:blipFill>
        <p:spPr>
          <a:xfrm>
            <a:off x="7845683" y="5548577"/>
            <a:ext cx="6454518" cy="3440555"/>
          </a:xfrm>
          <a:prstGeom prst="rect">
            <a:avLst/>
          </a:prstGeom>
        </p:spPr>
      </p:pic>
      <p:sp>
        <p:nvSpPr>
          <p:cNvPr id="11" name="CaixaDeTexto 10">
            <a:extLst>
              <a:ext uri="{FF2B5EF4-FFF2-40B4-BE49-F238E27FC236}">
                <a16:creationId xmlns:a16="http://schemas.microsoft.com/office/drawing/2014/main" id="{53C2B472-7797-58F0-517F-E0E67EA0DFEE}"/>
              </a:ext>
            </a:extLst>
          </p:cNvPr>
          <p:cNvSpPr txBox="1"/>
          <p:nvPr/>
        </p:nvSpPr>
        <p:spPr>
          <a:xfrm>
            <a:off x="566810" y="3982855"/>
            <a:ext cx="8125968" cy="707886"/>
          </a:xfrm>
          <a:prstGeom prst="rect">
            <a:avLst/>
          </a:prstGeom>
          <a:noFill/>
        </p:spPr>
        <p:txBody>
          <a:bodyPr wrap="square">
            <a:spAutoFit/>
          </a:bodyPr>
          <a:lstStyle/>
          <a:p>
            <a:r>
              <a:rPr lang="pt-BR" sz="2000" b="1" dirty="0"/>
              <a:t>Comandos utilizados: Comandos for e range.</a:t>
            </a:r>
          </a:p>
          <a:p>
            <a:r>
              <a:rPr lang="pt-BR" sz="2000" b="1" dirty="0">
                <a:solidFill>
                  <a:srgbClr val="FFC000"/>
                </a:solidFill>
              </a:rPr>
              <a:t>Formatação {:&gt;4} </a:t>
            </a:r>
          </a:p>
        </p:txBody>
      </p:sp>
      <p:pic>
        <p:nvPicPr>
          <p:cNvPr id="15" name="Imagem 14">
            <a:extLst>
              <a:ext uri="{FF2B5EF4-FFF2-40B4-BE49-F238E27FC236}">
                <a16:creationId xmlns:a16="http://schemas.microsoft.com/office/drawing/2014/main" id="{94EEF88C-6D1F-EE81-2575-E1D7BDF05CA1}"/>
              </a:ext>
            </a:extLst>
          </p:cNvPr>
          <p:cNvPicPr>
            <a:picLocks noChangeAspect="1"/>
          </p:cNvPicPr>
          <p:nvPr/>
        </p:nvPicPr>
        <p:blipFill>
          <a:blip r:embed="rId8"/>
          <a:stretch>
            <a:fillRect/>
          </a:stretch>
        </p:blipFill>
        <p:spPr>
          <a:xfrm>
            <a:off x="10740152" y="180268"/>
            <a:ext cx="5346504" cy="5041696"/>
          </a:xfrm>
          <a:prstGeom prst="rect">
            <a:avLst/>
          </a:prstGeom>
        </p:spPr>
      </p:pic>
      <p:sp>
        <p:nvSpPr>
          <p:cNvPr id="19" name="CaixaDeTexto 18">
            <a:extLst>
              <a:ext uri="{FF2B5EF4-FFF2-40B4-BE49-F238E27FC236}">
                <a16:creationId xmlns:a16="http://schemas.microsoft.com/office/drawing/2014/main" id="{64627596-91B3-DE20-DF45-216AD4C764BC}"/>
              </a:ext>
            </a:extLst>
          </p:cNvPr>
          <p:cNvSpPr txBox="1"/>
          <p:nvPr/>
        </p:nvSpPr>
        <p:spPr>
          <a:xfrm>
            <a:off x="550445" y="5168452"/>
            <a:ext cx="5939083" cy="824969"/>
          </a:xfrm>
          <a:prstGeom prst="rect">
            <a:avLst/>
          </a:prstGeom>
          <a:noFill/>
        </p:spPr>
        <p:txBody>
          <a:bodyPr wrap="square">
            <a:spAutoFit/>
          </a:bodyPr>
          <a:lstStyle/>
          <a:p>
            <a:pPr>
              <a:lnSpc>
                <a:spcPts val="1425"/>
              </a:lnSpc>
              <a:buNone/>
            </a:pPr>
            <a:r>
              <a:rPr lang="pt-BR" b="0" dirty="0">
                <a:solidFill>
                  <a:srgbClr val="CE92A4"/>
                </a:solidFill>
                <a:effectLst/>
                <a:latin typeface="Consolas" panose="020B0609020204030204" pitchFamily="49" charset="0"/>
              </a:rPr>
              <a:t>for</a:t>
            </a:r>
            <a:r>
              <a:rPr lang="pt-BR" b="0" dirty="0">
                <a:solidFill>
                  <a:srgbClr val="CCCCCC"/>
                </a:solidFill>
                <a:effectLst/>
                <a:latin typeface="Consolas" panose="020B0609020204030204" pitchFamily="49" charset="0"/>
              </a:rPr>
              <a:t> </a:t>
            </a:r>
            <a:r>
              <a:rPr lang="pt-BR" b="0" dirty="0">
                <a:solidFill>
                  <a:srgbClr val="9CDCFE"/>
                </a:solidFill>
                <a:effectLst/>
                <a:latin typeface="Consolas" panose="020B0609020204030204" pitchFamily="49" charset="0"/>
              </a:rPr>
              <a:t>i</a:t>
            </a:r>
            <a:r>
              <a:rPr lang="pt-BR" b="0" dirty="0">
                <a:solidFill>
                  <a:srgbClr val="CCCCCC"/>
                </a:solidFill>
                <a:effectLst/>
                <a:latin typeface="Consolas" panose="020B0609020204030204" pitchFamily="49" charset="0"/>
              </a:rPr>
              <a:t> </a:t>
            </a:r>
            <a:r>
              <a:rPr lang="pt-BR" b="0" dirty="0">
                <a:solidFill>
                  <a:srgbClr val="CE92A4"/>
                </a:solidFill>
                <a:effectLst/>
                <a:latin typeface="Consolas" panose="020B0609020204030204" pitchFamily="49" charset="0"/>
              </a:rPr>
              <a:t>in</a:t>
            </a:r>
            <a:r>
              <a:rPr lang="pt-BR" b="0" dirty="0">
                <a:solidFill>
                  <a:srgbClr val="CCCCCC"/>
                </a:solidFill>
                <a:effectLst/>
                <a:latin typeface="Consolas" panose="020B0609020204030204" pitchFamily="49" charset="0"/>
              </a:rPr>
              <a:t> </a:t>
            </a:r>
            <a:r>
              <a:rPr lang="pt-BR" b="0" dirty="0">
                <a:solidFill>
                  <a:srgbClr val="4EC9B0"/>
                </a:solidFill>
                <a:effectLst/>
                <a:latin typeface="Consolas" panose="020B0609020204030204" pitchFamily="49" charset="0"/>
              </a:rPr>
              <a:t>range</a:t>
            </a:r>
            <a:r>
              <a:rPr lang="pt-BR" b="0" dirty="0">
                <a:solidFill>
                  <a:srgbClr val="CCCCCC"/>
                </a:solidFill>
                <a:effectLst/>
                <a:latin typeface="Consolas" panose="020B0609020204030204" pitchFamily="49" charset="0"/>
              </a:rPr>
              <a:t>(</a:t>
            </a:r>
            <a:r>
              <a:rPr lang="pt-BR" b="0" dirty="0">
                <a:solidFill>
                  <a:srgbClr val="B5CEA8"/>
                </a:solidFill>
                <a:effectLst/>
                <a:latin typeface="Consolas" panose="020B0609020204030204" pitchFamily="49" charset="0"/>
              </a:rPr>
              <a:t>1</a:t>
            </a:r>
            <a:r>
              <a:rPr lang="pt-BR" b="0" dirty="0">
                <a:solidFill>
                  <a:srgbClr val="CCCCCC"/>
                </a:solidFill>
                <a:effectLst/>
                <a:latin typeface="Consolas" panose="020B0609020204030204" pitchFamily="49" charset="0"/>
              </a:rPr>
              <a:t>,</a:t>
            </a:r>
            <a:r>
              <a:rPr lang="pt-BR" b="0" dirty="0">
                <a:solidFill>
                  <a:srgbClr val="B5CEA8"/>
                </a:solidFill>
                <a:effectLst/>
                <a:latin typeface="Consolas" panose="020B0609020204030204" pitchFamily="49" charset="0"/>
              </a:rPr>
              <a:t>11</a:t>
            </a:r>
            <a:r>
              <a:rPr lang="pt-BR" b="0" dirty="0">
                <a:solidFill>
                  <a:srgbClr val="CCCCCC"/>
                </a:solidFill>
                <a:effectLst/>
                <a:latin typeface="Consolas" panose="020B0609020204030204" pitchFamily="49" charset="0"/>
              </a:rPr>
              <a:t>):</a:t>
            </a:r>
          </a:p>
          <a:p>
            <a:pPr>
              <a:lnSpc>
                <a:spcPts val="1425"/>
              </a:lnSpc>
              <a:buNone/>
            </a:pPr>
            <a:r>
              <a:rPr lang="pt-BR" b="0" dirty="0">
                <a:solidFill>
                  <a:srgbClr val="CCCCCC"/>
                </a:solidFill>
                <a:effectLst/>
                <a:latin typeface="Consolas" panose="020B0609020204030204" pitchFamily="49" charset="0"/>
              </a:rPr>
              <a:t>    </a:t>
            </a:r>
            <a:r>
              <a:rPr lang="pt-BR" b="0" dirty="0">
                <a:solidFill>
                  <a:srgbClr val="DCDCAA"/>
                </a:solidFill>
                <a:effectLst/>
                <a:latin typeface="Consolas" panose="020B0609020204030204" pitchFamily="49" charset="0"/>
              </a:rPr>
              <a:t>print</a:t>
            </a:r>
            <a:r>
              <a:rPr lang="pt-BR" b="0" dirty="0">
                <a:solidFill>
                  <a:srgbClr val="CCCCCC"/>
                </a:solidFill>
                <a:effectLst/>
                <a:latin typeface="Consolas" panose="020B0609020204030204" pitchFamily="49" charset="0"/>
              </a:rPr>
              <a:t>(</a:t>
            </a:r>
            <a:r>
              <a:rPr lang="pt-BR" b="0" dirty="0">
                <a:solidFill>
                  <a:srgbClr val="569CD6"/>
                </a:solidFill>
                <a:effectLst/>
                <a:latin typeface="Consolas" panose="020B0609020204030204" pitchFamily="49" charset="0"/>
              </a:rPr>
              <a:t>f</a:t>
            </a:r>
            <a:r>
              <a:rPr lang="pt-BR" b="0" dirty="0">
                <a:solidFill>
                  <a:srgbClr val="CE9178"/>
                </a:solidFill>
                <a:effectLst/>
                <a:latin typeface="Consolas" panose="020B0609020204030204" pitchFamily="49" charset="0"/>
              </a:rPr>
              <a:t>"</a:t>
            </a:r>
            <a:r>
              <a:rPr lang="pt-BR" b="0" dirty="0">
                <a:solidFill>
                  <a:srgbClr val="569CD6"/>
                </a:solidFill>
                <a:effectLst/>
                <a:latin typeface="Consolas" panose="020B0609020204030204" pitchFamily="49" charset="0"/>
              </a:rPr>
              <a:t>{</a:t>
            </a:r>
            <a:r>
              <a:rPr lang="pt-BR" b="0" dirty="0">
                <a:solidFill>
                  <a:srgbClr val="9CDCFE"/>
                </a:solidFill>
                <a:effectLst/>
                <a:latin typeface="Consolas" panose="020B0609020204030204" pitchFamily="49" charset="0"/>
              </a:rPr>
              <a:t>i</a:t>
            </a:r>
            <a:r>
              <a:rPr lang="pt-BR" b="0" dirty="0">
                <a:solidFill>
                  <a:srgbClr val="569CD6"/>
                </a:solidFill>
                <a:effectLst/>
                <a:latin typeface="Consolas" panose="020B0609020204030204" pitchFamily="49" charset="0"/>
              </a:rPr>
              <a:t>:&gt;4}</a:t>
            </a:r>
            <a:r>
              <a:rPr lang="pt-BR" b="0" dirty="0">
                <a:solidFill>
                  <a:srgbClr val="CE9178"/>
                </a:solidFill>
                <a:effectLst/>
                <a:latin typeface="Consolas" panose="020B0609020204030204" pitchFamily="49" charset="0"/>
              </a:rPr>
              <a:t> </a:t>
            </a:r>
            <a:r>
              <a:rPr lang="pt-BR" b="0" dirty="0">
                <a:solidFill>
                  <a:srgbClr val="569CD6"/>
                </a:solidFill>
                <a:effectLst/>
                <a:latin typeface="Consolas" panose="020B0609020204030204" pitchFamily="49" charset="0"/>
              </a:rPr>
              <a:t>{</a:t>
            </a:r>
            <a:r>
              <a:rPr lang="pt-BR" b="0" dirty="0">
                <a:solidFill>
                  <a:srgbClr val="9CDCFE"/>
                </a:solidFill>
                <a:effectLst/>
                <a:latin typeface="Consolas" panose="020B0609020204030204" pitchFamily="49" charset="0"/>
              </a:rPr>
              <a:t>i</a:t>
            </a:r>
            <a:r>
              <a:rPr lang="pt-BR" b="0" dirty="0">
                <a:solidFill>
                  <a:srgbClr val="D4D4D4"/>
                </a:solidFill>
                <a:effectLst/>
                <a:latin typeface="Consolas" panose="020B0609020204030204" pitchFamily="49" charset="0"/>
              </a:rPr>
              <a:t>*</a:t>
            </a:r>
            <a:r>
              <a:rPr lang="pt-BR" b="0" dirty="0">
                <a:solidFill>
                  <a:srgbClr val="B5CEA8"/>
                </a:solidFill>
                <a:effectLst/>
                <a:latin typeface="Consolas" panose="020B0609020204030204" pitchFamily="49" charset="0"/>
              </a:rPr>
              <a:t>2</a:t>
            </a:r>
            <a:r>
              <a:rPr lang="pt-BR" b="0" dirty="0">
                <a:solidFill>
                  <a:srgbClr val="569CD6"/>
                </a:solidFill>
                <a:effectLst/>
                <a:latin typeface="Consolas" panose="020B0609020204030204" pitchFamily="49" charset="0"/>
              </a:rPr>
              <a:t>:&gt;4}</a:t>
            </a:r>
            <a:r>
              <a:rPr lang="pt-BR" b="0" dirty="0">
                <a:solidFill>
                  <a:srgbClr val="CE9178"/>
                </a:solidFill>
                <a:effectLst/>
                <a:latin typeface="Consolas" panose="020B0609020204030204" pitchFamily="49" charset="0"/>
              </a:rPr>
              <a:t> </a:t>
            </a:r>
            <a:r>
              <a:rPr lang="pt-BR" b="0" dirty="0">
                <a:solidFill>
                  <a:srgbClr val="569CD6"/>
                </a:solidFill>
                <a:effectLst/>
                <a:latin typeface="Consolas" panose="020B0609020204030204" pitchFamily="49" charset="0"/>
              </a:rPr>
              <a:t>{</a:t>
            </a:r>
            <a:r>
              <a:rPr lang="pt-BR" b="0" dirty="0">
                <a:solidFill>
                  <a:srgbClr val="9CDCFE"/>
                </a:solidFill>
                <a:effectLst/>
                <a:latin typeface="Consolas" panose="020B0609020204030204" pitchFamily="49" charset="0"/>
              </a:rPr>
              <a:t>i</a:t>
            </a:r>
            <a:r>
              <a:rPr lang="pt-BR" b="0" dirty="0">
                <a:solidFill>
                  <a:srgbClr val="D4D4D4"/>
                </a:solidFill>
                <a:effectLst/>
                <a:latin typeface="Consolas" panose="020B0609020204030204" pitchFamily="49" charset="0"/>
              </a:rPr>
              <a:t>*</a:t>
            </a:r>
            <a:r>
              <a:rPr lang="pt-BR" b="0" dirty="0">
                <a:solidFill>
                  <a:srgbClr val="B5CEA8"/>
                </a:solidFill>
                <a:effectLst/>
                <a:latin typeface="Consolas" panose="020B0609020204030204" pitchFamily="49" charset="0"/>
              </a:rPr>
              <a:t>3</a:t>
            </a:r>
            <a:r>
              <a:rPr lang="pt-BR" b="0" dirty="0">
                <a:solidFill>
                  <a:srgbClr val="569CD6"/>
                </a:solidFill>
                <a:effectLst/>
                <a:latin typeface="Consolas" panose="020B0609020204030204" pitchFamily="49" charset="0"/>
              </a:rPr>
              <a:t>:&gt;4}</a:t>
            </a:r>
            <a:r>
              <a:rPr lang="pt-BR" b="0" dirty="0">
                <a:solidFill>
                  <a:srgbClr val="CE9178"/>
                </a:solidFill>
                <a:effectLst/>
                <a:latin typeface="Consolas" panose="020B0609020204030204" pitchFamily="49" charset="0"/>
              </a:rPr>
              <a:t> </a:t>
            </a:r>
            <a:r>
              <a:rPr lang="pt-BR" b="0" dirty="0">
                <a:solidFill>
                  <a:srgbClr val="569CD6"/>
                </a:solidFill>
                <a:effectLst/>
                <a:latin typeface="Consolas" panose="020B0609020204030204" pitchFamily="49" charset="0"/>
              </a:rPr>
              <a:t>{</a:t>
            </a:r>
            <a:r>
              <a:rPr lang="pt-BR" b="0" dirty="0">
                <a:solidFill>
                  <a:srgbClr val="9CDCFE"/>
                </a:solidFill>
                <a:effectLst/>
                <a:latin typeface="Consolas" panose="020B0609020204030204" pitchFamily="49" charset="0"/>
              </a:rPr>
              <a:t>i</a:t>
            </a:r>
            <a:r>
              <a:rPr lang="pt-BR" b="0" dirty="0">
                <a:solidFill>
                  <a:srgbClr val="D4D4D4"/>
                </a:solidFill>
                <a:effectLst/>
                <a:latin typeface="Consolas" panose="020B0609020204030204" pitchFamily="49" charset="0"/>
              </a:rPr>
              <a:t>*</a:t>
            </a:r>
            <a:r>
              <a:rPr lang="pt-BR" b="0" dirty="0">
                <a:solidFill>
                  <a:srgbClr val="B5CEA8"/>
                </a:solidFill>
                <a:effectLst/>
                <a:latin typeface="Consolas" panose="020B0609020204030204" pitchFamily="49" charset="0"/>
              </a:rPr>
              <a:t>4</a:t>
            </a:r>
            <a:r>
              <a:rPr lang="pt-BR" b="0" dirty="0">
                <a:solidFill>
                  <a:srgbClr val="569CD6"/>
                </a:solidFill>
                <a:effectLst/>
                <a:latin typeface="Consolas" panose="020B0609020204030204" pitchFamily="49" charset="0"/>
              </a:rPr>
              <a:t>:&gt;4}</a:t>
            </a:r>
            <a:r>
              <a:rPr lang="pt-BR" b="0" dirty="0">
                <a:solidFill>
                  <a:srgbClr val="CE9178"/>
                </a:solidFill>
                <a:effectLst/>
                <a:latin typeface="Consolas" panose="020B0609020204030204" pitchFamily="49" charset="0"/>
              </a:rPr>
              <a:t> 	</a:t>
            </a:r>
            <a:r>
              <a:rPr lang="pt-BR" b="0" dirty="0">
                <a:solidFill>
                  <a:srgbClr val="569CD6"/>
                </a:solidFill>
                <a:effectLst/>
                <a:latin typeface="Consolas" panose="020B0609020204030204" pitchFamily="49" charset="0"/>
              </a:rPr>
              <a:t>{</a:t>
            </a:r>
            <a:r>
              <a:rPr lang="pt-BR" b="0" dirty="0">
                <a:solidFill>
                  <a:srgbClr val="9CDCFE"/>
                </a:solidFill>
                <a:effectLst/>
                <a:latin typeface="Consolas" panose="020B0609020204030204" pitchFamily="49" charset="0"/>
              </a:rPr>
              <a:t>i</a:t>
            </a:r>
            <a:r>
              <a:rPr lang="pt-BR" b="0" dirty="0">
                <a:solidFill>
                  <a:srgbClr val="D4D4D4"/>
                </a:solidFill>
                <a:effectLst/>
                <a:latin typeface="Consolas" panose="020B0609020204030204" pitchFamily="49" charset="0"/>
              </a:rPr>
              <a:t>*</a:t>
            </a:r>
            <a:r>
              <a:rPr lang="pt-BR" b="0" dirty="0">
                <a:solidFill>
                  <a:srgbClr val="B5CEA8"/>
                </a:solidFill>
                <a:effectLst/>
                <a:latin typeface="Consolas" panose="020B0609020204030204" pitchFamily="49" charset="0"/>
              </a:rPr>
              <a:t>5</a:t>
            </a:r>
            <a:r>
              <a:rPr lang="pt-BR" b="0" dirty="0">
                <a:solidFill>
                  <a:srgbClr val="569CD6"/>
                </a:solidFill>
                <a:effectLst/>
                <a:latin typeface="Consolas" panose="020B0609020204030204" pitchFamily="49" charset="0"/>
              </a:rPr>
              <a:t>:&gt;4}</a:t>
            </a:r>
            <a:r>
              <a:rPr lang="pt-BR" b="0" dirty="0">
                <a:solidFill>
                  <a:srgbClr val="CE9178"/>
                </a:solidFill>
                <a:effectLst/>
                <a:latin typeface="Consolas" panose="020B0609020204030204" pitchFamily="49" charset="0"/>
              </a:rPr>
              <a:t> </a:t>
            </a:r>
            <a:r>
              <a:rPr lang="pt-BR" b="0" dirty="0">
                <a:solidFill>
                  <a:srgbClr val="569CD6"/>
                </a:solidFill>
                <a:effectLst/>
                <a:latin typeface="Consolas" panose="020B0609020204030204" pitchFamily="49" charset="0"/>
              </a:rPr>
              <a:t>{</a:t>
            </a:r>
            <a:r>
              <a:rPr lang="pt-BR" b="0" dirty="0">
                <a:solidFill>
                  <a:srgbClr val="9CDCFE"/>
                </a:solidFill>
                <a:effectLst/>
                <a:latin typeface="Consolas" panose="020B0609020204030204" pitchFamily="49" charset="0"/>
              </a:rPr>
              <a:t>i</a:t>
            </a:r>
            <a:r>
              <a:rPr lang="pt-BR" b="0" dirty="0">
                <a:solidFill>
                  <a:srgbClr val="D4D4D4"/>
                </a:solidFill>
                <a:effectLst/>
                <a:latin typeface="Consolas" panose="020B0609020204030204" pitchFamily="49" charset="0"/>
              </a:rPr>
              <a:t>*</a:t>
            </a:r>
            <a:r>
              <a:rPr lang="pt-BR" b="0" dirty="0">
                <a:solidFill>
                  <a:srgbClr val="B5CEA8"/>
                </a:solidFill>
                <a:effectLst/>
                <a:latin typeface="Consolas" panose="020B0609020204030204" pitchFamily="49" charset="0"/>
              </a:rPr>
              <a:t>6</a:t>
            </a:r>
            <a:r>
              <a:rPr lang="pt-BR" b="0" dirty="0">
                <a:solidFill>
                  <a:srgbClr val="569CD6"/>
                </a:solidFill>
                <a:effectLst/>
                <a:latin typeface="Consolas" panose="020B0609020204030204" pitchFamily="49" charset="0"/>
              </a:rPr>
              <a:t>:&gt;4}</a:t>
            </a:r>
            <a:r>
              <a:rPr lang="pt-BR" b="0" dirty="0">
                <a:solidFill>
                  <a:srgbClr val="CE9178"/>
                </a:solidFill>
                <a:effectLst/>
                <a:latin typeface="Consolas" panose="020B0609020204030204" pitchFamily="49" charset="0"/>
              </a:rPr>
              <a:t> </a:t>
            </a:r>
            <a:r>
              <a:rPr lang="pt-BR" b="0" dirty="0">
                <a:solidFill>
                  <a:srgbClr val="569CD6"/>
                </a:solidFill>
                <a:effectLst/>
                <a:latin typeface="Consolas" panose="020B0609020204030204" pitchFamily="49" charset="0"/>
              </a:rPr>
              <a:t>{</a:t>
            </a:r>
            <a:r>
              <a:rPr lang="pt-BR" b="0" dirty="0">
                <a:solidFill>
                  <a:srgbClr val="9CDCFE"/>
                </a:solidFill>
                <a:effectLst/>
                <a:latin typeface="Consolas" panose="020B0609020204030204" pitchFamily="49" charset="0"/>
              </a:rPr>
              <a:t>i</a:t>
            </a:r>
            <a:r>
              <a:rPr lang="pt-BR" b="0" dirty="0">
                <a:solidFill>
                  <a:srgbClr val="D4D4D4"/>
                </a:solidFill>
                <a:effectLst/>
                <a:latin typeface="Consolas" panose="020B0609020204030204" pitchFamily="49" charset="0"/>
              </a:rPr>
              <a:t>*</a:t>
            </a:r>
            <a:r>
              <a:rPr lang="pt-BR" b="0" dirty="0">
                <a:solidFill>
                  <a:srgbClr val="B5CEA8"/>
                </a:solidFill>
                <a:effectLst/>
                <a:latin typeface="Consolas" panose="020B0609020204030204" pitchFamily="49" charset="0"/>
              </a:rPr>
              <a:t>7</a:t>
            </a:r>
            <a:r>
              <a:rPr lang="pt-BR" b="0" dirty="0">
                <a:solidFill>
                  <a:srgbClr val="569CD6"/>
                </a:solidFill>
                <a:effectLst/>
                <a:latin typeface="Consolas" panose="020B0609020204030204" pitchFamily="49" charset="0"/>
              </a:rPr>
              <a:t>:&gt;4}</a:t>
            </a:r>
            <a:r>
              <a:rPr lang="pt-BR" b="0" dirty="0">
                <a:solidFill>
                  <a:srgbClr val="CE9178"/>
                </a:solidFill>
                <a:effectLst/>
                <a:latin typeface="Consolas" panose="020B0609020204030204" pitchFamily="49" charset="0"/>
              </a:rPr>
              <a:t> </a:t>
            </a:r>
            <a:r>
              <a:rPr lang="pt-BR" b="0" dirty="0">
                <a:solidFill>
                  <a:srgbClr val="569CD6"/>
                </a:solidFill>
                <a:effectLst/>
                <a:latin typeface="Consolas" panose="020B0609020204030204" pitchFamily="49" charset="0"/>
              </a:rPr>
              <a:t>{</a:t>
            </a:r>
            <a:r>
              <a:rPr lang="pt-BR" b="0" dirty="0">
                <a:solidFill>
                  <a:srgbClr val="9CDCFE"/>
                </a:solidFill>
                <a:effectLst/>
                <a:latin typeface="Consolas" panose="020B0609020204030204" pitchFamily="49" charset="0"/>
              </a:rPr>
              <a:t>i</a:t>
            </a:r>
            <a:r>
              <a:rPr lang="pt-BR" b="0" dirty="0">
                <a:solidFill>
                  <a:srgbClr val="D4D4D4"/>
                </a:solidFill>
                <a:effectLst/>
                <a:latin typeface="Consolas" panose="020B0609020204030204" pitchFamily="49" charset="0"/>
              </a:rPr>
              <a:t>*</a:t>
            </a:r>
            <a:r>
              <a:rPr lang="pt-BR" b="0" dirty="0">
                <a:solidFill>
                  <a:srgbClr val="B5CEA8"/>
                </a:solidFill>
                <a:effectLst/>
                <a:latin typeface="Consolas" panose="020B0609020204030204" pitchFamily="49" charset="0"/>
              </a:rPr>
              <a:t>8</a:t>
            </a:r>
            <a:r>
              <a:rPr lang="pt-BR" b="0" dirty="0">
                <a:solidFill>
                  <a:srgbClr val="569CD6"/>
                </a:solidFill>
                <a:effectLst/>
                <a:latin typeface="Consolas" panose="020B0609020204030204" pitchFamily="49" charset="0"/>
              </a:rPr>
              <a:t>:&gt;4}</a:t>
            </a:r>
            <a:r>
              <a:rPr lang="pt-BR" b="0" dirty="0">
                <a:solidFill>
                  <a:srgbClr val="CE9178"/>
                </a:solidFill>
                <a:effectLst/>
                <a:latin typeface="Consolas" panose="020B0609020204030204" pitchFamily="49" charset="0"/>
              </a:rPr>
              <a:t> 	</a:t>
            </a:r>
            <a:r>
              <a:rPr lang="pt-BR" b="0" dirty="0">
                <a:solidFill>
                  <a:srgbClr val="569CD6"/>
                </a:solidFill>
                <a:effectLst/>
                <a:latin typeface="Consolas" panose="020B0609020204030204" pitchFamily="49" charset="0"/>
              </a:rPr>
              <a:t>{</a:t>
            </a:r>
            <a:r>
              <a:rPr lang="pt-BR" b="0" dirty="0">
                <a:solidFill>
                  <a:srgbClr val="9CDCFE"/>
                </a:solidFill>
                <a:effectLst/>
                <a:latin typeface="Consolas" panose="020B0609020204030204" pitchFamily="49" charset="0"/>
              </a:rPr>
              <a:t>i</a:t>
            </a:r>
            <a:r>
              <a:rPr lang="pt-BR" b="0" dirty="0">
                <a:solidFill>
                  <a:srgbClr val="D4D4D4"/>
                </a:solidFill>
                <a:effectLst/>
                <a:latin typeface="Consolas" panose="020B0609020204030204" pitchFamily="49" charset="0"/>
              </a:rPr>
              <a:t>*</a:t>
            </a:r>
            <a:r>
              <a:rPr lang="pt-BR" b="0" dirty="0">
                <a:solidFill>
                  <a:srgbClr val="B5CEA8"/>
                </a:solidFill>
                <a:effectLst/>
                <a:latin typeface="Consolas" panose="020B0609020204030204" pitchFamily="49" charset="0"/>
              </a:rPr>
              <a:t>9</a:t>
            </a:r>
            <a:r>
              <a:rPr lang="pt-BR" b="0" dirty="0">
                <a:solidFill>
                  <a:srgbClr val="569CD6"/>
                </a:solidFill>
                <a:effectLst/>
                <a:latin typeface="Consolas" panose="020B0609020204030204" pitchFamily="49" charset="0"/>
              </a:rPr>
              <a:t>:&gt;4}</a:t>
            </a:r>
            <a:r>
              <a:rPr lang="pt-BR" b="0" dirty="0">
                <a:solidFill>
                  <a:srgbClr val="CE9178"/>
                </a:solidFill>
                <a:effectLst/>
                <a:latin typeface="Consolas" panose="020B0609020204030204" pitchFamily="49" charset="0"/>
              </a:rPr>
              <a:t> </a:t>
            </a:r>
            <a:r>
              <a:rPr lang="pt-BR" b="0" dirty="0">
                <a:solidFill>
                  <a:srgbClr val="569CD6"/>
                </a:solidFill>
                <a:effectLst/>
                <a:latin typeface="Consolas" panose="020B0609020204030204" pitchFamily="49" charset="0"/>
              </a:rPr>
              <a:t>{</a:t>
            </a:r>
            <a:r>
              <a:rPr lang="pt-BR" b="0" dirty="0">
                <a:solidFill>
                  <a:srgbClr val="9CDCFE"/>
                </a:solidFill>
                <a:effectLst/>
                <a:latin typeface="Consolas" panose="020B0609020204030204" pitchFamily="49" charset="0"/>
              </a:rPr>
              <a:t>i</a:t>
            </a:r>
            <a:r>
              <a:rPr lang="pt-BR" b="0" dirty="0">
                <a:solidFill>
                  <a:srgbClr val="D4D4D4"/>
                </a:solidFill>
                <a:effectLst/>
                <a:latin typeface="Consolas" panose="020B0609020204030204" pitchFamily="49" charset="0"/>
              </a:rPr>
              <a:t>*</a:t>
            </a:r>
            <a:r>
              <a:rPr lang="pt-BR" b="0" dirty="0">
                <a:solidFill>
                  <a:srgbClr val="B5CEA8"/>
                </a:solidFill>
                <a:effectLst/>
                <a:latin typeface="Consolas" panose="020B0609020204030204" pitchFamily="49" charset="0"/>
              </a:rPr>
              <a:t>10</a:t>
            </a:r>
            <a:r>
              <a:rPr lang="pt-BR" b="0" dirty="0">
                <a:solidFill>
                  <a:srgbClr val="569CD6"/>
                </a:solidFill>
                <a:effectLst/>
                <a:latin typeface="Consolas" panose="020B0609020204030204" pitchFamily="49" charset="0"/>
              </a:rPr>
              <a:t>:&gt;4}</a:t>
            </a:r>
            <a:r>
              <a:rPr lang="pt-BR" b="0" dirty="0">
                <a:solidFill>
                  <a:srgbClr val="CE9178"/>
                </a:solidFill>
                <a:effectLst/>
                <a:latin typeface="Consolas" panose="020B0609020204030204" pitchFamily="49" charset="0"/>
              </a:rPr>
              <a:t>"</a:t>
            </a:r>
            <a:r>
              <a:rPr lang="pt-BR" b="0" dirty="0">
                <a:solidFill>
                  <a:srgbClr val="CCCCCC"/>
                </a:solidFill>
                <a:effectLst/>
                <a:latin typeface="Consolas" panose="020B0609020204030204" pitchFamily="49" charset="0"/>
              </a:rPr>
              <a:t>)</a:t>
            </a:r>
          </a:p>
        </p:txBody>
      </p:sp>
      <p:sp>
        <p:nvSpPr>
          <p:cNvPr id="23" name="CaixaDeTexto 22">
            <a:extLst>
              <a:ext uri="{FF2B5EF4-FFF2-40B4-BE49-F238E27FC236}">
                <a16:creationId xmlns:a16="http://schemas.microsoft.com/office/drawing/2014/main" id="{41FF4875-9125-06A3-27CD-875F98E56565}"/>
              </a:ext>
            </a:extLst>
          </p:cNvPr>
          <p:cNvSpPr txBox="1"/>
          <p:nvPr/>
        </p:nvSpPr>
        <p:spPr>
          <a:xfrm>
            <a:off x="566810" y="7110539"/>
            <a:ext cx="8125968" cy="1004506"/>
          </a:xfrm>
          <a:prstGeom prst="rect">
            <a:avLst/>
          </a:prstGeom>
          <a:noFill/>
        </p:spPr>
        <p:txBody>
          <a:bodyPr wrap="square">
            <a:spAutoFit/>
          </a:bodyPr>
          <a:lstStyle/>
          <a:p>
            <a:pPr>
              <a:lnSpc>
                <a:spcPts val="1425"/>
              </a:lnSpc>
              <a:buNone/>
            </a:pPr>
            <a:r>
              <a:rPr lang="pt-BR" b="0" dirty="0">
                <a:solidFill>
                  <a:srgbClr val="CE92A4"/>
                </a:solidFill>
                <a:effectLst/>
                <a:latin typeface="Consolas" panose="020B0609020204030204" pitchFamily="49" charset="0"/>
              </a:rPr>
              <a:t>for</a:t>
            </a:r>
            <a:r>
              <a:rPr lang="pt-BR" b="0" dirty="0">
                <a:solidFill>
                  <a:srgbClr val="CCCCCC"/>
                </a:solidFill>
                <a:effectLst/>
                <a:latin typeface="Consolas" panose="020B0609020204030204" pitchFamily="49" charset="0"/>
              </a:rPr>
              <a:t> </a:t>
            </a:r>
            <a:r>
              <a:rPr lang="pt-BR" b="0" dirty="0">
                <a:solidFill>
                  <a:srgbClr val="9CDCFE"/>
                </a:solidFill>
                <a:effectLst/>
                <a:latin typeface="Consolas" panose="020B0609020204030204" pitchFamily="49" charset="0"/>
              </a:rPr>
              <a:t>i</a:t>
            </a:r>
            <a:r>
              <a:rPr lang="pt-BR" b="0" dirty="0">
                <a:solidFill>
                  <a:srgbClr val="CCCCCC"/>
                </a:solidFill>
                <a:effectLst/>
                <a:latin typeface="Consolas" panose="020B0609020204030204" pitchFamily="49" charset="0"/>
              </a:rPr>
              <a:t> </a:t>
            </a:r>
            <a:r>
              <a:rPr lang="pt-BR" b="0" dirty="0">
                <a:solidFill>
                  <a:srgbClr val="CE92A4"/>
                </a:solidFill>
                <a:effectLst/>
                <a:latin typeface="Consolas" panose="020B0609020204030204" pitchFamily="49" charset="0"/>
              </a:rPr>
              <a:t>in</a:t>
            </a:r>
            <a:r>
              <a:rPr lang="pt-BR" b="0" dirty="0">
                <a:solidFill>
                  <a:srgbClr val="CCCCCC"/>
                </a:solidFill>
                <a:effectLst/>
                <a:latin typeface="Consolas" panose="020B0609020204030204" pitchFamily="49" charset="0"/>
              </a:rPr>
              <a:t> </a:t>
            </a:r>
            <a:r>
              <a:rPr lang="pt-BR" b="0" dirty="0">
                <a:solidFill>
                  <a:srgbClr val="4EC9B0"/>
                </a:solidFill>
                <a:effectLst/>
                <a:latin typeface="Consolas" panose="020B0609020204030204" pitchFamily="49" charset="0"/>
              </a:rPr>
              <a:t>range</a:t>
            </a:r>
            <a:r>
              <a:rPr lang="pt-BR" b="0" dirty="0">
                <a:solidFill>
                  <a:srgbClr val="CCCCCC"/>
                </a:solidFill>
                <a:effectLst/>
                <a:latin typeface="Consolas" panose="020B0609020204030204" pitchFamily="49" charset="0"/>
              </a:rPr>
              <a:t>(</a:t>
            </a:r>
            <a:r>
              <a:rPr lang="pt-BR" b="0" dirty="0">
                <a:solidFill>
                  <a:srgbClr val="B5CEA8"/>
                </a:solidFill>
                <a:effectLst/>
                <a:latin typeface="Consolas" panose="020B0609020204030204" pitchFamily="49" charset="0"/>
              </a:rPr>
              <a:t>1</a:t>
            </a:r>
            <a:r>
              <a:rPr lang="pt-BR" b="0" dirty="0">
                <a:solidFill>
                  <a:srgbClr val="CCCCCC"/>
                </a:solidFill>
                <a:effectLst/>
                <a:latin typeface="Consolas" panose="020B0609020204030204" pitchFamily="49" charset="0"/>
              </a:rPr>
              <a:t>,</a:t>
            </a:r>
            <a:r>
              <a:rPr lang="pt-BR" b="0" dirty="0">
                <a:solidFill>
                  <a:srgbClr val="B5CEA8"/>
                </a:solidFill>
                <a:effectLst/>
                <a:latin typeface="Consolas" panose="020B0609020204030204" pitchFamily="49" charset="0"/>
              </a:rPr>
              <a:t>11</a:t>
            </a:r>
            <a:r>
              <a:rPr lang="pt-BR" b="0" dirty="0">
                <a:solidFill>
                  <a:srgbClr val="CCCCCC"/>
                </a:solidFill>
                <a:effectLst/>
                <a:latin typeface="Consolas" panose="020B0609020204030204" pitchFamily="49" charset="0"/>
              </a:rPr>
              <a:t>):</a:t>
            </a:r>
          </a:p>
          <a:p>
            <a:pPr>
              <a:lnSpc>
                <a:spcPts val="1425"/>
              </a:lnSpc>
              <a:buNone/>
            </a:pPr>
            <a:r>
              <a:rPr lang="pt-BR" b="0" dirty="0">
                <a:solidFill>
                  <a:srgbClr val="CCCCCC"/>
                </a:solidFill>
                <a:effectLst/>
                <a:latin typeface="Consolas" panose="020B0609020204030204" pitchFamily="49" charset="0"/>
              </a:rPr>
              <a:t>    </a:t>
            </a:r>
            <a:r>
              <a:rPr lang="pt-BR" b="0" dirty="0">
                <a:solidFill>
                  <a:srgbClr val="9CDCFE"/>
                </a:solidFill>
                <a:effectLst/>
                <a:latin typeface="Consolas" panose="020B0609020204030204" pitchFamily="49" charset="0"/>
              </a:rPr>
              <a:t>linha</a:t>
            </a:r>
            <a:r>
              <a:rPr lang="pt-BR" b="0" dirty="0">
                <a:solidFill>
                  <a:srgbClr val="CCCCCC"/>
                </a:solidFill>
                <a:effectLst/>
                <a:latin typeface="Consolas" panose="020B0609020204030204" pitchFamily="49" charset="0"/>
              </a:rPr>
              <a:t> </a:t>
            </a:r>
            <a:r>
              <a:rPr lang="pt-BR" b="0" dirty="0">
                <a:solidFill>
                  <a:srgbClr val="D4D4D4"/>
                </a:solidFill>
                <a:effectLst/>
                <a:latin typeface="Consolas" panose="020B0609020204030204" pitchFamily="49" charset="0"/>
              </a:rPr>
              <a:t>=</a:t>
            </a:r>
            <a:r>
              <a:rPr lang="pt-BR" b="0" dirty="0">
                <a:solidFill>
                  <a:srgbClr val="CCCCCC"/>
                </a:solidFill>
                <a:effectLst/>
                <a:latin typeface="Consolas" panose="020B0609020204030204" pitchFamily="49" charset="0"/>
              </a:rPr>
              <a:t> </a:t>
            </a:r>
            <a:r>
              <a:rPr lang="pt-BR" b="0" dirty="0">
                <a:solidFill>
                  <a:srgbClr val="569CD6"/>
                </a:solidFill>
                <a:effectLst/>
                <a:latin typeface="Consolas" panose="020B0609020204030204" pitchFamily="49" charset="0"/>
              </a:rPr>
              <a:t>f</a:t>
            </a:r>
            <a:r>
              <a:rPr lang="pt-BR" b="0" dirty="0">
                <a:solidFill>
                  <a:srgbClr val="CE9178"/>
                </a:solidFill>
                <a:effectLst/>
                <a:latin typeface="Consolas" panose="020B0609020204030204" pitchFamily="49" charset="0"/>
              </a:rPr>
              <a:t>"</a:t>
            </a:r>
            <a:r>
              <a:rPr lang="pt-BR" b="0" dirty="0">
                <a:solidFill>
                  <a:srgbClr val="569CD6"/>
                </a:solidFill>
                <a:effectLst/>
                <a:latin typeface="Consolas" panose="020B0609020204030204" pitchFamily="49" charset="0"/>
              </a:rPr>
              <a:t>{</a:t>
            </a:r>
            <a:r>
              <a:rPr lang="pt-BR" b="0" dirty="0">
                <a:solidFill>
                  <a:srgbClr val="9CDCFE"/>
                </a:solidFill>
                <a:effectLst/>
                <a:latin typeface="Consolas" panose="020B0609020204030204" pitchFamily="49" charset="0"/>
              </a:rPr>
              <a:t>i</a:t>
            </a:r>
            <a:r>
              <a:rPr lang="pt-BR" b="0" dirty="0">
                <a:solidFill>
                  <a:srgbClr val="569CD6"/>
                </a:solidFill>
                <a:effectLst/>
                <a:latin typeface="Consolas" panose="020B0609020204030204" pitchFamily="49" charset="0"/>
              </a:rPr>
              <a:t>:&gt;4}</a:t>
            </a:r>
            <a:r>
              <a:rPr lang="pt-BR" b="0" dirty="0">
                <a:solidFill>
                  <a:srgbClr val="CE9178"/>
                </a:solidFill>
                <a:effectLst/>
                <a:latin typeface="Consolas" panose="020B0609020204030204" pitchFamily="49" charset="0"/>
              </a:rPr>
              <a:t>"</a:t>
            </a:r>
            <a:r>
              <a:rPr lang="pt-BR" b="0" dirty="0">
                <a:solidFill>
                  <a:srgbClr val="CCCCCC"/>
                </a:solidFill>
                <a:effectLst/>
                <a:latin typeface="Consolas" panose="020B0609020204030204" pitchFamily="49" charset="0"/>
              </a:rPr>
              <a:t>    </a:t>
            </a:r>
          </a:p>
          <a:p>
            <a:pPr>
              <a:lnSpc>
                <a:spcPts val="1425"/>
              </a:lnSpc>
              <a:buNone/>
            </a:pPr>
            <a:r>
              <a:rPr lang="pt-BR" b="0" dirty="0">
                <a:solidFill>
                  <a:srgbClr val="CCCCCC"/>
                </a:solidFill>
                <a:effectLst/>
                <a:latin typeface="Consolas" panose="020B0609020204030204" pitchFamily="49" charset="0"/>
              </a:rPr>
              <a:t>    </a:t>
            </a:r>
            <a:r>
              <a:rPr lang="pt-BR" b="0" dirty="0">
                <a:solidFill>
                  <a:srgbClr val="CE92A4"/>
                </a:solidFill>
                <a:effectLst/>
                <a:latin typeface="Consolas" panose="020B0609020204030204" pitchFamily="49" charset="0"/>
              </a:rPr>
              <a:t>for</a:t>
            </a:r>
            <a:r>
              <a:rPr lang="pt-BR" b="0" dirty="0">
                <a:solidFill>
                  <a:srgbClr val="CCCCCC"/>
                </a:solidFill>
                <a:effectLst/>
                <a:latin typeface="Consolas" panose="020B0609020204030204" pitchFamily="49" charset="0"/>
              </a:rPr>
              <a:t> </a:t>
            </a:r>
            <a:r>
              <a:rPr lang="pt-BR" b="0" dirty="0" err="1">
                <a:solidFill>
                  <a:srgbClr val="9CDCFE"/>
                </a:solidFill>
                <a:effectLst/>
                <a:latin typeface="Consolas" panose="020B0609020204030204" pitchFamily="49" charset="0"/>
              </a:rPr>
              <a:t>ii</a:t>
            </a:r>
            <a:r>
              <a:rPr lang="pt-BR" b="0" dirty="0">
                <a:solidFill>
                  <a:srgbClr val="CCCCCC"/>
                </a:solidFill>
                <a:effectLst/>
                <a:latin typeface="Consolas" panose="020B0609020204030204" pitchFamily="49" charset="0"/>
              </a:rPr>
              <a:t> </a:t>
            </a:r>
            <a:r>
              <a:rPr lang="pt-BR" b="0" dirty="0">
                <a:solidFill>
                  <a:srgbClr val="CE92A4"/>
                </a:solidFill>
                <a:effectLst/>
                <a:latin typeface="Consolas" panose="020B0609020204030204" pitchFamily="49" charset="0"/>
              </a:rPr>
              <a:t>in</a:t>
            </a:r>
            <a:r>
              <a:rPr lang="pt-BR" b="0" dirty="0">
                <a:solidFill>
                  <a:srgbClr val="CCCCCC"/>
                </a:solidFill>
                <a:effectLst/>
                <a:latin typeface="Consolas" panose="020B0609020204030204" pitchFamily="49" charset="0"/>
              </a:rPr>
              <a:t> </a:t>
            </a:r>
            <a:r>
              <a:rPr lang="pt-BR" b="0" dirty="0">
                <a:solidFill>
                  <a:srgbClr val="4EC9B0"/>
                </a:solidFill>
                <a:effectLst/>
                <a:latin typeface="Consolas" panose="020B0609020204030204" pitchFamily="49" charset="0"/>
              </a:rPr>
              <a:t>range</a:t>
            </a:r>
            <a:r>
              <a:rPr lang="pt-BR" b="0" dirty="0">
                <a:solidFill>
                  <a:srgbClr val="CCCCCC"/>
                </a:solidFill>
                <a:effectLst/>
                <a:latin typeface="Consolas" panose="020B0609020204030204" pitchFamily="49" charset="0"/>
              </a:rPr>
              <a:t>(</a:t>
            </a:r>
            <a:r>
              <a:rPr lang="pt-BR" b="0" dirty="0">
                <a:solidFill>
                  <a:srgbClr val="B5CEA8"/>
                </a:solidFill>
                <a:effectLst/>
                <a:latin typeface="Consolas" panose="020B0609020204030204" pitchFamily="49" charset="0"/>
              </a:rPr>
              <a:t>2</a:t>
            </a:r>
            <a:r>
              <a:rPr lang="pt-BR" b="0" dirty="0">
                <a:solidFill>
                  <a:srgbClr val="CCCCCC"/>
                </a:solidFill>
                <a:effectLst/>
                <a:latin typeface="Consolas" panose="020B0609020204030204" pitchFamily="49" charset="0"/>
              </a:rPr>
              <a:t>,</a:t>
            </a:r>
            <a:r>
              <a:rPr lang="pt-BR" b="0" dirty="0">
                <a:solidFill>
                  <a:srgbClr val="B5CEA8"/>
                </a:solidFill>
                <a:effectLst/>
                <a:latin typeface="Consolas" panose="020B0609020204030204" pitchFamily="49" charset="0"/>
              </a:rPr>
              <a:t>11</a:t>
            </a:r>
            <a:r>
              <a:rPr lang="pt-BR" b="0" dirty="0">
                <a:solidFill>
                  <a:srgbClr val="CCCCCC"/>
                </a:solidFill>
                <a:effectLst/>
                <a:latin typeface="Consolas" panose="020B0609020204030204" pitchFamily="49" charset="0"/>
              </a:rPr>
              <a:t>):</a:t>
            </a:r>
          </a:p>
          <a:p>
            <a:pPr>
              <a:lnSpc>
                <a:spcPts val="1425"/>
              </a:lnSpc>
              <a:buNone/>
            </a:pPr>
            <a:r>
              <a:rPr lang="pt-BR" b="0" dirty="0">
                <a:solidFill>
                  <a:srgbClr val="CCCCCC"/>
                </a:solidFill>
                <a:effectLst/>
                <a:latin typeface="Consolas" panose="020B0609020204030204" pitchFamily="49" charset="0"/>
              </a:rPr>
              <a:t>        </a:t>
            </a:r>
            <a:r>
              <a:rPr lang="pt-BR" b="0" dirty="0">
                <a:solidFill>
                  <a:srgbClr val="9CDCFE"/>
                </a:solidFill>
                <a:effectLst/>
                <a:latin typeface="Consolas" panose="020B0609020204030204" pitchFamily="49" charset="0"/>
              </a:rPr>
              <a:t>linha</a:t>
            </a:r>
            <a:r>
              <a:rPr lang="pt-BR" b="0" dirty="0">
                <a:solidFill>
                  <a:srgbClr val="D4D4D4"/>
                </a:solidFill>
                <a:effectLst/>
                <a:latin typeface="Consolas" panose="020B0609020204030204" pitchFamily="49" charset="0"/>
              </a:rPr>
              <a:t>+=</a:t>
            </a:r>
            <a:r>
              <a:rPr lang="pt-BR" b="0" dirty="0">
                <a:solidFill>
                  <a:srgbClr val="CCCCCC"/>
                </a:solidFill>
                <a:effectLst/>
                <a:latin typeface="Consolas" panose="020B0609020204030204" pitchFamily="49" charset="0"/>
              </a:rPr>
              <a:t> </a:t>
            </a:r>
            <a:r>
              <a:rPr lang="pt-BR" b="0" dirty="0">
                <a:solidFill>
                  <a:srgbClr val="569CD6"/>
                </a:solidFill>
                <a:effectLst/>
                <a:latin typeface="Consolas" panose="020B0609020204030204" pitchFamily="49" charset="0"/>
              </a:rPr>
              <a:t>f</a:t>
            </a:r>
            <a:r>
              <a:rPr lang="pt-BR" b="0" dirty="0">
                <a:solidFill>
                  <a:srgbClr val="CE9178"/>
                </a:solidFill>
                <a:effectLst/>
                <a:latin typeface="Consolas" panose="020B0609020204030204" pitchFamily="49" charset="0"/>
              </a:rPr>
              <a:t>"</a:t>
            </a:r>
            <a:r>
              <a:rPr lang="pt-BR" b="0" dirty="0">
                <a:solidFill>
                  <a:srgbClr val="569CD6"/>
                </a:solidFill>
                <a:effectLst/>
                <a:latin typeface="Consolas" panose="020B0609020204030204" pitchFamily="49" charset="0"/>
              </a:rPr>
              <a:t>{</a:t>
            </a:r>
            <a:r>
              <a:rPr lang="pt-BR" b="0" dirty="0" err="1">
                <a:solidFill>
                  <a:srgbClr val="9CDCFE"/>
                </a:solidFill>
                <a:effectLst/>
                <a:latin typeface="Consolas" panose="020B0609020204030204" pitchFamily="49" charset="0"/>
              </a:rPr>
              <a:t>ii</a:t>
            </a:r>
            <a:r>
              <a:rPr lang="pt-BR" b="0" dirty="0">
                <a:solidFill>
                  <a:srgbClr val="D4D4D4"/>
                </a:solidFill>
                <a:effectLst/>
                <a:latin typeface="Consolas" panose="020B0609020204030204" pitchFamily="49" charset="0"/>
              </a:rPr>
              <a:t>*</a:t>
            </a:r>
            <a:r>
              <a:rPr lang="pt-BR" b="0" dirty="0">
                <a:solidFill>
                  <a:srgbClr val="9CDCFE"/>
                </a:solidFill>
                <a:effectLst/>
                <a:latin typeface="Consolas" panose="020B0609020204030204" pitchFamily="49" charset="0"/>
              </a:rPr>
              <a:t>i</a:t>
            </a:r>
            <a:r>
              <a:rPr lang="pt-BR" b="0" dirty="0">
                <a:solidFill>
                  <a:srgbClr val="569CD6"/>
                </a:solidFill>
                <a:effectLst/>
                <a:latin typeface="Consolas" panose="020B0609020204030204" pitchFamily="49" charset="0"/>
              </a:rPr>
              <a:t>:&gt;4}</a:t>
            </a:r>
            <a:r>
              <a:rPr lang="pt-BR" b="0" dirty="0">
                <a:solidFill>
                  <a:srgbClr val="CE9178"/>
                </a:solidFill>
                <a:effectLst/>
                <a:latin typeface="Consolas" panose="020B0609020204030204" pitchFamily="49" charset="0"/>
              </a:rPr>
              <a:t>"</a:t>
            </a:r>
            <a:endParaRPr lang="pt-BR" b="0" dirty="0">
              <a:solidFill>
                <a:srgbClr val="CCCCCC"/>
              </a:solidFill>
              <a:effectLst/>
              <a:latin typeface="Consolas" panose="020B0609020204030204" pitchFamily="49" charset="0"/>
            </a:endParaRPr>
          </a:p>
          <a:p>
            <a:pPr>
              <a:lnSpc>
                <a:spcPts val="1425"/>
              </a:lnSpc>
              <a:buNone/>
            </a:pPr>
            <a:r>
              <a:rPr lang="pt-BR" b="0" dirty="0">
                <a:solidFill>
                  <a:srgbClr val="CCCCCC"/>
                </a:solidFill>
                <a:effectLst/>
                <a:latin typeface="Consolas" panose="020B0609020204030204" pitchFamily="49" charset="0"/>
              </a:rPr>
              <a:t>    </a:t>
            </a:r>
            <a:r>
              <a:rPr lang="pt-BR" b="0" dirty="0">
                <a:solidFill>
                  <a:srgbClr val="DCDCAA"/>
                </a:solidFill>
                <a:effectLst/>
                <a:latin typeface="Consolas" panose="020B0609020204030204" pitchFamily="49" charset="0"/>
              </a:rPr>
              <a:t>print</a:t>
            </a:r>
            <a:r>
              <a:rPr lang="pt-BR" b="0" dirty="0">
                <a:solidFill>
                  <a:srgbClr val="CCCCCC"/>
                </a:solidFill>
                <a:effectLst/>
                <a:latin typeface="Consolas" panose="020B0609020204030204" pitchFamily="49" charset="0"/>
              </a:rPr>
              <a:t>(</a:t>
            </a:r>
            <a:r>
              <a:rPr lang="pt-BR" b="0" dirty="0">
                <a:solidFill>
                  <a:srgbClr val="9CDCFE"/>
                </a:solidFill>
                <a:effectLst/>
                <a:latin typeface="Consolas" panose="020B0609020204030204" pitchFamily="49" charset="0"/>
              </a:rPr>
              <a:t>linha</a:t>
            </a:r>
            <a:r>
              <a:rPr lang="pt-BR" b="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34027114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F99C4815-E001-A0D4-40FE-0E73323EB560}"/>
            </a:ext>
          </a:extLst>
        </p:cNvPr>
        <p:cNvGrpSpPr/>
        <p:nvPr/>
      </p:nvGrpSpPr>
      <p:grpSpPr>
        <a:xfrm>
          <a:off x="0" y="0"/>
          <a:ext cx="0" cy="0"/>
          <a:chOff x="0" y="0"/>
          <a:chExt cx="0" cy="0"/>
        </a:xfrm>
      </p:grpSpPr>
      <p:pic>
        <p:nvPicPr>
          <p:cNvPr id="54" name="Picture 53">
            <a:extLst>
              <a:ext uri="{FF2B5EF4-FFF2-40B4-BE49-F238E27FC236}">
                <a16:creationId xmlns:a16="http://schemas.microsoft.com/office/drawing/2014/main" id="{412E3267-7ABE-412B-8580-47EC0D1F61F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56" name="Picture 55">
            <a:extLst>
              <a:ext uri="{FF2B5EF4-FFF2-40B4-BE49-F238E27FC236}">
                <a16:creationId xmlns:a16="http://schemas.microsoft.com/office/drawing/2014/main" id="{20B62C5A-2250-4380-AB23-DB87446CCED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58" name="Oval 57">
            <a:extLst>
              <a:ext uri="{FF2B5EF4-FFF2-40B4-BE49-F238E27FC236}">
                <a16:creationId xmlns:a16="http://schemas.microsoft.com/office/drawing/2014/main" id="{D42CF425-7213-4F89-B0FF-4C2BDDD9C6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60" name="Picture 59">
            <a:extLst>
              <a:ext uri="{FF2B5EF4-FFF2-40B4-BE49-F238E27FC236}">
                <a16:creationId xmlns:a16="http://schemas.microsoft.com/office/drawing/2014/main" id="{D35DA97D-88F8-4249-B650-4FC9FD50A38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62" name="Picture 61">
            <a:extLst>
              <a:ext uri="{FF2B5EF4-FFF2-40B4-BE49-F238E27FC236}">
                <a16:creationId xmlns:a16="http://schemas.microsoft.com/office/drawing/2014/main" id="{43F38673-6E30-4BAE-AC67-0B283EBF42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64" name="Rectangle 63">
            <a:extLst>
              <a:ext uri="{FF2B5EF4-FFF2-40B4-BE49-F238E27FC236}">
                <a16:creationId xmlns:a16="http://schemas.microsoft.com/office/drawing/2014/main" id="{202A25CB-1ED1-4C87-AB49-8D3BC684D1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 name="CaixaDeTexto 2">
            <a:extLst>
              <a:ext uri="{FF2B5EF4-FFF2-40B4-BE49-F238E27FC236}">
                <a16:creationId xmlns:a16="http://schemas.microsoft.com/office/drawing/2014/main" id="{CF6C74D2-A43D-BC93-61DE-F2E4B624DF58}"/>
              </a:ext>
            </a:extLst>
          </p:cNvPr>
          <p:cNvSpPr txBox="1"/>
          <p:nvPr/>
        </p:nvSpPr>
        <p:spPr>
          <a:xfrm>
            <a:off x="861482" y="603624"/>
            <a:ext cx="7505630" cy="1867373"/>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3900">
                <a:solidFill>
                  <a:schemeClr val="tx2"/>
                </a:solidFill>
                <a:latin typeface="+mj-lt"/>
                <a:ea typeface="+mj-ea"/>
                <a:cs typeface="+mj-cs"/>
              </a:rPr>
              <a:t>Vamos praticar... </a:t>
            </a:r>
          </a:p>
          <a:p>
            <a:pPr>
              <a:lnSpc>
                <a:spcPct val="90000"/>
              </a:lnSpc>
              <a:spcBef>
                <a:spcPct val="0"/>
              </a:spcBef>
              <a:spcAft>
                <a:spcPts val="600"/>
              </a:spcAft>
            </a:pPr>
            <a:endParaRPr lang="en-US" sz="3900">
              <a:solidFill>
                <a:schemeClr val="tx2"/>
              </a:solidFill>
              <a:latin typeface="+mj-lt"/>
              <a:ea typeface="+mj-ea"/>
              <a:cs typeface="+mj-cs"/>
            </a:endParaRPr>
          </a:p>
          <a:p>
            <a:pPr>
              <a:lnSpc>
                <a:spcPct val="90000"/>
              </a:lnSpc>
              <a:spcBef>
                <a:spcPct val="0"/>
              </a:spcBef>
              <a:spcAft>
                <a:spcPts val="600"/>
              </a:spcAft>
            </a:pPr>
            <a:r>
              <a:rPr lang="en-US" sz="3900">
                <a:solidFill>
                  <a:schemeClr val="tx2"/>
                </a:solidFill>
                <a:latin typeface="+mj-lt"/>
                <a:ea typeface="+mj-ea"/>
                <a:cs typeface="+mj-cs"/>
              </a:rPr>
              <a:t>Atividade 3 – Menu</a:t>
            </a:r>
          </a:p>
        </p:txBody>
      </p:sp>
      <p:sp>
        <p:nvSpPr>
          <p:cNvPr id="66" name="Freeform: Shape 65">
            <a:extLst>
              <a:ext uri="{FF2B5EF4-FFF2-40B4-BE49-F238E27FC236}">
                <a16:creationId xmlns:a16="http://schemas.microsoft.com/office/drawing/2014/main" id="{BDF1A5A8-1F9D-41FB-9968-E8E141CC34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7998308" y="885749"/>
            <a:ext cx="9144001" cy="7372503"/>
          </a:xfrm>
          <a:custGeom>
            <a:avLst/>
            <a:gdLst>
              <a:gd name="connsiteX0" fmla="*/ 6858001 w 6858001"/>
              <a:gd name="connsiteY0" fmla="*/ 1177 h 5529377"/>
              <a:gd name="connsiteX1" fmla="*/ 6858001 w 6858001"/>
              <a:gd name="connsiteY1" fmla="*/ 1344715 h 5529377"/>
              <a:gd name="connsiteX2" fmla="*/ 6858000 w 6858001"/>
              <a:gd name="connsiteY2" fmla="*/ 1344715 h 5529377"/>
              <a:gd name="connsiteX3" fmla="*/ 6858000 w 6858001"/>
              <a:gd name="connsiteY3" fmla="*/ 5529377 h 5529377"/>
              <a:gd name="connsiteX4" fmla="*/ 0 w 6858001"/>
              <a:gd name="connsiteY4" fmla="*/ 5529376 h 5529377"/>
              <a:gd name="connsiteX5" fmla="*/ 0 w 6858001"/>
              <a:gd name="connsiteY5" fmla="*/ 891096 h 5529377"/>
              <a:gd name="connsiteX6" fmla="*/ 1 w 6858001"/>
              <a:gd name="connsiteY6" fmla="*/ 891096 h 5529377"/>
              <a:gd name="connsiteX7" fmla="*/ 1 w 6858001"/>
              <a:gd name="connsiteY7" fmla="*/ 0 h 5529377"/>
              <a:gd name="connsiteX8" fmla="*/ 40463 w 6858001"/>
              <a:gd name="connsiteY8" fmla="*/ 5883 h 5529377"/>
              <a:gd name="connsiteX9" fmla="*/ 159107 w 6858001"/>
              <a:gd name="connsiteY9" fmla="*/ 23196 h 5529377"/>
              <a:gd name="connsiteX10" fmla="*/ 245518 w 6858001"/>
              <a:gd name="connsiteY10" fmla="*/ 35299 h 5529377"/>
              <a:gd name="connsiteX11" fmla="*/ 348388 w 6858001"/>
              <a:gd name="connsiteY11" fmla="*/ 48073 h 5529377"/>
              <a:gd name="connsiteX12" fmla="*/ 470460 w 6858001"/>
              <a:gd name="connsiteY12" fmla="*/ 63369 h 5529377"/>
              <a:gd name="connsiteX13" fmla="*/ 605563 w 6858001"/>
              <a:gd name="connsiteY13" fmla="*/ 79506 h 5529377"/>
              <a:gd name="connsiteX14" fmla="*/ 757810 w 6858001"/>
              <a:gd name="connsiteY14" fmla="*/ 96483 h 5529377"/>
              <a:gd name="connsiteX15" fmla="*/ 923774 w 6858001"/>
              <a:gd name="connsiteY15" fmla="*/ 114469 h 5529377"/>
              <a:gd name="connsiteX16" fmla="*/ 1104139 w 6858001"/>
              <a:gd name="connsiteY16" fmla="*/ 132454 h 5529377"/>
              <a:gd name="connsiteX17" fmla="*/ 1296163 w 6858001"/>
              <a:gd name="connsiteY17" fmla="*/ 150776 h 5529377"/>
              <a:gd name="connsiteX18" fmla="*/ 1503275 w 6858001"/>
              <a:gd name="connsiteY18" fmla="*/ 167753 h 5529377"/>
              <a:gd name="connsiteX19" fmla="*/ 1719988 w 6858001"/>
              <a:gd name="connsiteY19" fmla="*/ 184058 h 5529377"/>
              <a:gd name="connsiteX20" fmla="*/ 1949045 w 6858001"/>
              <a:gd name="connsiteY20" fmla="*/ 198849 h 5529377"/>
              <a:gd name="connsiteX21" fmla="*/ 2187703 w 6858001"/>
              <a:gd name="connsiteY21" fmla="*/ 212969 h 5529377"/>
              <a:gd name="connsiteX22" fmla="*/ 2436649 w 6858001"/>
              <a:gd name="connsiteY22" fmla="*/ 226248 h 5529377"/>
              <a:gd name="connsiteX23" fmla="*/ 2564208 w 6858001"/>
              <a:gd name="connsiteY23" fmla="*/ 230955 h 5529377"/>
              <a:gd name="connsiteX24" fmla="*/ 2694509 w 6858001"/>
              <a:gd name="connsiteY24" fmla="*/ 236165 h 5529377"/>
              <a:gd name="connsiteX25" fmla="*/ 2826868 w 6858001"/>
              <a:gd name="connsiteY25" fmla="*/ 241040 h 5529377"/>
              <a:gd name="connsiteX26" fmla="*/ 2959914 w 6858001"/>
              <a:gd name="connsiteY26" fmla="*/ 244234 h 5529377"/>
              <a:gd name="connsiteX27" fmla="*/ 3095702 w 6858001"/>
              <a:gd name="connsiteY27" fmla="*/ 247091 h 5529377"/>
              <a:gd name="connsiteX28" fmla="*/ 3232862 w 6858001"/>
              <a:gd name="connsiteY28" fmla="*/ 250117 h 5529377"/>
              <a:gd name="connsiteX29" fmla="*/ 3372765 w 6858001"/>
              <a:gd name="connsiteY29" fmla="*/ 252134 h 5529377"/>
              <a:gd name="connsiteX30" fmla="*/ 3514040 w 6858001"/>
              <a:gd name="connsiteY30" fmla="*/ 252134 h 5529377"/>
              <a:gd name="connsiteX31" fmla="*/ 3656686 w 6858001"/>
              <a:gd name="connsiteY31" fmla="*/ 253142 h 5529377"/>
              <a:gd name="connsiteX32" fmla="*/ 3800704 w 6858001"/>
              <a:gd name="connsiteY32" fmla="*/ 252134 h 5529377"/>
              <a:gd name="connsiteX33" fmla="*/ 3946780 w 6858001"/>
              <a:gd name="connsiteY33" fmla="*/ 250117 h 5529377"/>
              <a:gd name="connsiteX34" fmla="*/ 4092855 w 6858001"/>
              <a:gd name="connsiteY34" fmla="*/ 248268 h 5529377"/>
              <a:gd name="connsiteX35" fmla="*/ 4240988 w 6858001"/>
              <a:gd name="connsiteY35" fmla="*/ 244234 h 5529377"/>
              <a:gd name="connsiteX36" fmla="*/ 4390492 w 6858001"/>
              <a:gd name="connsiteY36" fmla="*/ 240032 h 5529377"/>
              <a:gd name="connsiteX37" fmla="*/ 4539997 w 6858001"/>
              <a:gd name="connsiteY37" fmla="*/ 235157 h 5529377"/>
              <a:gd name="connsiteX38" fmla="*/ 4690873 w 6858001"/>
              <a:gd name="connsiteY38" fmla="*/ 228266 h 5529377"/>
              <a:gd name="connsiteX39" fmla="*/ 4843120 w 6858001"/>
              <a:gd name="connsiteY39" fmla="*/ 220029 h 5529377"/>
              <a:gd name="connsiteX40" fmla="*/ 4996054 w 6858001"/>
              <a:gd name="connsiteY40" fmla="*/ 212129 h 5529377"/>
              <a:gd name="connsiteX41" fmla="*/ 5148987 w 6858001"/>
              <a:gd name="connsiteY41" fmla="*/ 202044 h 5529377"/>
              <a:gd name="connsiteX42" fmla="*/ 5303978 w 6858001"/>
              <a:gd name="connsiteY42" fmla="*/ 189941 h 5529377"/>
              <a:gd name="connsiteX43" fmla="*/ 5456911 w 6858001"/>
              <a:gd name="connsiteY43" fmla="*/ 177839 h 5529377"/>
              <a:gd name="connsiteX44" fmla="*/ 5612588 w 6858001"/>
              <a:gd name="connsiteY44" fmla="*/ 163887 h 5529377"/>
              <a:gd name="connsiteX45" fmla="*/ 5768950 w 6858001"/>
              <a:gd name="connsiteY45" fmla="*/ 148591 h 5529377"/>
              <a:gd name="connsiteX46" fmla="*/ 5923255 w 6858001"/>
              <a:gd name="connsiteY46" fmla="*/ 132455 h 5529377"/>
              <a:gd name="connsiteX47" fmla="*/ 6079618 w 6858001"/>
              <a:gd name="connsiteY47" fmla="*/ 113629 h 5529377"/>
              <a:gd name="connsiteX48" fmla="*/ 6235294 w 6858001"/>
              <a:gd name="connsiteY48" fmla="*/ 93458 h 5529377"/>
              <a:gd name="connsiteX49" fmla="*/ 6391657 w 6858001"/>
              <a:gd name="connsiteY49" fmla="*/ 73455 h 5529377"/>
              <a:gd name="connsiteX50" fmla="*/ 6547333 w 6858001"/>
              <a:gd name="connsiteY50" fmla="*/ 50091 h 5529377"/>
              <a:gd name="connsiteX51" fmla="*/ 6702324 w 6858001"/>
              <a:gd name="connsiteY51" fmla="*/ 26222 h 5529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5529377">
                <a:moveTo>
                  <a:pt x="6858001" y="1177"/>
                </a:moveTo>
                <a:lnTo>
                  <a:pt x="6858001" y="1344715"/>
                </a:lnTo>
                <a:lnTo>
                  <a:pt x="6858000" y="1344715"/>
                </a:lnTo>
                <a:lnTo>
                  <a:pt x="6858000" y="5529377"/>
                </a:lnTo>
                <a:lnTo>
                  <a:pt x="0" y="5529376"/>
                </a:lnTo>
                <a:lnTo>
                  <a:pt x="0" y="891096"/>
                </a:lnTo>
                <a:lnTo>
                  <a:pt x="1" y="891096"/>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8" y="241040"/>
                </a:lnTo>
                <a:lnTo>
                  <a:pt x="2959914" y="244234"/>
                </a:lnTo>
                <a:lnTo>
                  <a:pt x="3095702" y="247091"/>
                </a:lnTo>
                <a:lnTo>
                  <a:pt x="3232862" y="250117"/>
                </a:lnTo>
                <a:lnTo>
                  <a:pt x="3372765" y="252134"/>
                </a:lnTo>
                <a:lnTo>
                  <a:pt x="3514040" y="252134"/>
                </a:lnTo>
                <a:lnTo>
                  <a:pt x="3656686" y="253142"/>
                </a:lnTo>
                <a:lnTo>
                  <a:pt x="3800704" y="252134"/>
                </a:lnTo>
                <a:lnTo>
                  <a:pt x="3946780" y="250117"/>
                </a:lnTo>
                <a:lnTo>
                  <a:pt x="4092855"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solidFill>
            <a:srgbClr val="FFFFFF"/>
          </a:solidFill>
          <a:ln>
            <a:noFill/>
          </a:ln>
        </p:spPr>
        <p:txBody>
          <a:bodyPr/>
          <a:lstStyle/>
          <a:p>
            <a:endParaRPr lang="pt-BR"/>
          </a:p>
        </p:txBody>
      </p:sp>
      <p:sp>
        <p:nvSpPr>
          <p:cNvPr id="68" name="Freeform 7">
            <a:extLst>
              <a:ext uri="{FF2B5EF4-FFF2-40B4-BE49-F238E27FC236}">
                <a16:creationId xmlns:a16="http://schemas.microsoft.com/office/drawing/2014/main" id="{2FF8A507-56A2-4FE4-8B7E-C1BC9DD86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99790" y="-1"/>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8" name="Imagem 7">
            <a:extLst>
              <a:ext uri="{FF2B5EF4-FFF2-40B4-BE49-F238E27FC236}">
                <a16:creationId xmlns:a16="http://schemas.microsoft.com/office/drawing/2014/main" id="{98252C74-97D3-7E58-D81C-01D066678ABE}"/>
              </a:ext>
            </a:extLst>
          </p:cNvPr>
          <p:cNvPicPr>
            <a:picLocks noChangeAspect="1"/>
          </p:cNvPicPr>
          <p:nvPr/>
        </p:nvPicPr>
        <p:blipFill>
          <a:blip r:embed="rId7"/>
          <a:stretch>
            <a:fillRect/>
          </a:stretch>
        </p:blipFill>
        <p:spPr>
          <a:xfrm>
            <a:off x="10445080" y="863598"/>
            <a:ext cx="4586670" cy="4322936"/>
          </a:xfrm>
          <a:prstGeom prst="rect">
            <a:avLst/>
          </a:prstGeom>
          <a:effectLst/>
        </p:spPr>
      </p:pic>
      <p:sp>
        <p:nvSpPr>
          <p:cNvPr id="70" name="Rectangle 69">
            <a:extLst>
              <a:ext uri="{FF2B5EF4-FFF2-40B4-BE49-F238E27FC236}">
                <a16:creationId xmlns:a16="http://schemas.microsoft.com/office/drawing/2014/main" id="{FCC54B50-93BD-4243-9020-11486472E2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23264"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5" name="CaixaDeTexto 4">
            <a:extLst>
              <a:ext uri="{FF2B5EF4-FFF2-40B4-BE49-F238E27FC236}">
                <a16:creationId xmlns:a16="http://schemas.microsoft.com/office/drawing/2014/main" id="{4526AF1F-A802-13F4-9360-480BD4D146D5}"/>
              </a:ext>
            </a:extLst>
          </p:cNvPr>
          <p:cNvSpPr txBox="1"/>
          <p:nvPr/>
        </p:nvSpPr>
        <p:spPr>
          <a:xfrm>
            <a:off x="861482" y="2737224"/>
            <a:ext cx="7504847" cy="5593974"/>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buFont typeface="Wingdings 3" charset="2"/>
              <a:buChar char=""/>
            </a:pPr>
            <a:r>
              <a:rPr lang="en-US" b="1" dirty="0" err="1">
                <a:latin typeface="+mj-lt"/>
                <a:ea typeface="+mj-ea"/>
                <a:cs typeface="+mj-cs"/>
              </a:rPr>
              <a:t>Objetivo</a:t>
            </a:r>
            <a:r>
              <a:rPr lang="en-US" b="1" dirty="0">
                <a:latin typeface="+mj-lt"/>
                <a:ea typeface="+mj-ea"/>
                <a:cs typeface="+mj-cs"/>
              </a:rPr>
              <a:t>: Nesta </a:t>
            </a:r>
            <a:r>
              <a:rPr lang="en-US" b="1" dirty="0" err="1">
                <a:latin typeface="+mj-lt"/>
                <a:ea typeface="+mj-ea"/>
                <a:cs typeface="+mj-cs"/>
              </a:rPr>
              <a:t>atividade</a:t>
            </a:r>
            <a:r>
              <a:rPr lang="en-US" b="1" dirty="0">
                <a:latin typeface="+mj-lt"/>
                <a:ea typeface="+mj-ea"/>
                <a:cs typeface="+mj-cs"/>
              </a:rPr>
              <a:t> </a:t>
            </a:r>
            <a:r>
              <a:rPr lang="en-US" b="1" dirty="0" err="1">
                <a:latin typeface="+mj-lt"/>
                <a:ea typeface="+mj-ea"/>
                <a:cs typeface="+mj-cs"/>
              </a:rPr>
              <a:t>você</a:t>
            </a:r>
            <a:r>
              <a:rPr lang="en-US" b="1" dirty="0">
                <a:latin typeface="+mj-lt"/>
                <a:ea typeface="+mj-ea"/>
                <a:cs typeface="+mj-cs"/>
              </a:rPr>
              <a:t> </a:t>
            </a:r>
            <a:r>
              <a:rPr lang="en-US" b="1" dirty="0" err="1">
                <a:latin typeface="+mj-lt"/>
                <a:ea typeface="+mj-ea"/>
                <a:cs typeface="+mj-cs"/>
              </a:rPr>
              <a:t>vai</a:t>
            </a:r>
            <a:r>
              <a:rPr lang="en-US" b="1" dirty="0">
                <a:latin typeface="+mj-lt"/>
                <a:ea typeface="+mj-ea"/>
                <a:cs typeface="+mj-cs"/>
              </a:rPr>
              <a:t> </a:t>
            </a:r>
            <a:r>
              <a:rPr lang="en-US" b="1" dirty="0" err="1">
                <a:latin typeface="+mj-lt"/>
                <a:ea typeface="+mj-ea"/>
                <a:cs typeface="+mj-cs"/>
              </a:rPr>
              <a:t>criar</a:t>
            </a:r>
            <a:r>
              <a:rPr lang="en-US" b="1" dirty="0">
                <a:latin typeface="+mj-lt"/>
                <a:ea typeface="+mj-ea"/>
                <a:cs typeface="+mj-cs"/>
              </a:rPr>
              <a:t> um menu </a:t>
            </a:r>
            <a:r>
              <a:rPr lang="en-US" b="1" dirty="0" err="1">
                <a:latin typeface="+mj-lt"/>
                <a:ea typeface="+mj-ea"/>
                <a:cs typeface="+mj-cs"/>
              </a:rPr>
              <a:t>usando</a:t>
            </a:r>
            <a:r>
              <a:rPr lang="en-US" b="1" dirty="0">
                <a:latin typeface="+mj-lt"/>
                <a:ea typeface="+mj-ea"/>
                <a:cs typeface="+mj-cs"/>
              </a:rPr>
              <a:t> o </a:t>
            </a:r>
            <a:r>
              <a:rPr lang="en-US" b="1" dirty="0">
                <a:solidFill>
                  <a:srgbClr val="FFC000"/>
                </a:solidFill>
                <a:latin typeface="+mj-lt"/>
                <a:ea typeface="+mj-ea"/>
                <a:cs typeface="+mj-cs"/>
              </a:rPr>
              <a:t>While</a:t>
            </a:r>
            <a:r>
              <a:rPr lang="en-US" b="1" dirty="0">
                <a:latin typeface="+mj-lt"/>
                <a:ea typeface="+mj-ea"/>
                <a:cs typeface="+mj-cs"/>
              </a:rPr>
              <a:t>, </a:t>
            </a:r>
            <a:r>
              <a:rPr lang="en-US" b="1" dirty="0" err="1">
                <a:latin typeface="+mj-lt"/>
                <a:ea typeface="+mj-ea"/>
                <a:cs typeface="+mj-cs"/>
              </a:rPr>
              <a:t>este</a:t>
            </a:r>
            <a:r>
              <a:rPr lang="en-US" b="1" dirty="0">
                <a:latin typeface="+mj-lt"/>
                <a:ea typeface="+mj-ea"/>
                <a:cs typeface="+mj-cs"/>
              </a:rPr>
              <a:t> menu </a:t>
            </a:r>
            <a:r>
              <a:rPr lang="en-US" b="1" dirty="0" err="1">
                <a:latin typeface="+mj-lt"/>
                <a:ea typeface="+mj-ea"/>
                <a:cs typeface="+mj-cs"/>
              </a:rPr>
              <a:t>poderá</a:t>
            </a:r>
            <a:r>
              <a:rPr lang="en-US" b="1" dirty="0">
                <a:latin typeface="+mj-lt"/>
                <a:ea typeface="+mj-ea"/>
                <a:cs typeface="+mj-cs"/>
              </a:rPr>
              <a:t> ser </a:t>
            </a:r>
            <a:r>
              <a:rPr lang="en-US" b="1" dirty="0" err="1">
                <a:latin typeface="+mj-lt"/>
                <a:ea typeface="+mj-ea"/>
                <a:cs typeface="+mj-cs"/>
              </a:rPr>
              <a:t>utilizado</a:t>
            </a:r>
            <a:r>
              <a:rPr lang="en-US" b="1" dirty="0">
                <a:latin typeface="+mj-lt"/>
                <a:ea typeface="+mj-ea"/>
                <a:cs typeface="+mj-cs"/>
              </a:rPr>
              <a:t> </a:t>
            </a:r>
            <a:r>
              <a:rPr lang="en-US" b="1" dirty="0" err="1">
                <a:latin typeface="+mj-lt"/>
                <a:ea typeface="+mj-ea"/>
                <a:cs typeface="+mj-cs"/>
              </a:rPr>
              <a:t>em</a:t>
            </a:r>
            <a:r>
              <a:rPr lang="en-US" b="1" dirty="0">
                <a:latin typeface="+mj-lt"/>
                <a:ea typeface="+mj-ea"/>
                <a:cs typeface="+mj-cs"/>
              </a:rPr>
              <a:t> conjunto com outros </a:t>
            </a:r>
            <a:r>
              <a:rPr lang="en-US" b="1" dirty="0" err="1">
                <a:latin typeface="+mj-lt"/>
                <a:ea typeface="+mj-ea"/>
                <a:cs typeface="+mj-cs"/>
              </a:rPr>
              <a:t>códigos</a:t>
            </a:r>
            <a:r>
              <a:rPr lang="en-US" b="1" dirty="0">
                <a:latin typeface="+mj-lt"/>
                <a:ea typeface="+mj-ea"/>
                <a:cs typeface="+mj-cs"/>
              </a:rPr>
              <a:t> para </a:t>
            </a:r>
            <a:r>
              <a:rPr lang="en-US" b="1" dirty="0" err="1">
                <a:latin typeface="+mj-lt"/>
                <a:ea typeface="+mj-ea"/>
                <a:cs typeface="+mj-cs"/>
              </a:rPr>
              <a:t>que</a:t>
            </a:r>
            <a:r>
              <a:rPr lang="en-US" b="1" dirty="0">
                <a:latin typeface="+mj-lt"/>
                <a:ea typeface="+mj-ea"/>
                <a:cs typeface="+mj-cs"/>
              </a:rPr>
              <a:t> a </a:t>
            </a:r>
            <a:r>
              <a:rPr lang="en-US" b="1" dirty="0" err="1">
                <a:latin typeface="+mj-lt"/>
                <a:ea typeface="+mj-ea"/>
                <a:cs typeface="+mj-cs"/>
              </a:rPr>
              <a:t>execução</a:t>
            </a:r>
            <a:r>
              <a:rPr lang="en-US" b="1" dirty="0">
                <a:latin typeface="+mj-lt"/>
                <a:ea typeface="+mj-ea"/>
                <a:cs typeface="+mj-cs"/>
              </a:rPr>
              <a:t> do </a:t>
            </a:r>
            <a:r>
              <a:rPr lang="en-US" b="1" dirty="0" err="1">
                <a:latin typeface="+mj-lt"/>
                <a:ea typeface="+mj-ea"/>
                <a:cs typeface="+mj-cs"/>
              </a:rPr>
              <a:t>programa</a:t>
            </a:r>
            <a:r>
              <a:rPr lang="en-US" b="1" dirty="0">
                <a:latin typeface="+mj-lt"/>
                <a:ea typeface="+mj-ea"/>
                <a:cs typeface="+mj-cs"/>
              </a:rPr>
              <a:t> </a:t>
            </a:r>
            <a:r>
              <a:rPr lang="en-US" b="1" dirty="0" err="1">
                <a:latin typeface="+mj-lt"/>
                <a:ea typeface="+mj-ea"/>
                <a:cs typeface="+mj-cs"/>
              </a:rPr>
              <a:t>seja</a:t>
            </a:r>
            <a:r>
              <a:rPr lang="en-US" b="1" dirty="0">
                <a:latin typeface="+mj-lt"/>
                <a:ea typeface="+mj-ea"/>
                <a:cs typeface="+mj-cs"/>
              </a:rPr>
              <a:t> </a:t>
            </a:r>
            <a:r>
              <a:rPr lang="en-US" b="1" dirty="0" err="1">
                <a:latin typeface="+mj-lt"/>
                <a:ea typeface="+mj-ea"/>
                <a:cs typeface="+mj-cs"/>
              </a:rPr>
              <a:t>realizada</a:t>
            </a:r>
            <a:r>
              <a:rPr lang="en-US" b="1" dirty="0">
                <a:latin typeface="+mj-lt"/>
                <a:ea typeface="+mj-ea"/>
                <a:cs typeface="+mj-cs"/>
              </a:rPr>
              <a:t> </a:t>
            </a:r>
            <a:r>
              <a:rPr lang="en-US" b="1" dirty="0" err="1">
                <a:latin typeface="+mj-lt"/>
                <a:ea typeface="+mj-ea"/>
                <a:cs typeface="+mj-cs"/>
              </a:rPr>
              <a:t>até</a:t>
            </a:r>
            <a:r>
              <a:rPr lang="en-US" b="1" dirty="0">
                <a:latin typeface="+mj-lt"/>
                <a:ea typeface="+mj-ea"/>
                <a:cs typeface="+mj-cs"/>
              </a:rPr>
              <a:t> </a:t>
            </a:r>
            <a:r>
              <a:rPr lang="en-US" b="1" dirty="0" err="1">
                <a:latin typeface="+mj-lt"/>
                <a:ea typeface="+mj-ea"/>
                <a:cs typeface="+mj-cs"/>
              </a:rPr>
              <a:t>que</a:t>
            </a:r>
            <a:r>
              <a:rPr lang="en-US" b="1" dirty="0">
                <a:latin typeface="+mj-lt"/>
                <a:ea typeface="+mj-ea"/>
                <a:cs typeface="+mj-cs"/>
              </a:rPr>
              <a:t> o </a:t>
            </a:r>
            <a:r>
              <a:rPr lang="en-US" b="1" dirty="0" err="1">
                <a:latin typeface="+mj-lt"/>
                <a:ea typeface="+mj-ea"/>
                <a:cs typeface="+mj-cs"/>
              </a:rPr>
              <a:t>usuário</a:t>
            </a:r>
            <a:r>
              <a:rPr lang="en-US" b="1" dirty="0">
                <a:latin typeface="+mj-lt"/>
                <a:ea typeface="+mj-ea"/>
                <a:cs typeface="+mj-cs"/>
              </a:rPr>
              <a:t> </a:t>
            </a:r>
            <a:r>
              <a:rPr lang="en-US" b="1" dirty="0" err="1">
                <a:latin typeface="+mj-lt"/>
                <a:ea typeface="+mj-ea"/>
                <a:cs typeface="+mj-cs"/>
              </a:rPr>
              <a:t>deseje</a:t>
            </a:r>
            <a:r>
              <a:rPr lang="en-US" b="1" dirty="0">
                <a:latin typeface="+mj-lt"/>
                <a:ea typeface="+mj-ea"/>
                <a:cs typeface="+mj-cs"/>
              </a:rPr>
              <a:t> </a:t>
            </a:r>
            <a:r>
              <a:rPr lang="en-US" b="1" dirty="0" err="1">
                <a:latin typeface="+mj-lt"/>
                <a:ea typeface="+mj-ea"/>
                <a:cs typeface="+mj-cs"/>
              </a:rPr>
              <a:t>sair</a:t>
            </a:r>
            <a:r>
              <a:rPr lang="en-US" b="1" dirty="0">
                <a:latin typeface="+mj-lt"/>
                <a:ea typeface="+mj-ea"/>
                <a:cs typeface="+mj-cs"/>
              </a:rPr>
              <a:t>. </a:t>
            </a:r>
          </a:p>
          <a:p>
            <a:pPr>
              <a:spcBef>
                <a:spcPts val="1000"/>
              </a:spcBef>
              <a:buClr>
                <a:schemeClr val="bg2">
                  <a:lumMod val="40000"/>
                  <a:lumOff val="60000"/>
                </a:schemeClr>
              </a:buClr>
              <a:buSzPct val="80000"/>
              <a:buFont typeface="Wingdings 3" charset="2"/>
              <a:buChar char=""/>
            </a:pPr>
            <a:endParaRPr lang="en-US" b="1" dirty="0">
              <a:latin typeface="+mj-lt"/>
              <a:ea typeface="+mj-ea"/>
              <a:cs typeface="+mj-cs"/>
            </a:endParaRPr>
          </a:p>
          <a:p>
            <a:pPr>
              <a:spcBef>
                <a:spcPts val="1000"/>
              </a:spcBef>
              <a:buClr>
                <a:schemeClr val="bg2">
                  <a:lumMod val="40000"/>
                  <a:lumOff val="60000"/>
                </a:schemeClr>
              </a:buClr>
              <a:buSzPct val="80000"/>
              <a:buFont typeface="Wingdings 3" charset="2"/>
              <a:buChar char=""/>
            </a:pPr>
            <a:r>
              <a:rPr lang="en-US" b="1" dirty="0" err="1">
                <a:latin typeface="+mj-lt"/>
                <a:ea typeface="+mj-ea"/>
                <a:cs typeface="+mj-cs"/>
              </a:rPr>
              <a:t>Comandos</a:t>
            </a:r>
            <a:r>
              <a:rPr lang="en-US" b="1" dirty="0">
                <a:latin typeface="+mj-lt"/>
                <a:ea typeface="+mj-ea"/>
                <a:cs typeface="+mj-cs"/>
              </a:rPr>
              <a:t> </a:t>
            </a:r>
            <a:r>
              <a:rPr lang="en-US" b="1" dirty="0" err="1">
                <a:latin typeface="+mj-lt"/>
                <a:ea typeface="+mj-ea"/>
                <a:cs typeface="+mj-cs"/>
              </a:rPr>
              <a:t>utilizados</a:t>
            </a:r>
            <a:r>
              <a:rPr lang="en-US" b="1" dirty="0">
                <a:latin typeface="+mj-lt"/>
                <a:ea typeface="+mj-ea"/>
                <a:cs typeface="+mj-cs"/>
              </a:rPr>
              <a:t>: </a:t>
            </a:r>
            <a:r>
              <a:rPr lang="en-US" b="1" dirty="0" err="1">
                <a:solidFill>
                  <a:srgbClr val="FFC000"/>
                </a:solidFill>
                <a:latin typeface="+mj-lt"/>
                <a:ea typeface="+mj-ea"/>
                <a:cs typeface="+mj-cs"/>
              </a:rPr>
              <a:t>Variáveis</a:t>
            </a:r>
            <a:r>
              <a:rPr lang="en-US" b="1" dirty="0">
                <a:solidFill>
                  <a:srgbClr val="FFC000"/>
                </a:solidFill>
                <a:latin typeface="+mj-lt"/>
                <a:ea typeface="+mj-ea"/>
                <a:cs typeface="+mj-cs"/>
              </a:rPr>
              <a:t> e while. </a:t>
            </a:r>
          </a:p>
          <a:p>
            <a:pPr>
              <a:spcBef>
                <a:spcPts val="1000"/>
              </a:spcBef>
              <a:buClr>
                <a:schemeClr val="bg2">
                  <a:lumMod val="40000"/>
                  <a:lumOff val="60000"/>
                </a:schemeClr>
              </a:buClr>
              <a:buSzPct val="80000"/>
              <a:buFont typeface="Wingdings 3" charset="2"/>
              <a:buChar char=""/>
            </a:pPr>
            <a:endParaRPr lang="en-US" b="1" dirty="0">
              <a:latin typeface="+mj-lt"/>
              <a:ea typeface="+mj-ea"/>
              <a:cs typeface="+mj-cs"/>
            </a:endParaRPr>
          </a:p>
          <a:p>
            <a:pPr>
              <a:spcBef>
                <a:spcPts val="1000"/>
              </a:spcBef>
              <a:buClr>
                <a:schemeClr val="bg2">
                  <a:lumMod val="40000"/>
                  <a:lumOff val="60000"/>
                </a:schemeClr>
              </a:buClr>
              <a:buSzPct val="80000"/>
              <a:buFont typeface="Wingdings 3" charset="2"/>
              <a:buChar char=""/>
            </a:pPr>
            <a:endParaRPr lang="en-US" b="1" dirty="0">
              <a:latin typeface="+mj-lt"/>
              <a:ea typeface="+mj-ea"/>
              <a:cs typeface="+mj-cs"/>
            </a:endParaRPr>
          </a:p>
        </p:txBody>
      </p:sp>
      <p:pic>
        <p:nvPicPr>
          <p:cNvPr id="7" name="Imagem 6">
            <a:extLst>
              <a:ext uri="{FF2B5EF4-FFF2-40B4-BE49-F238E27FC236}">
                <a16:creationId xmlns:a16="http://schemas.microsoft.com/office/drawing/2014/main" id="{525108E9-7A49-ADDF-D676-17FC7A32DE2C}"/>
              </a:ext>
            </a:extLst>
          </p:cNvPr>
          <p:cNvPicPr>
            <a:picLocks noChangeAspect="1"/>
          </p:cNvPicPr>
          <p:nvPr/>
        </p:nvPicPr>
        <p:blipFill>
          <a:blip r:embed="rId8"/>
          <a:stretch>
            <a:fillRect/>
          </a:stretch>
        </p:blipFill>
        <p:spPr>
          <a:xfrm>
            <a:off x="10084989" y="6139900"/>
            <a:ext cx="5306852" cy="1499185"/>
          </a:xfrm>
          <a:prstGeom prst="rect">
            <a:avLst/>
          </a:prstGeom>
          <a:effectLst/>
        </p:spPr>
      </p:pic>
    </p:spTree>
    <p:extLst>
      <p:ext uri="{BB962C8B-B14F-4D97-AF65-F5344CB8AC3E}">
        <p14:creationId xmlns:p14="http://schemas.microsoft.com/office/powerpoint/2010/main" val="42198999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787C3-69C2-A8F7-0638-57333BE3215E}"/>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C19F4B07-16FF-D9C0-5530-1DCED9775B29}"/>
              </a:ext>
            </a:extLst>
          </p:cNvPr>
          <p:cNvSpPr txBox="1"/>
          <p:nvPr/>
        </p:nvSpPr>
        <p:spPr>
          <a:xfrm>
            <a:off x="4165600" y="3602504"/>
            <a:ext cx="8125968" cy="1938992"/>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tabLst/>
            </a:pPr>
            <a:r>
              <a:rPr kumimoji="0" lang="pt-BR" altLang="pt-BR" sz="6000" b="0" i="0" u="none" strike="noStrike" cap="none" normalizeH="0" baseline="0" dirty="0">
                <a:ln>
                  <a:noFill/>
                </a:ln>
                <a:solidFill>
                  <a:srgbClr val="FFC000"/>
                </a:solidFill>
                <a:effectLst/>
                <a:latin typeface="Arial" panose="020B0604020202020204" pitchFamily="34" charset="0"/>
              </a:rPr>
              <a:t>Lista de exercícios  Loop   -   PYTHON</a:t>
            </a:r>
          </a:p>
        </p:txBody>
      </p:sp>
    </p:spTree>
    <p:extLst>
      <p:ext uri="{BB962C8B-B14F-4D97-AF65-F5344CB8AC3E}">
        <p14:creationId xmlns:p14="http://schemas.microsoft.com/office/powerpoint/2010/main" val="11818730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2A37A0C4-B4D4-C687-B1FB-CE17760FA121}"/>
              </a:ext>
            </a:extLst>
          </p:cNvPr>
          <p:cNvSpPr txBox="1"/>
          <p:nvPr/>
        </p:nvSpPr>
        <p:spPr>
          <a:xfrm>
            <a:off x="5080000" y="3810000"/>
            <a:ext cx="8125968" cy="1015663"/>
          </a:xfrm>
          <a:prstGeom prst="rect">
            <a:avLst/>
          </a:prstGeom>
          <a:noFill/>
        </p:spPr>
        <p:txBody>
          <a:bodyPr wrap="square">
            <a:spAutoFit/>
          </a:bodyPr>
          <a:lstStyle/>
          <a:p>
            <a:r>
              <a:rPr lang="pt-BR" sz="6000" b="1" dirty="0">
                <a:solidFill>
                  <a:srgbClr val="FFC000"/>
                </a:solidFill>
              </a:rPr>
              <a:t>Listas e Tuplas</a:t>
            </a:r>
          </a:p>
        </p:txBody>
      </p:sp>
    </p:spTree>
    <p:extLst>
      <p:ext uri="{BB962C8B-B14F-4D97-AF65-F5344CB8AC3E}">
        <p14:creationId xmlns:p14="http://schemas.microsoft.com/office/powerpoint/2010/main" val="16842891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82106-3FF2-63E1-3BDB-67168B9FCE60}"/>
            </a:ext>
          </a:extLst>
        </p:cNvPr>
        <p:cNvGrpSpPr/>
        <p:nvPr/>
      </p:nvGrpSpPr>
      <p:grpSpPr>
        <a:xfrm>
          <a:off x="0" y="0"/>
          <a:ext cx="0" cy="0"/>
          <a:chOff x="0" y="0"/>
          <a:chExt cx="0" cy="0"/>
        </a:xfrm>
      </p:grpSpPr>
      <p:sp>
        <p:nvSpPr>
          <p:cNvPr id="4" name="CaixaDeTexto 3">
            <a:extLst>
              <a:ext uri="{FF2B5EF4-FFF2-40B4-BE49-F238E27FC236}">
                <a16:creationId xmlns:a16="http://schemas.microsoft.com/office/drawing/2014/main" id="{2DF238C3-D8EE-275B-17ED-5EF3909C1E6E}"/>
              </a:ext>
            </a:extLst>
          </p:cNvPr>
          <p:cNvSpPr txBox="1"/>
          <p:nvPr/>
        </p:nvSpPr>
        <p:spPr>
          <a:xfrm>
            <a:off x="868680" y="3429000"/>
            <a:ext cx="12344400" cy="3046988"/>
          </a:xfrm>
          <a:prstGeom prst="rect">
            <a:avLst/>
          </a:prstGeom>
          <a:noFill/>
        </p:spPr>
        <p:txBody>
          <a:bodyPr wrap="square">
            <a:spAutoFit/>
          </a:bodyPr>
          <a:lstStyle/>
          <a:p>
            <a:pPr algn="just"/>
            <a:r>
              <a:rPr lang="pt-BR" sz="2400" dirty="0"/>
              <a:t>Neste capitulo você irá estudar a criação de listas e tuplas, em Python as </a:t>
            </a:r>
            <a:r>
              <a:rPr lang="pt-BR" sz="2400" dirty="0">
                <a:solidFill>
                  <a:srgbClr val="FFC000"/>
                </a:solidFill>
              </a:rPr>
              <a:t>listas</a:t>
            </a:r>
            <a:r>
              <a:rPr lang="pt-BR" sz="2400" dirty="0"/>
              <a:t> e </a:t>
            </a:r>
            <a:r>
              <a:rPr lang="pt-BR" sz="2400" dirty="0">
                <a:solidFill>
                  <a:srgbClr val="FFC000"/>
                </a:solidFill>
              </a:rPr>
              <a:t>tuplas</a:t>
            </a:r>
            <a:r>
              <a:rPr lang="pt-BR" sz="2400" dirty="0"/>
              <a:t> são sequências ou coleções ordenadas de valores, estes valores são chamados elementos ou itens. </a:t>
            </a:r>
          </a:p>
          <a:p>
            <a:pPr algn="just"/>
            <a:endParaRPr lang="pt-BR" sz="2400" dirty="0"/>
          </a:p>
          <a:p>
            <a:pPr algn="just"/>
            <a:r>
              <a:rPr lang="pt-BR" sz="2400" dirty="0"/>
              <a:t>A diferença da </a:t>
            </a:r>
            <a:r>
              <a:rPr lang="pt-BR" sz="2400" dirty="0">
                <a:solidFill>
                  <a:srgbClr val="FFC000"/>
                </a:solidFill>
              </a:rPr>
              <a:t>Lista</a:t>
            </a:r>
            <a:r>
              <a:rPr lang="pt-BR" sz="2400" dirty="0"/>
              <a:t> e </a:t>
            </a:r>
            <a:r>
              <a:rPr lang="pt-BR" sz="2400" dirty="0">
                <a:solidFill>
                  <a:srgbClr val="FFC000"/>
                </a:solidFill>
              </a:rPr>
              <a:t>Tuplas</a:t>
            </a:r>
            <a:r>
              <a:rPr lang="pt-BR" sz="2400" dirty="0"/>
              <a:t> é que a tupla uma vez criada não pode ser modificada, ela é imutável, e a lista pode ter os valores incluídos, alteramos ou até mesmo excluídos. Ambas podem ser estruturas de um modo simples ou multidimensional. </a:t>
            </a:r>
          </a:p>
        </p:txBody>
      </p:sp>
      <p:sp>
        <p:nvSpPr>
          <p:cNvPr id="6" name="CaixaDeTexto 5">
            <a:extLst>
              <a:ext uri="{FF2B5EF4-FFF2-40B4-BE49-F238E27FC236}">
                <a16:creationId xmlns:a16="http://schemas.microsoft.com/office/drawing/2014/main" id="{6A735568-FA3D-D8FB-9F1D-CF4745244732}"/>
              </a:ext>
            </a:extLst>
          </p:cNvPr>
          <p:cNvSpPr txBox="1"/>
          <p:nvPr/>
        </p:nvSpPr>
        <p:spPr>
          <a:xfrm>
            <a:off x="868680" y="609600"/>
            <a:ext cx="8125968" cy="523220"/>
          </a:xfrm>
          <a:prstGeom prst="rect">
            <a:avLst/>
          </a:prstGeom>
          <a:noFill/>
        </p:spPr>
        <p:txBody>
          <a:bodyPr wrap="square">
            <a:spAutoFit/>
          </a:bodyPr>
          <a:lstStyle/>
          <a:p>
            <a:r>
              <a:rPr lang="pt-BR" sz="2800" b="1" dirty="0">
                <a:solidFill>
                  <a:srgbClr val="FFC000"/>
                </a:solidFill>
              </a:rPr>
              <a:t>Listas e Tuplas</a:t>
            </a:r>
          </a:p>
        </p:txBody>
      </p:sp>
    </p:spTree>
    <p:extLst>
      <p:ext uri="{BB962C8B-B14F-4D97-AF65-F5344CB8AC3E}">
        <p14:creationId xmlns:p14="http://schemas.microsoft.com/office/powerpoint/2010/main" val="2951505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9E430-6B13-0626-47D5-7501230560F0}"/>
            </a:ext>
          </a:extLst>
        </p:cNvPr>
        <p:cNvGrpSpPr/>
        <p:nvPr/>
      </p:nvGrpSpPr>
      <p:grpSpPr>
        <a:xfrm>
          <a:off x="0" y="0"/>
          <a:ext cx="0" cy="0"/>
          <a:chOff x="0" y="0"/>
          <a:chExt cx="0" cy="0"/>
        </a:xfrm>
      </p:grpSpPr>
      <p:sp>
        <p:nvSpPr>
          <p:cNvPr id="6" name="CaixaDeTexto 5">
            <a:extLst>
              <a:ext uri="{FF2B5EF4-FFF2-40B4-BE49-F238E27FC236}">
                <a16:creationId xmlns:a16="http://schemas.microsoft.com/office/drawing/2014/main" id="{CE8412FA-C78C-8628-CB16-A329E46D8CB2}"/>
              </a:ext>
            </a:extLst>
          </p:cNvPr>
          <p:cNvSpPr txBox="1"/>
          <p:nvPr/>
        </p:nvSpPr>
        <p:spPr>
          <a:xfrm>
            <a:off x="857504" y="457200"/>
            <a:ext cx="8125968" cy="523220"/>
          </a:xfrm>
          <a:prstGeom prst="rect">
            <a:avLst/>
          </a:prstGeom>
          <a:noFill/>
        </p:spPr>
        <p:txBody>
          <a:bodyPr wrap="square">
            <a:spAutoFit/>
          </a:bodyPr>
          <a:lstStyle/>
          <a:p>
            <a:r>
              <a:rPr lang="pt-BR" sz="2800" b="1" dirty="0">
                <a:solidFill>
                  <a:srgbClr val="FFC000"/>
                </a:solidFill>
              </a:rPr>
              <a:t>Listas e Tuplas</a:t>
            </a:r>
          </a:p>
        </p:txBody>
      </p:sp>
      <p:sp>
        <p:nvSpPr>
          <p:cNvPr id="3" name="CaixaDeTexto 2">
            <a:extLst>
              <a:ext uri="{FF2B5EF4-FFF2-40B4-BE49-F238E27FC236}">
                <a16:creationId xmlns:a16="http://schemas.microsoft.com/office/drawing/2014/main" id="{3B87FA46-3442-35D7-518C-7C484F6D6BFF}"/>
              </a:ext>
            </a:extLst>
          </p:cNvPr>
          <p:cNvSpPr txBox="1"/>
          <p:nvPr/>
        </p:nvSpPr>
        <p:spPr>
          <a:xfrm>
            <a:off x="886968" y="1752600"/>
            <a:ext cx="12727432" cy="4832092"/>
          </a:xfrm>
          <a:prstGeom prst="rect">
            <a:avLst/>
          </a:prstGeom>
          <a:noFill/>
        </p:spPr>
        <p:txBody>
          <a:bodyPr wrap="square">
            <a:spAutoFit/>
          </a:bodyPr>
          <a:lstStyle/>
          <a:p>
            <a:r>
              <a:rPr lang="pt-BR" sz="2800" dirty="0"/>
              <a:t>Objetivos: </a:t>
            </a:r>
          </a:p>
          <a:p>
            <a:endParaRPr lang="pt-BR" sz="2800" dirty="0"/>
          </a:p>
          <a:p>
            <a:r>
              <a:rPr lang="pt-BR" sz="2800" dirty="0"/>
              <a:t> Aprender a montar uma tupla ou lista. </a:t>
            </a:r>
          </a:p>
          <a:p>
            <a:endParaRPr lang="pt-BR" sz="2800" dirty="0"/>
          </a:p>
          <a:p>
            <a:r>
              <a:rPr lang="pt-BR" sz="2800" dirty="0"/>
              <a:t> Listar os itens da tupla ou lista. </a:t>
            </a:r>
          </a:p>
          <a:p>
            <a:endParaRPr lang="pt-BR" sz="2800" dirty="0"/>
          </a:p>
          <a:p>
            <a:r>
              <a:rPr lang="pt-BR" sz="2800" dirty="0"/>
              <a:t> Usar tupla / lista multidimensional. </a:t>
            </a:r>
          </a:p>
          <a:p>
            <a:endParaRPr lang="pt-BR" sz="2800" dirty="0"/>
          </a:p>
          <a:p>
            <a:r>
              <a:rPr lang="pt-BR" sz="2800" dirty="0"/>
              <a:t> Manipular dados de uma lista. </a:t>
            </a:r>
          </a:p>
          <a:p>
            <a:endParaRPr lang="pt-BR" sz="2800" dirty="0"/>
          </a:p>
          <a:p>
            <a:r>
              <a:rPr lang="pt-BR" sz="2800" dirty="0"/>
              <a:t> Contar a quantidade de itens de uma tupla / lista.</a:t>
            </a:r>
          </a:p>
        </p:txBody>
      </p:sp>
    </p:spTree>
    <p:extLst>
      <p:ext uri="{BB962C8B-B14F-4D97-AF65-F5344CB8AC3E}">
        <p14:creationId xmlns:p14="http://schemas.microsoft.com/office/powerpoint/2010/main" val="329501845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A2D8AE-2FE1-E52E-2503-57BF359950A3}"/>
            </a:ext>
          </a:extLst>
        </p:cNvPr>
        <p:cNvGrpSpPr/>
        <p:nvPr/>
      </p:nvGrpSpPr>
      <p:grpSpPr>
        <a:xfrm>
          <a:off x="0" y="0"/>
          <a:ext cx="0" cy="0"/>
          <a:chOff x="0" y="0"/>
          <a:chExt cx="0" cy="0"/>
        </a:xfrm>
      </p:grpSpPr>
      <p:sp>
        <p:nvSpPr>
          <p:cNvPr id="4" name="CaixaDeTexto 3">
            <a:extLst>
              <a:ext uri="{FF2B5EF4-FFF2-40B4-BE49-F238E27FC236}">
                <a16:creationId xmlns:a16="http://schemas.microsoft.com/office/drawing/2014/main" id="{966DE8E3-B16C-0C9B-42A0-2A41E04E63C0}"/>
              </a:ext>
            </a:extLst>
          </p:cNvPr>
          <p:cNvSpPr txBox="1"/>
          <p:nvPr/>
        </p:nvSpPr>
        <p:spPr>
          <a:xfrm>
            <a:off x="584200" y="533400"/>
            <a:ext cx="13747496" cy="4524315"/>
          </a:xfrm>
          <a:prstGeom prst="rect">
            <a:avLst/>
          </a:prstGeom>
          <a:noFill/>
        </p:spPr>
        <p:txBody>
          <a:bodyPr wrap="square">
            <a:spAutoFit/>
          </a:bodyPr>
          <a:lstStyle/>
          <a:p>
            <a:pPr>
              <a:buNone/>
            </a:pPr>
            <a:r>
              <a:rPr lang="pt-BR" sz="3200" b="1" dirty="0">
                <a:solidFill>
                  <a:srgbClr val="FFC000"/>
                </a:solidFill>
              </a:rPr>
              <a:t>LISTAS EM PYTHON</a:t>
            </a:r>
          </a:p>
          <a:p>
            <a:pPr>
              <a:buNone/>
            </a:pPr>
            <a:endParaRPr lang="pt-BR" sz="3200" b="1" dirty="0"/>
          </a:p>
          <a:p>
            <a:pPr>
              <a:buNone/>
            </a:pPr>
            <a:r>
              <a:rPr lang="pt-BR" sz="3200" b="1" dirty="0"/>
              <a:t>O que são?</a:t>
            </a:r>
          </a:p>
          <a:p>
            <a:pPr>
              <a:buNone/>
            </a:pPr>
            <a:endParaRPr lang="pt-BR" sz="3200" b="1" dirty="0"/>
          </a:p>
          <a:p>
            <a:pPr>
              <a:buNone/>
            </a:pPr>
            <a:r>
              <a:rPr lang="pt-BR" sz="3200" dirty="0"/>
              <a:t>Listas são estruturas que armazenam </a:t>
            </a:r>
            <a:r>
              <a:rPr lang="pt-BR" sz="3200" b="1" dirty="0"/>
              <a:t>vários valores em uma única variável</a:t>
            </a:r>
            <a:r>
              <a:rPr lang="pt-BR" sz="3200" dirty="0"/>
              <a:t>.</a:t>
            </a:r>
          </a:p>
          <a:p>
            <a:pPr>
              <a:buNone/>
            </a:pPr>
            <a:endParaRPr lang="pt-BR" sz="3200" dirty="0"/>
          </a:p>
          <a:p>
            <a:pPr>
              <a:buNone/>
            </a:pPr>
            <a:r>
              <a:rPr lang="pt-BR" sz="3200" dirty="0"/>
              <a:t>✔ podem ser alteradas (mutáveis)</a:t>
            </a:r>
            <a:br>
              <a:rPr lang="pt-BR" sz="3200" dirty="0"/>
            </a:br>
            <a:r>
              <a:rPr lang="pt-BR" sz="3200" dirty="0"/>
              <a:t>✔ usam colchetes </a:t>
            </a:r>
            <a:r>
              <a:rPr lang="pt-BR" sz="3200" dirty="0">
                <a:latin typeface="Courier New" panose="02070309020205020404" pitchFamily="49" charset="0"/>
              </a:rPr>
              <a:t>[]</a:t>
            </a:r>
            <a:endParaRPr lang="pt-BR" sz="3200" dirty="0"/>
          </a:p>
        </p:txBody>
      </p:sp>
      <p:sp>
        <p:nvSpPr>
          <p:cNvPr id="11" name="CaixaDeTexto 10">
            <a:extLst>
              <a:ext uri="{FF2B5EF4-FFF2-40B4-BE49-F238E27FC236}">
                <a16:creationId xmlns:a16="http://schemas.microsoft.com/office/drawing/2014/main" id="{463817EC-9878-34FF-A20B-6313BE7235B9}"/>
              </a:ext>
            </a:extLst>
          </p:cNvPr>
          <p:cNvSpPr txBox="1"/>
          <p:nvPr/>
        </p:nvSpPr>
        <p:spPr>
          <a:xfrm>
            <a:off x="584200" y="5562600"/>
            <a:ext cx="13258800" cy="1256626"/>
          </a:xfrm>
          <a:prstGeom prst="rect">
            <a:avLst/>
          </a:prstGeom>
          <a:noFill/>
        </p:spPr>
        <p:txBody>
          <a:bodyPr wrap="square">
            <a:spAutoFit/>
          </a:bodyPr>
          <a:lstStyle/>
          <a:p>
            <a:pPr>
              <a:lnSpc>
                <a:spcPts val="1425"/>
              </a:lnSpc>
              <a:buNone/>
            </a:pPr>
            <a:r>
              <a:rPr lang="pt-BR" sz="4000" b="0" dirty="0">
                <a:solidFill>
                  <a:srgbClr val="9CDCFE"/>
                </a:solidFill>
                <a:effectLst/>
                <a:latin typeface="Consolas" panose="020B0609020204030204" pitchFamily="49" charset="0"/>
              </a:rPr>
              <a:t>frutas</a:t>
            </a:r>
            <a:r>
              <a:rPr lang="pt-BR" sz="4000" b="0" dirty="0">
                <a:solidFill>
                  <a:srgbClr val="CCCCCC"/>
                </a:solidFill>
                <a:effectLst/>
                <a:latin typeface="Consolas" panose="020B0609020204030204" pitchFamily="49" charset="0"/>
              </a:rPr>
              <a:t> </a:t>
            </a:r>
            <a:r>
              <a:rPr lang="pt-BR" sz="4000" b="0" dirty="0">
                <a:solidFill>
                  <a:srgbClr val="D4D4D4"/>
                </a:solidFill>
                <a:effectLst/>
                <a:latin typeface="Consolas" panose="020B0609020204030204" pitchFamily="49" charset="0"/>
              </a:rPr>
              <a:t>=</a:t>
            </a:r>
            <a:r>
              <a:rPr lang="pt-BR" sz="4000" b="0" dirty="0">
                <a:solidFill>
                  <a:srgbClr val="CCCCCC"/>
                </a:solidFill>
                <a:effectLst/>
                <a:latin typeface="Consolas" panose="020B0609020204030204" pitchFamily="49" charset="0"/>
              </a:rPr>
              <a:t> [</a:t>
            </a:r>
            <a:r>
              <a:rPr lang="pt-BR" sz="4000" b="0" dirty="0">
                <a:solidFill>
                  <a:srgbClr val="CE9178"/>
                </a:solidFill>
                <a:effectLst/>
                <a:latin typeface="Consolas" panose="020B0609020204030204" pitchFamily="49" charset="0"/>
              </a:rPr>
              <a:t>"maçã"</a:t>
            </a:r>
            <a:r>
              <a:rPr lang="pt-BR" sz="4000" b="0" dirty="0">
                <a:solidFill>
                  <a:srgbClr val="CCCCCC"/>
                </a:solidFill>
                <a:effectLst/>
                <a:latin typeface="Consolas" panose="020B0609020204030204" pitchFamily="49" charset="0"/>
              </a:rPr>
              <a:t>, </a:t>
            </a:r>
            <a:r>
              <a:rPr lang="pt-BR" sz="4000" b="0" dirty="0">
                <a:solidFill>
                  <a:srgbClr val="CE9178"/>
                </a:solidFill>
                <a:effectLst/>
                <a:latin typeface="Consolas" panose="020B0609020204030204" pitchFamily="49" charset="0"/>
              </a:rPr>
              <a:t>"banana"</a:t>
            </a:r>
            <a:r>
              <a:rPr lang="pt-BR" sz="4000" b="0" dirty="0">
                <a:solidFill>
                  <a:srgbClr val="CCCCCC"/>
                </a:solidFill>
                <a:effectLst/>
                <a:latin typeface="Consolas" panose="020B0609020204030204" pitchFamily="49" charset="0"/>
              </a:rPr>
              <a:t>, </a:t>
            </a:r>
            <a:r>
              <a:rPr lang="pt-BR" sz="4000" b="0" dirty="0">
                <a:solidFill>
                  <a:srgbClr val="CE9178"/>
                </a:solidFill>
                <a:effectLst/>
                <a:latin typeface="Consolas" panose="020B0609020204030204" pitchFamily="49" charset="0"/>
              </a:rPr>
              <a:t>"uva"</a:t>
            </a:r>
            <a:r>
              <a:rPr lang="pt-BR" sz="4000" b="0" dirty="0">
                <a:solidFill>
                  <a:srgbClr val="CCCCCC"/>
                </a:solidFill>
                <a:effectLst/>
                <a:latin typeface="Consolas" panose="020B0609020204030204" pitchFamily="49" charset="0"/>
              </a:rPr>
              <a:t>]</a:t>
            </a:r>
          </a:p>
          <a:p>
            <a:pPr>
              <a:lnSpc>
                <a:spcPts val="1425"/>
              </a:lnSpc>
              <a:buNone/>
            </a:pPr>
            <a:endParaRPr lang="pt-BR" sz="4000" dirty="0">
              <a:solidFill>
                <a:srgbClr val="CCCCCC"/>
              </a:solidFill>
              <a:latin typeface="Consolas" panose="020B0609020204030204" pitchFamily="49" charset="0"/>
            </a:endParaRPr>
          </a:p>
          <a:p>
            <a:pPr>
              <a:lnSpc>
                <a:spcPts val="1425"/>
              </a:lnSpc>
              <a:buNone/>
            </a:pPr>
            <a:endParaRPr lang="pt-BR" sz="4000" b="0" dirty="0">
              <a:solidFill>
                <a:srgbClr val="CCCCCC"/>
              </a:solidFill>
              <a:effectLst/>
              <a:latin typeface="Consolas" panose="020B0609020204030204" pitchFamily="49" charset="0"/>
            </a:endParaRPr>
          </a:p>
          <a:p>
            <a:pPr>
              <a:lnSpc>
                <a:spcPts val="1425"/>
              </a:lnSpc>
              <a:buNone/>
            </a:pPr>
            <a:r>
              <a:rPr lang="pt-BR" sz="4000" b="0" dirty="0">
                <a:solidFill>
                  <a:srgbClr val="DCDCAA"/>
                </a:solidFill>
                <a:effectLst/>
                <a:latin typeface="Consolas" panose="020B0609020204030204" pitchFamily="49" charset="0"/>
              </a:rPr>
              <a:t>print</a:t>
            </a:r>
            <a:r>
              <a:rPr lang="pt-BR" sz="4000" b="0" dirty="0">
                <a:solidFill>
                  <a:srgbClr val="CCCCCC"/>
                </a:solidFill>
                <a:effectLst/>
                <a:latin typeface="Consolas" panose="020B0609020204030204" pitchFamily="49" charset="0"/>
              </a:rPr>
              <a:t>(</a:t>
            </a:r>
            <a:r>
              <a:rPr lang="pt-BR" sz="4000" b="0" dirty="0">
                <a:solidFill>
                  <a:srgbClr val="9CDCFE"/>
                </a:solidFill>
                <a:effectLst/>
                <a:latin typeface="Consolas" panose="020B0609020204030204" pitchFamily="49" charset="0"/>
              </a:rPr>
              <a:t>frutas</a:t>
            </a:r>
            <a:r>
              <a:rPr lang="pt-BR" sz="4000" b="0" dirty="0">
                <a:solidFill>
                  <a:srgbClr val="CCCCCC"/>
                </a:solidFill>
                <a:effectLst/>
                <a:latin typeface="Consolas" panose="020B0609020204030204" pitchFamily="49" charset="0"/>
              </a:rPr>
              <a:t>[</a:t>
            </a:r>
            <a:r>
              <a:rPr lang="pt-BR" sz="4000" b="0" dirty="0">
                <a:solidFill>
                  <a:srgbClr val="B5CEA8"/>
                </a:solidFill>
                <a:effectLst/>
                <a:latin typeface="Consolas" panose="020B0609020204030204" pitchFamily="49" charset="0"/>
              </a:rPr>
              <a:t>0</a:t>
            </a:r>
            <a:r>
              <a:rPr lang="pt-BR" sz="4000" b="0" dirty="0">
                <a:solidFill>
                  <a:srgbClr val="CCCCCC"/>
                </a:solidFill>
                <a:effectLst/>
                <a:latin typeface="Consolas" panose="020B0609020204030204" pitchFamily="49" charset="0"/>
              </a:rPr>
              <a:t>])</a:t>
            </a:r>
          </a:p>
          <a:p>
            <a:pPr>
              <a:lnSpc>
                <a:spcPts val="1425"/>
              </a:lnSpc>
              <a:buNone/>
            </a:pPr>
            <a:br>
              <a:rPr lang="pt-BR" sz="4000" b="0" dirty="0">
                <a:solidFill>
                  <a:srgbClr val="CCCCCC"/>
                </a:solidFill>
                <a:effectLst/>
                <a:latin typeface="Consolas" panose="020B0609020204030204" pitchFamily="49" charset="0"/>
              </a:rPr>
            </a:br>
            <a:endParaRPr lang="pt-BR" sz="4000"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9141669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5A822-7B11-C585-5760-4871BEAF1F1F}"/>
            </a:ext>
          </a:extLst>
        </p:cNvPr>
        <p:cNvGrpSpPr/>
        <p:nvPr/>
      </p:nvGrpSpPr>
      <p:grpSpPr>
        <a:xfrm>
          <a:off x="0" y="0"/>
          <a:ext cx="0" cy="0"/>
          <a:chOff x="0" y="0"/>
          <a:chExt cx="0" cy="0"/>
        </a:xfrm>
      </p:grpSpPr>
      <p:sp>
        <p:nvSpPr>
          <p:cNvPr id="4" name="CaixaDeTexto 3">
            <a:extLst>
              <a:ext uri="{FF2B5EF4-FFF2-40B4-BE49-F238E27FC236}">
                <a16:creationId xmlns:a16="http://schemas.microsoft.com/office/drawing/2014/main" id="{8B3A5392-921B-40AF-E3AA-801ADBC53B6C}"/>
              </a:ext>
            </a:extLst>
          </p:cNvPr>
          <p:cNvSpPr txBox="1"/>
          <p:nvPr/>
        </p:nvSpPr>
        <p:spPr>
          <a:xfrm>
            <a:off x="584200" y="533400"/>
            <a:ext cx="13747496" cy="1077218"/>
          </a:xfrm>
          <a:prstGeom prst="rect">
            <a:avLst/>
          </a:prstGeom>
          <a:noFill/>
        </p:spPr>
        <p:txBody>
          <a:bodyPr wrap="square">
            <a:spAutoFit/>
          </a:bodyPr>
          <a:lstStyle/>
          <a:p>
            <a:pPr>
              <a:buNone/>
            </a:pPr>
            <a:r>
              <a:rPr lang="pt-BR" sz="3200" b="1" dirty="0">
                <a:solidFill>
                  <a:srgbClr val="FFC000"/>
                </a:solidFill>
              </a:rPr>
              <a:t>LISTAS EM PYTHON</a:t>
            </a:r>
          </a:p>
          <a:p>
            <a:pPr>
              <a:buNone/>
            </a:pPr>
            <a:endParaRPr lang="pt-BR" sz="3200" b="1" dirty="0"/>
          </a:p>
        </p:txBody>
      </p:sp>
      <p:sp>
        <p:nvSpPr>
          <p:cNvPr id="3" name="CaixaDeTexto 2">
            <a:extLst>
              <a:ext uri="{FF2B5EF4-FFF2-40B4-BE49-F238E27FC236}">
                <a16:creationId xmlns:a16="http://schemas.microsoft.com/office/drawing/2014/main" id="{C55286CF-070A-B847-7D28-103156645640}"/>
              </a:ext>
            </a:extLst>
          </p:cNvPr>
          <p:cNvSpPr txBox="1"/>
          <p:nvPr/>
        </p:nvSpPr>
        <p:spPr>
          <a:xfrm>
            <a:off x="552704" y="1448580"/>
            <a:ext cx="16002000" cy="7168116"/>
          </a:xfrm>
          <a:prstGeom prst="rect">
            <a:avLst/>
          </a:prstGeom>
          <a:noFill/>
        </p:spPr>
        <p:txBody>
          <a:bodyPr wrap="square">
            <a:spAutoFit/>
          </a:bodyPr>
          <a:lstStyle/>
          <a:p>
            <a:pPr>
              <a:lnSpc>
                <a:spcPts val="1425"/>
              </a:lnSpc>
              <a:buNone/>
            </a:pPr>
            <a:r>
              <a:rPr lang="pt-BR" sz="3600" b="0" dirty="0">
                <a:solidFill>
                  <a:srgbClr val="9CDCFE"/>
                </a:solidFill>
                <a:effectLst/>
                <a:latin typeface="Consolas" panose="020B0609020204030204" pitchFamily="49" charset="0"/>
              </a:rPr>
              <a:t>alunos</a:t>
            </a:r>
            <a:r>
              <a:rPr lang="pt-BR" sz="3600" b="0" dirty="0">
                <a:solidFill>
                  <a:srgbClr val="CCCCCC"/>
                </a:solidFill>
                <a:effectLst/>
                <a:latin typeface="Consolas" panose="020B0609020204030204" pitchFamily="49" charset="0"/>
              </a:rPr>
              <a:t> </a:t>
            </a:r>
            <a:r>
              <a:rPr lang="pt-BR" sz="3600" b="0" dirty="0">
                <a:solidFill>
                  <a:srgbClr val="D4D4D4"/>
                </a:solidFill>
                <a:effectLst/>
                <a:latin typeface="Consolas" panose="020B0609020204030204" pitchFamily="49" charset="0"/>
              </a:rPr>
              <a:t>=</a:t>
            </a:r>
            <a:r>
              <a:rPr lang="pt-BR" sz="3600" b="0" dirty="0">
                <a:solidFill>
                  <a:srgbClr val="CCCCCC"/>
                </a:solidFill>
                <a:effectLst/>
                <a:latin typeface="Consolas" panose="020B0609020204030204" pitchFamily="49" charset="0"/>
              </a:rPr>
              <a:t> [</a:t>
            </a:r>
            <a:r>
              <a:rPr lang="pt-BR" sz="3600" b="0" dirty="0">
                <a:solidFill>
                  <a:srgbClr val="CE9178"/>
                </a:solidFill>
                <a:effectLst/>
                <a:latin typeface="Consolas" panose="020B0609020204030204" pitchFamily="49" charset="0"/>
              </a:rPr>
              <a:t>"Ana"</a:t>
            </a:r>
            <a:r>
              <a:rPr lang="pt-BR" sz="3600" b="0" dirty="0">
                <a:solidFill>
                  <a:srgbClr val="CCCCCC"/>
                </a:solidFill>
                <a:effectLst/>
                <a:latin typeface="Consolas" panose="020B0609020204030204" pitchFamily="49" charset="0"/>
              </a:rPr>
              <a:t>, </a:t>
            </a:r>
            <a:r>
              <a:rPr lang="pt-BR" sz="3600" b="0" dirty="0">
                <a:solidFill>
                  <a:srgbClr val="CE9178"/>
                </a:solidFill>
                <a:effectLst/>
                <a:latin typeface="Consolas" panose="020B0609020204030204" pitchFamily="49" charset="0"/>
              </a:rPr>
              <a:t>"João"</a:t>
            </a:r>
            <a:r>
              <a:rPr lang="pt-BR" sz="3600" b="0" dirty="0">
                <a:solidFill>
                  <a:srgbClr val="CCCCCC"/>
                </a:solidFill>
                <a:effectLst/>
                <a:latin typeface="Consolas" panose="020B0609020204030204" pitchFamily="49" charset="0"/>
              </a:rPr>
              <a:t>, </a:t>
            </a:r>
            <a:r>
              <a:rPr lang="pt-BR" sz="3600" b="0" dirty="0">
                <a:solidFill>
                  <a:srgbClr val="CE9178"/>
                </a:solidFill>
                <a:effectLst/>
                <a:latin typeface="Consolas" panose="020B0609020204030204" pitchFamily="49" charset="0"/>
              </a:rPr>
              <a:t>"Maria"</a:t>
            </a:r>
            <a:r>
              <a:rPr lang="pt-BR" sz="3600" b="0" dirty="0">
                <a:solidFill>
                  <a:srgbClr val="CCCCCC"/>
                </a:solidFill>
                <a:effectLst/>
                <a:latin typeface="Consolas" panose="020B0609020204030204" pitchFamily="49" charset="0"/>
              </a:rPr>
              <a:t>]</a:t>
            </a:r>
          </a:p>
          <a:p>
            <a:pPr>
              <a:lnSpc>
                <a:spcPts val="1425"/>
              </a:lnSpc>
              <a:buNone/>
            </a:pPr>
            <a:endParaRPr lang="pt-BR" sz="3600" dirty="0">
              <a:solidFill>
                <a:srgbClr val="CCCCCC"/>
              </a:solidFill>
              <a:latin typeface="Consolas" panose="020B0609020204030204" pitchFamily="49" charset="0"/>
            </a:endParaRPr>
          </a:p>
          <a:p>
            <a:pPr>
              <a:lnSpc>
                <a:spcPts val="1425"/>
              </a:lnSpc>
              <a:buNone/>
            </a:pPr>
            <a:endParaRPr lang="pt-BR" sz="3600" b="0" dirty="0">
              <a:solidFill>
                <a:srgbClr val="CCCCCC"/>
              </a:solidFill>
              <a:effectLst/>
              <a:latin typeface="Consolas" panose="020B0609020204030204" pitchFamily="49" charset="0"/>
            </a:endParaRPr>
          </a:p>
          <a:p>
            <a:pPr>
              <a:lnSpc>
                <a:spcPts val="1425"/>
              </a:lnSpc>
              <a:buNone/>
            </a:pPr>
            <a:br>
              <a:rPr lang="pt-BR" sz="3600" b="0" dirty="0">
                <a:solidFill>
                  <a:srgbClr val="CCCCCC"/>
                </a:solidFill>
                <a:effectLst/>
                <a:latin typeface="Consolas" panose="020B0609020204030204" pitchFamily="49" charset="0"/>
              </a:rPr>
            </a:br>
            <a:endParaRPr lang="pt-BR" sz="3600" b="0" dirty="0">
              <a:solidFill>
                <a:srgbClr val="CCCCCC"/>
              </a:solidFill>
              <a:effectLst/>
              <a:latin typeface="Consolas" panose="020B0609020204030204" pitchFamily="49" charset="0"/>
            </a:endParaRPr>
          </a:p>
          <a:p>
            <a:pPr>
              <a:lnSpc>
                <a:spcPts val="1425"/>
              </a:lnSpc>
              <a:buNone/>
            </a:pPr>
            <a:endParaRPr lang="pt-BR" sz="3600" dirty="0">
              <a:solidFill>
                <a:srgbClr val="CCCCCC"/>
              </a:solidFill>
              <a:latin typeface="Consolas" panose="020B0609020204030204" pitchFamily="49" charset="0"/>
            </a:endParaRPr>
          </a:p>
          <a:p>
            <a:pPr>
              <a:lnSpc>
                <a:spcPts val="1425"/>
              </a:lnSpc>
              <a:buNone/>
            </a:pPr>
            <a:endParaRPr lang="pt-BR" sz="3600" b="0" dirty="0">
              <a:solidFill>
                <a:srgbClr val="CCCCCC"/>
              </a:solidFill>
              <a:effectLst/>
              <a:latin typeface="Consolas" panose="020B0609020204030204" pitchFamily="49" charset="0"/>
            </a:endParaRPr>
          </a:p>
          <a:p>
            <a:pPr>
              <a:lnSpc>
                <a:spcPts val="1425"/>
              </a:lnSpc>
              <a:buNone/>
            </a:pPr>
            <a:r>
              <a:rPr lang="pt-BR" sz="3600" b="0" dirty="0" err="1">
                <a:solidFill>
                  <a:srgbClr val="9CDCFE"/>
                </a:solidFill>
                <a:effectLst/>
                <a:latin typeface="Consolas" panose="020B0609020204030204" pitchFamily="49" charset="0"/>
              </a:rPr>
              <a:t>alunos</a:t>
            </a:r>
            <a:r>
              <a:rPr lang="pt-BR" sz="3600" b="0" dirty="0" err="1">
                <a:solidFill>
                  <a:srgbClr val="CCCCCC"/>
                </a:solidFill>
                <a:effectLst/>
                <a:latin typeface="Consolas" panose="020B0609020204030204" pitchFamily="49" charset="0"/>
              </a:rPr>
              <a:t>.</a:t>
            </a:r>
            <a:r>
              <a:rPr lang="pt-BR" sz="3600" b="0" dirty="0" err="1">
                <a:solidFill>
                  <a:srgbClr val="DCDCAA"/>
                </a:solidFill>
                <a:effectLst/>
                <a:latin typeface="Consolas" panose="020B0609020204030204" pitchFamily="49" charset="0"/>
              </a:rPr>
              <a:t>remove</a:t>
            </a:r>
            <a:r>
              <a:rPr lang="pt-BR" sz="3600" b="0" dirty="0">
                <a:solidFill>
                  <a:srgbClr val="CCCCCC"/>
                </a:solidFill>
                <a:effectLst/>
                <a:latin typeface="Consolas" panose="020B0609020204030204" pitchFamily="49" charset="0"/>
              </a:rPr>
              <a:t>(</a:t>
            </a:r>
            <a:r>
              <a:rPr lang="pt-BR" sz="3600" b="0" dirty="0">
                <a:solidFill>
                  <a:srgbClr val="CE9178"/>
                </a:solidFill>
                <a:effectLst/>
                <a:latin typeface="Consolas" panose="020B0609020204030204" pitchFamily="49" charset="0"/>
              </a:rPr>
              <a:t>"João"</a:t>
            </a:r>
            <a:r>
              <a:rPr lang="pt-BR" sz="3600" b="0" dirty="0">
                <a:solidFill>
                  <a:srgbClr val="CCCCCC"/>
                </a:solidFill>
                <a:effectLst/>
                <a:latin typeface="Consolas" panose="020B0609020204030204" pitchFamily="49" charset="0"/>
              </a:rPr>
              <a:t>) </a:t>
            </a:r>
            <a:r>
              <a:rPr lang="pt-BR" sz="3600" b="0" dirty="0">
                <a:solidFill>
                  <a:srgbClr val="6A9955"/>
                </a:solidFill>
                <a:effectLst/>
                <a:latin typeface="Consolas" panose="020B0609020204030204" pitchFamily="49" charset="0"/>
              </a:rPr>
              <a:t>#remove pelo valor</a:t>
            </a:r>
          </a:p>
          <a:p>
            <a:pPr>
              <a:lnSpc>
                <a:spcPts val="1425"/>
              </a:lnSpc>
              <a:buNone/>
            </a:pPr>
            <a:endParaRPr lang="pt-BR" sz="3600" dirty="0">
              <a:solidFill>
                <a:srgbClr val="6A9955"/>
              </a:solidFill>
              <a:latin typeface="Consolas" panose="020B0609020204030204" pitchFamily="49" charset="0"/>
            </a:endParaRPr>
          </a:p>
          <a:p>
            <a:pPr>
              <a:lnSpc>
                <a:spcPts val="1425"/>
              </a:lnSpc>
              <a:buNone/>
            </a:pPr>
            <a:endParaRPr lang="pt-BR" sz="3600" b="0" dirty="0">
              <a:solidFill>
                <a:srgbClr val="6A9955"/>
              </a:solidFill>
              <a:effectLst/>
              <a:latin typeface="Consolas" panose="020B0609020204030204" pitchFamily="49" charset="0"/>
            </a:endParaRPr>
          </a:p>
          <a:p>
            <a:pPr>
              <a:lnSpc>
                <a:spcPts val="1425"/>
              </a:lnSpc>
              <a:buNone/>
            </a:pPr>
            <a:endParaRPr lang="pt-BR" sz="3600" dirty="0">
              <a:solidFill>
                <a:srgbClr val="6A9955"/>
              </a:solidFill>
              <a:latin typeface="Consolas" panose="020B0609020204030204" pitchFamily="49" charset="0"/>
            </a:endParaRPr>
          </a:p>
          <a:p>
            <a:pPr>
              <a:lnSpc>
                <a:spcPts val="1425"/>
              </a:lnSpc>
              <a:buNone/>
            </a:pPr>
            <a:endParaRPr lang="pt-BR" sz="3600" b="0" dirty="0">
              <a:solidFill>
                <a:srgbClr val="CCCCCC"/>
              </a:solidFill>
              <a:effectLst/>
              <a:latin typeface="Consolas" panose="020B0609020204030204" pitchFamily="49" charset="0"/>
            </a:endParaRPr>
          </a:p>
          <a:p>
            <a:pPr>
              <a:lnSpc>
                <a:spcPts val="1425"/>
              </a:lnSpc>
              <a:buNone/>
            </a:pPr>
            <a:r>
              <a:rPr lang="pt-BR" sz="3600" b="0" dirty="0" err="1">
                <a:solidFill>
                  <a:srgbClr val="9CDCFE"/>
                </a:solidFill>
                <a:effectLst/>
                <a:latin typeface="Consolas" panose="020B0609020204030204" pitchFamily="49" charset="0"/>
              </a:rPr>
              <a:t>alunos</a:t>
            </a:r>
            <a:r>
              <a:rPr lang="pt-BR" sz="3600" b="0" dirty="0" err="1">
                <a:solidFill>
                  <a:srgbClr val="CCCCCC"/>
                </a:solidFill>
                <a:effectLst/>
                <a:latin typeface="Consolas" panose="020B0609020204030204" pitchFamily="49" charset="0"/>
              </a:rPr>
              <a:t>.</a:t>
            </a:r>
            <a:r>
              <a:rPr lang="pt-BR" sz="3600" b="0" dirty="0" err="1">
                <a:solidFill>
                  <a:srgbClr val="DCDCAA"/>
                </a:solidFill>
                <a:effectLst/>
                <a:latin typeface="Consolas" panose="020B0609020204030204" pitchFamily="49" charset="0"/>
              </a:rPr>
              <a:t>pop</a:t>
            </a:r>
            <a:r>
              <a:rPr lang="pt-BR" sz="3600" b="0" dirty="0">
                <a:solidFill>
                  <a:srgbClr val="CCCCCC"/>
                </a:solidFill>
                <a:effectLst/>
                <a:latin typeface="Consolas" panose="020B0609020204030204" pitchFamily="49" charset="0"/>
              </a:rPr>
              <a:t>(</a:t>
            </a:r>
            <a:r>
              <a:rPr lang="pt-BR" sz="3600" b="0" dirty="0">
                <a:solidFill>
                  <a:srgbClr val="B5CEA8"/>
                </a:solidFill>
                <a:effectLst/>
                <a:latin typeface="Consolas" panose="020B0609020204030204" pitchFamily="49" charset="0"/>
              </a:rPr>
              <a:t>1</a:t>
            </a:r>
            <a:r>
              <a:rPr lang="pt-BR" sz="3600" b="0" dirty="0">
                <a:solidFill>
                  <a:srgbClr val="CCCCCC"/>
                </a:solidFill>
                <a:effectLst/>
                <a:latin typeface="Consolas" panose="020B0609020204030204" pitchFamily="49" charset="0"/>
              </a:rPr>
              <a:t>) </a:t>
            </a:r>
            <a:r>
              <a:rPr lang="pt-BR" sz="3600" b="0" dirty="0">
                <a:solidFill>
                  <a:srgbClr val="6A9955"/>
                </a:solidFill>
                <a:effectLst/>
                <a:latin typeface="Consolas" panose="020B0609020204030204" pitchFamily="49" charset="0"/>
              </a:rPr>
              <a:t># remove pelo índice</a:t>
            </a:r>
          </a:p>
          <a:p>
            <a:pPr>
              <a:lnSpc>
                <a:spcPts val="1425"/>
              </a:lnSpc>
              <a:buNone/>
            </a:pPr>
            <a:endParaRPr lang="pt-BR" sz="3600" dirty="0">
              <a:solidFill>
                <a:srgbClr val="6A9955"/>
              </a:solidFill>
              <a:latin typeface="Consolas" panose="020B0609020204030204" pitchFamily="49" charset="0"/>
            </a:endParaRPr>
          </a:p>
          <a:p>
            <a:pPr>
              <a:lnSpc>
                <a:spcPts val="1425"/>
              </a:lnSpc>
              <a:buNone/>
            </a:pPr>
            <a:endParaRPr lang="pt-BR" sz="3600" b="0" dirty="0">
              <a:solidFill>
                <a:srgbClr val="6A9955"/>
              </a:solidFill>
              <a:effectLst/>
              <a:latin typeface="Consolas" panose="020B0609020204030204" pitchFamily="49" charset="0"/>
            </a:endParaRPr>
          </a:p>
          <a:p>
            <a:pPr>
              <a:lnSpc>
                <a:spcPts val="1425"/>
              </a:lnSpc>
              <a:buNone/>
            </a:pPr>
            <a:endParaRPr lang="pt-BR" sz="3600" dirty="0">
              <a:solidFill>
                <a:srgbClr val="6A9955"/>
              </a:solidFill>
              <a:latin typeface="Consolas" panose="020B0609020204030204" pitchFamily="49" charset="0"/>
            </a:endParaRPr>
          </a:p>
          <a:p>
            <a:pPr>
              <a:lnSpc>
                <a:spcPts val="1425"/>
              </a:lnSpc>
              <a:buNone/>
            </a:pPr>
            <a:endParaRPr lang="pt-BR" sz="3600" b="0" dirty="0">
              <a:solidFill>
                <a:srgbClr val="CCCCCC"/>
              </a:solidFill>
              <a:effectLst/>
              <a:latin typeface="Consolas" panose="020B0609020204030204" pitchFamily="49" charset="0"/>
            </a:endParaRPr>
          </a:p>
          <a:p>
            <a:pPr>
              <a:lnSpc>
                <a:spcPts val="1425"/>
              </a:lnSpc>
              <a:buNone/>
            </a:pPr>
            <a:r>
              <a:rPr lang="pt-BR" sz="3600" b="0" dirty="0" err="1">
                <a:solidFill>
                  <a:srgbClr val="9CDCFE"/>
                </a:solidFill>
                <a:effectLst/>
                <a:latin typeface="Consolas" panose="020B0609020204030204" pitchFamily="49" charset="0"/>
              </a:rPr>
              <a:t>alunos</a:t>
            </a:r>
            <a:r>
              <a:rPr lang="pt-BR" sz="3600" b="0" dirty="0" err="1">
                <a:solidFill>
                  <a:srgbClr val="CCCCCC"/>
                </a:solidFill>
                <a:effectLst/>
                <a:latin typeface="Consolas" panose="020B0609020204030204" pitchFamily="49" charset="0"/>
              </a:rPr>
              <a:t>.</a:t>
            </a:r>
            <a:r>
              <a:rPr lang="pt-BR" sz="3600" b="0" dirty="0" err="1">
                <a:solidFill>
                  <a:srgbClr val="DCDCAA"/>
                </a:solidFill>
                <a:effectLst/>
                <a:latin typeface="Consolas" panose="020B0609020204030204" pitchFamily="49" charset="0"/>
              </a:rPr>
              <a:t>clear</a:t>
            </a:r>
            <a:r>
              <a:rPr lang="pt-BR" sz="3600" b="0" dirty="0">
                <a:solidFill>
                  <a:srgbClr val="CCCCCC"/>
                </a:solidFill>
                <a:effectLst/>
                <a:latin typeface="Consolas" panose="020B0609020204030204" pitchFamily="49" charset="0"/>
              </a:rPr>
              <a:t>() </a:t>
            </a:r>
            <a:r>
              <a:rPr lang="pt-BR" sz="3600" b="0" dirty="0">
                <a:solidFill>
                  <a:srgbClr val="6A9955"/>
                </a:solidFill>
                <a:effectLst/>
                <a:latin typeface="Consolas" panose="020B0609020204030204" pitchFamily="49" charset="0"/>
              </a:rPr>
              <a:t># Limpa toda a lista</a:t>
            </a:r>
          </a:p>
          <a:p>
            <a:pPr>
              <a:lnSpc>
                <a:spcPts val="1425"/>
              </a:lnSpc>
              <a:buNone/>
            </a:pPr>
            <a:endParaRPr lang="pt-BR" sz="3600" dirty="0">
              <a:solidFill>
                <a:srgbClr val="6A9955"/>
              </a:solidFill>
              <a:latin typeface="Consolas" panose="020B0609020204030204" pitchFamily="49" charset="0"/>
            </a:endParaRPr>
          </a:p>
          <a:p>
            <a:pPr>
              <a:lnSpc>
                <a:spcPts val="1425"/>
              </a:lnSpc>
              <a:buNone/>
            </a:pPr>
            <a:endParaRPr lang="pt-BR" sz="3600" b="0" dirty="0">
              <a:solidFill>
                <a:srgbClr val="6A9955"/>
              </a:solidFill>
              <a:effectLst/>
              <a:latin typeface="Consolas" panose="020B0609020204030204" pitchFamily="49" charset="0"/>
            </a:endParaRPr>
          </a:p>
          <a:p>
            <a:pPr>
              <a:lnSpc>
                <a:spcPts val="1425"/>
              </a:lnSpc>
              <a:buNone/>
            </a:pPr>
            <a:endParaRPr lang="pt-BR" sz="3600" dirty="0">
              <a:solidFill>
                <a:srgbClr val="6A9955"/>
              </a:solidFill>
              <a:latin typeface="Consolas" panose="020B0609020204030204" pitchFamily="49" charset="0"/>
            </a:endParaRPr>
          </a:p>
          <a:p>
            <a:pPr>
              <a:lnSpc>
                <a:spcPts val="1425"/>
              </a:lnSpc>
              <a:buNone/>
            </a:pPr>
            <a:endParaRPr lang="pt-BR" sz="3600" b="0" dirty="0">
              <a:solidFill>
                <a:srgbClr val="CCCCCC"/>
              </a:solidFill>
              <a:effectLst/>
              <a:latin typeface="Consolas" panose="020B0609020204030204" pitchFamily="49" charset="0"/>
            </a:endParaRPr>
          </a:p>
          <a:p>
            <a:pPr>
              <a:lnSpc>
                <a:spcPts val="1425"/>
              </a:lnSpc>
              <a:buNone/>
            </a:pPr>
            <a:r>
              <a:rPr lang="pt-BR" sz="3600" b="0" dirty="0" err="1">
                <a:solidFill>
                  <a:srgbClr val="9CDCFE"/>
                </a:solidFill>
                <a:effectLst/>
                <a:latin typeface="Consolas" panose="020B0609020204030204" pitchFamily="49" charset="0"/>
              </a:rPr>
              <a:t>alunos</a:t>
            </a:r>
            <a:r>
              <a:rPr lang="pt-BR" sz="3600" b="0" dirty="0" err="1">
                <a:solidFill>
                  <a:srgbClr val="CCCCCC"/>
                </a:solidFill>
                <a:effectLst/>
                <a:latin typeface="Consolas" panose="020B0609020204030204" pitchFamily="49" charset="0"/>
              </a:rPr>
              <a:t>.</a:t>
            </a:r>
            <a:r>
              <a:rPr lang="pt-BR" sz="3600" b="0" dirty="0" err="1">
                <a:solidFill>
                  <a:srgbClr val="DCDCAA"/>
                </a:solidFill>
                <a:effectLst/>
                <a:latin typeface="Consolas" panose="020B0609020204030204" pitchFamily="49" charset="0"/>
              </a:rPr>
              <a:t>append</a:t>
            </a:r>
            <a:r>
              <a:rPr lang="pt-BR" sz="3600" b="0" dirty="0">
                <a:solidFill>
                  <a:srgbClr val="CCCCCC"/>
                </a:solidFill>
                <a:effectLst/>
                <a:latin typeface="Consolas" panose="020B0609020204030204" pitchFamily="49" charset="0"/>
              </a:rPr>
              <a:t>(</a:t>
            </a:r>
            <a:r>
              <a:rPr lang="pt-BR" sz="3600" b="0" dirty="0">
                <a:solidFill>
                  <a:srgbClr val="CE9178"/>
                </a:solidFill>
                <a:effectLst/>
                <a:latin typeface="Consolas" panose="020B0609020204030204" pitchFamily="49" charset="0"/>
              </a:rPr>
              <a:t>"Carlos"</a:t>
            </a:r>
            <a:r>
              <a:rPr lang="pt-BR" sz="3600" b="0" dirty="0">
                <a:solidFill>
                  <a:srgbClr val="CCCCCC"/>
                </a:solidFill>
                <a:effectLst/>
                <a:latin typeface="Consolas" panose="020B0609020204030204" pitchFamily="49" charset="0"/>
              </a:rPr>
              <a:t>) </a:t>
            </a:r>
            <a:r>
              <a:rPr lang="pt-BR" sz="3600" b="0" dirty="0">
                <a:solidFill>
                  <a:srgbClr val="6A9955"/>
                </a:solidFill>
                <a:effectLst/>
                <a:latin typeface="Consolas" panose="020B0609020204030204" pitchFamily="49" charset="0"/>
              </a:rPr>
              <a:t># adiciona no final</a:t>
            </a:r>
          </a:p>
          <a:p>
            <a:pPr>
              <a:lnSpc>
                <a:spcPts val="1425"/>
              </a:lnSpc>
              <a:buNone/>
            </a:pPr>
            <a:endParaRPr lang="pt-BR" sz="3600" dirty="0">
              <a:solidFill>
                <a:srgbClr val="6A9955"/>
              </a:solidFill>
              <a:latin typeface="Consolas" panose="020B0609020204030204" pitchFamily="49" charset="0"/>
            </a:endParaRPr>
          </a:p>
          <a:p>
            <a:pPr>
              <a:lnSpc>
                <a:spcPts val="1425"/>
              </a:lnSpc>
              <a:buNone/>
            </a:pPr>
            <a:endParaRPr lang="pt-BR" sz="3600" b="0" dirty="0">
              <a:solidFill>
                <a:srgbClr val="6A9955"/>
              </a:solidFill>
              <a:effectLst/>
              <a:latin typeface="Consolas" panose="020B0609020204030204" pitchFamily="49" charset="0"/>
            </a:endParaRPr>
          </a:p>
          <a:p>
            <a:pPr>
              <a:lnSpc>
                <a:spcPts val="1425"/>
              </a:lnSpc>
              <a:buNone/>
            </a:pPr>
            <a:endParaRPr lang="pt-BR" sz="3600" b="0" dirty="0">
              <a:solidFill>
                <a:srgbClr val="CCCCCC"/>
              </a:solidFill>
              <a:effectLst/>
              <a:latin typeface="Consolas" panose="020B0609020204030204" pitchFamily="49" charset="0"/>
            </a:endParaRPr>
          </a:p>
          <a:p>
            <a:pPr>
              <a:lnSpc>
                <a:spcPts val="1425"/>
              </a:lnSpc>
              <a:buNone/>
            </a:pPr>
            <a:r>
              <a:rPr lang="pt-BR" sz="3600" b="0" dirty="0" err="1">
                <a:solidFill>
                  <a:srgbClr val="9CDCFE"/>
                </a:solidFill>
                <a:effectLst/>
                <a:latin typeface="Consolas" panose="020B0609020204030204" pitchFamily="49" charset="0"/>
              </a:rPr>
              <a:t>alunos</a:t>
            </a:r>
            <a:r>
              <a:rPr lang="pt-BR" sz="3600" b="0" dirty="0" err="1">
                <a:solidFill>
                  <a:srgbClr val="CCCCCC"/>
                </a:solidFill>
                <a:effectLst/>
                <a:latin typeface="Consolas" panose="020B0609020204030204" pitchFamily="49" charset="0"/>
              </a:rPr>
              <a:t>.</a:t>
            </a:r>
            <a:r>
              <a:rPr lang="pt-BR" sz="3600" b="0" dirty="0" err="1">
                <a:solidFill>
                  <a:srgbClr val="DCDCAA"/>
                </a:solidFill>
                <a:effectLst/>
                <a:latin typeface="Consolas" panose="020B0609020204030204" pitchFamily="49" charset="0"/>
              </a:rPr>
              <a:t>insert</a:t>
            </a:r>
            <a:r>
              <a:rPr lang="pt-BR" sz="3600" b="0" dirty="0">
                <a:solidFill>
                  <a:srgbClr val="CCCCCC"/>
                </a:solidFill>
                <a:effectLst/>
                <a:latin typeface="Consolas" panose="020B0609020204030204" pitchFamily="49" charset="0"/>
              </a:rPr>
              <a:t>(</a:t>
            </a:r>
            <a:r>
              <a:rPr lang="pt-BR" sz="3600" b="0" dirty="0">
                <a:solidFill>
                  <a:srgbClr val="B5CEA8"/>
                </a:solidFill>
                <a:effectLst/>
                <a:latin typeface="Consolas" panose="020B0609020204030204" pitchFamily="49" charset="0"/>
              </a:rPr>
              <a:t>1</a:t>
            </a:r>
            <a:r>
              <a:rPr lang="pt-BR" sz="3600" b="0" dirty="0">
                <a:solidFill>
                  <a:srgbClr val="CCCCCC"/>
                </a:solidFill>
                <a:effectLst/>
                <a:latin typeface="Consolas" panose="020B0609020204030204" pitchFamily="49" charset="0"/>
              </a:rPr>
              <a:t>, </a:t>
            </a:r>
            <a:r>
              <a:rPr lang="pt-BR" sz="3600" b="0" dirty="0">
                <a:solidFill>
                  <a:srgbClr val="CE9178"/>
                </a:solidFill>
                <a:effectLst/>
                <a:latin typeface="Consolas" panose="020B0609020204030204" pitchFamily="49" charset="0"/>
              </a:rPr>
              <a:t>"Carlos"</a:t>
            </a:r>
            <a:r>
              <a:rPr lang="pt-BR" sz="3600" b="0" dirty="0">
                <a:solidFill>
                  <a:srgbClr val="CCCCCC"/>
                </a:solidFill>
                <a:effectLst/>
                <a:latin typeface="Consolas" panose="020B0609020204030204" pitchFamily="49" charset="0"/>
              </a:rPr>
              <a:t>) </a:t>
            </a:r>
            <a:r>
              <a:rPr lang="pt-BR" sz="3600" b="0" dirty="0">
                <a:solidFill>
                  <a:srgbClr val="6A9955"/>
                </a:solidFill>
                <a:effectLst/>
                <a:latin typeface="Consolas" panose="020B0609020204030204" pitchFamily="49" charset="0"/>
              </a:rPr>
              <a:t>#adiciona em posição específica</a:t>
            </a:r>
          </a:p>
          <a:p>
            <a:pPr>
              <a:lnSpc>
                <a:spcPts val="1425"/>
              </a:lnSpc>
              <a:buNone/>
            </a:pPr>
            <a:endParaRPr lang="pt-BR" sz="3600" dirty="0">
              <a:solidFill>
                <a:srgbClr val="6A9955"/>
              </a:solidFill>
              <a:latin typeface="Consolas" panose="020B0609020204030204" pitchFamily="49" charset="0"/>
            </a:endParaRPr>
          </a:p>
          <a:p>
            <a:pPr>
              <a:lnSpc>
                <a:spcPts val="1425"/>
              </a:lnSpc>
              <a:buNone/>
            </a:pPr>
            <a:endParaRPr lang="pt-BR" sz="3600" b="0" dirty="0">
              <a:solidFill>
                <a:srgbClr val="6A9955"/>
              </a:solidFill>
              <a:effectLst/>
              <a:latin typeface="Consolas" panose="020B0609020204030204" pitchFamily="49" charset="0"/>
            </a:endParaRPr>
          </a:p>
          <a:p>
            <a:pPr>
              <a:lnSpc>
                <a:spcPts val="1425"/>
              </a:lnSpc>
              <a:buNone/>
            </a:pPr>
            <a:endParaRPr lang="pt-BR" sz="3600" dirty="0">
              <a:solidFill>
                <a:srgbClr val="6A9955"/>
              </a:solidFill>
              <a:latin typeface="Consolas" panose="020B0609020204030204" pitchFamily="49" charset="0"/>
            </a:endParaRPr>
          </a:p>
          <a:p>
            <a:pPr>
              <a:lnSpc>
                <a:spcPts val="1425"/>
              </a:lnSpc>
              <a:buNone/>
            </a:pPr>
            <a:r>
              <a:rPr lang="pt-BR" sz="3600" dirty="0">
                <a:solidFill>
                  <a:srgbClr val="CE9178"/>
                </a:solidFill>
                <a:latin typeface="Consolas" panose="020B0609020204030204" pitchFamily="49" charset="0"/>
              </a:rPr>
              <a:t> </a:t>
            </a:r>
          </a:p>
          <a:p>
            <a:pPr>
              <a:lnSpc>
                <a:spcPts val="1425"/>
              </a:lnSpc>
              <a:buNone/>
            </a:pPr>
            <a:r>
              <a:rPr lang="pt-BR" sz="3600" dirty="0">
                <a:solidFill>
                  <a:srgbClr val="CE9178"/>
                </a:solidFill>
                <a:latin typeface="Consolas" panose="020B0609020204030204" pitchFamily="49" charset="0"/>
              </a:rPr>
              <a:t>"Ana" </a:t>
            </a:r>
            <a:r>
              <a:rPr lang="pt-BR" sz="3600" dirty="0">
                <a:solidFill>
                  <a:srgbClr val="9CDCFE"/>
                </a:solidFill>
                <a:latin typeface="Consolas" panose="020B0609020204030204" pitchFamily="49" charset="0"/>
              </a:rPr>
              <a:t>in alunos </a:t>
            </a:r>
            <a:r>
              <a:rPr lang="pt-BR" sz="3600" dirty="0">
                <a:solidFill>
                  <a:srgbClr val="6A9955"/>
                </a:solidFill>
                <a:latin typeface="Consolas" panose="020B0609020204030204" pitchFamily="49" charset="0"/>
              </a:rPr>
              <a:t># verifica se existe </a:t>
            </a:r>
            <a:r>
              <a:rPr lang="pt-BR" sz="3600" dirty="0">
                <a:solidFill>
                  <a:srgbClr val="9CDCFE"/>
                </a:solidFill>
                <a:latin typeface="Consolas" panose="020B0609020204030204" pitchFamily="49" charset="0"/>
              </a:rPr>
              <a:t>  </a:t>
            </a:r>
          </a:p>
          <a:p>
            <a:pPr>
              <a:lnSpc>
                <a:spcPts val="1425"/>
              </a:lnSpc>
              <a:buNone/>
            </a:pPr>
            <a:endParaRPr lang="pt-BR" sz="3600" b="0" dirty="0">
              <a:solidFill>
                <a:srgbClr val="6A9955"/>
              </a:solidFill>
              <a:effectLst/>
              <a:latin typeface="Consolas" panose="020B0609020204030204" pitchFamily="49" charset="0"/>
            </a:endParaRPr>
          </a:p>
          <a:p>
            <a:pPr>
              <a:lnSpc>
                <a:spcPts val="1425"/>
              </a:lnSpc>
              <a:buNone/>
            </a:pPr>
            <a:endParaRPr lang="pt-BR" sz="3600" dirty="0">
              <a:solidFill>
                <a:srgbClr val="6A9955"/>
              </a:solidFill>
              <a:latin typeface="Consolas" panose="020B0609020204030204" pitchFamily="49" charset="0"/>
            </a:endParaRPr>
          </a:p>
          <a:p>
            <a:pPr>
              <a:lnSpc>
                <a:spcPts val="1425"/>
              </a:lnSpc>
              <a:buNone/>
            </a:pPr>
            <a:r>
              <a:rPr lang="pt-BR" sz="3600" b="0" dirty="0">
                <a:solidFill>
                  <a:srgbClr val="6A9955"/>
                </a:solidFill>
                <a:effectLst/>
                <a:latin typeface="Consolas" panose="020B0609020204030204" pitchFamily="49" charset="0"/>
              </a:rPr>
              <a:t> </a:t>
            </a:r>
            <a:endParaRPr lang="pt-BR" sz="3600" b="0" dirty="0">
              <a:solidFill>
                <a:srgbClr val="CCCCCC"/>
              </a:solidFill>
              <a:effectLst/>
              <a:latin typeface="Consolas" panose="020B0609020204030204" pitchFamily="49" charset="0"/>
            </a:endParaRPr>
          </a:p>
          <a:p>
            <a:pPr>
              <a:lnSpc>
                <a:spcPts val="1425"/>
              </a:lnSpc>
              <a:buNone/>
            </a:pPr>
            <a:r>
              <a:rPr lang="pt-BR" sz="3600" b="0" dirty="0" err="1">
                <a:solidFill>
                  <a:srgbClr val="DCDCAA"/>
                </a:solidFill>
                <a:effectLst/>
                <a:latin typeface="Consolas" panose="020B0609020204030204" pitchFamily="49" charset="0"/>
              </a:rPr>
              <a:t>len</a:t>
            </a:r>
            <a:r>
              <a:rPr lang="pt-BR" sz="3600" b="0" dirty="0">
                <a:solidFill>
                  <a:srgbClr val="CCCCCC"/>
                </a:solidFill>
                <a:effectLst/>
                <a:latin typeface="Consolas" panose="020B0609020204030204" pitchFamily="49" charset="0"/>
              </a:rPr>
              <a:t>(</a:t>
            </a:r>
            <a:r>
              <a:rPr lang="pt-BR" sz="3600" b="0" dirty="0">
                <a:solidFill>
                  <a:srgbClr val="9CDCFE"/>
                </a:solidFill>
                <a:effectLst/>
                <a:latin typeface="Consolas" panose="020B0609020204030204" pitchFamily="49" charset="0"/>
              </a:rPr>
              <a:t>alunos</a:t>
            </a:r>
            <a:r>
              <a:rPr lang="pt-BR" sz="3600" b="0" dirty="0">
                <a:solidFill>
                  <a:srgbClr val="CCCCCC"/>
                </a:solidFill>
                <a:effectLst/>
                <a:latin typeface="Consolas" panose="020B0609020204030204" pitchFamily="49" charset="0"/>
              </a:rPr>
              <a:t>) </a:t>
            </a:r>
            <a:r>
              <a:rPr lang="pt-BR" sz="3600" b="0" dirty="0">
                <a:solidFill>
                  <a:srgbClr val="6A9955"/>
                </a:solidFill>
                <a:effectLst/>
                <a:latin typeface="Consolas" panose="020B0609020204030204" pitchFamily="49" charset="0"/>
              </a:rPr>
              <a:t># TAMANHO DA LISTA</a:t>
            </a:r>
            <a:endParaRPr lang="pt-BR" sz="3600" b="0" dirty="0">
              <a:solidFill>
                <a:srgbClr val="CCCCCC"/>
              </a:solidFill>
              <a:effectLst/>
              <a:latin typeface="Consolas" panose="020B0609020204030204" pitchFamily="49" charset="0"/>
            </a:endParaRPr>
          </a:p>
          <a:p>
            <a:pPr>
              <a:lnSpc>
                <a:spcPts val="1425"/>
              </a:lnSpc>
              <a:buNone/>
            </a:pPr>
            <a:br>
              <a:rPr lang="pt-BR" sz="3600" b="0" dirty="0">
                <a:solidFill>
                  <a:srgbClr val="CCCCCC"/>
                </a:solidFill>
                <a:effectLst/>
                <a:latin typeface="Consolas" panose="020B0609020204030204" pitchFamily="49" charset="0"/>
              </a:rPr>
            </a:br>
            <a:endParaRPr lang="pt-BR" sz="3600"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29274139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A07F3-0487-030F-20A6-D6FE4EFB5938}"/>
            </a:ext>
          </a:extLst>
        </p:cNvPr>
        <p:cNvGrpSpPr/>
        <p:nvPr/>
      </p:nvGrpSpPr>
      <p:grpSpPr>
        <a:xfrm>
          <a:off x="0" y="0"/>
          <a:ext cx="0" cy="0"/>
          <a:chOff x="0" y="0"/>
          <a:chExt cx="0" cy="0"/>
        </a:xfrm>
      </p:grpSpPr>
      <p:sp>
        <p:nvSpPr>
          <p:cNvPr id="4" name="CaixaDeTexto 3">
            <a:extLst>
              <a:ext uri="{FF2B5EF4-FFF2-40B4-BE49-F238E27FC236}">
                <a16:creationId xmlns:a16="http://schemas.microsoft.com/office/drawing/2014/main" id="{D04CDE39-1A96-E883-14FD-CFF3B3D5C9A4}"/>
              </a:ext>
            </a:extLst>
          </p:cNvPr>
          <p:cNvSpPr txBox="1"/>
          <p:nvPr/>
        </p:nvSpPr>
        <p:spPr>
          <a:xfrm>
            <a:off x="584200" y="533400"/>
            <a:ext cx="13747496" cy="4524315"/>
          </a:xfrm>
          <a:prstGeom prst="rect">
            <a:avLst/>
          </a:prstGeom>
          <a:noFill/>
        </p:spPr>
        <p:txBody>
          <a:bodyPr wrap="square">
            <a:spAutoFit/>
          </a:bodyPr>
          <a:lstStyle/>
          <a:p>
            <a:r>
              <a:rPr lang="pt-BR" sz="3200" b="1" dirty="0">
                <a:solidFill>
                  <a:srgbClr val="FFC000"/>
                </a:solidFill>
              </a:rPr>
              <a:t>TUPLAS EM PYTHON</a:t>
            </a:r>
          </a:p>
          <a:p>
            <a:endParaRPr lang="pt-BR" sz="3200" b="1" dirty="0"/>
          </a:p>
          <a:p>
            <a:r>
              <a:rPr lang="pt-BR" sz="3200" b="1" dirty="0"/>
              <a:t>O que são?</a:t>
            </a:r>
          </a:p>
          <a:p>
            <a:endParaRPr lang="pt-BR" sz="3200" b="1" dirty="0"/>
          </a:p>
          <a:p>
            <a:r>
              <a:rPr lang="pt-BR" sz="3200" dirty="0"/>
              <a:t>Tuplas também armazenam vários valores, mas são </a:t>
            </a:r>
            <a:r>
              <a:rPr lang="pt-BR" sz="3200" b="1" dirty="0"/>
              <a:t>imutáveis</a:t>
            </a:r>
            <a:r>
              <a:rPr lang="pt-BR" sz="3200" dirty="0"/>
              <a:t>.</a:t>
            </a:r>
          </a:p>
          <a:p>
            <a:endParaRPr lang="pt-BR" sz="3200" dirty="0"/>
          </a:p>
          <a:p>
            <a:r>
              <a:rPr lang="pt-BR" sz="3200" dirty="0"/>
              <a:t>✔ não podem ser alteradas</a:t>
            </a:r>
            <a:br>
              <a:rPr lang="pt-BR" sz="3200" dirty="0"/>
            </a:br>
            <a:r>
              <a:rPr lang="pt-BR" sz="3200" dirty="0"/>
              <a:t>✔ usam parênteses </a:t>
            </a:r>
            <a:r>
              <a:rPr lang="pt-BR" dirty="0"/>
              <a:t>()</a:t>
            </a:r>
            <a:endParaRPr lang="pt-BR" sz="3200" dirty="0"/>
          </a:p>
          <a:p>
            <a:pPr>
              <a:buNone/>
            </a:pPr>
            <a:endParaRPr lang="pt-BR" sz="3200" dirty="0"/>
          </a:p>
        </p:txBody>
      </p:sp>
      <p:sp>
        <p:nvSpPr>
          <p:cNvPr id="3" name="CaixaDeTexto 2">
            <a:extLst>
              <a:ext uri="{FF2B5EF4-FFF2-40B4-BE49-F238E27FC236}">
                <a16:creationId xmlns:a16="http://schemas.microsoft.com/office/drawing/2014/main" id="{95684785-BF06-B53C-13B7-6D0892D2DE80}"/>
              </a:ext>
            </a:extLst>
          </p:cNvPr>
          <p:cNvSpPr txBox="1"/>
          <p:nvPr/>
        </p:nvSpPr>
        <p:spPr>
          <a:xfrm>
            <a:off x="619760" y="5181600"/>
            <a:ext cx="12613640" cy="884345"/>
          </a:xfrm>
          <a:prstGeom prst="rect">
            <a:avLst/>
          </a:prstGeom>
          <a:noFill/>
        </p:spPr>
        <p:txBody>
          <a:bodyPr wrap="square">
            <a:spAutoFit/>
          </a:bodyPr>
          <a:lstStyle/>
          <a:p>
            <a:pPr>
              <a:lnSpc>
                <a:spcPts val="1425"/>
              </a:lnSpc>
              <a:buNone/>
            </a:pPr>
            <a:r>
              <a:rPr lang="pt-BR" sz="3600" b="0" dirty="0">
                <a:solidFill>
                  <a:srgbClr val="9CDCFE"/>
                </a:solidFill>
                <a:effectLst/>
                <a:latin typeface="Consolas" panose="020B0609020204030204" pitchFamily="49" charset="0"/>
              </a:rPr>
              <a:t>cores</a:t>
            </a:r>
            <a:r>
              <a:rPr lang="pt-BR" sz="3600" b="0" dirty="0">
                <a:solidFill>
                  <a:srgbClr val="CCCCCC"/>
                </a:solidFill>
                <a:effectLst/>
                <a:latin typeface="Consolas" panose="020B0609020204030204" pitchFamily="49" charset="0"/>
              </a:rPr>
              <a:t> </a:t>
            </a:r>
            <a:r>
              <a:rPr lang="pt-BR" sz="3600" b="0" dirty="0">
                <a:solidFill>
                  <a:srgbClr val="D4D4D4"/>
                </a:solidFill>
                <a:effectLst/>
                <a:latin typeface="Consolas" panose="020B0609020204030204" pitchFamily="49" charset="0"/>
              </a:rPr>
              <a:t>=</a:t>
            </a:r>
            <a:r>
              <a:rPr lang="pt-BR" sz="3600" b="0" dirty="0">
                <a:solidFill>
                  <a:srgbClr val="CCCCCC"/>
                </a:solidFill>
                <a:effectLst/>
                <a:latin typeface="Consolas" panose="020B0609020204030204" pitchFamily="49" charset="0"/>
              </a:rPr>
              <a:t> (</a:t>
            </a:r>
            <a:r>
              <a:rPr lang="pt-BR" sz="3600" b="0" dirty="0">
                <a:solidFill>
                  <a:srgbClr val="CE9178"/>
                </a:solidFill>
                <a:effectLst/>
                <a:latin typeface="Consolas" panose="020B0609020204030204" pitchFamily="49" charset="0"/>
              </a:rPr>
              <a:t>"vermelho"</a:t>
            </a:r>
            <a:r>
              <a:rPr lang="pt-BR" sz="3600" b="0" dirty="0">
                <a:solidFill>
                  <a:srgbClr val="CCCCCC"/>
                </a:solidFill>
                <a:effectLst/>
                <a:latin typeface="Consolas" panose="020B0609020204030204" pitchFamily="49" charset="0"/>
              </a:rPr>
              <a:t>, </a:t>
            </a:r>
            <a:r>
              <a:rPr lang="pt-BR" sz="3600" b="0" dirty="0">
                <a:solidFill>
                  <a:srgbClr val="CE9178"/>
                </a:solidFill>
                <a:effectLst/>
                <a:latin typeface="Consolas" panose="020B0609020204030204" pitchFamily="49" charset="0"/>
              </a:rPr>
              <a:t>"azul"</a:t>
            </a:r>
            <a:r>
              <a:rPr lang="pt-BR" sz="3600" b="0" dirty="0">
                <a:solidFill>
                  <a:srgbClr val="CCCCCC"/>
                </a:solidFill>
                <a:effectLst/>
                <a:latin typeface="Consolas" panose="020B0609020204030204" pitchFamily="49" charset="0"/>
              </a:rPr>
              <a:t>, </a:t>
            </a:r>
            <a:r>
              <a:rPr lang="pt-BR" sz="3600" b="0" dirty="0">
                <a:solidFill>
                  <a:srgbClr val="CE9178"/>
                </a:solidFill>
                <a:effectLst/>
                <a:latin typeface="Consolas" panose="020B0609020204030204" pitchFamily="49" charset="0"/>
              </a:rPr>
              <a:t>"verde"</a:t>
            </a:r>
            <a:r>
              <a:rPr lang="pt-BR" sz="3600" b="0" dirty="0">
                <a:solidFill>
                  <a:srgbClr val="CCCCCC"/>
                </a:solidFill>
                <a:effectLst/>
                <a:latin typeface="Consolas" panose="020B0609020204030204" pitchFamily="49" charset="0"/>
              </a:rPr>
              <a:t>)</a:t>
            </a:r>
          </a:p>
          <a:p>
            <a:pPr>
              <a:lnSpc>
                <a:spcPts val="1425"/>
              </a:lnSpc>
              <a:buNone/>
            </a:pPr>
            <a:endParaRPr lang="pt-BR" sz="3600" dirty="0">
              <a:solidFill>
                <a:srgbClr val="CCCCCC"/>
              </a:solidFill>
              <a:latin typeface="Consolas" panose="020B0609020204030204" pitchFamily="49" charset="0"/>
            </a:endParaRPr>
          </a:p>
          <a:p>
            <a:pPr>
              <a:lnSpc>
                <a:spcPts val="1425"/>
              </a:lnSpc>
              <a:buNone/>
            </a:pPr>
            <a:endParaRPr lang="pt-BR" sz="3600" b="0" dirty="0">
              <a:solidFill>
                <a:srgbClr val="CCCCCC"/>
              </a:solidFill>
              <a:effectLst/>
              <a:latin typeface="Consolas" panose="020B0609020204030204" pitchFamily="49" charset="0"/>
            </a:endParaRPr>
          </a:p>
          <a:p>
            <a:pPr>
              <a:lnSpc>
                <a:spcPts val="1425"/>
              </a:lnSpc>
              <a:buNone/>
            </a:pPr>
            <a:r>
              <a:rPr lang="pt-BR" sz="3600" b="0" dirty="0">
                <a:solidFill>
                  <a:srgbClr val="DCDCAA"/>
                </a:solidFill>
                <a:effectLst/>
                <a:latin typeface="Consolas" panose="020B0609020204030204" pitchFamily="49" charset="0"/>
              </a:rPr>
              <a:t>print</a:t>
            </a:r>
            <a:r>
              <a:rPr lang="pt-BR" sz="3600" b="0" dirty="0">
                <a:solidFill>
                  <a:srgbClr val="CCCCCC"/>
                </a:solidFill>
                <a:effectLst/>
                <a:latin typeface="Consolas" panose="020B0609020204030204" pitchFamily="49" charset="0"/>
              </a:rPr>
              <a:t>(</a:t>
            </a:r>
            <a:r>
              <a:rPr lang="pt-BR" sz="3600" b="0" dirty="0">
                <a:solidFill>
                  <a:srgbClr val="9CDCFE"/>
                </a:solidFill>
                <a:effectLst/>
                <a:latin typeface="Consolas" panose="020B0609020204030204" pitchFamily="49" charset="0"/>
              </a:rPr>
              <a:t>cores</a:t>
            </a:r>
            <a:r>
              <a:rPr lang="pt-BR" sz="3600" b="0" dirty="0">
                <a:solidFill>
                  <a:srgbClr val="CCCCCC"/>
                </a:solidFill>
                <a:effectLst/>
                <a:latin typeface="Consolas" panose="020B0609020204030204" pitchFamily="49" charset="0"/>
              </a:rPr>
              <a:t>)</a:t>
            </a:r>
          </a:p>
        </p:txBody>
      </p:sp>
      <p:sp>
        <p:nvSpPr>
          <p:cNvPr id="6" name="CaixaDeTexto 5">
            <a:extLst>
              <a:ext uri="{FF2B5EF4-FFF2-40B4-BE49-F238E27FC236}">
                <a16:creationId xmlns:a16="http://schemas.microsoft.com/office/drawing/2014/main" id="{968B6B7C-430C-4B5B-7992-786E002C4D24}"/>
              </a:ext>
            </a:extLst>
          </p:cNvPr>
          <p:cNvSpPr txBox="1"/>
          <p:nvPr/>
        </p:nvSpPr>
        <p:spPr>
          <a:xfrm>
            <a:off x="10261600" y="6189830"/>
            <a:ext cx="5257800" cy="2246769"/>
          </a:xfrm>
          <a:prstGeom prst="rect">
            <a:avLst/>
          </a:prstGeom>
          <a:noFill/>
        </p:spPr>
        <p:txBody>
          <a:bodyPr wrap="square">
            <a:spAutoFit/>
          </a:bodyPr>
          <a:lstStyle/>
          <a:p>
            <a:pPr>
              <a:buNone/>
            </a:pPr>
            <a:r>
              <a:rPr lang="pt-BR" sz="2800" b="1" dirty="0">
                <a:solidFill>
                  <a:srgbClr val="FFC000"/>
                </a:solidFill>
              </a:rPr>
              <a:t>Por que usar tupla?</a:t>
            </a:r>
          </a:p>
          <a:p>
            <a:pPr>
              <a:buNone/>
            </a:pPr>
            <a:endParaRPr lang="pt-BR" sz="2800" b="1" dirty="0">
              <a:solidFill>
                <a:srgbClr val="FFC000"/>
              </a:solidFill>
            </a:endParaRPr>
          </a:p>
          <a:p>
            <a:pPr>
              <a:buFont typeface="Arial" panose="020B0604020202020204" pitchFamily="34" charset="0"/>
              <a:buChar char="•"/>
            </a:pPr>
            <a:r>
              <a:rPr lang="pt-BR" sz="2800" dirty="0">
                <a:solidFill>
                  <a:srgbClr val="FFC000"/>
                </a:solidFill>
              </a:rPr>
              <a:t>dados fixos </a:t>
            </a:r>
          </a:p>
          <a:p>
            <a:pPr>
              <a:buFont typeface="Arial" panose="020B0604020202020204" pitchFamily="34" charset="0"/>
              <a:buChar char="•"/>
            </a:pPr>
            <a:r>
              <a:rPr lang="pt-BR" sz="2800" dirty="0">
                <a:solidFill>
                  <a:srgbClr val="FFC000"/>
                </a:solidFill>
              </a:rPr>
              <a:t>mais seguras </a:t>
            </a:r>
          </a:p>
          <a:p>
            <a:pPr>
              <a:buFont typeface="Arial" panose="020B0604020202020204" pitchFamily="34" charset="0"/>
              <a:buChar char="•"/>
            </a:pPr>
            <a:r>
              <a:rPr lang="pt-BR" sz="2800" dirty="0">
                <a:solidFill>
                  <a:srgbClr val="FFC000"/>
                </a:solidFill>
              </a:rPr>
              <a:t>mais rápidas que listas</a:t>
            </a:r>
          </a:p>
        </p:txBody>
      </p:sp>
    </p:spTree>
    <p:extLst>
      <p:ext uri="{BB962C8B-B14F-4D97-AF65-F5344CB8AC3E}">
        <p14:creationId xmlns:p14="http://schemas.microsoft.com/office/powerpoint/2010/main" val="34138851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A4AA554A-BA52-39DF-4EE1-B8DA255C19AD}"/>
              </a:ext>
            </a:extLst>
          </p:cNvPr>
          <p:cNvSpPr txBox="1"/>
          <p:nvPr/>
        </p:nvSpPr>
        <p:spPr>
          <a:xfrm>
            <a:off x="1193800" y="1143000"/>
            <a:ext cx="8129392" cy="2062103"/>
          </a:xfrm>
          <a:prstGeom prst="rect">
            <a:avLst/>
          </a:prstGeom>
          <a:noFill/>
        </p:spPr>
        <p:txBody>
          <a:bodyPr wrap="square">
            <a:spAutoFit/>
          </a:bodyPr>
          <a:lstStyle/>
          <a:p>
            <a:r>
              <a:rPr lang="pt-BR" sz="3200" b="1" dirty="0">
                <a:solidFill>
                  <a:srgbClr val="FFC000"/>
                </a:solidFill>
              </a:rPr>
              <a:t>EXEMPLO PRÁTICO</a:t>
            </a:r>
          </a:p>
          <a:p>
            <a:endParaRPr lang="pt-BR" sz="3200" b="1" dirty="0">
              <a:solidFill>
                <a:srgbClr val="FFC000"/>
              </a:solidFill>
            </a:endParaRPr>
          </a:p>
          <a:p>
            <a:r>
              <a:rPr lang="pt-BR" sz="3200" b="1" dirty="0">
                <a:solidFill>
                  <a:srgbClr val="FFC000"/>
                </a:solidFill>
              </a:rPr>
              <a:t> </a:t>
            </a:r>
          </a:p>
          <a:p>
            <a:r>
              <a:rPr lang="pt-BR" sz="3200" b="1" dirty="0">
                <a:solidFill>
                  <a:srgbClr val="FFC000"/>
                </a:solidFill>
              </a:rPr>
              <a:t>LISTA X TUPLA</a:t>
            </a:r>
          </a:p>
        </p:txBody>
      </p:sp>
      <p:sp>
        <p:nvSpPr>
          <p:cNvPr id="5" name="CaixaDeTexto 4">
            <a:extLst>
              <a:ext uri="{FF2B5EF4-FFF2-40B4-BE49-F238E27FC236}">
                <a16:creationId xmlns:a16="http://schemas.microsoft.com/office/drawing/2014/main" id="{D8620534-5EF5-EE41-076D-8F3EED0DA44F}"/>
              </a:ext>
            </a:extLst>
          </p:cNvPr>
          <p:cNvSpPr txBox="1"/>
          <p:nvPr/>
        </p:nvSpPr>
        <p:spPr>
          <a:xfrm>
            <a:off x="508000" y="4267200"/>
            <a:ext cx="15544800" cy="1782026"/>
          </a:xfrm>
          <a:prstGeom prst="rect">
            <a:avLst/>
          </a:prstGeom>
          <a:noFill/>
        </p:spPr>
        <p:txBody>
          <a:bodyPr wrap="square">
            <a:spAutoFit/>
          </a:bodyPr>
          <a:lstStyle/>
          <a:p>
            <a:pPr>
              <a:lnSpc>
                <a:spcPts val="1425"/>
              </a:lnSpc>
              <a:buNone/>
            </a:pPr>
            <a:r>
              <a:rPr lang="pt-BR" sz="3600" b="0" dirty="0">
                <a:solidFill>
                  <a:srgbClr val="9CDCFE"/>
                </a:solidFill>
                <a:effectLst/>
                <a:latin typeface="Consolas" panose="020B0609020204030204" pitchFamily="49" charset="0"/>
              </a:rPr>
              <a:t>alunos</a:t>
            </a:r>
            <a:r>
              <a:rPr lang="pt-BR" sz="3600" b="0" dirty="0">
                <a:solidFill>
                  <a:srgbClr val="CCCCCC"/>
                </a:solidFill>
                <a:effectLst/>
                <a:latin typeface="Consolas" panose="020B0609020204030204" pitchFamily="49" charset="0"/>
              </a:rPr>
              <a:t> </a:t>
            </a:r>
            <a:r>
              <a:rPr lang="pt-BR" sz="3600" b="0" dirty="0">
                <a:solidFill>
                  <a:srgbClr val="D4D4D4"/>
                </a:solidFill>
                <a:effectLst/>
                <a:latin typeface="Consolas" panose="020B0609020204030204" pitchFamily="49" charset="0"/>
              </a:rPr>
              <a:t>=</a:t>
            </a:r>
            <a:r>
              <a:rPr lang="pt-BR" sz="3600" b="0" dirty="0">
                <a:solidFill>
                  <a:srgbClr val="CCCCCC"/>
                </a:solidFill>
                <a:effectLst/>
                <a:latin typeface="Consolas" panose="020B0609020204030204" pitchFamily="49" charset="0"/>
              </a:rPr>
              <a:t> [</a:t>
            </a:r>
            <a:r>
              <a:rPr lang="pt-BR" sz="3600" b="0" dirty="0">
                <a:solidFill>
                  <a:srgbClr val="CE9178"/>
                </a:solidFill>
                <a:effectLst/>
                <a:latin typeface="Consolas" panose="020B0609020204030204" pitchFamily="49" charset="0"/>
              </a:rPr>
              <a:t>"Ana"</a:t>
            </a:r>
            <a:r>
              <a:rPr lang="pt-BR" sz="3600" b="0" dirty="0">
                <a:solidFill>
                  <a:srgbClr val="CCCCCC"/>
                </a:solidFill>
                <a:effectLst/>
                <a:latin typeface="Consolas" panose="020B0609020204030204" pitchFamily="49" charset="0"/>
              </a:rPr>
              <a:t>, </a:t>
            </a:r>
            <a:r>
              <a:rPr lang="pt-BR" sz="3600" b="0" dirty="0">
                <a:solidFill>
                  <a:srgbClr val="CE9178"/>
                </a:solidFill>
                <a:effectLst/>
                <a:latin typeface="Consolas" panose="020B0609020204030204" pitchFamily="49" charset="0"/>
              </a:rPr>
              <a:t>"João"</a:t>
            </a:r>
            <a:r>
              <a:rPr lang="pt-BR" sz="3600" b="0" dirty="0">
                <a:solidFill>
                  <a:srgbClr val="CCCCCC"/>
                </a:solidFill>
                <a:effectLst/>
                <a:latin typeface="Consolas" panose="020B0609020204030204" pitchFamily="49" charset="0"/>
              </a:rPr>
              <a:t>, </a:t>
            </a:r>
            <a:r>
              <a:rPr lang="pt-BR" sz="3600" b="0" dirty="0">
                <a:solidFill>
                  <a:srgbClr val="CE9178"/>
                </a:solidFill>
                <a:effectLst/>
                <a:latin typeface="Consolas" panose="020B0609020204030204" pitchFamily="49" charset="0"/>
              </a:rPr>
              <a:t>"Maria"</a:t>
            </a:r>
            <a:r>
              <a:rPr lang="pt-BR" sz="3600" b="0" dirty="0">
                <a:solidFill>
                  <a:srgbClr val="CCCCCC"/>
                </a:solidFill>
                <a:effectLst/>
                <a:latin typeface="Consolas" panose="020B0609020204030204" pitchFamily="49" charset="0"/>
              </a:rPr>
              <a:t>]  </a:t>
            </a:r>
            <a:r>
              <a:rPr lang="pt-BR" sz="3600" b="0" dirty="0">
                <a:solidFill>
                  <a:srgbClr val="6A9955"/>
                </a:solidFill>
                <a:effectLst/>
                <a:latin typeface="Consolas" panose="020B0609020204030204" pitchFamily="49" charset="0"/>
              </a:rPr>
              <a:t># lista (pode mudar)</a:t>
            </a:r>
          </a:p>
          <a:p>
            <a:pPr>
              <a:lnSpc>
                <a:spcPts val="1425"/>
              </a:lnSpc>
              <a:buNone/>
            </a:pPr>
            <a:endParaRPr lang="pt-BR" sz="3600" dirty="0">
              <a:solidFill>
                <a:srgbClr val="6A9955"/>
              </a:solidFill>
              <a:latin typeface="Consolas" panose="020B0609020204030204" pitchFamily="49" charset="0"/>
            </a:endParaRPr>
          </a:p>
          <a:p>
            <a:pPr>
              <a:lnSpc>
                <a:spcPts val="1425"/>
              </a:lnSpc>
              <a:buNone/>
            </a:pPr>
            <a:endParaRPr lang="pt-BR" sz="3600" b="0" dirty="0">
              <a:solidFill>
                <a:srgbClr val="6A9955"/>
              </a:solidFill>
              <a:effectLst/>
              <a:latin typeface="Consolas" panose="020B0609020204030204" pitchFamily="49" charset="0"/>
            </a:endParaRPr>
          </a:p>
          <a:p>
            <a:pPr>
              <a:lnSpc>
                <a:spcPts val="1425"/>
              </a:lnSpc>
              <a:buNone/>
            </a:pPr>
            <a:endParaRPr lang="pt-BR" sz="3600" dirty="0">
              <a:solidFill>
                <a:srgbClr val="6A9955"/>
              </a:solidFill>
              <a:latin typeface="Consolas" panose="020B0609020204030204" pitchFamily="49" charset="0"/>
            </a:endParaRPr>
          </a:p>
          <a:p>
            <a:pPr>
              <a:lnSpc>
                <a:spcPts val="1425"/>
              </a:lnSpc>
              <a:buNone/>
            </a:pPr>
            <a:endParaRPr lang="pt-BR" sz="3600" b="0" dirty="0">
              <a:solidFill>
                <a:srgbClr val="6A9955"/>
              </a:solidFill>
              <a:effectLst/>
              <a:latin typeface="Consolas" panose="020B0609020204030204" pitchFamily="49" charset="0"/>
            </a:endParaRPr>
          </a:p>
          <a:p>
            <a:pPr>
              <a:lnSpc>
                <a:spcPts val="1425"/>
              </a:lnSpc>
              <a:buNone/>
            </a:pPr>
            <a:endParaRPr lang="pt-BR" sz="3600" b="0" dirty="0">
              <a:solidFill>
                <a:srgbClr val="CCCCCC"/>
              </a:solidFill>
              <a:effectLst/>
              <a:latin typeface="Consolas" panose="020B0609020204030204" pitchFamily="49" charset="0"/>
            </a:endParaRPr>
          </a:p>
          <a:p>
            <a:pPr>
              <a:lnSpc>
                <a:spcPts val="1425"/>
              </a:lnSpc>
              <a:buNone/>
            </a:pPr>
            <a:br>
              <a:rPr lang="pt-BR" sz="3600" b="0" dirty="0">
                <a:solidFill>
                  <a:srgbClr val="CCCCCC"/>
                </a:solidFill>
                <a:effectLst/>
                <a:latin typeface="Consolas" panose="020B0609020204030204" pitchFamily="49" charset="0"/>
              </a:rPr>
            </a:br>
            <a:endParaRPr lang="pt-BR" sz="3600" b="0" dirty="0">
              <a:solidFill>
                <a:srgbClr val="CCCCCC"/>
              </a:solidFill>
              <a:effectLst/>
              <a:latin typeface="Consolas" panose="020B0609020204030204" pitchFamily="49" charset="0"/>
            </a:endParaRPr>
          </a:p>
          <a:p>
            <a:pPr>
              <a:lnSpc>
                <a:spcPts val="1425"/>
              </a:lnSpc>
              <a:buNone/>
            </a:pPr>
            <a:r>
              <a:rPr lang="pt-BR" sz="3600" b="0" dirty="0" err="1">
                <a:solidFill>
                  <a:srgbClr val="9CDCFE"/>
                </a:solidFill>
                <a:effectLst/>
                <a:latin typeface="Consolas" panose="020B0609020204030204" pitchFamily="49" charset="0"/>
              </a:rPr>
              <a:t>dias_semana</a:t>
            </a:r>
            <a:r>
              <a:rPr lang="pt-BR" sz="3600" b="0" dirty="0">
                <a:solidFill>
                  <a:srgbClr val="CCCCCC"/>
                </a:solidFill>
                <a:effectLst/>
                <a:latin typeface="Consolas" panose="020B0609020204030204" pitchFamily="49" charset="0"/>
              </a:rPr>
              <a:t> </a:t>
            </a:r>
            <a:r>
              <a:rPr lang="pt-BR" sz="3600" b="0" dirty="0">
                <a:solidFill>
                  <a:srgbClr val="D4D4D4"/>
                </a:solidFill>
                <a:effectLst/>
                <a:latin typeface="Consolas" panose="020B0609020204030204" pitchFamily="49" charset="0"/>
              </a:rPr>
              <a:t>=</a:t>
            </a:r>
            <a:r>
              <a:rPr lang="pt-BR" sz="3600" b="0" dirty="0">
                <a:solidFill>
                  <a:srgbClr val="CCCCCC"/>
                </a:solidFill>
                <a:effectLst/>
                <a:latin typeface="Consolas" panose="020B0609020204030204" pitchFamily="49" charset="0"/>
              </a:rPr>
              <a:t> (</a:t>
            </a:r>
            <a:r>
              <a:rPr lang="pt-BR" sz="3600" b="0" dirty="0">
                <a:solidFill>
                  <a:srgbClr val="CE9178"/>
                </a:solidFill>
                <a:effectLst/>
                <a:latin typeface="Consolas" panose="020B0609020204030204" pitchFamily="49" charset="0"/>
              </a:rPr>
              <a:t>"</a:t>
            </a:r>
            <a:r>
              <a:rPr lang="pt-BR" sz="3600" b="0" dirty="0" err="1">
                <a:solidFill>
                  <a:srgbClr val="CE9178"/>
                </a:solidFill>
                <a:effectLst/>
                <a:latin typeface="Consolas" panose="020B0609020204030204" pitchFamily="49" charset="0"/>
              </a:rPr>
              <a:t>seg</a:t>
            </a:r>
            <a:r>
              <a:rPr lang="pt-BR" sz="3600" b="0" dirty="0">
                <a:solidFill>
                  <a:srgbClr val="CE9178"/>
                </a:solidFill>
                <a:effectLst/>
                <a:latin typeface="Consolas" panose="020B0609020204030204" pitchFamily="49" charset="0"/>
              </a:rPr>
              <a:t>"</a:t>
            </a:r>
            <a:r>
              <a:rPr lang="pt-BR" sz="3600" b="0" dirty="0">
                <a:solidFill>
                  <a:srgbClr val="CCCCCC"/>
                </a:solidFill>
                <a:effectLst/>
                <a:latin typeface="Consolas" panose="020B0609020204030204" pitchFamily="49" charset="0"/>
              </a:rPr>
              <a:t>, </a:t>
            </a:r>
            <a:r>
              <a:rPr lang="pt-BR" sz="3600" b="0" dirty="0">
                <a:solidFill>
                  <a:srgbClr val="CE9178"/>
                </a:solidFill>
                <a:effectLst/>
                <a:latin typeface="Consolas" panose="020B0609020204030204" pitchFamily="49" charset="0"/>
              </a:rPr>
              <a:t>"ter"</a:t>
            </a:r>
            <a:r>
              <a:rPr lang="pt-BR" sz="3600" b="0" dirty="0">
                <a:solidFill>
                  <a:srgbClr val="CCCCCC"/>
                </a:solidFill>
                <a:effectLst/>
                <a:latin typeface="Consolas" panose="020B0609020204030204" pitchFamily="49" charset="0"/>
              </a:rPr>
              <a:t>, </a:t>
            </a:r>
            <a:r>
              <a:rPr lang="pt-BR" sz="3600" b="0" dirty="0">
                <a:solidFill>
                  <a:srgbClr val="CE9178"/>
                </a:solidFill>
                <a:effectLst/>
                <a:latin typeface="Consolas" panose="020B0609020204030204" pitchFamily="49" charset="0"/>
              </a:rPr>
              <a:t>"</a:t>
            </a:r>
            <a:r>
              <a:rPr lang="pt-BR" sz="3600" b="0" dirty="0" err="1">
                <a:solidFill>
                  <a:srgbClr val="CE9178"/>
                </a:solidFill>
                <a:effectLst/>
                <a:latin typeface="Consolas" panose="020B0609020204030204" pitchFamily="49" charset="0"/>
              </a:rPr>
              <a:t>qua</a:t>
            </a:r>
            <a:r>
              <a:rPr lang="pt-BR" sz="3600" b="0" dirty="0">
                <a:solidFill>
                  <a:srgbClr val="CE9178"/>
                </a:solidFill>
                <a:effectLst/>
                <a:latin typeface="Consolas" panose="020B0609020204030204" pitchFamily="49" charset="0"/>
              </a:rPr>
              <a:t>"</a:t>
            </a:r>
            <a:r>
              <a:rPr lang="pt-BR" sz="3600" b="0" dirty="0">
                <a:solidFill>
                  <a:srgbClr val="CCCCCC"/>
                </a:solidFill>
                <a:effectLst/>
                <a:latin typeface="Consolas" panose="020B0609020204030204" pitchFamily="49" charset="0"/>
              </a:rPr>
              <a:t>)  </a:t>
            </a:r>
            <a:r>
              <a:rPr lang="pt-BR" sz="3600" b="0" dirty="0">
                <a:solidFill>
                  <a:srgbClr val="6A9955"/>
                </a:solidFill>
                <a:effectLst/>
                <a:latin typeface="Consolas" panose="020B0609020204030204" pitchFamily="49" charset="0"/>
              </a:rPr>
              <a:t># tupla (fixo)</a:t>
            </a:r>
            <a:endParaRPr lang="pt-BR" sz="3600"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40746150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DB53D331-CA29-DCB3-C0AB-0B2A4AA68EA7}"/>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4BFA5805-C86B-433C-9E50-DFCC2442FD6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16" name="Picture 15">
            <a:extLst>
              <a:ext uri="{FF2B5EF4-FFF2-40B4-BE49-F238E27FC236}">
                <a16:creationId xmlns:a16="http://schemas.microsoft.com/office/drawing/2014/main" id="{53861BD2-0F98-2FD1-58EE-95BD31B502F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18" name="Oval 17">
            <a:extLst>
              <a:ext uri="{FF2B5EF4-FFF2-40B4-BE49-F238E27FC236}">
                <a16:creationId xmlns:a16="http://schemas.microsoft.com/office/drawing/2014/main" id="{EC165B1A-9468-6837-C263-322E4E58A8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20" name="Picture 19">
            <a:extLst>
              <a:ext uri="{FF2B5EF4-FFF2-40B4-BE49-F238E27FC236}">
                <a16:creationId xmlns:a16="http://schemas.microsoft.com/office/drawing/2014/main" id="{A88BB028-0938-3749-B658-773144B011A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22" name="Picture 21">
            <a:extLst>
              <a:ext uri="{FF2B5EF4-FFF2-40B4-BE49-F238E27FC236}">
                <a16:creationId xmlns:a16="http://schemas.microsoft.com/office/drawing/2014/main" id="{59DB9262-7DB6-F408-2D17-F2D77893092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24" name="Rectangle 23">
            <a:extLst>
              <a:ext uri="{FF2B5EF4-FFF2-40B4-BE49-F238E27FC236}">
                <a16:creationId xmlns:a16="http://schemas.microsoft.com/office/drawing/2014/main" id="{5AD79092-248C-E7CC-8219-81A61543F9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 name="CaixaDeTexto 2">
            <a:extLst>
              <a:ext uri="{FF2B5EF4-FFF2-40B4-BE49-F238E27FC236}">
                <a16:creationId xmlns:a16="http://schemas.microsoft.com/office/drawing/2014/main" id="{229F0A7C-4D08-8E93-21F4-B72265F8B429}"/>
              </a:ext>
            </a:extLst>
          </p:cNvPr>
          <p:cNvSpPr txBox="1"/>
          <p:nvPr/>
        </p:nvSpPr>
        <p:spPr>
          <a:xfrm>
            <a:off x="861482" y="603624"/>
            <a:ext cx="5554107" cy="1867373"/>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4200" dirty="0" err="1">
                <a:solidFill>
                  <a:schemeClr val="tx2"/>
                </a:solidFill>
                <a:latin typeface="+mj-lt"/>
                <a:ea typeface="+mj-ea"/>
                <a:cs typeface="+mj-cs"/>
              </a:rPr>
              <a:t>Atividade</a:t>
            </a:r>
            <a:r>
              <a:rPr lang="pt-BR" sz="4200" dirty="0">
                <a:solidFill>
                  <a:schemeClr val="tx2"/>
                </a:solidFill>
                <a:latin typeface="+mj-lt"/>
                <a:ea typeface="+mj-ea"/>
                <a:cs typeface="+mj-cs"/>
              </a:rPr>
              <a:t> </a:t>
            </a:r>
          </a:p>
          <a:p>
            <a:pPr>
              <a:lnSpc>
                <a:spcPct val="90000"/>
              </a:lnSpc>
              <a:spcBef>
                <a:spcPct val="0"/>
              </a:spcBef>
              <a:spcAft>
                <a:spcPts val="600"/>
              </a:spcAft>
            </a:pPr>
            <a:r>
              <a:rPr lang="pt-BR" sz="4200" dirty="0">
                <a:solidFill>
                  <a:schemeClr val="tx2"/>
                </a:solidFill>
                <a:latin typeface="+mj-lt"/>
                <a:ea typeface="+mj-ea"/>
                <a:cs typeface="+mj-cs"/>
              </a:rPr>
              <a:t>Lista de Cadastro</a:t>
            </a:r>
            <a:endParaRPr lang="en-US" sz="4200" dirty="0">
              <a:solidFill>
                <a:schemeClr val="tx2"/>
              </a:solidFill>
              <a:latin typeface="+mj-lt"/>
              <a:ea typeface="+mj-ea"/>
              <a:cs typeface="+mj-cs"/>
            </a:endParaRPr>
          </a:p>
        </p:txBody>
      </p:sp>
      <p:sp>
        <p:nvSpPr>
          <p:cNvPr id="26" name="Freeform: Shape 25">
            <a:extLst>
              <a:ext uri="{FF2B5EF4-FFF2-40B4-BE49-F238E27FC236}">
                <a16:creationId xmlns:a16="http://schemas.microsoft.com/office/drawing/2014/main" id="{8C882A46-A926-7A28-8E82-014A7D6A2F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7027759" y="-84800"/>
            <a:ext cx="9144001" cy="93136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7191 h 6985200"/>
              <a:gd name="connsiteX6" fmla="*/ 1 w 6858001"/>
              <a:gd name="connsiteY6" fmla="*/ 887191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7191"/>
                </a:lnTo>
                <a:lnTo>
                  <a:pt x="1" y="887191"/>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solidFill>
            <a:srgbClr val="FFFFFF"/>
          </a:solidFill>
          <a:ln>
            <a:noFill/>
          </a:ln>
        </p:spPr>
        <p:txBody>
          <a:bodyPr/>
          <a:lstStyle/>
          <a:p>
            <a:endParaRPr lang="pt-BR"/>
          </a:p>
        </p:txBody>
      </p:sp>
      <p:sp>
        <p:nvSpPr>
          <p:cNvPr id="28" name="Freeform 23">
            <a:extLst>
              <a:ext uri="{FF2B5EF4-FFF2-40B4-BE49-F238E27FC236}">
                <a16:creationId xmlns:a16="http://schemas.microsoft.com/office/drawing/2014/main" id="{3EA70ACC-5638-DD2E-A57A-48CE0680A0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58693" y="-1"/>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30" name="Rectangle 29">
            <a:extLst>
              <a:ext uri="{FF2B5EF4-FFF2-40B4-BE49-F238E27FC236}">
                <a16:creationId xmlns:a16="http://schemas.microsoft.com/office/drawing/2014/main" id="{91BBC248-292B-A314-A19F-CD372DCE4C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23264"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21" name="CaixaDeTexto 20">
            <a:extLst>
              <a:ext uri="{FF2B5EF4-FFF2-40B4-BE49-F238E27FC236}">
                <a16:creationId xmlns:a16="http://schemas.microsoft.com/office/drawing/2014/main" id="{86D718C3-451E-1B0B-2BAF-726EDED8E225}"/>
              </a:ext>
            </a:extLst>
          </p:cNvPr>
          <p:cNvSpPr txBox="1"/>
          <p:nvPr/>
        </p:nvSpPr>
        <p:spPr>
          <a:xfrm>
            <a:off x="665567" y="5611899"/>
            <a:ext cx="5749445" cy="286360"/>
          </a:xfrm>
          <a:prstGeom prst="rect">
            <a:avLst/>
          </a:prstGeom>
          <a:noFill/>
        </p:spPr>
        <p:txBody>
          <a:bodyPr wrap="square">
            <a:spAutoFit/>
          </a:bodyPr>
          <a:lstStyle/>
          <a:p>
            <a:pPr>
              <a:lnSpc>
                <a:spcPts val="1425"/>
              </a:lnSpc>
              <a:buNone/>
            </a:pPr>
            <a:endParaRPr lang="pt-BR" b="0" dirty="0">
              <a:solidFill>
                <a:srgbClr val="CCCCCC"/>
              </a:solidFill>
              <a:effectLst/>
              <a:latin typeface="Consolas" panose="020B0609020204030204" pitchFamily="49" charset="0"/>
            </a:endParaRPr>
          </a:p>
        </p:txBody>
      </p:sp>
      <p:sp>
        <p:nvSpPr>
          <p:cNvPr id="4" name="CaixaDeTexto 3">
            <a:extLst>
              <a:ext uri="{FF2B5EF4-FFF2-40B4-BE49-F238E27FC236}">
                <a16:creationId xmlns:a16="http://schemas.microsoft.com/office/drawing/2014/main" id="{DD2E52DF-716B-D59B-F153-E0844594D479}"/>
              </a:ext>
            </a:extLst>
          </p:cNvPr>
          <p:cNvSpPr txBox="1"/>
          <p:nvPr/>
        </p:nvSpPr>
        <p:spPr>
          <a:xfrm>
            <a:off x="430770" y="2682417"/>
            <a:ext cx="6134835" cy="1754326"/>
          </a:xfrm>
          <a:prstGeom prst="rect">
            <a:avLst/>
          </a:prstGeom>
          <a:noFill/>
        </p:spPr>
        <p:txBody>
          <a:bodyPr wrap="square">
            <a:spAutoFit/>
          </a:bodyPr>
          <a:lstStyle/>
          <a:p>
            <a:r>
              <a:rPr lang="pt-BR" b="1" dirty="0">
                <a:solidFill>
                  <a:srgbClr val="FFC000"/>
                </a:solidFill>
              </a:rPr>
              <a:t>Objetivo: </a:t>
            </a:r>
            <a:r>
              <a:rPr lang="pt-BR" b="1" dirty="0"/>
              <a:t>Nesta atividade você vai cadastrar o nome de pessoas e seu celular utilizando listas e ao final irá imprimir uma lista estes dados. </a:t>
            </a:r>
          </a:p>
          <a:p>
            <a:endParaRPr lang="pt-BR" b="1" dirty="0"/>
          </a:p>
          <a:p>
            <a:r>
              <a:rPr lang="pt-BR" b="1" dirty="0">
                <a:solidFill>
                  <a:srgbClr val="FFC000"/>
                </a:solidFill>
              </a:rPr>
              <a:t>Comandos utilizados: </a:t>
            </a:r>
            <a:r>
              <a:rPr lang="pt-BR" b="1" dirty="0"/>
              <a:t>Lista e método </a:t>
            </a:r>
            <a:r>
              <a:rPr lang="pt-BR" b="1" dirty="0" err="1"/>
              <a:t>append</a:t>
            </a:r>
            <a:r>
              <a:rPr lang="pt-BR" b="1" dirty="0"/>
              <a:t>, </a:t>
            </a:r>
            <a:r>
              <a:rPr lang="pt-BR" b="1" dirty="0" err="1"/>
              <a:t>len</a:t>
            </a:r>
            <a:r>
              <a:rPr lang="pt-BR" b="1" dirty="0"/>
              <a:t> para listas </a:t>
            </a:r>
          </a:p>
        </p:txBody>
      </p:sp>
    </p:spTree>
    <p:extLst>
      <p:ext uri="{BB962C8B-B14F-4D97-AF65-F5344CB8AC3E}">
        <p14:creationId xmlns:p14="http://schemas.microsoft.com/office/powerpoint/2010/main" val="291291414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412E3267-7ABE-412B-8580-47EC0D1F61F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16" name="Picture 15">
            <a:extLst>
              <a:ext uri="{FF2B5EF4-FFF2-40B4-BE49-F238E27FC236}">
                <a16:creationId xmlns:a16="http://schemas.microsoft.com/office/drawing/2014/main" id="{20B62C5A-2250-4380-AB23-DB87446CCED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18" name="Oval 17">
            <a:extLst>
              <a:ext uri="{FF2B5EF4-FFF2-40B4-BE49-F238E27FC236}">
                <a16:creationId xmlns:a16="http://schemas.microsoft.com/office/drawing/2014/main" id="{D42CF425-7213-4F89-B0FF-4C2BDDD9C6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20" name="Picture 19">
            <a:extLst>
              <a:ext uri="{FF2B5EF4-FFF2-40B4-BE49-F238E27FC236}">
                <a16:creationId xmlns:a16="http://schemas.microsoft.com/office/drawing/2014/main" id="{D35DA97D-88F8-4249-B650-4FC9FD50A38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22" name="Picture 21">
            <a:extLst>
              <a:ext uri="{FF2B5EF4-FFF2-40B4-BE49-F238E27FC236}">
                <a16:creationId xmlns:a16="http://schemas.microsoft.com/office/drawing/2014/main" id="{43F38673-6E30-4BAE-AC67-0B283EBF42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24" name="Rectangle 23">
            <a:extLst>
              <a:ext uri="{FF2B5EF4-FFF2-40B4-BE49-F238E27FC236}">
                <a16:creationId xmlns:a16="http://schemas.microsoft.com/office/drawing/2014/main" id="{202A25CB-1ED1-4C87-AB49-8D3BC684D1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 name="CaixaDeTexto 2">
            <a:extLst>
              <a:ext uri="{FF2B5EF4-FFF2-40B4-BE49-F238E27FC236}">
                <a16:creationId xmlns:a16="http://schemas.microsoft.com/office/drawing/2014/main" id="{45C75973-B34E-7DAA-97D4-34B8C64C77CC}"/>
              </a:ext>
            </a:extLst>
          </p:cNvPr>
          <p:cNvSpPr txBox="1"/>
          <p:nvPr/>
        </p:nvSpPr>
        <p:spPr>
          <a:xfrm>
            <a:off x="861482" y="603624"/>
            <a:ext cx="5554107" cy="1867373"/>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4200">
                <a:solidFill>
                  <a:schemeClr val="tx2"/>
                </a:solidFill>
                <a:latin typeface="+mj-lt"/>
                <a:ea typeface="+mj-ea"/>
                <a:cs typeface="+mj-cs"/>
              </a:rPr>
              <a:t>Atividade  – Jogo: Papel, pedra e Tesoura </a:t>
            </a:r>
          </a:p>
        </p:txBody>
      </p:sp>
      <p:sp>
        <p:nvSpPr>
          <p:cNvPr id="26" name="Freeform: Shape 25">
            <a:extLst>
              <a:ext uri="{FF2B5EF4-FFF2-40B4-BE49-F238E27FC236}">
                <a16:creationId xmlns:a16="http://schemas.microsoft.com/office/drawing/2014/main" id="{7D9681AB-65CF-47E9-9FA3-7B05D63499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7027759" y="-84800"/>
            <a:ext cx="9144001" cy="93136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7191 h 6985200"/>
              <a:gd name="connsiteX6" fmla="*/ 1 w 6858001"/>
              <a:gd name="connsiteY6" fmla="*/ 887191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7191"/>
                </a:lnTo>
                <a:lnTo>
                  <a:pt x="1" y="887191"/>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solidFill>
            <a:srgbClr val="FFFFFF"/>
          </a:solidFill>
          <a:ln>
            <a:noFill/>
          </a:ln>
        </p:spPr>
        <p:txBody>
          <a:bodyPr/>
          <a:lstStyle/>
          <a:p>
            <a:endParaRPr lang="pt-BR"/>
          </a:p>
        </p:txBody>
      </p:sp>
      <p:sp>
        <p:nvSpPr>
          <p:cNvPr id="28" name="Freeform 23">
            <a:extLst>
              <a:ext uri="{FF2B5EF4-FFF2-40B4-BE49-F238E27FC236}">
                <a16:creationId xmlns:a16="http://schemas.microsoft.com/office/drawing/2014/main" id="{8FCA736E-BDE3-4D4D-8D87-E9AE79250C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58693" y="-1"/>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5" name="Imagem 4">
            <a:extLst>
              <a:ext uri="{FF2B5EF4-FFF2-40B4-BE49-F238E27FC236}">
                <a16:creationId xmlns:a16="http://schemas.microsoft.com/office/drawing/2014/main" id="{FE0FE773-AFBB-1979-C8ED-4DEB2B74C041}"/>
              </a:ext>
            </a:extLst>
          </p:cNvPr>
          <p:cNvPicPr>
            <a:picLocks noChangeAspect="1"/>
          </p:cNvPicPr>
          <p:nvPr/>
        </p:nvPicPr>
        <p:blipFill>
          <a:blip r:embed="rId7"/>
          <a:stretch>
            <a:fillRect/>
          </a:stretch>
        </p:blipFill>
        <p:spPr>
          <a:xfrm>
            <a:off x="7647760" y="1821965"/>
            <a:ext cx="8477069" cy="2034497"/>
          </a:xfrm>
          <a:prstGeom prst="rect">
            <a:avLst/>
          </a:prstGeom>
          <a:effectLst/>
        </p:spPr>
      </p:pic>
      <p:sp>
        <p:nvSpPr>
          <p:cNvPr id="30" name="Rectangle 29">
            <a:extLst>
              <a:ext uri="{FF2B5EF4-FFF2-40B4-BE49-F238E27FC236}">
                <a16:creationId xmlns:a16="http://schemas.microsoft.com/office/drawing/2014/main" id="{129AA25D-1E7A-4074-BF68-D55A83B81B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23264"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7" name="CaixaDeTexto 6">
            <a:extLst>
              <a:ext uri="{FF2B5EF4-FFF2-40B4-BE49-F238E27FC236}">
                <a16:creationId xmlns:a16="http://schemas.microsoft.com/office/drawing/2014/main" id="{642F1158-37BF-936E-69B9-F8A89BB044C8}"/>
              </a:ext>
            </a:extLst>
          </p:cNvPr>
          <p:cNvSpPr txBox="1"/>
          <p:nvPr/>
        </p:nvSpPr>
        <p:spPr>
          <a:xfrm>
            <a:off x="861484" y="2737224"/>
            <a:ext cx="5553528" cy="5593974"/>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buFont typeface="Wingdings 3" charset="2"/>
              <a:buChar char=""/>
            </a:pPr>
            <a:r>
              <a:rPr lang="en-US">
                <a:latin typeface="+mj-lt"/>
                <a:ea typeface="+mj-ea"/>
                <a:cs typeface="+mj-cs"/>
              </a:rPr>
              <a:t>Objetivo: Nesta atividade você vai criar um jogo usando tupla e tupla multidimensional. </a:t>
            </a:r>
          </a:p>
          <a:p>
            <a:pPr>
              <a:spcBef>
                <a:spcPts val="1000"/>
              </a:spcBef>
              <a:buClr>
                <a:schemeClr val="bg2">
                  <a:lumMod val="40000"/>
                  <a:lumOff val="60000"/>
                </a:schemeClr>
              </a:buClr>
              <a:buSzPct val="80000"/>
              <a:buFont typeface="Wingdings 3" charset="2"/>
              <a:buChar char=""/>
            </a:pPr>
            <a:endParaRPr lang="en-US">
              <a:latin typeface="+mj-lt"/>
              <a:ea typeface="+mj-ea"/>
              <a:cs typeface="+mj-cs"/>
            </a:endParaRPr>
          </a:p>
          <a:p>
            <a:pPr>
              <a:spcBef>
                <a:spcPts val="1000"/>
              </a:spcBef>
              <a:buClr>
                <a:schemeClr val="bg2">
                  <a:lumMod val="40000"/>
                  <a:lumOff val="60000"/>
                </a:schemeClr>
              </a:buClr>
              <a:buSzPct val="80000"/>
              <a:buFont typeface="Wingdings 3" charset="2"/>
              <a:buChar char=""/>
            </a:pPr>
            <a:r>
              <a:rPr lang="en-US">
                <a:latin typeface="+mj-lt"/>
                <a:ea typeface="+mj-ea"/>
                <a:cs typeface="+mj-cs"/>
              </a:rPr>
              <a:t>Comandos utilizados: Tupla, Tupla Multidimensional, biblioteca random e randint. </a:t>
            </a:r>
          </a:p>
          <a:p>
            <a:pPr>
              <a:spcBef>
                <a:spcPts val="1000"/>
              </a:spcBef>
              <a:buClr>
                <a:schemeClr val="bg2">
                  <a:lumMod val="40000"/>
                  <a:lumOff val="60000"/>
                </a:schemeClr>
              </a:buClr>
              <a:buSzPct val="80000"/>
              <a:buFont typeface="Wingdings 3" charset="2"/>
              <a:buChar char=""/>
            </a:pPr>
            <a:r>
              <a:rPr lang="en-US">
                <a:latin typeface="+mj-lt"/>
                <a:ea typeface="+mj-ea"/>
                <a:cs typeface="+mj-cs"/>
              </a:rPr>
              <a:t>A biblioteca random permite que você use números aleatórios</a:t>
            </a:r>
          </a:p>
        </p:txBody>
      </p:sp>
      <p:sp>
        <p:nvSpPr>
          <p:cNvPr id="11" name="CaixaDeTexto 10">
            <a:extLst>
              <a:ext uri="{FF2B5EF4-FFF2-40B4-BE49-F238E27FC236}">
                <a16:creationId xmlns:a16="http://schemas.microsoft.com/office/drawing/2014/main" id="{97EB923D-E729-8B49-1293-71F13F4945DB}"/>
              </a:ext>
            </a:extLst>
          </p:cNvPr>
          <p:cNvSpPr txBox="1"/>
          <p:nvPr/>
        </p:nvSpPr>
        <p:spPr>
          <a:xfrm>
            <a:off x="8280400" y="7444437"/>
            <a:ext cx="8128000" cy="923330"/>
          </a:xfrm>
          <a:prstGeom prst="rect">
            <a:avLst/>
          </a:prstGeom>
          <a:noFill/>
        </p:spPr>
        <p:txBody>
          <a:bodyPr wrap="square">
            <a:spAutoFit/>
          </a:bodyPr>
          <a:lstStyle/>
          <a:p>
            <a:r>
              <a:rPr lang="pt-BR" dirty="0">
                <a:solidFill>
                  <a:schemeClr val="bg1"/>
                </a:solidFill>
              </a:rPr>
              <a:t>linha = computador</a:t>
            </a:r>
            <a:br>
              <a:rPr lang="pt-BR" dirty="0">
                <a:solidFill>
                  <a:schemeClr val="bg1"/>
                </a:solidFill>
              </a:rPr>
            </a:br>
            <a:r>
              <a:rPr lang="pt-BR" dirty="0">
                <a:solidFill>
                  <a:schemeClr val="bg1"/>
                </a:solidFill>
              </a:rPr>
              <a:t>coluna = jogador</a:t>
            </a:r>
            <a:br>
              <a:rPr lang="pt-BR" dirty="0">
                <a:solidFill>
                  <a:schemeClr val="bg1"/>
                </a:solidFill>
              </a:rPr>
            </a:br>
            <a:r>
              <a:rPr lang="pt-BR" dirty="0">
                <a:solidFill>
                  <a:schemeClr val="bg1"/>
                </a:solidFill>
              </a:rPr>
              <a:t>jogada = tabela[linha][coluna]</a:t>
            </a:r>
          </a:p>
        </p:txBody>
      </p:sp>
      <p:sp>
        <p:nvSpPr>
          <p:cNvPr id="13" name="CaixaDeTexto 12">
            <a:extLst>
              <a:ext uri="{FF2B5EF4-FFF2-40B4-BE49-F238E27FC236}">
                <a16:creationId xmlns:a16="http://schemas.microsoft.com/office/drawing/2014/main" id="{5822751E-1EA2-5A4E-F4FC-AEADFE9C0E05}"/>
              </a:ext>
            </a:extLst>
          </p:cNvPr>
          <p:cNvSpPr txBox="1"/>
          <p:nvPr/>
        </p:nvSpPr>
        <p:spPr>
          <a:xfrm>
            <a:off x="8241792" y="7091680"/>
            <a:ext cx="8205216" cy="369332"/>
          </a:xfrm>
          <a:prstGeom prst="rect">
            <a:avLst/>
          </a:prstGeom>
          <a:noFill/>
        </p:spPr>
        <p:txBody>
          <a:bodyPr wrap="square">
            <a:spAutoFit/>
          </a:bodyPr>
          <a:lstStyle/>
          <a:p>
            <a:r>
              <a:rPr lang="pt-BR" b="1" dirty="0">
                <a:solidFill>
                  <a:schemeClr val="bg1"/>
                </a:solidFill>
              </a:rPr>
              <a:t>tabela = ((0, 1, -1),(-1, 0, 1),(1, -1, 0)) </a:t>
            </a:r>
          </a:p>
        </p:txBody>
      </p:sp>
      <p:sp>
        <p:nvSpPr>
          <p:cNvPr id="21" name="CaixaDeTexto 20">
            <a:extLst>
              <a:ext uri="{FF2B5EF4-FFF2-40B4-BE49-F238E27FC236}">
                <a16:creationId xmlns:a16="http://schemas.microsoft.com/office/drawing/2014/main" id="{827D81F6-DF41-6EF2-4CFE-1FCF9507FFC9}"/>
              </a:ext>
            </a:extLst>
          </p:cNvPr>
          <p:cNvSpPr txBox="1"/>
          <p:nvPr/>
        </p:nvSpPr>
        <p:spPr>
          <a:xfrm>
            <a:off x="665567" y="5611899"/>
            <a:ext cx="5749445" cy="286360"/>
          </a:xfrm>
          <a:prstGeom prst="rect">
            <a:avLst/>
          </a:prstGeom>
          <a:noFill/>
        </p:spPr>
        <p:txBody>
          <a:bodyPr wrap="square">
            <a:spAutoFit/>
          </a:bodyPr>
          <a:lstStyle/>
          <a:p>
            <a:pPr>
              <a:lnSpc>
                <a:spcPts val="1425"/>
              </a:lnSpc>
              <a:buNone/>
            </a:pPr>
            <a:endParaRPr lang="pt-BR" b="0" dirty="0">
              <a:solidFill>
                <a:srgbClr val="CCCCCC"/>
              </a:solidFill>
              <a:effectLst/>
              <a:latin typeface="Consolas" panose="020B0609020204030204" pitchFamily="49" charset="0"/>
            </a:endParaRPr>
          </a:p>
        </p:txBody>
      </p:sp>
      <p:sp>
        <p:nvSpPr>
          <p:cNvPr id="25" name="CaixaDeTexto 24">
            <a:extLst>
              <a:ext uri="{FF2B5EF4-FFF2-40B4-BE49-F238E27FC236}">
                <a16:creationId xmlns:a16="http://schemas.microsoft.com/office/drawing/2014/main" id="{E740D45D-C10E-8400-972F-CE8A37A43346}"/>
              </a:ext>
            </a:extLst>
          </p:cNvPr>
          <p:cNvSpPr txBox="1"/>
          <p:nvPr/>
        </p:nvSpPr>
        <p:spPr>
          <a:xfrm>
            <a:off x="342201" y="5507667"/>
            <a:ext cx="6396176" cy="2620333"/>
          </a:xfrm>
          <a:prstGeom prst="rect">
            <a:avLst/>
          </a:prstGeom>
          <a:noFill/>
        </p:spPr>
        <p:txBody>
          <a:bodyPr wrap="square">
            <a:spAutoFit/>
          </a:bodyPr>
          <a:lstStyle/>
          <a:p>
            <a:pPr>
              <a:lnSpc>
                <a:spcPts val="1425"/>
              </a:lnSpc>
              <a:buNone/>
            </a:pPr>
            <a:r>
              <a:rPr lang="pt-BR" b="0" dirty="0" err="1">
                <a:solidFill>
                  <a:srgbClr val="CE92A4"/>
                </a:solidFill>
                <a:effectLst/>
                <a:latin typeface="Consolas" panose="020B0609020204030204" pitchFamily="49" charset="0"/>
              </a:rPr>
              <a:t>import</a:t>
            </a:r>
            <a:r>
              <a:rPr lang="pt-BR" b="0" dirty="0">
                <a:solidFill>
                  <a:srgbClr val="CCCCCC"/>
                </a:solidFill>
                <a:effectLst/>
                <a:latin typeface="Consolas" panose="020B0609020204030204" pitchFamily="49" charset="0"/>
              </a:rPr>
              <a:t> </a:t>
            </a:r>
            <a:r>
              <a:rPr lang="pt-BR" b="0" dirty="0" err="1">
                <a:solidFill>
                  <a:srgbClr val="4EC9B0"/>
                </a:solidFill>
                <a:effectLst/>
                <a:latin typeface="Consolas" panose="020B0609020204030204" pitchFamily="49" charset="0"/>
              </a:rPr>
              <a:t>random</a:t>
            </a:r>
            <a:endParaRPr lang="pt-BR" b="0" dirty="0">
              <a:solidFill>
                <a:srgbClr val="CCCCCC"/>
              </a:solidFill>
              <a:effectLst/>
              <a:latin typeface="Consolas" panose="020B0609020204030204" pitchFamily="49" charset="0"/>
            </a:endParaRPr>
          </a:p>
          <a:p>
            <a:pPr>
              <a:lnSpc>
                <a:spcPts val="1425"/>
              </a:lnSpc>
              <a:buNone/>
            </a:pPr>
            <a:br>
              <a:rPr lang="pt-BR" b="0" dirty="0">
                <a:solidFill>
                  <a:srgbClr val="CCCCCC"/>
                </a:solidFill>
                <a:effectLst/>
                <a:latin typeface="Consolas" panose="020B0609020204030204" pitchFamily="49" charset="0"/>
              </a:rPr>
            </a:br>
            <a:endParaRPr lang="pt-BR" b="0" dirty="0">
              <a:solidFill>
                <a:srgbClr val="CCCCCC"/>
              </a:solidFill>
              <a:effectLst/>
              <a:latin typeface="Consolas" panose="020B0609020204030204" pitchFamily="49" charset="0"/>
            </a:endParaRPr>
          </a:p>
          <a:p>
            <a:pPr>
              <a:lnSpc>
                <a:spcPts val="1425"/>
              </a:lnSpc>
              <a:buNone/>
            </a:pPr>
            <a:r>
              <a:rPr lang="pt-BR" b="0" dirty="0">
                <a:solidFill>
                  <a:srgbClr val="9CDCFE"/>
                </a:solidFill>
                <a:effectLst/>
                <a:latin typeface="Consolas" panose="020B0609020204030204" pitchFamily="49" charset="0"/>
              </a:rPr>
              <a:t>computador</a:t>
            </a:r>
            <a:r>
              <a:rPr lang="pt-BR" b="0" dirty="0">
                <a:solidFill>
                  <a:srgbClr val="CCCCCC"/>
                </a:solidFill>
                <a:effectLst/>
                <a:latin typeface="Consolas" panose="020B0609020204030204" pitchFamily="49" charset="0"/>
              </a:rPr>
              <a:t> </a:t>
            </a:r>
            <a:r>
              <a:rPr lang="pt-BR" b="0" dirty="0">
                <a:solidFill>
                  <a:srgbClr val="D4D4D4"/>
                </a:solidFill>
                <a:effectLst/>
                <a:latin typeface="Consolas" panose="020B0609020204030204" pitchFamily="49" charset="0"/>
              </a:rPr>
              <a:t>=</a:t>
            </a:r>
            <a:r>
              <a:rPr lang="pt-BR" b="0" dirty="0">
                <a:solidFill>
                  <a:srgbClr val="CCCCCC"/>
                </a:solidFill>
                <a:effectLst/>
                <a:latin typeface="Consolas" panose="020B0609020204030204" pitchFamily="49" charset="0"/>
              </a:rPr>
              <a:t> </a:t>
            </a:r>
            <a:r>
              <a:rPr lang="pt-BR" b="0" dirty="0" err="1">
                <a:solidFill>
                  <a:srgbClr val="4EC9B0"/>
                </a:solidFill>
                <a:effectLst/>
                <a:latin typeface="Consolas" panose="020B0609020204030204" pitchFamily="49" charset="0"/>
              </a:rPr>
              <a:t>random</a:t>
            </a:r>
            <a:r>
              <a:rPr lang="pt-BR" b="0" dirty="0" err="1">
                <a:solidFill>
                  <a:srgbClr val="CCCCCC"/>
                </a:solidFill>
                <a:effectLst/>
                <a:latin typeface="Consolas" panose="020B0609020204030204" pitchFamily="49" charset="0"/>
              </a:rPr>
              <a:t>.</a:t>
            </a:r>
            <a:r>
              <a:rPr lang="pt-BR" b="0" dirty="0" err="1">
                <a:solidFill>
                  <a:srgbClr val="9CDCFE"/>
                </a:solidFill>
                <a:effectLst/>
                <a:latin typeface="Consolas" panose="020B0609020204030204" pitchFamily="49" charset="0"/>
              </a:rPr>
              <a:t>randint</a:t>
            </a:r>
            <a:r>
              <a:rPr lang="pt-BR" b="0" dirty="0">
                <a:solidFill>
                  <a:srgbClr val="CCCCCC"/>
                </a:solidFill>
                <a:effectLst/>
                <a:latin typeface="Consolas" panose="020B0609020204030204" pitchFamily="49" charset="0"/>
              </a:rPr>
              <a:t>(</a:t>
            </a:r>
            <a:r>
              <a:rPr lang="pt-BR" b="0" dirty="0">
                <a:solidFill>
                  <a:srgbClr val="B5CEA8"/>
                </a:solidFill>
                <a:effectLst/>
                <a:latin typeface="Consolas" panose="020B0609020204030204" pitchFamily="49" charset="0"/>
              </a:rPr>
              <a:t>0</a:t>
            </a:r>
            <a:r>
              <a:rPr lang="pt-BR" b="0" dirty="0">
                <a:solidFill>
                  <a:srgbClr val="CCCCCC"/>
                </a:solidFill>
                <a:effectLst/>
                <a:latin typeface="Consolas" panose="020B0609020204030204" pitchFamily="49" charset="0"/>
              </a:rPr>
              <a:t>,</a:t>
            </a:r>
            <a:r>
              <a:rPr lang="pt-BR" b="0" dirty="0">
                <a:solidFill>
                  <a:srgbClr val="B5CEA8"/>
                </a:solidFill>
                <a:effectLst/>
                <a:latin typeface="Consolas" panose="020B0609020204030204" pitchFamily="49" charset="0"/>
              </a:rPr>
              <a:t>2</a:t>
            </a:r>
            <a:r>
              <a:rPr lang="pt-BR" b="0" dirty="0">
                <a:solidFill>
                  <a:srgbClr val="CCCCCC"/>
                </a:solidFill>
                <a:effectLst/>
                <a:latin typeface="Consolas" panose="020B0609020204030204" pitchFamily="49" charset="0"/>
              </a:rPr>
              <a:t>)</a:t>
            </a:r>
          </a:p>
          <a:p>
            <a:pPr>
              <a:lnSpc>
                <a:spcPts val="1425"/>
              </a:lnSpc>
              <a:buNone/>
            </a:pPr>
            <a:r>
              <a:rPr lang="pt-BR" b="0" dirty="0">
                <a:solidFill>
                  <a:srgbClr val="9CDCFE"/>
                </a:solidFill>
                <a:effectLst/>
                <a:latin typeface="Consolas" panose="020B0609020204030204" pitchFamily="49" charset="0"/>
              </a:rPr>
              <a:t>jogador</a:t>
            </a:r>
            <a:r>
              <a:rPr lang="pt-BR" b="0" dirty="0">
                <a:solidFill>
                  <a:srgbClr val="CCCCCC"/>
                </a:solidFill>
                <a:effectLst/>
                <a:latin typeface="Consolas" panose="020B0609020204030204" pitchFamily="49" charset="0"/>
              </a:rPr>
              <a:t> </a:t>
            </a:r>
            <a:r>
              <a:rPr lang="pt-BR" b="0" dirty="0">
                <a:solidFill>
                  <a:srgbClr val="D4D4D4"/>
                </a:solidFill>
                <a:effectLst/>
                <a:latin typeface="Consolas" panose="020B0609020204030204" pitchFamily="49" charset="0"/>
              </a:rPr>
              <a:t>=</a:t>
            </a:r>
            <a:r>
              <a:rPr lang="pt-BR" b="0" dirty="0">
                <a:solidFill>
                  <a:srgbClr val="CCCCCC"/>
                </a:solidFill>
                <a:effectLst/>
                <a:latin typeface="Consolas" panose="020B0609020204030204" pitchFamily="49" charset="0"/>
              </a:rPr>
              <a:t> </a:t>
            </a:r>
            <a:r>
              <a:rPr lang="pt-BR" b="0" dirty="0" err="1">
                <a:solidFill>
                  <a:srgbClr val="4EC9B0"/>
                </a:solidFill>
                <a:effectLst/>
                <a:latin typeface="Consolas" panose="020B0609020204030204" pitchFamily="49" charset="0"/>
              </a:rPr>
              <a:t>int</a:t>
            </a:r>
            <a:r>
              <a:rPr lang="pt-BR" b="0" dirty="0">
                <a:solidFill>
                  <a:srgbClr val="CCCCCC"/>
                </a:solidFill>
                <a:effectLst/>
                <a:latin typeface="Consolas" panose="020B0609020204030204" pitchFamily="49" charset="0"/>
              </a:rPr>
              <a:t>(</a:t>
            </a:r>
            <a:r>
              <a:rPr lang="pt-BR" b="0" dirty="0">
                <a:solidFill>
                  <a:srgbClr val="DCDCAA"/>
                </a:solidFill>
                <a:effectLst/>
                <a:latin typeface="Consolas" panose="020B0609020204030204" pitchFamily="49" charset="0"/>
              </a:rPr>
              <a:t>input</a:t>
            </a:r>
            <a:r>
              <a:rPr lang="pt-BR" b="0" dirty="0">
                <a:solidFill>
                  <a:srgbClr val="CCCCCC"/>
                </a:solidFill>
                <a:effectLst/>
                <a:latin typeface="Consolas" panose="020B0609020204030204" pitchFamily="49" charset="0"/>
              </a:rPr>
              <a:t>(</a:t>
            </a:r>
            <a:r>
              <a:rPr lang="pt-BR" b="0" dirty="0">
                <a:solidFill>
                  <a:srgbClr val="CE9178"/>
                </a:solidFill>
                <a:effectLst/>
                <a:latin typeface="Consolas" panose="020B0609020204030204" pitchFamily="49" charset="0"/>
              </a:rPr>
              <a:t>'''Escolha uma opção:  </a:t>
            </a:r>
            <a:endParaRPr lang="pt-BR" b="0" dirty="0">
              <a:solidFill>
                <a:srgbClr val="CCCCCC"/>
              </a:solidFill>
              <a:effectLst/>
              <a:latin typeface="Consolas" panose="020B0609020204030204" pitchFamily="49" charset="0"/>
            </a:endParaRPr>
          </a:p>
          <a:p>
            <a:pPr>
              <a:lnSpc>
                <a:spcPts val="1425"/>
              </a:lnSpc>
              <a:buNone/>
            </a:pPr>
            <a:r>
              <a:rPr lang="pt-BR" b="0" dirty="0">
                <a:solidFill>
                  <a:srgbClr val="CE9178"/>
                </a:solidFill>
                <a:effectLst/>
                <a:latin typeface="Consolas" panose="020B0609020204030204" pitchFamily="49" charset="0"/>
              </a:rPr>
              <a:t>    [0] Pedra </a:t>
            </a:r>
            <a:endParaRPr lang="pt-BR" b="0" dirty="0">
              <a:solidFill>
                <a:srgbClr val="CCCCCC"/>
              </a:solidFill>
              <a:effectLst/>
              <a:latin typeface="Consolas" panose="020B0609020204030204" pitchFamily="49" charset="0"/>
            </a:endParaRPr>
          </a:p>
          <a:p>
            <a:pPr>
              <a:lnSpc>
                <a:spcPts val="1425"/>
              </a:lnSpc>
              <a:buNone/>
            </a:pPr>
            <a:r>
              <a:rPr lang="pt-BR" b="0" dirty="0">
                <a:solidFill>
                  <a:srgbClr val="CE9178"/>
                </a:solidFill>
                <a:effectLst/>
                <a:latin typeface="Consolas" panose="020B0609020204030204" pitchFamily="49" charset="0"/>
              </a:rPr>
              <a:t>    [1] Papel </a:t>
            </a:r>
            <a:endParaRPr lang="pt-BR" b="0" dirty="0">
              <a:solidFill>
                <a:srgbClr val="CCCCCC"/>
              </a:solidFill>
              <a:effectLst/>
              <a:latin typeface="Consolas" panose="020B0609020204030204" pitchFamily="49" charset="0"/>
            </a:endParaRPr>
          </a:p>
          <a:p>
            <a:pPr>
              <a:lnSpc>
                <a:spcPts val="1425"/>
              </a:lnSpc>
              <a:buNone/>
            </a:pPr>
            <a:r>
              <a:rPr lang="pt-BR" b="0" dirty="0">
                <a:solidFill>
                  <a:srgbClr val="CE9178"/>
                </a:solidFill>
                <a:effectLst/>
                <a:latin typeface="Consolas" panose="020B0609020204030204" pitchFamily="49" charset="0"/>
              </a:rPr>
              <a:t>    [2] Tesoura </a:t>
            </a:r>
            <a:endParaRPr lang="pt-BR" b="0" dirty="0">
              <a:solidFill>
                <a:srgbClr val="CCCCCC"/>
              </a:solidFill>
              <a:effectLst/>
              <a:latin typeface="Consolas" panose="020B0609020204030204" pitchFamily="49" charset="0"/>
            </a:endParaRPr>
          </a:p>
          <a:p>
            <a:pPr>
              <a:lnSpc>
                <a:spcPts val="1425"/>
              </a:lnSpc>
              <a:buNone/>
            </a:pPr>
            <a:r>
              <a:rPr lang="pt-BR" b="0" dirty="0">
                <a:solidFill>
                  <a:srgbClr val="CE9178"/>
                </a:solidFill>
                <a:effectLst/>
                <a:latin typeface="Consolas" panose="020B0609020204030204" pitchFamily="49" charset="0"/>
              </a:rPr>
              <a:t>    Digite sua escolha: '''</a:t>
            </a:r>
            <a:r>
              <a:rPr lang="pt-BR" b="0" dirty="0">
                <a:solidFill>
                  <a:srgbClr val="CCCCCC"/>
                </a:solidFill>
                <a:effectLst/>
                <a:latin typeface="Consolas" panose="020B0609020204030204" pitchFamily="49" charset="0"/>
              </a:rPr>
              <a:t>))</a:t>
            </a:r>
          </a:p>
          <a:p>
            <a:pPr>
              <a:lnSpc>
                <a:spcPts val="1425"/>
              </a:lnSpc>
              <a:buNone/>
            </a:pPr>
            <a:br>
              <a:rPr lang="pt-BR" b="0" dirty="0">
                <a:solidFill>
                  <a:srgbClr val="CCCCCC"/>
                </a:solidFill>
                <a:effectLst/>
                <a:latin typeface="Consolas" panose="020B0609020204030204" pitchFamily="49" charset="0"/>
              </a:rPr>
            </a:br>
            <a:endParaRPr lang="pt-BR" b="0" dirty="0">
              <a:solidFill>
                <a:srgbClr val="CCCCCC"/>
              </a:solidFill>
              <a:effectLst/>
              <a:latin typeface="Consolas" panose="020B0609020204030204" pitchFamily="49" charset="0"/>
            </a:endParaRPr>
          </a:p>
          <a:p>
            <a:pPr>
              <a:lnSpc>
                <a:spcPts val="1425"/>
              </a:lnSpc>
              <a:buNone/>
            </a:pPr>
            <a:r>
              <a:rPr lang="pt-BR" b="0" dirty="0">
                <a:solidFill>
                  <a:srgbClr val="9CDCFE"/>
                </a:solidFill>
                <a:effectLst/>
                <a:latin typeface="Consolas" panose="020B0609020204030204" pitchFamily="49" charset="0"/>
              </a:rPr>
              <a:t>pecas</a:t>
            </a:r>
            <a:r>
              <a:rPr lang="pt-BR" b="0" dirty="0">
                <a:solidFill>
                  <a:srgbClr val="CCCCCC"/>
                </a:solidFill>
                <a:effectLst/>
                <a:latin typeface="Consolas" panose="020B0609020204030204" pitchFamily="49" charset="0"/>
              </a:rPr>
              <a:t> </a:t>
            </a:r>
            <a:r>
              <a:rPr lang="pt-BR" b="0" dirty="0">
                <a:solidFill>
                  <a:srgbClr val="D4D4D4"/>
                </a:solidFill>
                <a:effectLst/>
                <a:latin typeface="Consolas" panose="020B0609020204030204" pitchFamily="49" charset="0"/>
              </a:rPr>
              <a:t>=</a:t>
            </a:r>
            <a:r>
              <a:rPr lang="pt-BR" b="0" dirty="0">
                <a:solidFill>
                  <a:srgbClr val="CCCCCC"/>
                </a:solidFill>
                <a:effectLst/>
                <a:latin typeface="Consolas" panose="020B0609020204030204" pitchFamily="49" charset="0"/>
              </a:rPr>
              <a:t> (</a:t>
            </a:r>
            <a:r>
              <a:rPr lang="pt-BR" b="0" dirty="0">
                <a:solidFill>
                  <a:srgbClr val="CE9178"/>
                </a:solidFill>
                <a:effectLst/>
                <a:latin typeface="Consolas" panose="020B0609020204030204" pitchFamily="49" charset="0"/>
              </a:rPr>
              <a:t>"Pedra"</a:t>
            </a:r>
            <a:r>
              <a:rPr lang="pt-BR" b="0" dirty="0">
                <a:solidFill>
                  <a:srgbClr val="CCCCCC"/>
                </a:solidFill>
                <a:effectLst/>
                <a:latin typeface="Consolas" panose="020B0609020204030204" pitchFamily="49" charset="0"/>
              </a:rPr>
              <a:t>, </a:t>
            </a:r>
            <a:r>
              <a:rPr lang="pt-BR" b="0" dirty="0">
                <a:solidFill>
                  <a:srgbClr val="CE9178"/>
                </a:solidFill>
                <a:effectLst/>
                <a:latin typeface="Consolas" panose="020B0609020204030204" pitchFamily="49" charset="0"/>
              </a:rPr>
              <a:t>"Papel"</a:t>
            </a:r>
            <a:r>
              <a:rPr lang="pt-BR" b="0" dirty="0">
                <a:solidFill>
                  <a:srgbClr val="CCCCCC"/>
                </a:solidFill>
                <a:effectLst/>
                <a:latin typeface="Consolas" panose="020B0609020204030204" pitchFamily="49" charset="0"/>
              </a:rPr>
              <a:t>, </a:t>
            </a:r>
            <a:r>
              <a:rPr lang="pt-BR" b="0" dirty="0">
                <a:solidFill>
                  <a:srgbClr val="CE9178"/>
                </a:solidFill>
                <a:effectLst/>
                <a:latin typeface="Consolas" panose="020B0609020204030204" pitchFamily="49" charset="0"/>
              </a:rPr>
              <a:t>"Tesoura"</a:t>
            </a:r>
            <a:r>
              <a:rPr lang="pt-BR" b="0" dirty="0">
                <a:solidFill>
                  <a:srgbClr val="CCCCCC"/>
                </a:solidFill>
                <a:effectLst/>
                <a:latin typeface="Consolas" panose="020B0609020204030204" pitchFamily="49" charset="0"/>
              </a:rPr>
              <a:t>)</a:t>
            </a:r>
          </a:p>
          <a:p>
            <a:pPr>
              <a:lnSpc>
                <a:spcPts val="1425"/>
              </a:lnSpc>
              <a:buNone/>
            </a:pPr>
            <a:r>
              <a:rPr lang="pt-BR" b="0" dirty="0">
                <a:solidFill>
                  <a:srgbClr val="DCDCAA"/>
                </a:solidFill>
                <a:effectLst/>
                <a:latin typeface="Consolas" panose="020B0609020204030204" pitchFamily="49" charset="0"/>
              </a:rPr>
              <a:t>print</a:t>
            </a:r>
            <a:r>
              <a:rPr lang="pt-BR" b="0" dirty="0">
                <a:solidFill>
                  <a:srgbClr val="CCCCCC"/>
                </a:solidFill>
                <a:effectLst/>
                <a:latin typeface="Consolas" panose="020B0609020204030204" pitchFamily="49" charset="0"/>
              </a:rPr>
              <a:t>(</a:t>
            </a:r>
            <a:r>
              <a:rPr lang="pt-BR" b="0" dirty="0" err="1">
                <a:solidFill>
                  <a:srgbClr val="569CD6"/>
                </a:solidFill>
                <a:effectLst/>
                <a:latin typeface="Consolas" panose="020B0609020204030204" pitchFamily="49" charset="0"/>
              </a:rPr>
              <a:t>f</a:t>
            </a:r>
            <a:r>
              <a:rPr lang="pt-BR" b="0" dirty="0" err="1">
                <a:solidFill>
                  <a:srgbClr val="CE9178"/>
                </a:solidFill>
                <a:effectLst/>
                <a:latin typeface="Consolas" panose="020B0609020204030204" pitchFamily="49" charset="0"/>
              </a:rPr>
              <a:t>"Você</a:t>
            </a:r>
            <a:r>
              <a:rPr lang="pt-BR" b="0" dirty="0">
                <a:solidFill>
                  <a:srgbClr val="CE9178"/>
                </a:solidFill>
                <a:effectLst/>
                <a:latin typeface="Consolas" panose="020B0609020204030204" pitchFamily="49" charset="0"/>
              </a:rPr>
              <a:t> escolheu </a:t>
            </a:r>
            <a:r>
              <a:rPr lang="pt-BR" b="0" dirty="0">
                <a:solidFill>
                  <a:srgbClr val="569CD6"/>
                </a:solidFill>
                <a:effectLst/>
                <a:latin typeface="Consolas" panose="020B0609020204030204" pitchFamily="49" charset="0"/>
              </a:rPr>
              <a:t>{</a:t>
            </a:r>
            <a:r>
              <a:rPr lang="pt-BR" b="0" dirty="0">
                <a:solidFill>
                  <a:srgbClr val="9CDCFE"/>
                </a:solidFill>
                <a:effectLst/>
                <a:latin typeface="Consolas" panose="020B0609020204030204" pitchFamily="49" charset="0"/>
              </a:rPr>
              <a:t>pecas</a:t>
            </a:r>
            <a:r>
              <a:rPr lang="pt-BR" b="0" dirty="0">
                <a:solidFill>
                  <a:srgbClr val="CCCCCC"/>
                </a:solidFill>
                <a:effectLst/>
                <a:latin typeface="Consolas" panose="020B0609020204030204" pitchFamily="49" charset="0"/>
              </a:rPr>
              <a:t>[</a:t>
            </a:r>
            <a:r>
              <a:rPr lang="pt-BR" b="0" dirty="0">
                <a:solidFill>
                  <a:srgbClr val="9CDCFE"/>
                </a:solidFill>
                <a:effectLst/>
                <a:latin typeface="Consolas" panose="020B0609020204030204" pitchFamily="49" charset="0"/>
              </a:rPr>
              <a:t>jogador</a:t>
            </a:r>
            <a:r>
              <a:rPr lang="pt-BR" b="0" dirty="0">
                <a:solidFill>
                  <a:srgbClr val="CCCCCC"/>
                </a:solidFill>
                <a:effectLst/>
                <a:latin typeface="Consolas" panose="020B0609020204030204" pitchFamily="49" charset="0"/>
              </a:rPr>
              <a:t>]</a:t>
            </a:r>
            <a:r>
              <a:rPr lang="pt-BR" b="0" dirty="0">
                <a:solidFill>
                  <a:srgbClr val="569CD6"/>
                </a:solidFill>
                <a:effectLst/>
                <a:latin typeface="Consolas" panose="020B0609020204030204" pitchFamily="49" charset="0"/>
              </a:rPr>
              <a:t>}</a:t>
            </a:r>
            <a:r>
              <a:rPr lang="pt-BR" b="0" dirty="0">
                <a:solidFill>
                  <a:srgbClr val="CE9178"/>
                </a:solidFill>
                <a:effectLst/>
                <a:latin typeface="Consolas" panose="020B0609020204030204" pitchFamily="49" charset="0"/>
              </a:rPr>
              <a:t>"</a:t>
            </a:r>
            <a:r>
              <a:rPr lang="pt-BR" b="0" dirty="0">
                <a:solidFill>
                  <a:srgbClr val="CCCCCC"/>
                </a:solidFill>
                <a:effectLst/>
                <a:latin typeface="Consolas" panose="020B0609020204030204" pitchFamily="49" charset="0"/>
              </a:rPr>
              <a:t>)</a:t>
            </a:r>
          </a:p>
          <a:p>
            <a:pPr>
              <a:lnSpc>
                <a:spcPts val="1425"/>
              </a:lnSpc>
              <a:buNone/>
            </a:pPr>
            <a:r>
              <a:rPr lang="pt-BR" b="0" dirty="0">
                <a:solidFill>
                  <a:srgbClr val="DCDCAA"/>
                </a:solidFill>
                <a:effectLst/>
                <a:latin typeface="Consolas" panose="020B0609020204030204" pitchFamily="49" charset="0"/>
              </a:rPr>
              <a:t>print</a:t>
            </a:r>
            <a:r>
              <a:rPr lang="pt-BR" b="0" dirty="0">
                <a:solidFill>
                  <a:srgbClr val="CCCCCC"/>
                </a:solidFill>
                <a:effectLst/>
                <a:latin typeface="Consolas" panose="020B0609020204030204" pitchFamily="49" charset="0"/>
              </a:rPr>
              <a:t>(</a:t>
            </a:r>
            <a:r>
              <a:rPr lang="pt-BR" b="0" dirty="0" err="1">
                <a:solidFill>
                  <a:srgbClr val="569CD6"/>
                </a:solidFill>
                <a:effectLst/>
                <a:latin typeface="Consolas" panose="020B0609020204030204" pitchFamily="49" charset="0"/>
              </a:rPr>
              <a:t>f</a:t>
            </a:r>
            <a:r>
              <a:rPr lang="pt-BR" b="0" dirty="0" err="1">
                <a:solidFill>
                  <a:srgbClr val="CE9178"/>
                </a:solidFill>
                <a:effectLst/>
                <a:latin typeface="Consolas" panose="020B0609020204030204" pitchFamily="49" charset="0"/>
              </a:rPr>
              <a:t>"Computador</a:t>
            </a:r>
            <a:r>
              <a:rPr lang="pt-BR" b="0" dirty="0">
                <a:solidFill>
                  <a:srgbClr val="CE9178"/>
                </a:solidFill>
                <a:effectLst/>
                <a:latin typeface="Consolas" panose="020B0609020204030204" pitchFamily="49" charset="0"/>
              </a:rPr>
              <a:t> escolheu </a:t>
            </a:r>
            <a:r>
              <a:rPr lang="pt-BR" b="0" dirty="0">
                <a:solidFill>
                  <a:srgbClr val="569CD6"/>
                </a:solidFill>
                <a:effectLst/>
                <a:latin typeface="Consolas" panose="020B0609020204030204" pitchFamily="49" charset="0"/>
              </a:rPr>
              <a:t>{</a:t>
            </a:r>
            <a:r>
              <a:rPr lang="pt-BR" b="0" dirty="0">
                <a:solidFill>
                  <a:srgbClr val="9CDCFE"/>
                </a:solidFill>
                <a:effectLst/>
                <a:latin typeface="Consolas" panose="020B0609020204030204" pitchFamily="49" charset="0"/>
              </a:rPr>
              <a:t>pecas</a:t>
            </a:r>
            <a:r>
              <a:rPr lang="pt-BR" b="0" dirty="0">
                <a:solidFill>
                  <a:srgbClr val="CCCCCC"/>
                </a:solidFill>
                <a:effectLst/>
                <a:latin typeface="Consolas" panose="020B0609020204030204" pitchFamily="49" charset="0"/>
              </a:rPr>
              <a:t>[</a:t>
            </a:r>
            <a:r>
              <a:rPr lang="pt-BR" b="0" dirty="0">
                <a:solidFill>
                  <a:srgbClr val="9CDCFE"/>
                </a:solidFill>
                <a:effectLst/>
                <a:latin typeface="Consolas" panose="020B0609020204030204" pitchFamily="49" charset="0"/>
              </a:rPr>
              <a:t>computador</a:t>
            </a:r>
            <a:r>
              <a:rPr lang="pt-BR" b="0" dirty="0">
                <a:solidFill>
                  <a:srgbClr val="CCCCCC"/>
                </a:solidFill>
                <a:effectLst/>
                <a:latin typeface="Consolas" panose="020B0609020204030204" pitchFamily="49" charset="0"/>
              </a:rPr>
              <a:t>]</a:t>
            </a:r>
            <a:r>
              <a:rPr lang="pt-BR" b="0" dirty="0">
                <a:solidFill>
                  <a:srgbClr val="569CD6"/>
                </a:solidFill>
                <a:effectLst/>
                <a:latin typeface="Consolas" panose="020B0609020204030204" pitchFamily="49" charset="0"/>
              </a:rPr>
              <a:t>}</a:t>
            </a:r>
            <a:r>
              <a:rPr lang="pt-BR" b="0" dirty="0">
                <a:solidFill>
                  <a:srgbClr val="CE9178"/>
                </a:solidFill>
                <a:effectLst/>
                <a:latin typeface="Consolas" panose="020B0609020204030204" pitchFamily="49" charset="0"/>
              </a:rPr>
              <a:t>"</a:t>
            </a:r>
            <a:r>
              <a:rPr lang="pt-BR" b="0" dirty="0">
                <a:solidFill>
                  <a:srgbClr val="CCCCCC"/>
                </a:solidFill>
                <a:effectLst/>
                <a:latin typeface="Consolas" panose="020B0609020204030204" pitchFamily="49" charset="0"/>
              </a:rPr>
              <a:t>)</a:t>
            </a:r>
          </a:p>
        </p:txBody>
      </p:sp>
      <p:pic>
        <p:nvPicPr>
          <p:cNvPr id="4" name="Imagem 3">
            <a:extLst>
              <a:ext uri="{FF2B5EF4-FFF2-40B4-BE49-F238E27FC236}">
                <a16:creationId xmlns:a16="http://schemas.microsoft.com/office/drawing/2014/main" id="{9FED53E7-DB57-28E7-ED27-061FC6A01CFA}"/>
              </a:ext>
            </a:extLst>
          </p:cNvPr>
          <p:cNvPicPr>
            <a:picLocks noChangeAspect="1"/>
          </p:cNvPicPr>
          <p:nvPr/>
        </p:nvPicPr>
        <p:blipFill>
          <a:blip r:embed="rId8"/>
          <a:stretch>
            <a:fillRect/>
          </a:stretch>
        </p:blipFill>
        <p:spPr>
          <a:xfrm>
            <a:off x="7932603" y="4012364"/>
            <a:ext cx="7724775" cy="2905125"/>
          </a:xfrm>
          <a:prstGeom prst="rect">
            <a:avLst/>
          </a:prstGeom>
        </p:spPr>
      </p:pic>
    </p:spTree>
    <p:extLst>
      <p:ext uri="{BB962C8B-B14F-4D97-AF65-F5344CB8AC3E}">
        <p14:creationId xmlns:p14="http://schemas.microsoft.com/office/powerpoint/2010/main" val="24937039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871EB127-965C-77DE-CF6E-F1C79B2AA50B}"/>
              </a:ext>
            </a:extLst>
          </p:cNvPr>
          <p:cNvSpPr txBox="1"/>
          <p:nvPr/>
        </p:nvSpPr>
        <p:spPr>
          <a:xfrm>
            <a:off x="3860800" y="3276600"/>
            <a:ext cx="8125968" cy="1015663"/>
          </a:xfrm>
          <a:prstGeom prst="rect">
            <a:avLst/>
          </a:prstGeom>
          <a:noFill/>
        </p:spPr>
        <p:txBody>
          <a:bodyPr wrap="square">
            <a:spAutoFit/>
          </a:bodyPr>
          <a:lstStyle/>
          <a:p>
            <a:pPr algn="ctr" defTabSz="914400" eaLnBrk="0" fontAlgn="base" hangingPunct="0">
              <a:spcBef>
                <a:spcPct val="0"/>
              </a:spcBef>
              <a:spcAft>
                <a:spcPct val="0"/>
              </a:spcAft>
            </a:pPr>
            <a:r>
              <a:rPr lang="pt-BR" sz="6000" dirty="0">
                <a:solidFill>
                  <a:srgbClr val="FFC000"/>
                </a:solidFill>
                <a:latin typeface="Arial" panose="020B0604020202020204" pitchFamily="34" charset="0"/>
              </a:rPr>
              <a:t>Funções</a:t>
            </a:r>
          </a:p>
        </p:txBody>
      </p:sp>
    </p:spTree>
    <p:extLst>
      <p:ext uri="{BB962C8B-B14F-4D97-AF65-F5344CB8AC3E}">
        <p14:creationId xmlns:p14="http://schemas.microsoft.com/office/powerpoint/2010/main" val="19125987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3F15D-F5EE-36D9-622F-D83970F1AC9B}"/>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3F26BE03-1106-28B1-5C44-7940E0659313}"/>
              </a:ext>
            </a:extLst>
          </p:cNvPr>
          <p:cNvSpPr txBox="1"/>
          <p:nvPr/>
        </p:nvSpPr>
        <p:spPr>
          <a:xfrm>
            <a:off x="-1778000" y="533400"/>
            <a:ext cx="8125968" cy="1015663"/>
          </a:xfrm>
          <a:prstGeom prst="rect">
            <a:avLst/>
          </a:prstGeom>
          <a:noFill/>
        </p:spPr>
        <p:txBody>
          <a:bodyPr wrap="square">
            <a:spAutoFit/>
          </a:bodyPr>
          <a:lstStyle/>
          <a:p>
            <a:pPr algn="ctr" defTabSz="914400" eaLnBrk="0" fontAlgn="base" hangingPunct="0">
              <a:spcBef>
                <a:spcPct val="0"/>
              </a:spcBef>
              <a:spcAft>
                <a:spcPct val="0"/>
              </a:spcAft>
            </a:pPr>
            <a:r>
              <a:rPr lang="pt-BR" sz="6000" dirty="0">
                <a:solidFill>
                  <a:srgbClr val="FFC000"/>
                </a:solidFill>
                <a:latin typeface="Arial" panose="020B0604020202020204" pitchFamily="34" charset="0"/>
              </a:rPr>
              <a:t>Funções</a:t>
            </a:r>
          </a:p>
        </p:txBody>
      </p:sp>
      <p:sp>
        <p:nvSpPr>
          <p:cNvPr id="4" name="CaixaDeTexto 3">
            <a:extLst>
              <a:ext uri="{FF2B5EF4-FFF2-40B4-BE49-F238E27FC236}">
                <a16:creationId xmlns:a16="http://schemas.microsoft.com/office/drawing/2014/main" id="{7ECEB85F-C74F-7401-7B2A-FEEED0B0C26B}"/>
              </a:ext>
            </a:extLst>
          </p:cNvPr>
          <p:cNvSpPr txBox="1"/>
          <p:nvPr/>
        </p:nvSpPr>
        <p:spPr>
          <a:xfrm>
            <a:off x="736600" y="2756118"/>
            <a:ext cx="14097000" cy="1384995"/>
          </a:xfrm>
          <a:prstGeom prst="rect">
            <a:avLst/>
          </a:prstGeom>
          <a:noFill/>
        </p:spPr>
        <p:txBody>
          <a:bodyPr wrap="square">
            <a:spAutoFit/>
          </a:bodyPr>
          <a:lstStyle/>
          <a:p>
            <a:pPr algn="just"/>
            <a:r>
              <a:rPr lang="pt-BR" sz="2800" b="1" dirty="0"/>
              <a:t>Neste capítulo você vai criar </a:t>
            </a:r>
            <a:r>
              <a:rPr lang="pt-BR" sz="2800" b="1" dirty="0">
                <a:solidFill>
                  <a:srgbClr val="FFC000"/>
                </a:solidFill>
              </a:rPr>
              <a:t>funções</a:t>
            </a:r>
            <a:r>
              <a:rPr lang="pt-BR" sz="2800" b="1" dirty="0"/>
              <a:t> usando o comando </a:t>
            </a:r>
            <a:r>
              <a:rPr lang="pt-BR" sz="2800" b="1" dirty="0" err="1">
                <a:solidFill>
                  <a:srgbClr val="FFC000"/>
                </a:solidFill>
              </a:rPr>
              <a:t>def</a:t>
            </a:r>
            <a:r>
              <a:rPr lang="pt-BR" sz="2800" b="1" dirty="0"/>
              <a:t> dentro um código, o recurso de criar funções é muito usado em programação para reutilizar um código sempre que for necessário não precisando digitá-lo novamente.</a:t>
            </a:r>
          </a:p>
        </p:txBody>
      </p:sp>
      <p:sp>
        <p:nvSpPr>
          <p:cNvPr id="6" name="CaixaDeTexto 5">
            <a:extLst>
              <a:ext uri="{FF2B5EF4-FFF2-40B4-BE49-F238E27FC236}">
                <a16:creationId xmlns:a16="http://schemas.microsoft.com/office/drawing/2014/main" id="{F496EF75-5DCA-8D9E-AE52-EE364C21E2AC}"/>
              </a:ext>
            </a:extLst>
          </p:cNvPr>
          <p:cNvSpPr txBox="1"/>
          <p:nvPr/>
        </p:nvSpPr>
        <p:spPr>
          <a:xfrm>
            <a:off x="747776" y="5348168"/>
            <a:ext cx="9015984" cy="2554545"/>
          </a:xfrm>
          <a:prstGeom prst="rect">
            <a:avLst/>
          </a:prstGeom>
          <a:noFill/>
        </p:spPr>
        <p:txBody>
          <a:bodyPr wrap="square">
            <a:spAutoFit/>
          </a:bodyPr>
          <a:lstStyle/>
          <a:p>
            <a:r>
              <a:rPr lang="pt-BR" sz="3200" b="1" dirty="0">
                <a:solidFill>
                  <a:srgbClr val="FFC000"/>
                </a:solidFill>
              </a:rPr>
              <a:t>Objetivos: </a:t>
            </a:r>
          </a:p>
          <a:p>
            <a:endParaRPr lang="pt-BR" sz="3200" b="1" dirty="0"/>
          </a:p>
          <a:p>
            <a:r>
              <a:rPr lang="pt-BR" sz="3200" b="1" dirty="0"/>
              <a:t> Criar funções. </a:t>
            </a:r>
          </a:p>
          <a:p>
            <a:endParaRPr lang="pt-BR" sz="3200" b="1" dirty="0"/>
          </a:p>
          <a:p>
            <a:r>
              <a:rPr lang="pt-BR" sz="3200" b="1" dirty="0"/>
              <a:t> Utilizar argumentos nas funções. </a:t>
            </a:r>
          </a:p>
        </p:txBody>
      </p:sp>
    </p:spTree>
    <p:extLst>
      <p:ext uri="{BB962C8B-B14F-4D97-AF65-F5344CB8AC3E}">
        <p14:creationId xmlns:p14="http://schemas.microsoft.com/office/powerpoint/2010/main" val="226898679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41F8F-2F89-8A89-4852-DF32E0C49F8B}"/>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80D8A5AE-84B1-9997-03C6-4D84220950A4}"/>
              </a:ext>
            </a:extLst>
          </p:cNvPr>
          <p:cNvSpPr txBox="1"/>
          <p:nvPr/>
        </p:nvSpPr>
        <p:spPr>
          <a:xfrm>
            <a:off x="-1778000" y="533400"/>
            <a:ext cx="8125968" cy="1015663"/>
          </a:xfrm>
          <a:prstGeom prst="rect">
            <a:avLst/>
          </a:prstGeom>
          <a:noFill/>
        </p:spPr>
        <p:txBody>
          <a:bodyPr wrap="square">
            <a:spAutoFit/>
          </a:bodyPr>
          <a:lstStyle/>
          <a:p>
            <a:pPr algn="ctr" defTabSz="914400" eaLnBrk="0" fontAlgn="base" hangingPunct="0">
              <a:spcBef>
                <a:spcPct val="0"/>
              </a:spcBef>
              <a:spcAft>
                <a:spcPct val="0"/>
              </a:spcAft>
            </a:pPr>
            <a:r>
              <a:rPr lang="pt-BR" sz="6000" dirty="0">
                <a:solidFill>
                  <a:srgbClr val="FFC000"/>
                </a:solidFill>
                <a:latin typeface="Arial" panose="020B0604020202020204" pitchFamily="34" charset="0"/>
              </a:rPr>
              <a:t>Funções</a:t>
            </a:r>
          </a:p>
        </p:txBody>
      </p:sp>
      <p:sp>
        <p:nvSpPr>
          <p:cNvPr id="5" name="CaixaDeTexto 4">
            <a:extLst>
              <a:ext uri="{FF2B5EF4-FFF2-40B4-BE49-F238E27FC236}">
                <a16:creationId xmlns:a16="http://schemas.microsoft.com/office/drawing/2014/main" id="{7A1A946E-9C09-C820-1D91-E7215395D715}"/>
              </a:ext>
            </a:extLst>
          </p:cNvPr>
          <p:cNvSpPr txBox="1"/>
          <p:nvPr/>
        </p:nvSpPr>
        <p:spPr>
          <a:xfrm>
            <a:off x="736600" y="1828800"/>
            <a:ext cx="9015984" cy="707886"/>
          </a:xfrm>
          <a:prstGeom prst="rect">
            <a:avLst/>
          </a:prstGeom>
          <a:noFill/>
        </p:spPr>
        <p:txBody>
          <a:bodyPr wrap="square">
            <a:spAutoFit/>
          </a:bodyPr>
          <a:lstStyle/>
          <a:p>
            <a:r>
              <a:rPr lang="pt-BR" sz="4000" b="1" dirty="0">
                <a:solidFill>
                  <a:srgbClr val="FFC000"/>
                </a:solidFill>
              </a:rPr>
              <a:t>O que é uma função?</a:t>
            </a:r>
          </a:p>
        </p:txBody>
      </p:sp>
      <p:sp>
        <p:nvSpPr>
          <p:cNvPr id="7" name="Rectangle 1">
            <a:extLst>
              <a:ext uri="{FF2B5EF4-FFF2-40B4-BE49-F238E27FC236}">
                <a16:creationId xmlns:a16="http://schemas.microsoft.com/office/drawing/2014/main" id="{0A407EF5-64C0-A134-8B42-AE51CAE80899}"/>
              </a:ext>
            </a:extLst>
          </p:cNvPr>
          <p:cNvSpPr>
            <a:spLocks noChangeArrowheads="1"/>
          </p:cNvSpPr>
          <p:nvPr/>
        </p:nvSpPr>
        <p:spPr bwMode="auto">
          <a:xfrm>
            <a:off x="753872" y="2998114"/>
            <a:ext cx="1074420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pt-BR" altLang="pt-BR"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2800" b="0" i="0" u="none" strike="noStrike" cap="none" normalizeH="0" baseline="0" dirty="0">
                <a:ln>
                  <a:noFill/>
                </a:ln>
                <a:solidFill>
                  <a:schemeClr val="tx1"/>
                </a:solidFill>
                <a:effectLst/>
                <a:latin typeface="Arial" panose="020B0604020202020204" pitchFamily="34" charset="0"/>
              </a:rPr>
              <a:t> Bloco de código reutilizável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pt-BR" altLang="pt-BR"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2800" b="0" i="0" u="none" strike="noStrike" cap="none" normalizeH="0" baseline="0" dirty="0">
                <a:ln>
                  <a:noFill/>
                </a:ln>
                <a:solidFill>
                  <a:schemeClr val="tx1"/>
                </a:solidFill>
                <a:effectLst/>
                <a:latin typeface="Arial" panose="020B0604020202020204" pitchFamily="34" charset="0"/>
              </a:rPr>
              <a:t> Executa uma tarefa específica</a:t>
            </a:r>
          </a:p>
          <a:p>
            <a:pPr marL="0" marR="0" lvl="0" indent="0" algn="l" defTabSz="914400" rtl="0" eaLnBrk="0" fontAlgn="base" latinLnBrk="0" hangingPunct="0">
              <a:lnSpc>
                <a:spcPct val="100000"/>
              </a:lnSpc>
              <a:spcBef>
                <a:spcPct val="0"/>
              </a:spcBef>
              <a:spcAft>
                <a:spcPct val="0"/>
              </a:spcAft>
              <a:buClrTx/>
              <a:buSzTx/>
              <a:tabLst/>
            </a:pPr>
            <a:r>
              <a:rPr kumimoji="0" lang="pt-BR" altLang="pt-BR" sz="2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2800" b="0" i="0" u="none" strike="noStrike" cap="none" normalizeH="0" baseline="0" dirty="0">
                <a:ln>
                  <a:noFill/>
                </a:ln>
                <a:solidFill>
                  <a:schemeClr val="tx1"/>
                </a:solidFill>
                <a:effectLst/>
                <a:latin typeface="Arial" panose="020B0604020202020204" pitchFamily="34" charset="0"/>
              </a:rPr>
              <a:t> Evita repetição </a:t>
            </a:r>
          </a:p>
        </p:txBody>
      </p:sp>
    </p:spTree>
    <p:extLst>
      <p:ext uri="{BB962C8B-B14F-4D97-AF65-F5344CB8AC3E}">
        <p14:creationId xmlns:p14="http://schemas.microsoft.com/office/powerpoint/2010/main" val="25173060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27269CC-C46A-63FC-EC15-6E65AD6F8E26}"/>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18" name="Picture 17">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20" name="Oval 19">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22" name="Picture 21">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24" name="Picture 23">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26" name="Rectangle 25">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28" name="Rectangle 27">
            <a:extLst>
              <a:ext uri="{FF2B5EF4-FFF2-40B4-BE49-F238E27FC236}">
                <a16:creationId xmlns:a16="http://schemas.microsoft.com/office/drawing/2014/main" id="{757B325C-3E35-45CF-9D07-3BCB281F3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3" name="CaixaDeTexto 2">
            <a:extLst>
              <a:ext uri="{FF2B5EF4-FFF2-40B4-BE49-F238E27FC236}">
                <a16:creationId xmlns:a16="http://schemas.microsoft.com/office/drawing/2014/main" id="{C55E0AE8-A532-9267-7619-42FF1F451638}"/>
              </a:ext>
            </a:extLst>
          </p:cNvPr>
          <p:cNvSpPr txBox="1"/>
          <p:nvPr/>
        </p:nvSpPr>
        <p:spPr>
          <a:xfrm>
            <a:off x="11099719" y="1551629"/>
            <a:ext cx="4469834" cy="1132116"/>
          </a:xfrm>
          <a:prstGeom prst="rect">
            <a:avLst/>
          </a:prstGeom>
        </p:spPr>
        <p:txBody>
          <a:bodyPr vert="horz" lIns="91440" tIns="45720" rIns="91440" bIns="45720" rtlCol="0" anchor="b">
            <a:normAutofit lnSpcReduction="10000"/>
          </a:bodyPr>
          <a:lstStyle/>
          <a:p>
            <a:pPr fontAlgn="base">
              <a:spcBef>
                <a:spcPct val="0"/>
              </a:spcBef>
              <a:spcAft>
                <a:spcPts val="600"/>
              </a:spcAft>
            </a:pPr>
            <a:r>
              <a:rPr lang="en-US" sz="7200" b="0" i="0" kern="1200" dirty="0">
                <a:solidFill>
                  <a:srgbClr val="EBEBEB"/>
                </a:solidFill>
                <a:latin typeface="+mj-lt"/>
                <a:ea typeface="+mj-ea"/>
                <a:cs typeface="+mj-cs"/>
              </a:rPr>
              <a:t>Funções</a:t>
            </a:r>
          </a:p>
        </p:txBody>
      </p:sp>
      <p:sp>
        <p:nvSpPr>
          <p:cNvPr id="11" name="CaixaDeTexto 10">
            <a:extLst>
              <a:ext uri="{FF2B5EF4-FFF2-40B4-BE49-F238E27FC236}">
                <a16:creationId xmlns:a16="http://schemas.microsoft.com/office/drawing/2014/main" id="{C57C688F-79FC-B722-FAEE-143907DA20F0}"/>
              </a:ext>
            </a:extLst>
          </p:cNvPr>
          <p:cNvSpPr txBox="1"/>
          <p:nvPr/>
        </p:nvSpPr>
        <p:spPr>
          <a:xfrm>
            <a:off x="10922566" y="6117772"/>
            <a:ext cx="4469834" cy="2162010"/>
          </a:xfrm>
          <a:prstGeom prst="rect">
            <a:avLst/>
          </a:prstGeom>
        </p:spPr>
        <p:txBody>
          <a:bodyPr vert="horz" lIns="91440" tIns="45720" rIns="91440" bIns="45720" rtlCol="0" anchor="t">
            <a:normAutofit/>
          </a:bodyPr>
          <a:lstStyle/>
          <a:p>
            <a:pPr>
              <a:spcBef>
                <a:spcPts val="1000"/>
              </a:spcBef>
              <a:buClr>
                <a:schemeClr val="bg2">
                  <a:lumMod val="40000"/>
                  <a:lumOff val="60000"/>
                </a:schemeClr>
              </a:buClr>
              <a:buSzPct val="80000"/>
            </a:pPr>
            <a:endParaRPr lang="en-US" sz="2400" cap="all" dirty="0">
              <a:solidFill>
                <a:schemeClr val="tx2">
                  <a:lumMod val="40000"/>
                  <a:lumOff val="60000"/>
                </a:schemeClr>
              </a:solidFill>
              <a:latin typeface="+mj-lt"/>
              <a:ea typeface="+mj-ea"/>
              <a:cs typeface="+mj-cs"/>
            </a:endParaRPr>
          </a:p>
        </p:txBody>
      </p:sp>
      <p:sp>
        <p:nvSpPr>
          <p:cNvPr id="30" name="Freeform 36">
            <a:extLst>
              <a:ext uri="{FF2B5EF4-FFF2-40B4-BE49-F238E27FC236}">
                <a16:creationId xmlns:a16="http://schemas.microsoft.com/office/drawing/2014/main" id="{C24BEC42-AFF3-40D1-93A2-A27A42E1E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951574" y="-1"/>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32" name="Freeform: Shape 31">
            <a:extLst>
              <a:ext uri="{FF2B5EF4-FFF2-40B4-BE49-F238E27FC236}">
                <a16:creationId xmlns:a16="http://schemas.microsoft.com/office/drawing/2014/main" id="{608F427C-1EC9-4280-9367-F2B3AA063E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413272" cy="9144000"/>
          </a:xfrm>
          <a:custGeom>
            <a:avLst/>
            <a:gdLst>
              <a:gd name="connsiteX0" fmla="*/ 6465239 w 7809954"/>
              <a:gd name="connsiteY0" fmla="*/ 0 h 6858000"/>
              <a:gd name="connsiteX1" fmla="*/ 7808777 w 7809954"/>
              <a:gd name="connsiteY1" fmla="*/ 0 h 6858000"/>
              <a:gd name="connsiteX2" fmla="*/ 7783732 w 7809954"/>
              <a:gd name="connsiteY2" fmla="*/ 155676 h 6858000"/>
              <a:gd name="connsiteX3" fmla="*/ 7759863 w 7809954"/>
              <a:gd name="connsiteY3" fmla="*/ 310667 h 6858000"/>
              <a:gd name="connsiteX4" fmla="*/ 7736499 w 7809954"/>
              <a:gd name="connsiteY4" fmla="*/ 466344 h 6858000"/>
              <a:gd name="connsiteX5" fmla="*/ 7716496 w 7809954"/>
              <a:gd name="connsiteY5" fmla="*/ 622706 h 6858000"/>
              <a:gd name="connsiteX6" fmla="*/ 7696325 w 7809954"/>
              <a:gd name="connsiteY6" fmla="*/ 778383 h 6858000"/>
              <a:gd name="connsiteX7" fmla="*/ 7677499 w 7809954"/>
              <a:gd name="connsiteY7" fmla="*/ 934745 h 6858000"/>
              <a:gd name="connsiteX8" fmla="*/ 7661363 w 7809954"/>
              <a:gd name="connsiteY8" fmla="*/ 1089050 h 6858000"/>
              <a:gd name="connsiteX9" fmla="*/ 7646067 w 7809954"/>
              <a:gd name="connsiteY9" fmla="*/ 1245413 h 6858000"/>
              <a:gd name="connsiteX10" fmla="*/ 7632115 w 7809954"/>
              <a:gd name="connsiteY10" fmla="*/ 1401089 h 6858000"/>
              <a:gd name="connsiteX11" fmla="*/ 7620013 w 7809954"/>
              <a:gd name="connsiteY11" fmla="*/ 1554023 h 6858000"/>
              <a:gd name="connsiteX12" fmla="*/ 7607910 w 7809954"/>
              <a:gd name="connsiteY12" fmla="*/ 1709013 h 6858000"/>
              <a:gd name="connsiteX13" fmla="*/ 7597825 w 7809954"/>
              <a:gd name="connsiteY13" fmla="*/ 1861947 h 6858000"/>
              <a:gd name="connsiteX14" fmla="*/ 7589925 w 7809954"/>
              <a:gd name="connsiteY14" fmla="*/ 2014880 h 6858000"/>
              <a:gd name="connsiteX15" fmla="*/ 7581688 w 7809954"/>
              <a:gd name="connsiteY15" fmla="*/ 2167128 h 6858000"/>
              <a:gd name="connsiteX16" fmla="*/ 7574797 w 7809954"/>
              <a:gd name="connsiteY16" fmla="*/ 2318004 h 6858000"/>
              <a:gd name="connsiteX17" fmla="*/ 7569922 w 7809954"/>
              <a:gd name="connsiteY17" fmla="*/ 2467508 h 6858000"/>
              <a:gd name="connsiteX18" fmla="*/ 7565720 w 7809954"/>
              <a:gd name="connsiteY18" fmla="*/ 2617013 h 6858000"/>
              <a:gd name="connsiteX19" fmla="*/ 7561686 w 7809954"/>
              <a:gd name="connsiteY19" fmla="*/ 2765145 h 6858000"/>
              <a:gd name="connsiteX20" fmla="*/ 7559837 w 7809954"/>
              <a:gd name="connsiteY20" fmla="*/ 2911221 h 6858000"/>
              <a:gd name="connsiteX21" fmla="*/ 7557820 w 7809954"/>
              <a:gd name="connsiteY21" fmla="*/ 3057296 h 6858000"/>
              <a:gd name="connsiteX22" fmla="*/ 7556811 w 7809954"/>
              <a:gd name="connsiteY22" fmla="*/ 3201314 h 6858000"/>
              <a:gd name="connsiteX23" fmla="*/ 7557820 w 7809954"/>
              <a:gd name="connsiteY23" fmla="*/ 3343960 h 6858000"/>
              <a:gd name="connsiteX24" fmla="*/ 7557820 w 7809954"/>
              <a:gd name="connsiteY24" fmla="*/ 3485235 h 6858000"/>
              <a:gd name="connsiteX25" fmla="*/ 7559837 w 7809954"/>
              <a:gd name="connsiteY25" fmla="*/ 3625138 h 6858000"/>
              <a:gd name="connsiteX26" fmla="*/ 7562862 w 7809954"/>
              <a:gd name="connsiteY26" fmla="*/ 3762298 h 6858000"/>
              <a:gd name="connsiteX27" fmla="*/ 7565720 w 7809954"/>
              <a:gd name="connsiteY27" fmla="*/ 3898087 h 6858000"/>
              <a:gd name="connsiteX28" fmla="*/ 7568914 w 7809954"/>
              <a:gd name="connsiteY28" fmla="*/ 4031132 h 6858000"/>
              <a:gd name="connsiteX29" fmla="*/ 7573788 w 7809954"/>
              <a:gd name="connsiteY29" fmla="*/ 4163491 h 6858000"/>
              <a:gd name="connsiteX30" fmla="*/ 7578999 w 7809954"/>
              <a:gd name="connsiteY30" fmla="*/ 4293793 h 6858000"/>
              <a:gd name="connsiteX31" fmla="*/ 7583705 w 7809954"/>
              <a:gd name="connsiteY31" fmla="*/ 4421352 h 6858000"/>
              <a:gd name="connsiteX32" fmla="*/ 7596985 w 7809954"/>
              <a:gd name="connsiteY32" fmla="*/ 4670298 h 6858000"/>
              <a:gd name="connsiteX33" fmla="*/ 7611104 w 7809954"/>
              <a:gd name="connsiteY33" fmla="*/ 4908956 h 6858000"/>
              <a:gd name="connsiteX34" fmla="*/ 7625896 w 7809954"/>
              <a:gd name="connsiteY34" fmla="*/ 5138013 h 6858000"/>
              <a:gd name="connsiteX35" fmla="*/ 7642201 w 7809954"/>
              <a:gd name="connsiteY35" fmla="*/ 5354726 h 6858000"/>
              <a:gd name="connsiteX36" fmla="*/ 7659178 w 7809954"/>
              <a:gd name="connsiteY36" fmla="*/ 5561838 h 6858000"/>
              <a:gd name="connsiteX37" fmla="*/ 7677499 w 7809954"/>
              <a:gd name="connsiteY37" fmla="*/ 5753862 h 6858000"/>
              <a:gd name="connsiteX38" fmla="*/ 7695485 w 7809954"/>
              <a:gd name="connsiteY38" fmla="*/ 5934227 h 6858000"/>
              <a:gd name="connsiteX39" fmla="*/ 7713470 w 7809954"/>
              <a:gd name="connsiteY39" fmla="*/ 6100191 h 6858000"/>
              <a:gd name="connsiteX40" fmla="*/ 7730447 w 7809954"/>
              <a:gd name="connsiteY40" fmla="*/ 6252438 h 6858000"/>
              <a:gd name="connsiteX41" fmla="*/ 7746584 w 7809954"/>
              <a:gd name="connsiteY41" fmla="*/ 6387541 h 6858000"/>
              <a:gd name="connsiteX42" fmla="*/ 7761880 w 7809954"/>
              <a:gd name="connsiteY42" fmla="*/ 6509613 h 6858000"/>
              <a:gd name="connsiteX43" fmla="*/ 7774655 w 7809954"/>
              <a:gd name="connsiteY43" fmla="*/ 6612483 h 6858000"/>
              <a:gd name="connsiteX44" fmla="*/ 7786757 w 7809954"/>
              <a:gd name="connsiteY44" fmla="*/ 6698894 h 6858000"/>
              <a:gd name="connsiteX45" fmla="*/ 7804071 w 7809954"/>
              <a:gd name="connsiteY45" fmla="*/ 6817538 h 6858000"/>
              <a:gd name="connsiteX46" fmla="*/ 7809954 w 7809954"/>
              <a:gd name="connsiteY46" fmla="*/ 6858000 h 6858000"/>
              <a:gd name="connsiteX47" fmla="*/ 7157124 w 7809954"/>
              <a:gd name="connsiteY47" fmla="*/ 6858000 h 6858000"/>
              <a:gd name="connsiteX48" fmla="*/ 7157124 w 7809954"/>
              <a:gd name="connsiteY48" fmla="*/ 6858000 h 6858000"/>
              <a:gd name="connsiteX49" fmla="*/ 0 w 7809954"/>
              <a:gd name="connsiteY49" fmla="*/ 6858000 h 6858000"/>
              <a:gd name="connsiteX50" fmla="*/ 0 w 7809954"/>
              <a:gd name="connsiteY50" fmla="*/ 0 h 6858000"/>
              <a:gd name="connsiteX51" fmla="*/ 6465239 w 7809954"/>
              <a:gd name="connsiteY5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7809954" h="6858000">
                <a:moveTo>
                  <a:pt x="6465239" y="0"/>
                </a:moveTo>
                <a:lnTo>
                  <a:pt x="7808777" y="0"/>
                </a:lnTo>
                <a:lnTo>
                  <a:pt x="7783732" y="155676"/>
                </a:lnTo>
                <a:lnTo>
                  <a:pt x="7759863" y="310667"/>
                </a:lnTo>
                <a:lnTo>
                  <a:pt x="7736499" y="466344"/>
                </a:lnTo>
                <a:lnTo>
                  <a:pt x="7716496" y="622706"/>
                </a:lnTo>
                <a:lnTo>
                  <a:pt x="7696325" y="778383"/>
                </a:lnTo>
                <a:lnTo>
                  <a:pt x="7677499" y="934745"/>
                </a:lnTo>
                <a:lnTo>
                  <a:pt x="7661363" y="1089050"/>
                </a:lnTo>
                <a:lnTo>
                  <a:pt x="7646067" y="1245413"/>
                </a:lnTo>
                <a:lnTo>
                  <a:pt x="7632115" y="1401089"/>
                </a:lnTo>
                <a:lnTo>
                  <a:pt x="7620013" y="1554023"/>
                </a:lnTo>
                <a:lnTo>
                  <a:pt x="7607910" y="1709013"/>
                </a:lnTo>
                <a:lnTo>
                  <a:pt x="7597825" y="1861947"/>
                </a:lnTo>
                <a:lnTo>
                  <a:pt x="7589925" y="2014880"/>
                </a:lnTo>
                <a:lnTo>
                  <a:pt x="7581688" y="2167128"/>
                </a:lnTo>
                <a:lnTo>
                  <a:pt x="7574797" y="2318004"/>
                </a:lnTo>
                <a:lnTo>
                  <a:pt x="7569922" y="2467508"/>
                </a:lnTo>
                <a:lnTo>
                  <a:pt x="7565720" y="2617013"/>
                </a:lnTo>
                <a:lnTo>
                  <a:pt x="7561686" y="2765145"/>
                </a:lnTo>
                <a:lnTo>
                  <a:pt x="7559837" y="2911221"/>
                </a:lnTo>
                <a:lnTo>
                  <a:pt x="7557820" y="3057296"/>
                </a:lnTo>
                <a:lnTo>
                  <a:pt x="7556811" y="3201314"/>
                </a:lnTo>
                <a:lnTo>
                  <a:pt x="7557820" y="3343960"/>
                </a:lnTo>
                <a:lnTo>
                  <a:pt x="7557820" y="3485235"/>
                </a:lnTo>
                <a:lnTo>
                  <a:pt x="7559837" y="3625138"/>
                </a:lnTo>
                <a:lnTo>
                  <a:pt x="7562862" y="3762298"/>
                </a:lnTo>
                <a:lnTo>
                  <a:pt x="7565720" y="3898087"/>
                </a:lnTo>
                <a:lnTo>
                  <a:pt x="7568914" y="4031132"/>
                </a:lnTo>
                <a:lnTo>
                  <a:pt x="7573788" y="4163491"/>
                </a:lnTo>
                <a:lnTo>
                  <a:pt x="7578999" y="4293793"/>
                </a:lnTo>
                <a:lnTo>
                  <a:pt x="7583705" y="4421352"/>
                </a:lnTo>
                <a:lnTo>
                  <a:pt x="7596985" y="4670298"/>
                </a:lnTo>
                <a:lnTo>
                  <a:pt x="7611104" y="4908956"/>
                </a:lnTo>
                <a:lnTo>
                  <a:pt x="7625896" y="5138013"/>
                </a:lnTo>
                <a:lnTo>
                  <a:pt x="7642201" y="5354726"/>
                </a:lnTo>
                <a:lnTo>
                  <a:pt x="7659178" y="5561838"/>
                </a:lnTo>
                <a:lnTo>
                  <a:pt x="7677499" y="5753862"/>
                </a:lnTo>
                <a:lnTo>
                  <a:pt x="7695485" y="5934227"/>
                </a:lnTo>
                <a:lnTo>
                  <a:pt x="7713470" y="6100191"/>
                </a:lnTo>
                <a:lnTo>
                  <a:pt x="7730447" y="6252438"/>
                </a:lnTo>
                <a:lnTo>
                  <a:pt x="7746584" y="6387541"/>
                </a:lnTo>
                <a:lnTo>
                  <a:pt x="7761880" y="6509613"/>
                </a:lnTo>
                <a:lnTo>
                  <a:pt x="7774655" y="6612483"/>
                </a:lnTo>
                <a:lnTo>
                  <a:pt x="7786757" y="6698894"/>
                </a:lnTo>
                <a:lnTo>
                  <a:pt x="7804071" y="6817538"/>
                </a:lnTo>
                <a:lnTo>
                  <a:pt x="7809954" y="6858000"/>
                </a:lnTo>
                <a:lnTo>
                  <a:pt x="7157124" y="6858000"/>
                </a:lnTo>
                <a:lnTo>
                  <a:pt x="7157124" y="6858000"/>
                </a:lnTo>
                <a:lnTo>
                  <a:pt x="0" y="6858000"/>
                </a:lnTo>
                <a:lnTo>
                  <a:pt x="0" y="0"/>
                </a:lnTo>
                <a:lnTo>
                  <a:pt x="6465239"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Rectangle 33">
            <a:extLst>
              <a:ext uri="{FF2B5EF4-FFF2-40B4-BE49-F238E27FC236}">
                <a16:creationId xmlns:a16="http://schemas.microsoft.com/office/drawing/2014/main" id="{F98810A7-E114-447A-A7D6-69B27CFB56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8" name="CaixaDeTexto 7">
            <a:extLst>
              <a:ext uri="{FF2B5EF4-FFF2-40B4-BE49-F238E27FC236}">
                <a16:creationId xmlns:a16="http://schemas.microsoft.com/office/drawing/2014/main" id="{89B4F7E0-B0BB-DFDF-0756-2EA68F943432}"/>
              </a:ext>
            </a:extLst>
          </p:cNvPr>
          <p:cNvSpPr txBox="1"/>
          <p:nvPr/>
        </p:nvSpPr>
        <p:spPr>
          <a:xfrm>
            <a:off x="390523" y="2018180"/>
            <a:ext cx="4601636" cy="523220"/>
          </a:xfrm>
          <a:prstGeom prst="rect">
            <a:avLst/>
          </a:prstGeom>
          <a:noFill/>
        </p:spPr>
        <p:txBody>
          <a:bodyPr wrap="square">
            <a:spAutoFit/>
          </a:bodyPr>
          <a:lstStyle/>
          <a:p>
            <a:pPr>
              <a:buNone/>
            </a:pPr>
            <a:r>
              <a:rPr lang="pt-BR" sz="2800" b="1" dirty="0">
                <a:solidFill>
                  <a:srgbClr val="FFC000"/>
                </a:solidFill>
              </a:rPr>
              <a:t>Função </a:t>
            </a:r>
          </a:p>
        </p:txBody>
      </p:sp>
      <p:pic>
        <p:nvPicPr>
          <p:cNvPr id="9" name="Imagem 8">
            <a:extLst>
              <a:ext uri="{FF2B5EF4-FFF2-40B4-BE49-F238E27FC236}">
                <a16:creationId xmlns:a16="http://schemas.microsoft.com/office/drawing/2014/main" id="{AE6D320C-3658-0D53-C5FA-44E84D5BF088}"/>
              </a:ext>
            </a:extLst>
          </p:cNvPr>
          <p:cNvPicPr>
            <a:picLocks noChangeAspect="1"/>
          </p:cNvPicPr>
          <p:nvPr/>
        </p:nvPicPr>
        <p:blipFill>
          <a:blip r:embed="rId6"/>
          <a:stretch>
            <a:fillRect/>
          </a:stretch>
        </p:blipFill>
        <p:spPr>
          <a:xfrm>
            <a:off x="529819" y="2689841"/>
            <a:ext cx="8640610" cy="2583688"/>
          </a:xfrm>
          <a:prstGeom prst="rect">
            <a:avLst/>
          </a:prstGeom>
        </p:spPr>
      </p:pic>
    </p:spTree>
    <p:extLst>
      <p:ext uri="{BB962C8B-B14F-4D97-AF65-F5344CB8AC3E}">
        <p14:creationId xmlns:p14="http://schemas.microsoft.com/office/powerpoint/2010/main" val="3268409480"/>
      </p:ext>
    </p:extLst>
  </p:cSld>
  <p:clrMapOvr>
    <a:overrideClrMapping bg1="lt1" tx1="dk1" bg2="lt2" tx2="dk2" accent1="accent1" accent2="accent2" accent3="accent3" accent4="accent4" accent5="accent5" accent6="accent6" hlink="hlink" folHlink="folHlink"/>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DDFCF6E-00BB-2805-1392-86C73AA93222}"/>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94661AB3-D0A0-3697-82CA-0EF547FA4A5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18" name="Picture 17">
            <a:extLst>
              <a:ext uri="{FF2B5EF4-FFF2-40B4-BE49-F238E27FC236}">
                <a16:creationId xmlns:a16="http://schemas.microsoft.com/office/drawing/2014/main" id="{16941E9A-02A3-550B-2F35-CB85C7F16E5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20" name="Oval 19">
            <a:extLst>
              <a:ext uri="{FF2B5EF4-FFF2-40B4-BE49-F238E27FC236}">
                <a16:creationId xmlns:a16="http://schemas.microsoft.com/office/drawing/2014/main" id="{5976DE38-64BB-C254-E9CA-D15D33D73C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22" name="Picture 21">
            <a:extLst>
              <a:ext uri="{FF2B5EF4-FFF2-40B4-BE49-F238E27FC236}">
                <a16:creationId xmlns:a16="http://schemas.microsoft.com/office/drawing/2014/main" id="{A41F3663-9994-7DA8-EE0F-B49D94E8AFA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24" name="Picture 23">
            <a:extLst>
              <a:ext uri="{FF2B5EF4-FFF2-40B4-BE49-F238E27FC236}">
                <a16:creationId xmlns:a16="http://schemas.microsoft.com/office/drawing/2014/main" id="{1359CEA8-FE8C-5F74-B6D9-12BFC3B30D1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26" name="Rectangle 25">
            <a:extLst>
              <a:ext uri="{FF2B5EF4-FFF2-40B4-BE49-F238E27FC236}">
                <a16:creationId xmlns:a16="http://schemas.microsoft.com/office/drawing/2014/main" id="{391BA69E-A98E-7E97-18DE-87ABB18CB7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28" name="Rectangle 27">
            <a:extLst>
              <a:ext uri="{FF2B5EF4-FFF2-40B4-BE49-F238E27FC236}">
                <a16:creationId xmlns:a16="http://schemas.microsoft.com/office/drawing/2014/main" id="{1EF46ACF-FDBB-4A6F-3959-CE2B852C19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3" name="CaixaDeTexto 2">
            <a:extLst>
              <a:ext uri="{FF2B5EF4-FFF2-40B4-BE49-F238E27FC236}">
                <a16:creationId xmlns:a16="http://schemas.microsoft.com/office/drawing/2014/main" id="{711584A8-1D5C-6CAD-CA6A-09FE634660DA}"/>
              </a:ext>
            </a:extLst>
          </p:cNvPr>
          <p:cNvSpPr txBox="1"/>
          <p:nvPr/>
        </p:nvSpPr>
        <p:spPr>
          <a:xfrm>
            <a:off x="11099719" y="1551629"/>
            <a:ext cx="4469834" cy="1132116"/>
          </a:xfrm>
          <a:prstGeom prst="rect">
            <a:avLst/>
          </a:prstGeom>
        </p:spPr>
        <p:txBody>
          <a:bodyPr vert="horz" lIns="91440" tIns="45720" rIns="91440" bIns="45720" rtlCol="0" anchor="b">
            <a:normAutofit lnSpcReduction="10000"/>
          </a:bodyPr>
          <a:lstStyle/>
          <a:p>
            <a:pPr fontAlgn="base">
              <a:spcBef>
                <a:spcPct val="0"/>
              </a:spcBef>
              <a:spcAft>
                <a:spcPts val="600"/>
              </a:spcAft>
            </a:pPr>
            <a:r>
              <a:rPr lang="en-US" sz="7200" b="0" i="0" kern="1200" dirty="0">
                <a:solidFill>
                  <a:srgbClr val="EBEBEB"/>
                </a:solidFill>
                <a:latin typeface="+mj-lt"/>
                <a:ea typeface="+mj-ea"/>
                <a:cs typeface="+mj-cs"/>
              </a:rPr>
              <a:t>Funções</a:t>
            </a:r>
          </a:p>
        </p:txBody>
      </p:sp>
      <p:sp>
        <p:nvSpPr>
          <p:cNvPr id="11" name="CaixaDeTexto 10">
            <a:extLst>
              <a:ext uri="{FF2B5EF4-FFF2-40B4-BE49-F238E27FC236}">
                <a16:creationId xmlns:a16="http://schemas.microsoft.com/office/drawing/2014/main" id="{9582BED5-EA02-376F-4DD7-2212D6644A12}"/>
              </a:ext>
            </a:extLst>
          </p:cNvPr>
          <p:cNvSpPr txBox="1"/>
          <p:nvPr/>
        </p:nvSpPr>
        <p:spPr>
          <a:xfrm>
            <a:off x="10922566" y="6117772"/>
            <a:ext cx="4469834" cy="2162010"/>
          </a:xfrm>
          <a:prstGeom prst="rect">
            <a:avLst/>
          </a:prstGeom>
        </p:spPr>
        <p:txBody>
          <a:bodyPr vert="horz" lIns="91440" tIns="45720" rIns="91440" bIns="45720" rtlCol="0" anchor="t">
            <a:normAutofit/>
          </a:bodyPr>
          <a:lstStyle/>
          <a:p>
            <a:pPr>
              <a:spcBef>
                <a:spcPts val="1000"/>
              </a:spcBef>
              <a:buClr>
                <a:schemeClr val="bg2">
                  <a:lumMod val="40000"/>
                  <a:lumOff val="60000"/>
                </a:schemeClr>
              </a:buClr>
              <a:buSzPct val="80000"/>
            </a:pPr>
            <a:endParaRPr lang="en-US" sz="2400" cap="all" dirty="0">
              <a:solidFill>
                <a:schemeClr val="tx2">
                  <a:lumMod val="40000"/>
                  <a:lumOff val="60000"/>
                </a:schemeClr>
              </a:solidFill>
              <a:latin typeface="+mj-lt"/>
              <a:ea typeface="+mj-ea"/>
              <a:cs typeface="+mj-cs"/>
            </a:endParaRPr>
          </a:p>
        </p:txBody>
      </p:sp>
      <p:sp>
        <p:nvSpPr>
          <p:cNvPr id="30" name="Freeform 36">
            <a:extLst>
              <a:ext uri="{FF2B5EF4-FFF2-40B4-BE49-F238E27FC236}">
                <a16:creationId xmlns:a16="http://schemas.microsoft.com/office/drawing/2014/main" id="{91044781-D534-59EA-4080-C460EF9ADB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951574" y="-1"/>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32" name="Freeform: Shape 31">
            <a:extLst>
              <a:ext uri="{FF2B5EF4-FFF2-40B4-BE49-F238E27FC236}">
                <a16:creationId xmlns:a16="http://schemas.microsoft.com/office/drawing/2014/main" id="{F648B27B-69B0-5EA2-92FE-8841CF4AB9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413272" cy="9144000"/>
          </a:xfrm>
          <a:custGeom>
            <a:avLst/>
            <a:gdLst>
              <a:gd name="connsiteX0" fmla="*/ 6465239 w 7809954"/>
              <a:gd name="connsiteY0" fmla="*/ 0 h 6858000"/>
              <a:gd name="connsiteX1" fmla="*/ 7808777 w 7809954"/>
              <a:gd name="connsiteY1" fmla="*/ 0 h 6858000"/>
              <a:gd name="connsiteX2" fmla="*/ 7783732 w 7809954"/>
              <a:gd name="connsiteY2" fmla="*/ 155676 h 6858000"/>
              <a:gd name="connsiteX3" fmla="*/ 7759863 w 7809954"/>
              <a:gd name="connsiteY3" fmla="*/ 310667 h 6858000"/>
              <a:gd name="connsiteX4" fmla="*/ 7736499 w 7809954"/>
              <a:gd name="connsiteY4" fmla="*/ 466344 h 6858000"/>
              <a:gd name="connsiteX5" fmla="*/ 7716496 w 7809954"/>
              <a:gd name="connsiteY5" fmla="*/ 622706 h 6858000"/>
              <a:gd name="connsiteX6" fmla="*/ 7696325 w 7809954"/>
              <a:gd name="connsiteY6" fmla="*/ 778383 h 6858000"/>
              <a:gd name="connsiteX7" fmla="*/ 7677499 w 7809954"/>
              <a:gd name="connsiteY7" fmla="*/ 934745 h 6858000"/>
              <a:gd name="connsiteX8" fmla="*/ 7661363 w 7809954"/>
              <a:gd name="connsiteY8" fmla="*/ 1089050 h 6858000"/>
              <a:gd name="connsiteX9" fmla="*/ 7646067 w 7809954"/>
              <a:gd name="connsiteY9" fmla="*/ 1245413 h 6858000"/>
              <a:gd name="connsiteX10" fmla="*/ 7632115 w 7809954"/>
              <a:gd name="connsiteY10" fmla="*/ 1401089 h 6858000"/>
              <a:gd name="connsiteX11" fmla="*/ 7620013 w 7809954"/>
              <a:gd name="connsiteY11" fmla="*/ 1554023 h 6858000"/>
              <a:gd name="connsiteX12" fmla="*/ 7607910 w 7809954"/>
              <a:gd name="connsiteY12" fmla="*/ 1709013 h 6858000"/>
              <a:gd name="connsiteX13" fmla="*/ 7597825 w 7809954"/>
              <a:gd name="connsiteY13" fmla="*/ 1861947 h 6858000"/>
              <a:gd name="connsiteX14" fmla="*/ 7589925 w 7809954"/>
              <a:gd name="connsiteY14" fmla="*/ 2014880 h 6858000"/>
              <a:gd name="connsiteX15" fmla="*/ 7581688 w 7809954"/>
              <a:gd name="connsiteY15" fmla="*/ 2167128 h 6858000"/>
              <a:gd name="connsiteX16" fmla="*/ 7574797 w 7809954"/>
              <a:gd name="connsiteY16" fmla="*/ 2318004 h 6858000"/>
              <a:gd name="connsiteX17" fmla="*/ 7569922 w 7809954"/>
              <a:gd name="connsiteY17" fmla="*/ 2467508 h 6858000"/>
              <a:gd name="connsiteX18" fmla="*/ 7565720 w 7809954"/>
              <a:gd name="connsiteY18" fmla="*/ 2617013 h 6858000"/>
              <a:gd name="connsiteX19" fmla="*/ 7561686 w 7809954"/>
              <a:gd name="connsiteY19" fmla="*/ 2765145 h 6858000"/>
              <a:gd name="connsiteX20" fmla="*/ 7559837 w 7809954"/>
              <a:gd name="connsiteY20" fmla="*/ 2911221 h 6858000"/>
              <a:gd name="connsiteX21" fmla="*/ 7557820 w 7809954"/>
              <a:gd name="connsiteY21" fmla="*/ 3057296 h 6858000"/>
              <a:gd name="connsiteX22" fmla="*/ 7556811 w 7809954"/>
              <a:gd name="connsiteY22" fmla="*/ 3201314 h 6858000"/>
              <a:gd name="connsiteX23" fmla="*/ 7557820 w 7809954"/>
              <a:gd name="connsiteY23" fmla="*/ 3343960 h 6858000"/>
              <a:gd name="connsiteX24" fmla="*/ 7557820 w 7809954"/>
              <a:gd name="connsiteY24" fmla="*/ 3485235 h 6858000"/>
              <a:gd name="connsiteX25" fmla="*/ 7559837 w 7809954"/>
              <a:gd name="connsiteY25" fmla="*/ 3625138 h 6858000"/>
              <a:gd name="connsiteX26" fmla="*/ 7562862 w 7809954"/>
              <a:gd name="connsiteY26" fmla="*/ 3762298 h 6858000"/>
              <a:gd name="connsiteX27" fmla="*/ 7565720 w 7809954"/>
              <a:gd name="connsiteY27" fmla="*/ 3898087 h 6858000"/>
              <a:gd name="connsiteX28" fmla="*/ 7568914 w 7809954"/>
              <a:gd name="connsiteY28" fmla="*/ 4031132 h 6858000"/>
              <a:gd name="connsiteX29" fmla="*/ 7573788 w 7809954"/>
              <a:gd name="connsiteY29" fmla="*/ 4163491 h 6858000"/>
              <a:gd name="connsiteX30" fmla="*/ 7578999 w 7809954"/>
              <a:gd name="connsiteY30" fmla="*/ 4293793 h 6858000"/>
              <a:gd name="connsiteX31" fmla="*/ 7583705 w 7809954"/>
              <a:gd name="connsiteY31" fmla="*/ 4421352 h 6858000"/>
              <a:gd name="connsiteX32" fmla="*/ 7596985 w 7809954"/>
              <a:gd name="connsiteY32" fmla="*/ 4670298 h 6858000"/>
              <a:gd name="connsiteX33" fmla="*/ 7611104 w 7809954"/>
              <a:gd name="connsiteY33" fmla="*/ 4908956 h 6858000"/>
              <a:gd name="connsiteX34" fmla="*/ 7625896 w 7809954"/>
              <a:gd name="connsiteY34" fmla="*/ 5138013 h 6858000"/>
              <a:gd name="connsiteX35" fmla="*/ 7642201 w 7809954"/>
              <a:gd name="connsiteY35" fmla="*/ 5354726 h 6858000"/>
              <a:gd name="connsiteX36" fmla="*/ 7659178 w 7809954"/>
              <a:gd name="connsiteY36" fmla="*/ 5561838 h 6858000"/>
              <a:gd name="connsiteX37" fmla="*/ 7677499 w 7809954"/>
              <a:gd name="connsiteY37" fmla="*/ 5753862 h 6858000"/>
              <a:gd name="connsiteX38" fmla="*/ 7695485 w 7809954"/>
              <a:gd name="connsiteY38" fmla="*/ 5934227 h 6858000"/>
              <a:gd name="connsiteX39" fmla="*/ 7713470 w 7809954"/>
              <a:gd name="connsiteY39" fmla="*/ 6100191 h 6858000"/>
              <a:gd name="connsiteX40" fmla="*/ 7730447 w 7809954"/>
              <a:gd name="connsiteY40" fmla="*/ 6252438 h 6858000"/>
              <a:gd name="connsiteX41" fmla="*/ 7746584 w 7809954"/>
              <a:gd name="connsiteY41" fmla="*/ 6387541 h 6858000"/>
              <a:gd name="connsiteX42" fmla="*/ 7761880 w 7809954"/>
              <a:gd name="connsiteY42" fmla="*/ 6509613 h 6858000"/>
              <a:gd name="connsiteX43" fmla="*/ 7774655 w 7809954"/>
              <a:gd name="connsiteY43" fmla="*/ 6612483 h 6858000"/>
              <a:gd name="connsiteX44" fmla="*/ 7786757 w 7809954"/>
              <a:gd name="connsiteY44" fmla="*/ 6698894 h 6858000"/>
              <a:gd name="connsiteX45" fmla="*/ 7804071 w 7809954"/>
              <a:gd name="connsiteY45" fmla="*/ 6817538 h 6858000"/>
              <a:gd name="connsiteX46" fmla="*/ 7809954 w 7809954"/>
              <a:gd name="connsiteY46" fmla="*/ 6858000 h 6858000"/>
              <a:gd name="connsiteX47" fmla="*/ 7157124 w 7809954"/>
              <a:gd name="connsiteY47" fmla="*/ 6858000 h 6858000"/>
              <a:gd name="connsiteX48" fmla="*/ 7157124 w 7809954"/>
              <a:gd name="connsiteY48" fmla="*/ 6858000 h 6858000"/>
              <a:gd name="connsiteX49" fmla="*/ 0 w 7809954"/>
              <a:gd name="connsiteY49" fmla="*/ 6858000 h 6858000"/>
              <a:gd name="connsiteX50" fmla="*/ 0 w 7809954"/>
              <a:gd name="connsiteY50" fmla="*/ 0 h 6858000"/>
              <a:gd name="connsiteX51" fmla="*/ 6465239 w 7809954"/>
              <a:gd name="connsiteY5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7809954" h="6858000">
                <a:moveTo>
                  <a:pt x="6465239" y="0"/>
                </a:moveTo>
                <a:lnTo>
                  <a:pt x="7808777" y="0"/>
                </a:lnTo>
                <a:lnTo>
                  <a:pt x="7783732" y="155676"/>
                </a:lnTo>
                <a:lnTo>
                  <a:pt x="7759863" y="310667"/>
                </a:lnTo>
                <a:lnTo>
                  <a:pt x="7736499" y="466344"/>
                </a:lnTo>
                <a:lnTo>
                  <a:pt x="7716496" y="622706"/>
                </a:lnTo>
                <a:lnTo>
                  <a:pt x="7696325" y="778383"/>
                </a:lnTo>
                <a:lnTo>
                  <a:pt x="7677499" y="934745"/>
                </a:lnTo>
                <a:lnTo>
                  <a:pt x="7661363" y="1089050"/>
                </a:lnTo>
                <a:lnTo>
                  <a:pt x="7646067" y="1245413"/>
                </a:lnTo>
                <a:lnTo>
                  <a:pt x="7632115" y="1401089"/>
                </a:lnTo>
                <a:lnTo>
                  <a:pt x="7620013" y="1554023"/>
                </a:lnTo>
                <a:lnTo>
                  <a:pt x="7607910" y="1709013"/>
                </a:lnTo>
                <a:lnTo>
                  <a:pt x="7597825" y="1861947"/>
                </a:lnTo>
                <a:lnTo>
                  <a:pt x="7589925" y="2014880"/>
                </a:lnTo>
                <a:lnTo>
                  <a:pt x="7581688" y="2167128"/>
                </a:lnTo>
                <a:lnTo>
                  <a:pt x="7574797" y="2318004"/>
                </a:lnTo>
                <a:lnTo>
                  <a:pt x="7569922" y="2467508"/>
                </a:lnTo>
                <a:lnTo>
                  <a:pt x="7565720" y="2617013"/>
                </a:lnTo>
                <a:lnTo>
                  <a:pt x="7561686" y="2765145"/>
                </a:lnTo>
                <a:lnTo>
                  <a:pt x="7559837" y="2911221"/>
                </a:lnTo>
                <a:lnTo>
                  <a:pt x="7557820" y="3057296"/>
                </a:lnTo>
                <a:lnTo>
                  <a:pt x="7556811" y="3201314"/>
                </a:lnTo>
                <a:lnTo>
                  <a:pt x="7557820" y="3343960"/>
                </a:lnTo>
                <a:lnTo>
                  <a:pt x="7557820" y="3485235"/>
                </a:lnTo>
                <a:lnTo>
                  <a:pt x="7559837" y="3625138"/>
                </a:lnTo>
                <a:lnTo>
                  <a:pt x="7562862" y="3762298"/>
                </a:lnTo>
                <a:lnTo>
                  <a:pt x="7565720" y="3898087"/>
                </a:lnTo>
                <a:lnTo>
                  <a:pt x="7568914" y="4031132"/>
                </a:lnTo>
                <a:lnTo>
                  <a:pt x="7573788" y="4163491"/>
                </a:lnTo>
                <a:lnTo>
                  <a:pt x="7578999" y="4293793"/>
                </a:lnTo>
                <a:lnTo>
                  <a:pt x="7583705" y="4421352"/>
                </a:lnTo>
                <a:lnTo>
                  <a:pt x="7596985" y="4670298"/>
                </a:lnTo>
                <a:lnTo>
                  <a:pt x="7611104" y="4908956"/>
                </a:lnTo>
                <a:lnTo>
                  <a:pt x="7625896" y="5138013"/>
                </a:lnTo>
                <a:lnTo>
                  <a:pt x="7642201" y="5354726"/>
                </a:lnTo>
                <a:lnTo>
                  <a:pt x="7659178" y="5561838"/>
                </a:lnTo>
                <a:lnTo>
                  <a:pt x="7677499" y="5753862"/>
                </a:lnTo>
                <a:lnTo>
                  <a:pt x="7695485" y="5934227"/>
                </a:lnTo>
                <a:lnTo>
                  <a:pt x="7713470" y="6100191"/>
                </a:lnTo>
                <a:lnTo>
                  <a:pt x="7730447" y="6252438"/>
                </a:lnTo>
                <a:lnTo>
                  <a:pt x="7746584" y="6387541"/>
                </a:lnTo>
                <a:lnTo>
                  <a:pt x="7761880" y="6509613"/>
                </a:lnTo>
                <a:lnTo>
                  <a:pt x="7774655" y="6612483"/>
                </a:lnTo>
                <a:lnTo>
                  <a:pt x="7786757" y="6698894"/>
                </a:lnTo>
                <a:lnTo>
                  <a:pt x="7804071" y="6817538"/>
                </a:lnTo>
                <a:lnTo>
                  <a:pt x="7809954" y="6858000"/>
                </a:lnTo>
                <a:lnTo>
                  <a:pt x="7157124" y="6858000"/>
                </a:lnTo>
                <a:lnTo>
                  <a:pt x="7157124" y="6858000"/>
                </a:lnTo>
                <a:lnTo>
                  <a:pt x="0" y="6858000"/>
                </a:lnTo>
                <a:lnTo>
                  <a:pt x="0" y="0"/>
                </a:lnTo>
                <a:lnTo>
                  <a:pt x="6465239"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Rectangle 33">
            <a:extLst>
              <a:ext uri="{FF2B5EF4-FFF2-40B4-BE49-F238E27FC236}">
                <a16:creationId xmlns:a16="http://schemas.microsoft.com/office/drawing/2014/main" id="{B02BEE2B-7BD5-6BE5-2270-D4A4397497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2" name="CaixaDeTexto 1">
            <a:extLst>
              <a:ext uri="{FF2B5EF4-FFF2-40B4-BE49-F238E27FC236}">
                <a16:creationId xmlns:a16="http://schemas.microsoft.com/office/drawing/2014/main" id="{C6A53205-7AFA-F6A7-FDAC-8AA9161CB051}"/>
              </a:ext>
            </a:extLst>
          </p:cNvPr>
          <p:cNvSpPr txBox="1"/>
          <p:nvPr/>
        </p:nvSpPr>
        <p:spPr>
          <a:xfrm>
            <a:off x="694575" y="1949873"/>
            <a:ext cx="4601636" cy="523220"/>
          </a:xfrm>
          <a:prstGeom prst="rect">
            <a:avLst/>
          </a:prstGeom>
          <a:noFill/>
        </p:spPr>
        <p:txBody>
          <a:bodyPr wrap="square">
            <a:spAutoFit/>
          </a:bodyPr>
          <a:lstStyle/>
          <a:p>
            <a:pPr>
              <a:buNone/>
            </a:pPr>
            <a:r>
              <a:rPr lang="pt-BR" sz="2800" b="1" dirty="0">
                <a:solidFill>
                  <a:srgbClr val="FFC000"/>
                </a:solidFill>
              </a:rPr>
              <a:t>Função com parâmetros</a:t>
            </a:r>
          </a:p>
        </p:txBody>
      </p:sp>
      <p:pic>
        <p:nvPicPr>
          <p:cNvPr id="6" name="Imagem 5">
            <a:extLst>
              <a:ext uri="{FF2B5EF4-FFF2-40B4-BE49-F238E27FC236}">
                <a16:creationId xmlns:a16="http://schemas.microsoft.com/office/drawing/2014/main" id="{9DBEEDED-2C04-7332-54BA-472A20B28197}"/>
              </a:ext>
            </a:extLst>
          </p:cNvPr>
          <p:cNvPicPr>
            <a:picLocks noChangeAspect="1"/>
          </p:cNvPicPr>
          <p:nvPr/>
        </p:nvPicPr>
        <p:blipFill>
          <a:blip r:embed="rId6"/>
          <a:stretch>
            <a:fillRect/>
          </a:stretch>
        </p:blipFill>
        <p:spPr>
          <a:xfrm>
            <a:off x="694574" y="3034670"/>
            <a:ext cx="7679339" cy="1689730"/>
          </a:xfrm>
          <a:prstGeom prst="rect">
            <a:avLst/>
          </a:prstGeom>
        </p:spPr>
      </p:pic>
    </p:spTree>
    <p:extLst>
      <p:ext uri="{BB962C8B-B14F-4D97-AF65-F5344CB8AC3E}">
        <p14:creationId xmlns:p14="http://schemas.microsoft.com/office/powerpoint/2010/main" val="919782190"/>
      </p:ext>
    </p:extLst>
  </p:cSld>
  <p:clrMapOvr>
    <a:overrideClrMapping bg1="lt1" tx1="dk1" bg2="lt2" tx2="dk2" accent1="accent1" accent2="accent2" accent3="accent3" accent4="accent4" accent5="accent5" accent6="accent6" hlink="hlink" folHlink="folHlink"/>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7E6774A-7FFC-9706-09B5-08F976F72D62}"/>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99C53835-AE1D-F518-775C-96CC873D4A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18" name="Picture 17">
            <a:extLst>
              <a:ext uri="{FF2B5EF4-FFF2-40B4-BE49-F238E27FC236}">
                <a16:creationId xmlns:a16="http://schemas.microsoft.com/office/drawing/2014/main" id="{B6D3B184-1A64-378F-7949-B3BD0C18B1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20" name="Oval 19">
            <a:extLst>
              <a:ext uri="{FF2B5EF4-FFF2-40B4-BE49-F238E27FC236}">
                <a16:creationId xmlns:a16="http://schemas.microsoft.com/office/drawing/2014/main" id="{3C120036-A17E-4048-3AA1-FB45358F6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22" name="Picture 21">
            <a:extLst>
              <a:ext uri="{FF2B5EF4-FFF2-40B4-BE49-F238E27FC236}">
                <a16:creationId xmlns:a16="http://schemas.microsoft.com/office/drawing/2014/main" id="{63D5DB15-D9AF-EFBB-0A2F-59471753428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24" name="Picture 23">
            <a:extLst>
              <a:ext uri="{FF2B5EF4-FFF2-40B4-BE49-F238E27FC236}">
                <a16:creationId xmlns:a16="http://schemas.microsoft.com/office/drawing/2014/main" id="{3FA50100-D251-D352-5F77-CBD8FF55AC0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26" name="Rectangle 25">
            <a:extLst>
              <a:ext uri="{FF2B5EF4-FFF2-40B4-BE49-F238E27FC236}">
                <a16:creationId xmlns:a16="http://schemas.microsoft.com/office/drawing/2014/main" id="{78ED4B6B-22F1-BEB2-846B-B49A146D03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28" name="Rectangle 27">
            <a:extLst>
              <a:ext uri="{FF2B5EF4-FFF2-40B4-BE49-F238E27FC236}">
                <a16:creationId xmlns:a16="http://schemas.microsoft.com/office/drawing/2014/main" id="{52100153-FAF9-3DA1-77E5-0A6DD872C4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3" name="CaixaDeTexto 2">
            <a:extLst>
              <a:ext uri="{FF2B5EF4-FFF2-40B4-BE49-F238E27FC236}">
                <a16:creationId xmlns:a16="http://schemas.microsoft.com/office/drawing/2014/main" id="{2E046A6A-39E1-3AE6-701C-07266B6265AB}"/>
              </a:ext>
            </a:extLst>
          </p:cNvPr>
          <p:cNvSpPr txBox="1"/>
          <p:nvPr/>
        </p:nvSpPr>
        <p:spPr>
          <a:xfrm>
            <a:off x="11099719" y="1551629"/>
            <a:ext cx="4469834" cy="1132116"/>
          </a:xfrm>
          <a:prstGeom prst="rect">
            <a:avLst/>
          </a:prstGeom>
        </p:spPr>
        <p:txBody>
          <a:bodyPr vert="horz" lIns="91440" tIns="45720" rIns="91440" bIns="45720" rtlCol="0" anchor="b">
            <a:normAutofit lnSpcReduction="10000"/>
          </a:bodyPr>
          <a:lstStyle/>
          <a:p>
            <a:pPr fontAlgn="base">
              <a:spcBef>
                <a:spcPct val="0"/>
              </a:spcBef>
              <a:spcAft>
                <a:spcPts val="600"/>
              </a:spcAft>
            </a:pPr>
            <a:r>
              <a:rPr lang="en-US" sz="7200" b="0" i="0" kern="1200" dirty="0">
                <a:solidFill>
                  <a:srgbClr val="EBEBEB"/>
                </a:solidFill>
                <a:latin typeface="+mj-lt"/>
                <a:ea typeface="+mj-ea"/>
                <a:cs typeface="+mj-cs"/>
              </a:rPr>
              <a:t>Funções</a:t>
            </a:r>
          </a:p>
        </p:txBody>
      </p:sp>
      <p:sp>
        <p:nvSpPr>
          <p:cNvPr id="11" name="CaixaDeTexto 10">
            <a:extLst>
              <a:ext uri="{FF2B5EF4-FFF2-40B4-BE49-F238E27FC236}">
                <a16:creationId xmlns:a16="http://schemas.microsoft.com/office/drawing/2014/main" id="{27666ABF-33F6-ECB2-4388-C640719E4C83}"/>
              </a:ext>
            </a:extLst>
          </p:cNvPr>
          <p:cNvSpPr txBox="1"/>
          <p:nvPr/>
        </p:nvSpPr>
        <p:spPr>
          <a:xfrm>
            <a:off x="10922566" y="6117772"/>
            <a:ext cx="4469834" cy="2162010"/>
          </a:xfrm>
          <a:prstGeom prst="rect">
            <a:avLst/>
          </a:prstGeom>
        </p:spPr>
        <p:txBody>
          <a:bodyPr vert="horz" lIns="91440" tIns="45720" rIns="91440" bIns="45720" rtlCol="0" anchor="t">
            <a:normAutofit/>
          </a:bodyPr>
          <a:lstStyle/>
          <a:p>
            <a:pPr>
              <a:spcBef>
                <a:spcPts val="1000"/>
              </a:spcBef>
              <a:buClr>
                <a:schemeClr val="bg2">
                  <a:lumMod val="40000"/>
                  <a:lumOff val="60000"/>
                </a:schemeClr>
              </a:buClr>
              <a:buSzPct val="80000"/>
            </a:pPr>
            <a:endParaRPr lang="en-US" sz="2400" cap="all" dirty="0">
              <a:solidFill>
                <a:schemeClr val="tx2">
                  <a:lumMod val="40000"/>
                  <a:lumOff val="60000"/>
                </a:schemeClr>
              </a:solidFill>
              <a:latin typeface="+mj-lt"/>
              <a:ea typeface="+mj-ea"/>
              <a:cs typeface="+mj-cs"/>
            </a:endParaRPr>
          </a:p>
        </p:txBody>
      </p:sp>
      <p:sp>
        <p:nvSpPr>
          <p:cNvPr id="30" name="Freeform 36">
            <a:extLst>
              <a:ext uri="{FF2B5EF4-FFF2-40B4-BE49-F238E27FC236}">
                <a16:creationId xmlns:a16="http://schemas.microsoft.com/office/drawing/2014/main" id="{24AF816C-538A-C0C4-A35B-14634A26DC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951574" y="-1"/>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32" name="Freeform: Shape 31">
            <a:extLst>
              <a:ext uri="{FF2B5EF4-FFF2-40B4-BE49-F238E27FC236}">
                <a16:creationId xmlns:a16="http://schemas.microsoft.com/office/drawing/2014/main" id="{4F632766-554F-0C5C-0235-8CD74D2963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413272" cy="9144000"/>
          </a:xfrm>
          <a:custGeom>
            <a:avLst/>
            <a:gdLst>
              <a:gd name="connsiteX0" fmla="*/ 6465239 w 7809954"/>
              <a:gd name="connsiteY0" fmla="*/ 0 h 6858000"/>
              <a:gd name="connsiteX1" fmla="*/ 7808777 w 7809954"/>
              <a:gd name="connsiteY1" fmla="*/ 0 h 6858000"/>
              <a:gd name="connsiteX2" fmla="*/ 7783732 w 7809954"/>
              <a:gd name="connsiteY2" fmla="*/ 155676 h 6858000"/>
              <a:gd name="connsiteX3" fmla="*/ 7759863 w 7809954"/>
              <a:gd name="connsiteY3" fmla="*/ 310667 h 6858000"/>
              <a:gd name="connsiteX4" fmla="*/ 7736499 w 7809954"/>
              <a:gd name="connsiteY4" fmla="*/ 466344 h 6858000"/>
              <a:gd name="connsiteX5" fmla="*/ 7716496 w 7809954"/>
              <a:gd name="connsiteY5" fmla="*/ 622706 h 6858000"/>
              <a:gd name="connsiteX6" fmla="*/ 7696325 w 7809954"/>
              <a:gd name="connsiteY6" fmla="*/ 778383 h 6858000"/>
              <a:gd name="connsiteX7" fmla="*/ 7677499 w 7809954"/>
              <a:gd name="connsiteY7" fmla="*/ 934745 h 6858000"/>
              <a:gd name="connsiteX8" fmla="*/ 7661363 w 7809954"/>
              <a:gd name="connsiteY8" fmla="*/ 1089050 h 6858000"/>
              <a:gd name="connsiteX9" fmla="*/ 7646067 w 7809954"/>
              <a:gd name="connsiteY9" fmla="*/ 1245413 h 6858000"/>
              <a:gd name="connsiteX10" fmla="*/ 7632115 w 7809954"/>
              <a:gd name="connsiteY10" fmla="*/ 1401089 h 6858000"/>
              <a:gd name="connsiteX11" fmla="*/ 7620013 w 7809954"/>
              <a:gd name="connsiteY11" fmla="*/ 1554023 h 6858000"/>
              <a:gd name="connsiteX12" fmla="*/ 7607910 w 7809954"/>
              <a:gd name="connsiteY12" fmla="*/ 1709013 h 6858000"/>
              <a:gd name="connsiteX13" fmla="*/ 7597825 w 7809954"/>
              <a:gd name="connsiteY13" fmla="*/ 1861947 h 6858000"/>
              <a:gd name="connsiteX14" fmla="*/ 7589925 w 7809954"/>
              <a:gd name="connsiteY14" fmla="*/ 2014880 h 6858000"/>
              <a:gd name="connsiteX15" fmla="*/ 7581688 w 7809954"/>
              <a:gd name="connsiteY15" fmla="*/ 2167128 h 6858000"/>
              <a:gd name="connsiteX16" fmla="*/ 7574797 w 7809954"/>
              <a:gd name="connsiteY16" fmla="*/ 2318004 h 6858000"/>
              <a:gd name="connsiteX17" fmla="*/ 7569922 w 7809954"/>
              <a:gd name="connsiteY17" fmla="*/ 2467508 h 6858000"/>
              <a:gd name="connsiteX18" fmla="*/ 7565720 w 7809954"/>
              <a:gd name="connsiteY18" fmla="*/ 2617013 h 6858000"/>
              <a:gd name="connsiteX19" fmla="*/ 7561686 w 7809954"/>
              <a:gd name="connsiteY19" fmla="*/ 2765145 h 6858000"/>
              <a:gd name="connsiteX20" fmla="*/ 7559837 w 7809954"/>
              <a:gd name="connsiteY20" fmla="*/ 2911221 h 6858000"/>
              <a:gd name="connsiteX21" fmla="*/ 7557820 w 7809954"/>
              <a:gd name="connsiteY21" fmla="*/ 3057296 h 6858000"/>
              <a:gd name="connsiteX22" fmla="*/ 7556811 w 7809954"/>
              <a:gd name="connsiteY22" fmla="*/ 3201314 h 6858000"/>
              <a:gd name="connsiteX23" fmla="*/ 7557820 w 7809954"/>
              <a:gd name="connsiteY23" fmla="*/ 3343960 h 6858000"/>
              <a:gd name="connsiteX24" fmla="*/ 7557820 w 7809954"/>
              <a:gd name="connsiteY24" fmla="*/ 3485235 h 6858000"/>
              <a:gd name="connsiteX25" fmla="*/ 7559837 w 7809954"/>
              <a:gd name="connsiteY25" fmla="*/ 3625138 h 6858000"/>
              <a:gd name="connsiteX26" fmla="*/ 7562862 w 7809954"/>
              <a:gd name="connsiteY26" fmla="*/ 3762298 h 6858000"/>
              <a:gd name="connsiteX27" fmla="*/ 7565720 w 7809954"/>
              <a:gd name="connsiteY27" fmla="*/ 3898087 h 6858000"/>
              <a:gd name="connsiteX28" fmla="*/ 7568914 w 7809954"/>
              <a:gd name="connsiteY28" fmla="*/ 4031132 h 6858000"/>
              <a:gd name="connsiteX29" fmla="*/ 7573788 w 7809954"/>
              <a:gd name="connsiteY29" fmla="*/ 4163491 h 6858000"/>
              <a:gd name="connsiteX30" fmla="*/ 7578999 w 7809954"/>
              <a:gd name="connsiteY30" fmla="*/ 4293793 h 6858000"/>
              <a:gd name="connsiteX31" fmla="*/ 7583705 w 7809954"/>
              <a:gd name="connsiteY31" fmla="*/ 4421352 h 6858000"/>
              <a:gd name="connsiteX32" fmla="*/ 7596985 w 7809954"/>
              <a:gd name="connsiteY32" fmla="*/ 4670298 h 6858000"/>
              <a:gd name="connsiteX33" fmla="*/ 7611104 w 7809954"/>
              <a:gd name="connsiteY33" fmla="*/ 4908956 h 6858000"/>
              <a:gd name="connsiteX34" fmla="*/ 7625896 w 7809954"/>
              <a:gd name="connsiteY34" fmla="*/ 5138013 h 6858000"/>
              <a:gd name="connsiteX35" fmla="*/ 7642201 w 7809954"/>
              <a:gd name="connsiteY35" fmla="*/ 5354726 h 6858000"/>
              <a:gd name="connsiteX36" fmla="*/ 7659178 w 7809954"/>
              <a:gd name="connsiteY36" fmla="*/ 5561838 h 6858000"/>
              <a:gd name="connsiteX37" fmla="*/ 7677499 w 7809954"/>
              <a:gd name="connsiteY37" fmla="*/ 5753862 h 6858000"/>
              <a:gd name="connsiteX38" fmla="*/ 7695485 w 7809954"/>
              <a:gd name="connsiteY38" fmla="*/ 5934227 h 6858000"/>
              <a:gd name="connsiteX39" fmla="*/ 7713470 w 7809954"/>
              <a:gd name="connsiteY39" fmla="*/ 6100191 h 6858000"/>
              <a:gd name="connsiteX40" fmla="*/ 7730447 w 7809954"/>
              <a:gd name="connsiteY40" fmla="*/ 6252438 h 6858000"/>
              <a:gd name="connsiteX41" fmla="*/ 7746584 w 7809954"/>
              <a:gd name="connsiteY41" fmla="*/ 6387541 h 6858000"/>
              <a:gd name="connsiteX42" fmla="*/ 7761880 w 7809954"/>
              <a:gd name="connsiteY42" fmla="*/ 6509613 h 6858000"/>
              <a:gd name="connsiteX43" fmla="*/ 7774655 w 7809954"/>
              <a:gd name="connsiteY43" fmla="*/ 6612483 h 6858000"/>
              <a:gd name="connsiteX44" fmla="*/ 7786757 w 7809954"/>
              <a:gd name="connsiteY44" fmla="*/ 6698894 h 6858000"/>
              <a:gd name="connsiteX45" fmla="*/ 7804071 w 7809954"/>
              <a:gd name="connsiteY45" fmla="*/ 6817538 h 6858000"/>
              <a:gd name="connsiteX46" fmla="*/ 7809954 w 7809954"/>
              <a:gd name="connsiteY46" fmla="*/ 6858000 h 6858000"/>
              <a:gd name="connsiteX47" fmla="*/ 7157124 w 7809954"/>
              <a:gd name="connsiteY47" fmla="*/ 6858000 h 6858000"/>
              <a:gd name="connsiteX48" fmla="*/ 7157124 w 7809954"/>
              <a:gd name="connsiteY48" fmla="*/ 6858000 h 6858000"/>
              <a:gd name="connsiteX49" fmla="*/ 0 w 7809954"/>
              <a:gd name="connsiteY49" fmla="*/ 6858000 h 6858000"/>
              <a:gd name="connsiteX50" fmla="*/ 0 w 7809954"/>
              <a:gd name="connsiteY50" fmla="*/ 0 h 6858000"/>
              <a:gd name="connsiteX51" fmla="*/ 6465239 w 7809954"/>
              <a:gd name="connsiteY5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7809954" h="6858000">
                <a:moveTo>
                  <a:pt x="6465239" y="0"/>
                </a:moveTo>
                <a:lnTo>
                  <a:pt x="7808777" y="0"/>
                </a:lnTo>
                <a:lnTo>
                  <a:pt x="7783732" y="155676"/>
                </a:lnTo>
                <a:lnTo>
                  <a:pt x="7759863" y="310667"/>
                </a:lnTo>
                <a:lnTo>
                  <a:pt x="7736499" y="466344"/>
                </a:lnTo>
                <a:lnTo>
                  <a:pt x="7716496" y="622706"/>
                </a:lnTo>
                <a:lnTo>
                  <a:pt x="7696325" y="778383"/>
                </a:lnTo>
                <a:lnTo>
                  <a:pt x="7677499" y="934745"/>
                </a:lnTo>
                <a:lnTo>
                  <a:pt x="7661363" y="1089050"/>
                </a:lnTo>
                <a:lnTo>
                  <a:pt x="7646067" y="1245413"/>
                </a:lnTo>
                <a:lnTo>
                  <a:pt x="7632115" y="1401089"/>
                </a:lnTo>
                <a:lnTo>
                  <a:pt x="7620013" y="1554023"/>
                </a:lnTo>
                <a:lnTo>
                  <a:pt x="7607910" y="1709013"/>
                </a:lnTo>
                <a:lnTo>
                  <a:pt x="7597825" y="1861947"/>
                </a:lnTo>
                <a:lnTo>
                  <a:pt x="7589925" y="2014880"/>
                </a:lnTo>
                <a:lnTo>
                  <a:pt x="7581688" y="2167128"/>
                </a:lnTo>
                <a:lnTo>
                  <a:pt x="7574797" y="2318004"/>
                </a:lnTo>
                <a:lnTo>
                  <a:pt x="7569922" y="2467508"/>
                </a:lnTo>
                <a:lnTo>
                  <a:pt x="7565720" y="2617013"/>
                </a:lnTo>
                <a:lnTo>
                  <a:pt x="7561686" y="2765145"/>
                </a:lnTo>
                <a:lnTo>
                  <a:pt x="7559837" y="2911221"/>
                </a:lnTo>
                <a:lnTo>
                  <a:pt x="7557820" y="3057296"/>
                </a:lnTo>
                <a:lnTo>
                  <a:pt x="7556811" y="3201314"/>
                </a:lnTo>
                <a:lnTo>
                  <a:pt x="7557820" y="3343960"/>
                </a:lnTo>
                <a:lnTo>
                  <a:pt x="7557820" y="3485235"/>
                </a:lnTo>
                <a:lnTo>
                  <a:pt x="7559837" y="3625138"/>
                </a:lnTo>
                <a:lnTo>
                  <a:pt x="7562862" y="3762298"/>
                </a:lnTo>
                <a:lnTo>
                  <a:pt x="7565720" y="3898087"/>
                </a:lnTo>
                <a:lnTo>
                  <a:pt x="7568914" y="4031132"/>
                </a:lnTo>
                <a:lnTo>
                  <a:pt x="7573788" y="4163491"/>
                </a:lnTo>
                <a:lnTo>
                  <a:pt x="7578999" y="4293793"/>
                </a:lnTo>
                <a:lnTo>
                  <a:pt x="7583705" y="4421352"/>
                </a:lnTo>
                <a:lnTo>
                  <a:pt x="7596985" y="4670298"/>
                </a:lnTo>
                <a:lnTo>
                  <a:pt x="7611104" y="4908956"/>
                </a:lnTo>
                <a:lnTo>
                  <a:pt x="7625896" y="5138013"/>
                </a:lnTo>
                <a:lnTo>
                  <a:pt x="7642201" y="5354726"/>
                </a:lnTo>
                <a:lnTo>
                  <a:pt x="7659178" y="5561838"/>
                </a:lnTo>
                <a:lnTo>
                  <a:pt x="7677499" y="5753862"/>
                </a:lnTo>
                <a:lnTo>
                  <a:pt x="7695485" y="5934227"/>
                </a:lnTo>
                <a:lnTo>
                  <a:pt x="7713470" y="6100191"/>
                </a:lnTo>
                <a:lnTo>
                  <a:pt x="7730447" y="6252438"/>
                </a:lnTo>
                <a:lnTo>
                  <a:pt x="7746584" y="6387541"/>
                </a:lnTo>
                <a:lnTo>
                  <a:pt x="7761880" y="6509613"/>
                </a:lnTo>
                <a:lnTo>
                  <a:pt x="7774655" y="6612483"/>
                </a:lnTo>
                <a:lnTo>
                  <a:pt x="7786757" y="6698894"/>
                </a:lnTo>
                <a:lnTo>
                  <a:pt x="7804071" y="6817538"/>
                </a:lnTo>
                <a:lnTo>
                  <a:pt x="7809954" y="6858000"/>
                </a:lnTo>
                <a:lnTo>
                  <a:pt x="7157124" y="6858000"/>
                </a:lnTo>
                <a:lnTo>
                  <a:pt x="7157124" y="6858000"/>
                </a:lnTo>
                <a:lnTo>
                  <a:pt x="0" y="6858000"/>
                </a:lnTo>
                <a:lnTo>
                  <a:pt x="0" y="0"/>
                </a:lnTo>
                <a:lnTo>
                  <a:pt x="6465239"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Rectangle 33">
            <a:extLst>
              <a:ext uri="{FF2B5EF4-FFF2-40B4-BE49-F238E27FC236}">
                <a16:creationId xmlns:a16="http://schemas.microsoft.com/office/drawing/2014/main" id="{9F29FC52-7FA8-319C-2E8F-334D69B778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4" name="Imagem 3">
            <a:extLst>
              <a:ext uri="{FF2B5EF4-FFF2-40B4-BE49-F238E27FC236}">
                <a16:creationId xmlns:a16="http://schemas.microsoft.com/office/drawing/2014/main" id="{E4321075-A9D0-C443-4EDC-5AF3EEDA50C0}"/>
              </a:ext>
            </a:extLst>
          </p:cNvPr>
          <p:cNvPicPr>
            <a:picLocks noChangeAspect="1"/>
          </p:cNvPicPr>
          <p:nvPr/>
        </p:nvPicPr>
        <p:blipFill>
          <a:blip r:embed="rId6"/>
          <a:stretch>
            <a:fillRect/>
          </a:stretch>
        </p:blipFill>
        <p:spPr>
          <a:xfrm>
            <a:off x="858472" y="2721845"/>
            <a:ext cx="8360882" cy="3699689"/>
          </a:xfrm>
          <a:prstGeom prst="rect">
            <a:avLst/>
          </a:prstGeom>
          <a:effectLst/>
        </p:spPr>
      </p:pic>
      <p:sp>
        <p:nvSpPr>
          <p:cNvPr id="2" name="CaixaDeTexto 1">
            <a:extLst>
              <a:ext uri="{FF2B5EF4-FFF2-40B4-BE49-F238E27FC236}">
                <a16:creationId xmlns:a16="http://schemas.microsoft.com/office/drawing/2014/main" id="{75EF05F6-9DC3-8CDA-5F8F-DE2A07EE3B3C}"/>
              </a:ext>
            </a:extLst>
          </p:cNvPr>
          <p:cNvSpPr txBox="1"/>
          <p:nvPr/>
        </p:nvSpPr>
        <p:spPr>
          <a:xfrm>
            <a:off x="858472" y="1949873"/>
            <a:ext cx="7368080" cy="523220"/>
          </a:xfrm>
          <a:prstGeom prst="rect">
            <a:avLst/>
          </a:prstGeom>
          <a:noFill/>
        </p:spPr>
        <p:txBody>
          <a:bodyPr wrap="square">
            <a:spAutoFit/>
          </a:bodyPr>
          <a:lstStyle/>
          <a:p>
            <a:pPr>
              <a:buNone/>
            </a:pPr>
            <a:r>
              <a:rPr lang="pt-BR" sz="2800" b="1" dirty="0">
                <a:solidFill>
                  <a:srgbClr val="FFC000"/>
                </a:solidFill>
              </a:rPr>
              <a:t>Função com parâmetros e retorno</a:t>
            </a:r>
          </a:p>
        </p:txBody>
      </p:sp>
    </p:spTree>
    <p:extLst>
      <p:ext uri="{BB962C8B-B14F-4D97-AF65-F5344CB8AC3E}">
        <p14:creationId xmlns:p14="http://schemas.microsoft.com/office/powerpoint/2010/main" val="2356424733"/>
      </p:ext>
    </p:extLst>
  </p:cSld>
  <p:clrMapOvr>
    <a:overrideClrMapping bg1="lt1" tx1="dk1" bg2="lt2" tx2="dk2" accent1="accent1" accent2="accent2" accent3="accent3" accent4="accent4" accent5="accent5" accent6="accent6" hlink="hlink" folHlink="folHlink"/>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B5D01A7D-7141-E474-9F55-FAE527CE0D99}"/>
              </a:ext>
            </a:extLst>
          </p:cNvPr>
          <p:cNvSpPr txBox="1"/>
          <p:nvPr/>
        </p:nvSpPr>
        <p:spPr>
          <a:xfrm>
            <a:off x="736600" y="2590800"/>
            <a:ext cx="11277600" cy="5078313"/>
          </a:xfrm>
          <a:prstGeom prst="rect">
            <a:avLst/>
          </a:prstGeom>
          <a:noFill/>
        </p:spPr>
        <p:txBody>
          <a:bodyPr wrap="square">
            <a:spAutoFit/>
          </a:bodyPr>
          <a:lstStyle/>
          <a:p>
            <a:pPr>
              <a:buNone/>
            </a:pPr>
            <a:r>
              <a:rPr lang="pt-BR" sz="3600" b="1" dirty="0"/>
              <a:t>Boas práticas</a:t>
            </a:r>
          </a:p>
          <a:p>
            <a:pPr>
              <a:buNone/>
            </a:pPr>
            <a:endParaRPr lang="pt-BR" sz="3600" b="1" dirty="0"/>
          </a:p>
          <a:p>
            <a:pPr>
              <a:buNone/>
            </a:pPr>
            <a:r>
              <a:rPr lang="pt-BR" sz="3600" dirty="0"/>
              <a:t>✅ nomes claros</a:t>
            </a:r>
          </a:p>
          <a:p>
            <a:pPr>
              <a:buNone/>
            </a:pPr>
            <a:br>
              <a:rPr lang="pt-BR" sz="3600" dirty="0"/>
            </a:br>
            <a:r>
              <a:rPr lang="pt-BR" sz="3600" dirty="0"/>
              <a:t>✅ funções pequenas</a:t>
            </a:r>
          </a:p>
          <a:p>
            <a:pPr>
              <a:buNone/>
            </a:pPr>
            <a:br>
              <a:rPr lang="pt-BR" sz="3600" dirty="0"/>
            </a:br>
            <a:r>
              <a:rPr lang="pt-BR" sz="3600" dirty="0"/>
              <a:t>✅ evitar repetição</a:t>
            </a:r>
          </a:p>
          <a:p>
            <a:pPr>
              <a:buNone/>
            </a:pPr>
            <a:br>
              <a:rPr lang="pt-BR" sz="3600" dirty="0"/>
            </a:br>
            <a:r>
              <a:rPr lang="pt-BR" sz="3600" dirty="0"/>
              <a:t>✅ uma responsabilidade por função</a:t>
            </a:r>
          </a:p>
        </p:txBody>
      </p:sp>
      <p:sp>
        <p:nvSpPr>
          <p:cNvPr id="7" name="CaixaDeTexto 6">
            <a:extLst>
              <a:ext uri="{FF2B5EF4-FFF2-40B4-BE49-F238E27FC236}">
                <a16:creationId xmlns:a16="http://schemas.microsoft.com/office/drawing/2014/main" id="{6B67D900-0D07-AA36-0ABC-6829C5C32984}"/>
              </a:ext>
            </a:extLst>
          </p:cNvPr>
          <p:cNvSpPr txBox="1"/>
          <p:nvPr/>
        </p:nvSpPr>
        <p:spPr>
          <a:xfrm>
            <a:off x="-1778000" y="533400"/>
            <a:ext cx="8125968" cy="1015663"/>
          </a:xfrm>
          <a:prstGeom prst="rect">
            <a:avLst/>
          </a:prstGeom>
          <a:noFill/>
        </p:spPr>
        <p:txBody>
          <a:bodyPr wrap="square">
            <a:spAutoFit/>
          </a:bodyPr>
          <a:lstStyle/>
          <a:p>
            <a:pPr algn="ctr" defTabSz="914400" eaLnBrk="0" fontAlgn="base" hangingPunct="0">
              <a:spcBef>
                <a:spcPct val="0"/>
              </a:spcBef>
              <a:spcAft>
                <a:spcPct val="0"/>
              </a:spcAft>
            </a:pPr>
            <a:r>
              <a:rPr lang="pt-BR" sz="6000">
                <a:solidFill>
                  <a:srgbClr val="FFC000"/>
                </a:solidFill>
                <a:latin typeface="Arial" panose="020B0604020202020204" pitchFamily="34" charset="0"/>
              </a:rPr>
              <a:t>Funções</a:t>
            </a:r>
            <a:endParaRPr lang="pt-BR" sz="6000" dirty="0">
              <a:solidFill>
                <a:srgbClr val="FFC000"/>
              </a:solidFill>
              <a:latin typeface="Arial" panose="020B0604020202020204" pitchFamily="34" charset="0"/>
            </a:endParaRPr>
          </a:p>
        </p:txBody>
      </p:sp>
    </p:spTree>
    <p:extLst>
      <p:ext uri="{BB962C8B-B14F-4D97-AF65-F5344CB8AC3E}">
        <p14:creationId xmlns:p14="http://schemas.microsoft.com/office/powerpoint/2010/main" val="163893942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2" name="Picture 11">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33" name="Picture 13">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34" name="Oval 15">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35" name="Picture 17">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36" name="Picture 19">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37" name="Rectangle 21">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useBgFill="1">
        <p:nvSpPr>
          <p:cNvPr id="38" name="Rectangle 23">
            <a:extLst>
              <a:ext uri="{FF2B5EF4-FFF2-40B4-BE49-F238E27FC236}">
                <a16:creationId xmlns:a16="http://schemas.microsoft.com/office/drawing/2014/main" id="{20F6071B-48FA-4685-A9C9-A7B21E1C14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
            <a:ext cx="16255593" cy="63076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Imagem 6">
            <a:extLst>
              <a:ext uri="{FF2B5EF4-FFF2-40B4-BE49-F238E27FC236}">
                <a16:creationId xmlns:a16="http://schemas.microsoft.com/office/drawing/2014/main" id="{A77C7A79-6286-C67E-989D-31A917EBFCA7}"/>
              </a:ext>
            </a:extLst>
          </p:cNvPr>
          <p:cNvPicPr>
            <a:picLocks noChangeAspect="1"/>
          </p:cNvPicPr>
          <p:nvPr/>
        </p:nvPicPr>
        <p:blipFill>
          <a:blip r:embed="rId6"/>
          <a:stretch>
            <a:fillRect/>
          </a:stretch>
        </p:blipFill>
        <p:spPr>
          <a:xfrm>
            <a:off x="847277" y="853441"/>
            <a:ext cx="11237784" cy="3745929"/>
          </a:xfrm>
          <a:prstGeom prst="rect">
            <a:avLst/>
          </a:prstGeom>
          <a:effectLst/>
        </p:spPr>
      </p:pic>
      <p:sp>
        <p:nvSpPr>
          <p:cNvPr id="39" name="Rectangle 25">
            <a:extLst>
              <a:ext uri="{FF2B5EF4-FFF2-40B4-BE49-F238E27FC236}">
                <a16:creationId xmlns:a16="http://schemas.microsoft.com/office/drawing/2014/main" id="{8C56044C-1580-4C45-8AA3-F2A07478B4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40" name="Freeform: Shape 27">
            <a:extLst>
              <a:ext uri="{FF2B5EF4-FFF2-40B4-BE49-F238E27FC236}">
                <a16:creationId xmlns:a16="http://schemas.microsoft.com/office/drawing/2014/main" id="{51A8E3CE-561F-42BE-B6A2-FBE96F9A82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4772276"/>
            <a:ext cx="16255594" cy="4371724"/>
          </a:xfrm>
          <a:custGeom>
            <a:avLst/>
            <a:gdLst>
              <a:gd name="connsiteX0" fmla="*/ 1 w 12191696"/>
              <a:gd name="connsiteY0" fmla="*/ 0 h 3278793"/>
              <a:gd name="connsiteX1" fmla="*/ 71932 w 12191696"/>
              <a:gd name="connsiteY1" fmla="*/ 12261 h 3278793"/>
              <a:gd name="connsiteX2" fmla="*/ 282849 w 12191696"/>
              <a:gd name="connsiteY2" fmla="*/ 48343 h 3278793"/>
              <a:gd name="connsiteX3" fmla="*/ 436464 w 12191696"/>
              <a:gd name="connsiteY3" fmla="*/ 73565 h 3278793"/>
              <a:gd name="connsiteX4" fmla="*/ 619339 w 12191696"/>
              <a:gd name="connsiteY4" fmla="*/ 100188 h 3278793"/>
              <a:gd name="connsiteX5" fmla="*/ 836351 w 12191696"/>
              <a:gd name="connsiteY5" fmla="*/ 132066 h 3278793"/>
              <a:gd name="connsiteX6" fmla="*/ 1076528 w 12191696"/>
              <a:gd name="connsiteY6" fmla="*/ 165696 h 3278793"/>
              <a:gd name="connsiteX7" fmla="*/ 1347183 w 12191696"/>
              <a:gd name="connsiteY7" fmla="*/ 201077 h 3278793"/>
              <a:gd name="connsiteX8" fmla="*/ 1642223 w 12191696"/>
              <a:gd name="connsiteY8" fmla="*/ 238560 h 3278793"/>
              <a:gd name="connsiteX9" fmla="*/ 1962864 w 12191696"/>
              <a:gd name="connsiteY9" fmla="*/ 276043 h 3278793"/>
              <a:gd name="connsiteX10" fmla="*/ 2304232 w 12191696"/>
              <a:gd name="connsiteY10" fmla="*/ 314227 h 3278793"/>
              <a:gd name="connsiteX11" fmla="*/ 2672421 w 12191696"/>
              <a:gd name="connsiteY11" fmla="*/ 349608 h 3278793"/>
              <a:gd name="connsiteX12" fmla="*/ 3057678 w 12191696"/>
              <a:gd name="connsiteY12" fmla="*/ 383588 h 3278793"/>
              <a:gd name="connsiteX13" fmla="*/ 3464881 w 12191696"/>
              <a:gd name="connsiteY13" fmla="*/ 414415 h 3278793"/>
              <a:gd name="connsiteX14" fmla="*/ 3889152 w 12191696"/>
              <a:gd name="connsiteY14" fmla="*/ 443841 h 3278793"/>
              <a:gd name="connsiteX15" fmla="*/ 4331710 w 12191696"/>
              <a:gd name="connsiteY15" fmla="*/ 471515 h 3278793"/>
              <a:gd name="connsiteX16" fmla="*/ 4558476 w 12191696"/>
              <a:gd name="connsiteY16" fmla="*/ 481324 h 3278793"/>
              <a:gd name="connsiteX17" fmla="*/ 4790118 w 12191696"/>
              <a:gd name="connsiteY17" fmla="*/ 492183 h 3278793"/>
              <a:gd name="connsiteX18" fmla="*/ 5025418 w 12191696"/>
              <a:gd name="connsiteY18" fmla="*/ 502342 h 3278793"/>
              <a:gd name="connsiteX19" fmla="*/ 5261937 w 12191696"/>
              <a:gd name="connsiteY19" fmla="*/ 508998 h 3278793"/>
              <a:gd name="connsiteX20" fmla="*/ 5503333 w 12191696"/>
              <a:gd name="connsiteY20" fmla="*/ 514953 h 3278793"/>
              <a:gd name="connsiteX21" fmla="*/ 5747166 w 12191696"/>
              <a:gd name="connsiteY21" fmla="*/ 521259 h 3278793"/>
              <a:gd name="connsiteX22" fmla="*/ 5995877 w 12191696"/>
              <a:gd name="connsiteY22" fmla="*/ 525463 h 3278793"/>
              <a:gd name="connsiteX23" fmla="*/ 6247026 w 12191696"/>
              <a:gd name="connsiteY23" fmla="*/ 525463 h 3278793"/>
              <a:gd name="connsiteX24" fmla="*/ 6500613 w 12191696"/>
              <a:gd name="connsiteY24" fmla="*/ 527565 h 3278793"/>
              <a:gd name="connsiteX25" fmla="*/ 6756639 w 12191696"/>
              <a:gd name="connsiteY25" fmla="*/ 525463 h 3278793"/>
              <a:gd name="connsiteX26" fmla="*/ 7016322 w 12191696"/>
              <a:gd name="connsiteY26" fmla="*/ 521259 h 3278793"/>
              <a:gd name="connsiteX27" fmla="*/ 7276005 w 12191696"/>
              <a:gd name="connsiteY27" fmla="*/ 517406 h 3278793"/>
              <a:gd name="connsiteX28" fmla="*/ 7539345 w 12191696"/>
              <a:gd name="connsiteY28" fmla="*/ 508998 h 3278793"/>
              <a:gd name="connsiteX29" fmla="*/ 7805124 w 12191696"/>
              <a:gd name="connsiteY29" fmla="*/ 500241 h 3278793"/>
              <a:gd name="connsiteX30" fmla="*/ 8070903 w 12191696"/>
              <a:gd name="connsiteY30" fmla="*/ 490082 h 3278793"/>
              <a:gd name="connsiteX31" fmla="*/ 8339121 w 12191696"/>
              <a:gd name="connsiteY31" fmla="*/ 475719 h 3278793"/>
              <a:gd name="connsiteX32" fmla="*/ 8609776 w 12191696"/>
              <a:gd name="connsiteY32" fmla="*/ 458554 h 3278793"/>
              <a:gd name="connsiteX33" fmla="*/ 8881651 w 12191696"/>
              <a:gd name="connsiteY33" fmla="*/ 442089 h 3278793"/>
              <a:gd name="connsiteX34" fmla="*/ 9153526 w 12191696"/>
              <a:gd name="connsiteY34" fmla="*/ 421071 h 3278793"/>
              <a:gd name="connsiteX35" fmla="*/ 9429058 w 12191696"/>
              <a:gd name="connsiteY35" fmla="*/ 395849 h 3278793"/>
              <a:gd name="connsiteX36" fmla="*/ 9700933 w 12191696"/>
              <a:gd name="connsiteY36" fmla="*/ 370626 h 3278793"/>
              <a:gd name="connsiteX37" fmla="*/ 9977684 w 12191696"/>
              <a:gd name="connsiteY37" fmla="*/ 341551 h 3278793"/>
              <a:gd name="connsiteX38" fmla="*/ 10255655 w 12191696"/>
              <a:gd name="connsiteY38" fmla="*/ 309673 h 3278793"/>
              <a:gd name="connsiteX39" fmla="*/ 10529968 w 12191696"/>
              <a:gd name="connsiteY39" fmla="*/ 276043 h 3278793"/>
              <a:gd name="connsiteX40" fmla="*/ 10807939 w 12191696"/>
              <a:gd name="connsiteY40" fmla="*/ 236809 h 3278793"/>
              <a:gd name="connsiteX41" fmla="*/ 11084690 w 12191696"/>
              <a:gd name="connsiteY41" fmla="*/ 194772 h 3278793"/>
              <a:gd name="connsiteX42" fmla="*/ 11362661 w 12191696"/>
              <a:gd name="connsiteY42" fmla="*/ 153085 h 3278793"/>
              <a:gd name="connsiteX43" fmla="*/ 11639412 w 12191696"/>
              <a:gd name="connsiteY43" fmla="*/ 104392 h 3278793"/>
              <a:gd name="connsiteX44" fmla="*/ 11914945 w 12191696"/>
              <a:gd name="connsiteY44" fmla="*/ 54648 h 3278793"/>
              <a:gd name="connsiteX45" fmla="*/ 12191696 w 12191696"/>
              <a:gd name="connsiteY45" fmla="*/ 2452 h 3278793"/>
              <a:gd name="connsiteX46" fmla="*/ 12191696 w 12191696"/>
              <a:gd name="connsiteY46" fmla="*/ 2802467 h 3278793"/>
              <a:gd name="connsiteX47" fmla="*/ 12191695 w 12191696"/>
              <a:gd name="connsiteY47" fmla="*/ 2802467 h 3278793"/>
              <a:gd name="connsiteX48" fmla="*/ 12191695 w 12191696"/>
              <a:gd name="connsiteY48" fmla="*/ 3278793 h 3278793"/>
              <a:gd name="connsiteX49" fmla="*/ 0 w 12191696"/>
              <a:gd name="connsiteY49" fmla="*/ 3278793 h 3278793"/>
              <a:gd name="connsiteX50" fmla="*/ 0 w 12191696"/>
              <a:gd name="connsiteY50" fmla="*/ 2134639 h 3278793"/>
              <a:gd name="connsiteX51" fmla="*/ 1 w 12191696"/>
              <a:gd name="connsiteY51" fmla="*/ 2134639 h 3278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1696" h="3278793">
                <a:moveTo>
                  <a:pt x="1" y="0"/>
                </a:moveTo>
                <a:lnTo>
                  <a:pt x="71932" y="12261"/>
                </a:lnTo>
                <a:lnTo>
                  <a:pt x="282849" y="48343"/>
                </a:lnTo>
                <a:lnTo>
                  <a:pt x="436464" y="73565"/>
                </a:lnTo>
                <a:lnTo>
                  <a:pt x="619339" y="100188"/>
                </a:lnTo>
                <a:lnTo>
                  <a:pt x="836351" y="132066"/>
                </a:lnTo>
                <a:lnTo>
                  <a:pt x="1076528" y="165696"/>
                </a:lnTo>
                <a:lnTo>
                  <a:pt x="1347183"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3" y="514953"/>
                </a:lnTo>
                <a:lnTo>
                  <a:pt x="5747166"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802467"/>
                </a:lnTo>
                <a:lnTo>
                  <a:pt x="12191695" y="2802467"/>
                </a:lnTo>
                <a:lnTo>
                  <a:pt x="12191695" y="3278793"/>
                </a:lnTo>
                <a:lnTo>
                  <a:pt x="0" y="3278793"/>
                </a:lnTo>
                <a:lnTo>
                  <a:pt x="0" y="2134639"/>
                </a:lnTo>
                <a:lnTo>
                  <a:pt x="1" y="2134639"/>
                </a:lnTo>
                <a:close/>
              </a:path>
            </a:pathLst>
          </a:custGeom>
          <a:ln>
            <a:noFill/>
          </a:ln>
        </p:spPr>
        <p:style>
          <a:lnRef idx="0">
            <a:scrgbClr r="0" g="0" b="0"/>
          </a:lnRef>
          <a:fillRef idx="1003">
            <a:schemeClr val="dk2"/>
          </a:fillRef>
          <a:effectRef idx="0">
            <a:scrgbClr r="0" g="0" b="0"/>
          </a:effectRef>
          <a:fontRef idx="major"/>
        </p:style>
        <p:txBody>
          <a:bodyPr/>
          <a:lstStyle/>
          <a:p>
            <a:endParaRPr lang="pt-BR"/>
          </a:p>
        </p:txBody>
      </p:sp>
      <p:sp>
        <p:nvSpPr>
          <p:cNvPr id="3" name="CaixaDeTexto 2">
            <a:extLst>
              <a:ext uri="{FF2B5EF4-FFF2-40B4-BE49-F238E27FC236}">
                <a16:creationId xmlns:a16="http://schemas.microsoft.com/office/drawing/2014/main" id="{696A96D3-2024-71A6-79CF-CC743879B6E2}"/>
              </a:ext>
            </a:extLst>
          </p:cNvPr>
          <p:cNvSpPr txBox="1"/>
          <p:nvPr/>
        </p:nvSpPr>
        <p:spPr>
          <a:xfrm>
            <a:off x="849221" y="5829132"/>
            <a:ext cx="12199133" cy="1800697"/>
          </a:xfrm>
          <a:prstGeom prst="rect">
            <a:avLst/>
          </a:prstGeom>
        </p:spPr>
        <p:txBody>
          <a:bodyPr vert="horz" lIns="91440" tIns="45720" rIns="91440" bIns="45720" rtlCol="0" anchor="b">
            <a:normAutofit/>
          </a:bodyPr>
          <a:lstStyle/>
          <a:p>
            <a:pPr>
              <a:spcBef>
                <a:spcPct val="0"/>
              </a:spcBef>
              <a:spcAft>
                <a:spcPts val="600"/>
              </a:spcAft>
            </a:pPr>
            <a:r>
              <a:rPr lang="en-US" sz="7400" b="0" i="0" kern="1200">
                <a:solidFill>
                  <a:srgbClr val="EBEBEB"/>
                </a:solidFill>
                <a:latin typeface="+mj-lt"/>
                <a:ea typeface="+mj-ea"/>
                <a:cs typeface="+mj-cs"/>
              </a:rPr>
              <a:t>O que é modularização?</a:t>
            </a:r>
          </a:p>
        </p:txBody>
      </p:sp>
      <p:sp>
        <p:nvSpPr>
          <p:cNvPr id="5" name="CaixaDeTexto 4">
            <a:extLst>
              <a:ext uri="{FF2B5EF4-FFF2-40B4-BE49-F238E27FC236}">
                <a16:creationId xmlns:a16="http://schemas.microsoft.com/office/drawing/2014/main" id="{6A0DFB47-7415-AD2D-2C99-97632ECA9C18}"/>
              </a:ext>
            </a:extLst>
          </p:cNvPr>
          <p:cNvSpPr txBox="1"/>
          <p:nvPr/>
        </p:nvSpPr>
        <p:spPr>
          <a:xfrm>
            <a:off x="849221" y="7629832"/>
            <a:ext cx="12199132" cy="650565"/>
          </a:xfrm>
          <a:prstGeom prst="rect">
            <a:avLst/>
          </a:prstGeom>
        </p:spPr>
        <p:txBody>
          <a:bodyPr vert="horz" lIns="91440" tIns="45720" rIns="91440" bIns="45720" rtlCol="0" anchor="t">
            <a:normAutofit/>
          </a:bodyPr>
          <a:lstStyle/>
          <a:p>
            <a:pPr>
              <a:spcBef>
                <a:spcPts val="1000"/>
              </a:spcBef>
              <a:buClr>
                <a:schemeClr val="bg2">
                  <a:lumMod val="40000"/>
                  <a:lumOff val="60000"/>
                </a:schemeClr>
              </a:buClr>
              <a:buSzPct val="80000"/>
            </a:pPr>
            <a:r>
              <a:rPr lang="en-US" sz="2000" cap="all">
                <a:solidFill>
                  <a:schemeClr val="tx2">
                    <a:lumMod val="40000"/>
                    <a:lumOff val="60000"/>
                  </a:schemeClr>
                </a:solidFill>
                <a:latin typeface="+mj-lt"/>
                <a:ea typeface="+mj-ea"/>
                <a:cs typeface="+mj-cs"/>
              </a:rPr>
              <a:t>Separar o sistema em vários arquivos para organizar melhor o código.</a:t>
            </a:r>
          </a:p>
        </p:txBody>
      </p:sp>
      <p:sp>
        <p:nvSpPr>
          <p:cNvPr id="41" name="Freeform 16">
            <a:extLst>
              <a:ext uri="{FF2B5EF4-FFF2-40B4-BE49-F238E27FC236}">
                <a16:creationId xmlns:a16="http://schemas.microsoft.com/office/drawing/2014/main" id="{7DE548AA-7E1A-497C-8B79-C74F42ACFB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26586" y="4373348"/>
            <a:ext cx="4629414" cy="110124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tx2">
              <a:alpha val="20000"/>
            </a:schemeClr>
          </a:solidFill>
          <a:ln>
            <a:noFill/>
          </a:ln>
        </p:spPr>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381914997"/>
      </p:ext>
    </p:extLst>
  </p:cSld>
  <p:clrMapOvr>
    <a:overrideClrMapping bg1="lt1" tx1="dk1" bg2="lt2" tx2="dk2" accent1="accent1" accent2="accent2" accent3="accent3" accent4="accent4" accent5="accent5" accent6="accent6" hlink="hlink" folHlink="folHlink"/>
  </p:clrMapOvr>
</p:sld>
</file>

<file path=ppt/slides/slide5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D85D5AA8-773B-469A-8802-9645A4DC9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m 4">
            <a:extLst>
              <a:ext uri="{FF2B5EF4-FFF2-40B4-BE49-F238E27FC236}">
                <a16:creationId xmlns:a16="http://schemas.microsoft.com/office/drawing/2014/main" id="{D9369732-EE29-D416-F889-52DE6AC2221E}"/>
              </a:ext>
            </a:extLst>
          </p:cNvPr>
          <p:cNvPicPr>
            <a:picLocks noChangeAspect="1"/>
          </p:cNvPicPr>
          <p:nvPr/>
        </p:nvPicPr>
        <p:blipFill>
          <a:blip r:embed="rId3"/>
          <a:stretch>
            <a:fillRect/>
          </a:stretch>
        </p:blipFill>
        <p:spPr>
          <a:xfrm>
            <a:off x="857956" y="2328745"/>
            <a:ext cx="12638053" cy="4486509"/>
          </a:xfrm>
          <a:prstGeom prst="rect">
            <a:avLst/>
          </a:prstGeom>
        </p:spPr>
      </p:pic>
      <p:sp>
        <p:nvSpPr>
          <p:cNvPr id="18" name="Rectangle 17">
            <a:extLst>
              <a:ext uri="{FF2B5EF4-FFF2-40B4-BE49-F238E27FC236}">
                <a16:creationId xmlns:a16="http://schemas.microsoft.com/office/drawing/2014/main" id="{C75AF42C-C556-454E-B2D3-2C917CB812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Tree>
    <p:extLst>
      <p:ext uri="{BB962C8B-B14F-4D97-AF65-F5344CB8AC3E}">
        <p14:creationId xmlns:p14="http://schemas.microsoft.com/office/powerpoint/2010/main" val="80675462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D9AD7A0C-E3E4-FC25-E7CE-07646942D742}"/>
            </a:ext>
          </a:extLst>
        </p:cNvPr>
        <p:cNvGrpSpPr/>
        <p:nvPr/>
      </p:nvGrpSpPr>
      <p:grpSpPr>
        <a:xfrm>
          <a:off x="0" y="0"/>
          <a:ext cx="0" cy="0"/>
          <a:chOff x="0" y="0"/>
          <a:chExt cx="0" cy="0"/>
        </a:xfrm>
      </p:grpSpPr>
      <p:sp>
        <p:nvSpPr>
          <p:cNvPr id="27" name="Rectangle 22">
            <a:extLst>
              <a:ext uri="{FF2B5EF4-FFF2-40B4-BE49-F238E27FC236}">
                <a16:creationId xmlns:a16="http://schemas.microsoft.com/office/drawing/2014/main" id="{D85D5AA8-773B-469A-8802-9645A4DC9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m 5">
            <a:extLst>
              <a:ext uri="{FF2B5EF4-FFF2-40B4-BE49-F238E27FC236}">
                <a16:creationId xmlns:a16="http://schemas.microsoft.com/office/drawing/2014/main" id="{A9994935-1C7E-15DC-6198-07E9638740CE}"/>
              </a:ext>
            </a:extLst>
          </p:cNvPr>
          <p:cNvPicPr>
            <a:picLocks noChangeAspect="1"/>
          </p:cNvPicPr>
          <p:nvPr/>
        </p:nvPicPr>
        <p:blipFill>
          <a:blip r:embed="rId3"/>
          <a:stretch>
            <a:fillRect/>
          </a:stretch>
        </p:blipFill>
        <p:spPr>
          <a:xfrm>
            <a:off x="857956" y="1744236"/>
            <a:ext cx="12638053" cy="5655528"/>
          </a:xfrm>
          <a:prstGeom prst="rect">
            <a:avLst/>
          </a:prstGeom>
        </p:spPr>
      </p:pic>
      <p:sp>
        <p:nvSpPr>
          <p:cNvPr id="28" name="Rectangle 24">
            <a:extLst>
              <a:ext uri="{FF2B5EF4-FFF2-40B4-BE49-F238E27FC236}">
                <a16:creationId xmlns:a16="http://schemas.microsoft.com/office/drawing/2014/main" id="{C75AF42C-C556-454E-B2D3-2C917CB812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8" name="CaixaDeTexto 7">
            <a:extLst>
              <a:ext uri="{FF2B5EF4-FFF2-40B4-BE49-F238E27FC236}">
                <a16:creationId xmlns:a16="http://schemas.microsoft.com/office/drawing/2014/main" id="{754D0C9A-E8FE-386F-7DB5-12819FBBD321}"/>
              </a:ext>
            </a:extLst>
          </p:cNvPr>
          <p:cNvSpPr txBox="1"/>
          <p:nvPr/>
        </p:nvSpPr>
        <p:spPr>
          <a:xfrm>
            <a:off x="6832600" y="3886200"/>
            <a:ext cx="8125968" cy="369332"/>
          </a:xfrm>
          <a:prstGeom prst="rect">
            <a:avLst/>
          </a:prstGeom>
          <a:noFill/>
        </p:spPr>
        <p:txBody>
          <a:bodyPr wrap="square">
            <a:spAutoFit/>
          </a:bodyPr>
          <a:lstStyle/>
          <a:p>
            <a:r>
              <a:rPr lang="pt-BR" b="1" dirty="0">
                <a:solidFill>
                  <a:schemeClr val="accent3">
                    <a:lumMod val="50000"/>
                  </a:schemeClr>
                </a:solidFill>
              </a:rPr>
              <a:t> # Renomeando importações</a:t>
            </a:r>
          </a:p>
        </p:txBody>
      </p:sp>
    </p:spTree>
    <p:extLst>
      <p:ext uri="{BB962C8B-B14F-4D97-AF65-F5344CB8AC3E}">
        <p14:creationId xmlns:p14="http://schemas.microsoft.com/office/powerpoint/2010/main" val="325652524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C1601B56-66BE-8DA0-7936-03660440A015}"/>
              </a:ext>
            </a:extLst>
          </p:cNvPr>
          <p:cNvSpPr txBox="1"/>
          <p:nvPr/>
        </p:nvSpPr>
        <p:spPr>
          <a:xfrm>
            <a:off x="812800" y="914400"/>
            <a:ext cx="8128000" cy="6863417"/>
          </a:xfrm>
          <a:prstGeom prst="rect">
            <a:avLst/>
          </a:prstGeom>
          <a:noFill/>
        </p:spPr>
        <p:txBody>
          <a:bodyPr wrap="square">
            <a:spAutoFit/>
          </a:bodyPr>
          <a:lstStyle/>
          <a:p>
            <a:pPr>
              <a:buNone/>
            </a:pPr>
            <a:r>
              <a:rPr lang="pt-BR" sz="4000" b="1" dirty="0"/>
              <a:t>Vantagens da modularização</a:t>
            </a:r>
          </a:p>
          <a:p>
            <a:pPr>
              <a:buNone/>
            </a:pPr>
            <a:endParaRPr lang="pt-BR" sz="4000" b="1" dirty="0"/>
          </a:p>
          <a:p>
            <a:pPr>
              <a:buNone/>
            </a:pPr>
            <a:r>
              <a:rPr lang="pt-BR" sz="4000" dirty="0"/>
              <a:t>✅ organização</a:t>
            </a:r>
          </a:p>
          <a:p>
            <a:pPr>
              <a:buNone/>
            </a:pPr>
            <a:br>
              <a:rPr lang="pt-BR" sz="4000" dirty="0"/>
            </a:br>
            <a:r>
              <a:rPr lang="pt-BR" sz="4000" dirty="0"/>
              <a:t>✅ reutilização</a:t>
            </a:r>
          </a:p>
          <a:p>
            <a:pPr>
              <a:buNone/>
            </a:pPr>
            <a:br>
              <a:rPr lang="pt-BR" sz="4000" dirty="0"/>
            </a:br>
            <a:r>
              <a:rPr lang="pt-BR" sz="4000" dirty="0"/>
              <a:t>✅ manutenção</a:t>
            </a:r>
          </a:p>
          <a:p>
            <a:pPr>
              <a:buNone/>
            </a:pPr>
            <a:br>
              <a:rPr lang="pt-BR" sz="4000" dirty="0"/>
            </a:br>
            <a:r>
              <a:rPr lang="pt-BR" sz="4000" dirty="0"/>
              <a:t>✅ código mais limpo</a:t>
            </a:r>
          </a:p>
          <a:p>
            <a:pPr>
              <a:buNone/>
            </a:pPr>
            <a:br>
              <a:rPr lang="pt-BR" sz="4000" dirty="0"/>
            </a:br>
            <a:r>
              <a:rPr lang="pt-BR" sz="4000" dirty="0"/>
              <a:t>✅ trabalho em equipe</a:t>
            </a:r>
          </a:p>
        </p:txBody>
      </p:sp>
    </p:spTree>
    <p:extLst>
      <p:ext uri="{BB962C8B-B14F-4D97-AF65-F5344CB8AC3E}">
        <p14:creationId xmlns:p14="http://schemas.microsoft.com/office/powerpoint/2010/main" val="175831655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CECECA13-6693-FDA5-B556-AEC86E37B0EE}"/>
              </a:ext>
            </a:extLst>
          </p:cNvPr>
          <p:cNvSpPr txBox="1"/>
          <p:nvPr/>
        </p:nvSpPr>
        <p:spPr>
          <a:xfrm>
            <a:off x="4546600" y="609600"/>
            <a:ext cx="8125968" cy="584775"/>
          </a:xfrm>
          <a:prstGeom prst="rect">
            <a:avLst/>
          </a:prstGeom>
          <a:noFill/>
        </p:spPr>
        <p:txBody>
          <a:bodyPr wrap="square">
            <a:spAutoFit/>
          </a:bodyPr>
          <a:lstStyle/>
          <a:p>
            <a:r>
              <a:rPr lang="pt-BR" sz="3200" b="1" dirty="0">
                <a:solidFill>
                  <a:srgbClr val="FFC000"/>
                </a:solidFill>
              </a:rPr>
              <a:t>Atividade01 - Mini Calculadora</a:t>
            </a:r>
          </a:p>
        </p:txBody>
      </p:sp>
      <p:sp>
        <p:nvSpPr>
          <p:cNvPr id="5" name="CaixaDeTexto 4">
            <a:extLst>
              <a:ext uri="{FF2B5EF4-FFF2-40B4-BE49-F238E27FC236}">
                <a16:creationId xmlns:a16="http://schemas.microsoft.com/office/drawing/2014/main" id="{1FAAF723-2768-66B1-AE7E-912388BB777F}"/>
              </a:ext>
            </a:extLst>
          </p:cNvPr>
          <p:cNvSpPr txBox="1"/>
          <p:nvPr/>
        </p:nvSpPr>
        <p:spPr>
          <a:xfrm>
            <a:off x="584200" y="1828800"/>
            <a:ext cx="8125968" cy="461665"/>
          </a:xfrm>
          <a:prstGeom prst="rect">
            <a:avLst/>
          </a:prstGeom>
          <a:noFill/>
        </p:spPr>
        <p:txBody>
          <a:bodyPr wrap="square">
            <a:spAutoFit/>
          </a:bodyPr>
          <a:lstStyle/>
          <a:p>
            <a:r>
              <a:rPr lang="pt-BR" sz="2400" b="1" dirty="0"/>
              <a:t>Crie um menu:</a:t>
            </a:r>
          </a:p>
        </p:txBody>
      </p:sp>
      <p:pic>
        <p:nvPicPr>
          <p:cNvPr id="7" name="Imagem 6">
            <a:extLst>
              <a:ext uri="{FF2B5EF4-FFF2-40B4-BE49-F238E27FC236}">
                <a16:creationId xmlns:a16="http://schemas.microsoft.com/office/drawing/2014/main" id="{306CF094-23AD-C283-71AF-38C3F8E96886}"/>
              </a:ext>
            </a:extLst>
          </p:cNvPr>
          <p:cNvPicPr>
            <a:picLocks noChangeAspect="1"/>
          </p:cNvPicPr>
          <p:nvPr/>
        </p:nvPicPr>
        <p:blipFill>
          <a:blip r:embed="rId2"/>
          <a:stretch>
            <a:fillRect/>
          </a:stretch>
        </p:blipFill>
        <p:spPr>
          <a:xfrm>
            <a:off x="736600" y="2467626"/>
            <a:ext cx="3620318" cy="1418574"/>
          </a:xfrm>
          <a:prstGeom prst="rect">
            <a:avLst/>
          </a:prstGeom>
        </p:spPr>
      </p:pic>
      <p:sp>
        <p:nvSpPr>
          <p:cNvPr id="9" name="CaixaDeTexto 8">
            <a:extLst>
              <a:ext uri="{FF2B5EF4-FFF2-40B4-BE49-F238E27FC236}">
                <a16:creationId xmlns:a16="http://schemas.microsoft.com/office/drawing/2014/main" id="{2BEF4ED7-4A79-CC1C-1D88-593C687BEB6F}"/>
              </a:ext>
            </a:extLst>
          </p:cNvPr>
          <p:cNvSpPr txBox="1"/>
          <p:nvPr/>
        </p:nvSpPr>
        <p:spPr>
          <a:xfrm>
            <a:off x="4647184" y="2253889"/>
            <a:ext cx="13180568" cy="4031873"/>
          </a:xfrm>
          <a:prstGeom prst="rect">
            <a:avLst/>
          </a:prstGeom>
          <a:noFill/>
        </p:spPr>
        <p:txBody>
          <a:bodyPr wrap="square">
            <a:spAutoFit/>
          </a:bodyPr>
          <a:lstStyle/>
          <a:p>
            <a:pPr>
              <a:buNone/>
            </a:pPr>
            <a:r>
              <a:rPr lang="pt-BR" sz="3200" b="1" dirty="0">
                <a:solidFill>
                  <a:srgbClr val="FFC000"/>
                </a:solidFill>
              </a:rPr>
              <a:t>O usuário deve:</a:t>
            </a:r>
          </a:p>
          <a:p>
            <a:pPr>
              <a:buNone/>
            </a:pPr>
            <a:endParaRPr lang="pt-BR" sz="3200" b="1" dirty="0"/>
          </a:p>
          <a:p>
            <a:pPr>
              <a:buFont typeface="Arial" panose="020B0604020202020204" pitchFamily="34" charset="0"/>
              <a:buChar char="•"/>
            </a:pPr>
            <a:r>
              <a:rPr lang="pt-BR" sz="3200" b="1" dirty="0"/>
              <a:t> escolher opção </a:t>
            </a:r>
          </a:p>
          <a:p>
            <a:pPr>
              <a:buFont typeface="Arial" panose="020B0604020202020204" pitchFamily="34" charset="0"/>
              <a:buChar char="•"/>
            </a:pPr>
            <a:endParaRPr lang="pt-BR" sz="3200" b="1" dirty="0"/>
          </a:p>
          <a:p>
            <a:pPr>
              <a:buFont typeface="Arial" panose="020B0604020202020204" pitchFamily="34" charset="0"/>
              <a:buChar char="•"/>
            </a:pPr>
            <a:r>
              <a:rPr lang="pt-BR" sz="3200" b="1" dirty="0"/>
              <a:t> informar 2 números </a:t>
            </a:r>
          </a:p>
          <a:p>
            <a:pPr>
              <a:buFont typeface="Arial" panose="020B0604020202020204" pitchFamily="34" charset="0"/>
              <a:buChar char="•"/>
            </a:pPr>
            <a:endParaRPr lang="pt-BR" sz="3200" b="1" dirty="0"/>
          </a:p>
          <a:p>
            <a:pPr>
              <a:buFont typeface="Arial" panose="020B0604020202020204" pitchFamily="34" charset="0"/>
              <a:buChar char="•"/>
            </a:pPr>
            <a:r>
              <a:rPr lang="pt-BR" sz="3200" b="1" dirty="0"/>
              <a:t> visualizar resultado </a:t>
            </a:r>
          </a:p>
          <a:p>
            <a:pPr>
              <a:buFont typeface="Arial" panose="020B0604020202020204" pitchFamily="34" charset="0"/>
              <a:buChar char="•"/>
            </a:pPr>
            <a:endParaRPr lang="pt-BR" sz="3200" b="1" dirty="0"/>
          </a:p>
        </p:txBody>
      </p:sp>
      <p:sp>
        <p:nvSpPr>
          <p:cNvPr id="11" name="CaixaDeTexto 10">
            <a:extLst>
              <a:ext uri="{FF2B5EF4-FFF2-40B4-BE49-F238E27FC236}">
                <a16:creationId xmlns:a16="http://schemas.microsoft.com/office/drawing/2014/main" id="{23D6BE83-A76B-4F6B-D406-04ABEB97E2A4}"/>
              </a:ext>
            </a:extLst>
          </p:cNvPr>
          <p:cNvSpPr txBox="1"/>
          <p:nvPr/>
        </p:nvSpPr>
        <p:spPr>
          <a:xfrm>
            <a:off x="1765300" y="6871823"/>
            <a:ext cx="12725400" cy="954107"/>
          </a:xfrm>
          <a:prstGeom prst="rect">
            <a:avLst/>
          </a:prstGeom>
          <a:noFill/>
        </p:spPr>
        <p:txBody>
          <a:bodyPr wrap="square">
            <a:spAutoFit/>
          </a:bodyPr>
          <a:lstStyle/>
          <a:p>
            <a:pPr algn="ctr">
              <a:buNone/>
            </a:pPr>
            <a:r>
              <a:rPr lang="pt-BR" sz="2800" b="1" dirty="0">
                <a:solidFill>
                  <a:schemeClr val="accent6">
                    <a:lumMod val="40000"/>
                    <a:lumOff val="60000"/>
                  </a:schemeClr>
                </a:solidFill>
              </a:rPr>
              <a:t>Utilize funções para cada operação da calculadora e organize-as em um arquivo separado, aplicando o conceito de </a:t>
            </a:r>
            <a:r>
              <a:rPr lang="pt-BR" sz="2800" b="1" dirty="0">
                <a:solidFill>
                  <a:srgbClr val="FFC000"/>
                </a:solidFill>
              </a:rPr>
              <a:t>modularização</a:t>
            </a:r>
            <a:r>
              <a:rPr lang="pt-BR" sz="2800" b="1" dirty="0">
                <a:solidFill>
                  <a:schemeClr val="accent6">
                    <a:lumMod val="40000"/>
                    <a:lumOff val="60000"/>
                  </a:schemeClr>
                </a:solidFill>
              </a:rPr>
              <a:t>.</a:t>
            </a:r>
          </a:p>
        </p:txBody>
      </p:sp>
    </p:spTree>
    <p:extLst>
      <p:ext uri="{BB962C8B-B14F-4D97-AF65-F5344CB8AC3E}">
        <p14:creationId xmlns:p14="http://schemas.microsoft.com/office/powerpoint/2010/main" val="163794369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E5EB7-1C93-6063-EC43-C1AF54F4F92A}"/>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3508270E-F158-56B0-ADEA-762137064CAC}"/>
              </a:ext>
            </a:extLst>
          </p:cNvPr>
          <p:cNvSpPr txBox="1"/>
          <p:nvPr/>
        </p:nvSpPr>
        <p:spPr>
          <a:xfrm>
            <a:off x="736600" y="533400"/>
            <a:ext cx="15087600" cy="2554545"/>
          </a:xfrm>
          <a:prstGeom prst="rect">
            <a:avLst/>
          </a:prstGeom>
          <a:noFill/>
        </p:spPr>
        <p:txBody>
          <a:bodyPr wrap="square">
            <a:spAutoFit/>
          </a:bodyPr>
          <a:lstStyle/>
          <a:p>
            <a:r>
              <a:rPr lang="pt-BR" sz="3200" b="1" dirty="0">
                <a:solidFill>
                  <a:srgbClr val="FFC000"/>
                </a:solidFill>
              </a:rPr>
              <a:t>Atividade 02  Lista de Alunos em Python</a:t>
            </a:r>
          </a:p>
          <a:p>
            <a:endParaRPr lang="pt-BR" sz="3200" dirty="0">
              <a:solidFill>
                <a:srgbClr val="FFC000"/>
              </a:solidFill>
            </a:endParaRPr>
          </a:p>
          <a:p>
            <a:r>
              <a:rPr lang="pt-BR" sz="3200" dirty="0"/>
              <a:t>Crie um programa para cadastrar alunos utilizando uma lista.</a:t>
            </a:r>
          </a:p>
          <a:p>
            <a:r>
              <a:rPr lang="pt-BR" sz="3200" dirty="0"/>
              <a:t>O programa deve possuir um menu com as opções:</a:t>
            </a:r>
          </a:p>
          <a:p>
            <a:endParaRPr lang="pt-BR" sz="3200" b="1" dirty="0">
              <a:solidFill>
                <a:srgbClr val="FFC000"/>
              </a:solidFill>
            </a:endParaRPr>
          </a:p>
        </p:txBody>
      </p:sp>
      <p:pic>
        <p:nvPicPr>
          <p:cNvPr id="4" name="Imagem 3">
            <a:extLst>
              <a:ext uri="{FF2B5EF4-FFF2-40B4-BE49-F238E27FC236}">
                <a16:creationId xmlns:a16="http://schemas.microsoft.com/office/drawing/2014/main" id="{9943F33F-6AC8-18F3-8171-EBA085EC7658}"/>
              </a:ext>
            </a:extLst>
          </p:cNvPr>
          <p:cNvPicPr>
            <a:picLocks noChangeAspect="1"/>
          </p:cNvPicPr>
          <p:nvPr/>
        </p:nvPicPr>
        <p:blipFill>
          <a:blip r:embed="rId2"/>
          <a:stretch>
            <a:fillRect/>
          </a:stretch>
        </p:blipFill>
        <p:spPr>
          <a:xfrm>
            <a:off x="812800" y="3087945"/>
            <a:ext cx="4800600" cy="1801650"/>
          </a:xfrm>
          <a:prstGeom prst="rect">
            <a:avLst/>
          </a:prstGeom>
        </p:spPr>
      </p:pic>
      <p:sp>
        <p:nvSpPr>
          <p:cNvPr id="8" name="CaixaDeTexto 7">
            <a:extLst>
              <a:ext uri="{FF2B5EF4-FFF2-40B4-BE49-F238E27FC236}">
                <a16:creationId xmlns:a16="http://schemas.microsoft.com/office/drawing/2014/main" id="{3E3E576D-05EF-572C-60CE-8A3606D52257}"/>
              </a:ext>
            </a:extLst>
          </p:cNvPr>
          <p:cNvSpPr txBox="1"/>
          <p:nvPr/>
        </p:nvSpPr>
        <p:spPr>
          <a:xfrm>
            <a:off x="5918200" y="2819400"/>
            <a:ext cx="10134600" cy="3046988"/>
          </a:xfrm>
          <a:prstGeom prst="rect">
            <a:avLst/>
          </a:prstGeom>
          <a:noFill/>
        </p:spPr>
        <p:txBody>
          <a:bodyPr wrap="square">
            <a:spAutoFit/>
          </a:bodyPr>
          <a:lstStyle/>
          <a:p>
            <a:pPr>
              <a:buNone/>
            </a:pPr>
            <a:r>
              <a:rPr lang="pt-BR" sz="2400" b="1" dirty="0">
                <a:solidFill>
                  <a:srgbClr val="FFC000"/>
                </a:solidFill>
              </a:rPr>
              <a:t>Regras</a:t>
            </a:r>
          </a:p>
          <a:p>
            <a:pPr>
              <a:buNone/>
            </a:pPr>
            <a:endParaRPr lang="pt-BR" sz="2400" b="1" dirty="0"/>
          </a:p>
          <a:p>
            <a:pPr>
              <a:buFont typeface="Arial" panose="020B0604020202020204" pitchFamily="34" charset="0"/>
              <a:buChar char="•"/>
            </a:pPr>
            <a:r>
              <a:rPr lang="pt-BR" sz="2400" b="1" dirty="0"/>
              <a:t> Utilize uma lista para armazenar os nomes. </a:t>
            </a:r>
          </a:p>
          <a:p>
            <a:pPr>
              <a:buFont typeface="Arial" panose="020B0604020202020204" pitchFamily="34" charset="0"/>
              <a:buChar char="•"/>
            </a:pPr>
            <a:endParaRPr lang="pt-BR" sz="2400" b="1" dirty="0"/>
          </a:p>
          <a:p>
            <a:pPr>
              <a:buFont typeface="Arial" panose="020B0604020202020204" pitchFamily="34" charset="0"/>
              <a:buChar char="•"/>
            </a:pPr>
            <a:r>
              <a:rPr lang="pt-BR" sz="2400" b="1" dirty="0"/>
              <a:t> Utilize funções para cada opção do menu. </a:t>
            </a:r>
          </a:p>
          <a:p>
            <a:pPr>
              <a:buFont typeface="Arial" panose="020B0604020202020204" pitchFamily="34" charset="0"/>
              <a:buChar char="•"/>
            </a:pPr>
            <a:endParaRPr lang="pt-BR" sz="2400" b="1" dirty="0"/>
          </a:p>
          <a:p>
            <a:pPr>
              <a:buFont typeface="Arial" panose="020B0604020202020204" pitchFamily="34" charset="0"/>
              <a:buChar char="•"/>
            </a:pPr>
            <a:r>
              <a:rPr lang="pt-BR" sz="2400" b="1" dirty="0"/>
              <a:t> O programa deve continuar executando até o usuário escolher sair.</a:t>
            </a:r>
          </a:p>
        </p:txBody>
      </p:sp>
      <p:sp>
        <p:nvSpPr>
          <p:cNvPr id="12" name="CaixaDeTexto 11">
            <a:extLst>
              <a:ext uri="{FF2B5EF4-FFF2-40B4-BE49-F238E27FC236}">
                <a16:creationId xmlns:a16="http://schemas.microsoft.com/office/drawing/2014/main" id="{09237C29-D1AF-1F5C-8665-BC7856A40827}"/>
              </a:ext>
            </a:extLst>
          </p:cNvPr>
          <p:cNvSpPr txBox="1"/>
          <p:nvPr/>
        </p:nvSpPr>
        <p:spPr>
          <a:xfrm>
            <a:off x="692912" y="5457824"/>
            <a:ext cx="8125968" cy="400110"/>
          </a:xfrm>
          <a:prstGeom prst="rect">
            <a:avLst/>
          </a:prstGeom>
          <a:noFill/>
        </p:spPr>
        <p:txBody>
          <a:bodyPr wrap="square">
            <a:spAutoFit/>
          </a:bodyPr>
          <a:lstStyle/>
          <a:p>
            <a:r>
              <a:rPr lang="pt-BR" sz="2000" b="1" dirty="0">
                <a:solidFill>
                  <a:srgbClr val="FFC000"/>
                </a:solidFill>
              </a:rPr>
              <a:t>Funções sugeridas</a:t>
            </a:r>
          </a:p>
        </p:txBody>
      </p:sp>
      <p:pic>
        <p:nvPicPr>
          <p:cNvPr id="14" name="Imagem 13">
            <a:extLst>
              <a:ext uri="{FF2B5EF4-FFF2-40B4-BE49-F238E27FC236}">
                <a16:creationId xmlns:a16="http://schemas.microsoft.com/office/drawing/2014/main" id="{843BBAD8-5C63-F773-FDC8-3E20ECEBF047}"/>
              </a:ext>
            </a:extLst>
          </p:cNvPr>
          <p:cNvPicPr>
            <a:picLocks noChangeAspect="1"/>
          </p:cNvPicPr>
          <p:nvPr/>
        </p:nvPicPr>
        <p:blipFill>
          <a:blip r:embed="rId3"/>
          <a:stretch>
            <a:fillRect/>
          </a:stretch>
        </p:blipFill>
        <p:spPr>
          <a:xfrm>
            <a:off x="736599" y="6201915"/>
            <a:ext cx="4724401" cy="1933418"/>
          </a:xfrm>
          <a:prstGeom prst="rect">
            <a:avLst/>
          </a:prstGeom>
        </p:spPr>
      </p:pic>
    </p:spTree>
    <p:extLst>
      <p:ext uri="{BB962C8B-B14F-4D97-AF65-F5344CB8AC3E}">
        <p14:creationId xmlns:p14="http://schemas.microsoft.com/office/powerpoint/2010/main" val="1591897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3DFF565B-28AD-1F41-33B3-8E8599A138FB}"/>
              </a:ext>
            </a:extLst>
          </p:cNvPr>
          <p:cNvSpPr txBox="1"/>
          <p:nvPr/>
        </p:nvSpPr>
        <p:spPr>
          <a:xfrm>
            <a:off x="3479800" y="3535001"/>
            <a:ext cx="8125968" cy="1015663"/>
          </a:xfrm>
          <a:prstGeom prst="rect">
            <a:avLst/>
          </a:prstGeom>
          <a:noFill/>
        </p:spPr>
        <p:txBody>
          <a:bodyPr wrap="square">
            <a:spAutoFit/>
          </a:bodyPr>
          <a:lstStyle>
            <a:defPPr>
              <a:defRPr lang="en-US"/>
            </a:defPPr>
            <a:lvl1pPr algn="ctr" defTabSz="914400" eaLnBrk="0" fontAlgn="base" hangingPunct="0">
              <a:spcBef>
                <a:spcPct val="0"/>
              </a:spcBef>
              <a:spcAft>
                <a:spcPct val="0"/>
              </a:spcAft>
              <a:defRPr sz="6000">
                <a:solidFill>
                  <a:srgbClr val="FFC000"/>
                </a:solidFill>
                <a:latin typeface="Arial" panose="020B0604020202020204" pitchFamily="34" charset="0"/>
              </a:defRPr>
            </a:lvl1pPr>
          </a:lstStyle>
          <a:p>
            <a:r>
              <a:rPr lang="pt-BR" dirty="0"/>
              <a:t>Tratamento de Erro</a:t>
            </a:r>
          </a:p>
        </p:txBody>
      </p:sp>
    </p:spTree>
    <p:extLst>
      <p:ext uri="{BB962C8B-B14F-4D97-AF65-F5344CB8AC3E}">
        <p14:creationId xmlns:p14="http://schemas.microsoft.com/office/powerpoint/2010/main" val="263902304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F09F7-6C60-D2B7-C750-EB36E10EC0B1}"/>
            </a:ext>
          </a:extLst>
        </p:cNvPr>
        <p:cNvGrpSpPr/>
        <p:nvPr/>
      </p:nvGrpSpPr>
      <p:grpSpPr>
        <a:xfrm>
          <a:off x="0" y="0"/>
          <a:ext cx="0" cy="0"/>
          <a:chOff x="0" y="0"/>
          <a:chExt cx="0" cy="0"/>
        </a:xfrm>
      </p:grpSpPr>
      <p:sp>
        <p:nvSpPr>
          <p:cNvPr id="4" name="CaixaDeTexto 3">
            <a:extLst>
              <a:ext uri="{FF2B5EF4-FFF2-40B4-BE49-F238E27FC236}">
                <a16:creationId xmlns:a16="http://schemas.microsoft.com/office/drawing/2014/main" id="{6797716A-E19D-4D9F-DA54-1878DFF4A0F8}"/>
              </a:ext>
            </a:extLst>
          </p:cNvPr>
          <p:cNvSpPr txBox="1"/>
          <p:nvPr/>
        </p:nvSpPr>
        <p:spPr>
          <a:xfrm>
            <a:off x="-1016000" y="533400"/>
            <a:ext cx="11986768" cy="769441"/>
          </a:xfrm>
          <a:prstGeom prst="rect">
            <a:avLst/>
          </a:prstGeom>
          <a:noFill/>
        </p:spPr>
        <p:txBody>
          <a:bodyPr wrap="square">
            <a:spAutoFit/>
          </a:bodyPr>
          <a:lstStyle>
            <a:defPPr>
              <a:defRPr lang="en-US"/>
            </a:defPPr>
            <a:lvl1pPr algn="ctr" defTabSz="914400" eaLnBrk="0" fontAlgn="base" hangingPunct="0">
              <a:spcBef>
                <a:spcPct val="0"/>
              </a:spcBef>
              <a:spcAft>
                <a:spcPct val="0"/>
              </a:spcAft>
              <a:defRPr sz="4400">
                <a:solidFill>
                  <a:srgbClr val="FFC000"/>
                </a:solidFill>
                <a:latin typeface="Arial" panose="020B0604020202020204" pitchFamily="34" charset="0"/>
              </a:defRPr>
            </a:lvl1pPr>
          </a:lstStyle>
          <a:p>
            <a:r>
              <a:rPr lang="pt-BR" dirty="0"/>
              <a:t>Tratamento de Erros com </a:t>
            </a:r>
            <a:r>
              <a:rPr lang="pt-BR" dirty="0" err="1">
                <a:solidFill>
                  <a:schemeClr val="tx1"/>
                </a:solidFill>
              </a:rPr>
              <a:t>try</a:t>
            </a:r>
            <a:r>
              <a:rPr lang="pt-BR" dirty="0">
                <a:solidFill>
                  <a:schemeClr val="tx1"/>
                </a:solidFill>
              </a:rPr>
              <a:t> / </a:t>
            </a:r>
            <a:r>
              <a:rPr lang="pt-BR" dirty="0" err="1">
                <a:solidFill>
                  <a:schemeClr val="tx1"/>
                </a:solidFill>
              </a:rPr>
              <a:t>except</a:t>
            </a:r>
            <a:endParaRPr lang="pt-BR" dirty="0">
              <a:solidFill>
                <a:schemeClr val="tx1"/>
              </a:solidFill>
            </a:endParaRPr>
          </a:p>
        </p:txBody>
      </p:sp>
      <p:sp>
        <p:nvSpPr>
          <p:cNvPr id="6" name="CaixaDeTexto 5">
            <a:extLst>
              <a:ext uri="{FF2B5EF4-FFF2-40B4-BE49-F238E27FC236}">
                <a16:creationId xmlns:a16="http://schemas.microsoft.com/office/drawing/2014/main" id="{E960FC85-2523-7F9B-719D-EBB807FD1D31}"/>
              </a:ext>
            </a:extLst>
          </p:cNvPr>
          <p:cNvSpPr txBox="1"/>
          <p:nvPr/>
        </p:nvSpPr>
        <p:spPr>
          <a:xfrm>
            <a:off x="431800" y="1905000"/>
            <a:ext cx="8631936" cy="584775"/>
          </a:xfrm>
          <a:prstGeom prst="rect">
            <a:avLst/>
          </a:prstGeom>
          <a:noFill/>
        </p:spPr>
        <p:txBody>
          <a:bodyPr wrap="square">
            <a:spAutoFit/>
          </a:bodyPr>
          <a:lstStyle/>
          <a:p>
            <a:r>
              <a:rPr lang="pt-BR" sz="3200" b="1" dirty="0"/>
              <a:t>O que é um erro?</a:t>
            </a:r>
          </a:p>
        </p:txBody>
      </p:sp>
      <p:sp>
        <p:nvSpPr>
          <p:cNvPr id="8" name="CaixaDeTexto 7">
            <a:extLst>
              <a:ext uri="{FF2B5EF4-FFF2-40B4-BE49-F238E27FC236}">
                <a16:creationId xmlns:a16="http://schemas.microsoft.com/office/drawing/2014/main" id="{33C33B77-EE24-E085-F27C-65D5B5DCB2FE}"/>
              </a:ext>
            </a:extLst>
          </p:cNvPr>
          <p:cNvSpPr txBox="1"/>
          <p:nvPr/>
        </p:nvSpPr>
        <p:spPr>
          <a:xfrm>
            <a:off x="431800" y="2743200"/>
            <a:ext cx="8631936" cy="2677656"/>
          </a:xfrm>
          <a:prstGeom prst="rect">
            <a:avLst/>
          </a:prstGeom>
          <a:noFill/>
        </p:spPr>
        <p:txBody>
          <a:bodyPr wrap="square">
            <a:spAutoFit/>
          </a:bodyPr>
          <a:lstStyle/>
          <a:p>
            <a:pPr>
              <a:buNone/>
            </a:pPr>
            <a:r>
              <a:rPr lang="pt-BR" sz="2800" b="1" dirty="0">
                <a:solidFill>
                  <a:srgbClr val="FFC000"/>
                </a:solidFill>
              </a:rPr>
              <a:t>Exemplos:</a:t>
            </a:r>
          </a:p>
          <a:p>
            <a:pPr>
              <a:buNone/>
            </a:pPr>
            <a:endParaRPr lang="pt-BR" sz="2800" b="1" dirty="0"/>
          </a:p>
          <a:p>
            <a:pPr marL="514350" indent="-514350">
              <a:buFont typeface="Arial" panose="020B0604020202020204" pitchFamily="34" charset="0"/>
              <a:buChar char="•"/>
            </a:pPr>
            <a:r>
              <a:rPr lang="pt-BR" sz="2800" b="1" dirty="0"/>
              <a:t>divisão por zero </a:t>
            </a:r>
          </a:p>
          <a:p>
            <a:pPr marL="514350" indent="-514350">
              <a:buFont typeface="Arial" panose="020B0604020202020204" pitchFamily="34" charset="0"/>
              <a:buChar char="•"/>
            </a:pPr>
            <a:r>
              <a:rPr lang="pt-BR" sz="2800" b="1" dirty="0"/>
              <a:t>valor inválido </a:t>
            </a:r>
          </a:p>
          <a:p>
            <a:pPr marL="514350" indent="-514350">
              <a:buFont typeface="Arial" panose="020B0604020202020204" pitchFamily="34" charset="0"/>
              <a:buChar char="•"/>
            </a:pPr>
            <a:r>
              <a:rPr lang="pt-BR" sz="2800" b="1" dirty="0"/>
              <a:t>arquivo não encontrado </a:t>
            </a:r>
          </a:p>
          <a:p>
            <a:pPr marL="514350" indent="-514350">
              <a:buFont typeface="Arial" panose="020B0604020202020204" pitchFamily="34" charset="0"/>
              <a:buChar char="•"/>
            </a:pPr>
            <a:r>
              <a:rPr lang="pt-BR" sz="2800" b="1" dirty="0"/>
              <a:t>índice inexistente</a:t>
            </a:r>
          </a:p>
        </p:txBody>
      </p:sp>
      <p:sp>
        <p:nvSpPr>
          <p:cNvPr id="10" name="CaixaDeTexto 9">
            <a:extLst>
              <a:ext uri="{FF2B5EF4-FFF2-40B4-BE49-F238E27FC236}">
                <a16:creationId xmlns:a16="http://schemas.microsoft.com/office/drawing/2014/main" id="{4B881450-FC10-1A4C-286D-07B699660C38}"/>
              </a:ext>
            </a:extLst>
          </p:cNvPr>
          <p:cNvSpPr txBox="1"/>
          <p:nvPr/>
        </p:nvSpPr>
        <p:spPr>
          <a:xfrm>
            <a:off x="7534642" y="4518785"/>
            <a:ext cx="8631936" cy="400110"/>
          </a:xfrm>
          <a:prstGeom prst="rect">
            <a:avLst/>
          </a:prstGeom>
          <a:noFill/>
        </p:spPr>
        <p:txBody>
          <a:bodyPr wrap="square">
            <a:spAutoFit/>
          </a:bodyPr>
          <a:lstStyle/>
          <a:p>
            <a:r>
              <a:rPr lang="pt-BR" sz="2000" b="1" dirty="0">
                <a:solidFill>
                  <a:srgbClr val="FFC000"/>
                </a:solidFill>
              </a:rPr>
              <a:t>Exemplo sem tratamento</a:t>
            </a:r>
          </a:p>
        </p:txBody>
      </p:sp>
      <p:pic>
        <p:nvPicPr>
          <p:cNvPr id="12" name="Imagem 11">
            <a:extLst>
              <a:ext uri="{FF2B5EF4-FFF2-40B4-BE49-F238E27FC236}">
                <a16:creationId xmlns:a16="http://schemas.microsoft.com/office/drawing/2014/main" id="{29B9CF6B-90F8-6046-92C2-12045FE03D8C}"/>
              </a:ext>
            </a:extLst>
          </p:cNvPr>
          <p:cNvPicPr>
            <a:picLocks noChangeAspect="1"/>
          </p:cNvPicPr>
          <p:nvPr/>
        </p:nvPicPr>
        <p:blipFill>
          <a:blip r:embed="rId2"/>
          <a:stretch>
            <a:fillRect/>
          </a:stretch>
        </p:blipFill>
        <p:spPr>
          <a:xfrm>
            <a:off x="7670800" y="5045607"/>
            <a:ext cx="5989864" cy="1257348"/>
          </a:xfrm>
          <a:prstGeom prst="rect">
            <a:avLst/>
          </a:prstGeom>
        </p:spPr>
      </p:pic>
      <p:sp>
        <p:nvSpPr>
          <p:cNvPr id="14" name="CaixaDeTexto 13">
            <a:extLst>
              <a:ext uri="{FF2B5EF4-FFF2-40B4-BE49-F238E27FC236}">
                <a16:creationId xmlns:a16="http://schemas.microsoft.com/office/drawing/2014/main" id="{B1E284CA-225B-ECBB-4307-81BBE024A8E0}"/>
              </a:ext>
            </a:extLst>
          </p:cNvPr>
          <p:cNvSpPr txBox="1"/>
          <p:nvPr/>
        </p:nvSpPr>
        <p:spPr>
          <a:xfrm>
            <a:off x="7534642" y="6429667"/>
            <a:ext cx="9369468" cy="646331"/>
          </a:xfrm>
          <a:prstGeom prst="rect">
            <a:avLst/>
          </a:prstGeom>
          <a:noFill/>
        </p:spPr>
        <p:txBody>
          <a:bodyPr wrap="square">
            <a:spAutoFit/>
          </a:bodyPr>
          <a:lstStyle/>
          <a:p>
            <a:r>
              <a:rPr lang="pt-BR" b="1" dirty="0">
                <a:solidFill>
                  <a:srgbClr val="FFC000"/>
                </a:solidFill>
              </a:rPr>
              <a:t>Problema:</a:t>
            </a:r>
            <a:br>
              <a:rPr lang="pt-BR" b="1" dirty="0">
                <a:solidFill>
                  <a:srgbClr val="FFC000"/>
                </a:solidFill>
              </a:rPr>
            </a:br>
            <a:r>
              <a:rPr lang="pt-BR" b="1" dirty="0">
                <a:solidFill>
                  <a:srgbClr val="FFC000"/>
                </a:solidFill>
              </a:rPr>
              <a:t>Se o usuário digitar texto, o programa irá parar com erro.</a:t>
            </a:r>
          </a:p>
        </p:txBody>
      </p:sp>
      <p:sp>
        <p:nvSpPr>
          <p:cNvPr id="16" name="CaixaDeTexto 15">
            <a:extLst>
              <a:ext uri="{FF2B5EF4-FFF2-40B4-BE49-F238E27FC236}">
                <a16:creationId xmlns:a16="http://schemas.microsoft.com/office/drawing/2014/main" id="{9871020C-80FD-44EB-FA76-D00E37FD3AF7}"/>
              </a:ext>
            </a:extLst>
          </p:cNvPr>
          <p:cNvSpPr txBox="1"/>
          <p:nvPr/>
        </p:nvSpPr>
        <p:spPr>
          <a:xfrm>
            <a:off x="7534642" y="7265200"/>
            <a:ext cx="8955024" cy="523220"/>
          </a:xfrm>
          <a:prstGeom prst="rect">
            <a:avLst/>
          </a:prstGeom>
          <a:noFill/>
        </p:spPr>
        <p:txBody>
          <a:bodyPr wrap="square">
            <a:spAutoFit/>
          </a:bodyPr>
          <a:lstStyle/>
          <a:p>
            <a:r>
              <a:rPr lang="pt-BR" sz="2800" b="1" dirty="0" err="1">
                <a:solidFill>
                  <a:schemeClr val="accent6">
                    <a:lumMod val="20000"/>
                    <a:lumOff val="80000"/>
                  </a:schemeClr>
                </a:solidFill>
              </a:rPr>
              <a:t>ValueError</a:t>
            </a:r>
            <a:r>
              <a:rPr lang="pt-BR" sz="2800" b="1" dirty="0">
                <a:solidFill>
                  <a:schemeClr val="accent6">
                    <a:lumMod val="20000"/>
                    <a:lumOff val="80000"/>
                  </a:schemeClr>
                </a:solidFill>
              </a:rPr>
              <a:t>: </a:t>
            </a:r>
            <a:r>
              <a:rPr lang="pt-BR" sz="2800" b="1" dirty="0" err="1">
                <a:solidFill>
                  <a:schemeClr val="accent6">
                    <a:lumMod val="20000"/>
                    <a:lumOff val="80000"/>
                  </a:schemeClr>
                </a:solidFill>
              </a:rPr>
              <a:t>invalid</a:t>
            </a:r>
            <a:r>
              <a:rPr lang="pt-BR" sz="2800" b="1" dirty="0">
                <a:solidFill>
                  <a:schemeClr val="accent6">
                    <a:lumMod val="20000"/>
                    <a:lumOff val="80000"/>
                  </a:schemeClr>
                </a:solidFill>
              </a:rPr>
              <a:t> literal for </a:t>
            </a:r>
            <a:r>
              <a:rPr lang="pt-BR" sz="2800" b="1" dirty="0" err="1">
                <a:solidFill>
                  <a:schemeClr val="accent6">
                    <a:lumMod val="20000"/>
                    <a:lumOff val="80000"/>
                  </a:schemeClr>
                </a:solidFill>
              </a:rPr>
              <a:t>int</a:t>
            </a:r>
            <a:r>
              <a:rPr lang="pt-BR" sz="2800" b="1" dirty="0">
                <a:solidFill>
                  <a:schemeClr val="accent6">
                    <a:lumMod val="20000"/>
                    <a:lumOff val="80000"/>
                  </a:schemeClr>
                </a:solidFill>
              </a:rPr>
              <a:t>()</a:t>
            </a:r>
          </a:p>
        </p:txBody>
      </p:sp>
    </p:spTree>
    <p:extLst>
      <p:ext uri="{BB962C8B-B14F-4D97-AF65-F5344CB8AC3E}">
        <p14:creationId xmlns:p14="http://schemas.microsoft.com/office/powerpoint/2010/main" val="307968546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6B90FAA-9E74-0281-F86D-B7F966E5321D}"/>
            </a:ext>
          </a:extLst>
        </p:cNvPr>
        <p:cNvGrpSpPr/>
        <p:nvPr/>
      </p:nvGrpSpPr>
      <p:grpSpPr>
        <a:xfrm>
          <a:off x="0" y="0"/>
          <a:ext cx="0" cy="0"/>
          <a:chOff x="0" y="0"/>
          <a:chExt cx="0" cy="0"/>
        </a:xfrm>
      </p:grpSpPr>
      <p:pic>
        <p:nvPicPr>
          <p:cNvPr id="9" name="Picture 11">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11" name="Picture 13">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16" name="Oval 15">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18" name="Picture 17">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20" name="Picture 19">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22" name="Rectangle 21">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useBgFill="1">
        <p:nvSpPr>
          <p:cNvPr id="24" name="Rectangle 23">
            <a:extLst>
              <a:ext uri="{FF2B5EF4-FFF2-40B4-BE49-F238E27FC236}">
                <a16:creationId xmlns:a16="http://schemas.microsoft.com/office/drawing/2014/main" id="{20F6071B-48FA-4685-A9C9-A7B21E1C14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
            <a:ext cx="16255593" cy="63076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Imagem 6">
            <a:extLst>
              <a:ext uri="{FF2B5EF4-FFF2-40B4-BE49-F238E27FC236}">
                <a16:creationId xmlns:a16="http://schemas.microsoft.com/office/drawing/2014/main" id="{025A30E6-C6BE-8F0B-FEA8-F078909E35E0}"/>
              </a:ext>
            </a:extLst>
          </p:cNvPr>
          <p:cNvPicPr>
            <a:picLocks noChangeAspect="1"/>
          </p:cNvPicPr>
          <p:nvPr/>
        </p:nvPicPr>
        <p:blipFill>
          <a:blip r:embed="rId6"/>
          <a:stretch>
            <a:fillRect/>
          </a:stretch>
        </p:blipFill>
        <p:spPr>
          <a:xfrm>
            <a:off x="847277" y="853441"/>
            <a:ext cx="11918866" cy="3745929"/>
          </a:xfrm>
          <a:prstGeom prst="rect">
            <a:avLst/>
          </a:prstGeom>
          <a:effectLst/>
        </p:spPr>
      </p:pic>
      <p:sp>
        <p:nvSpPr>
          <p:cNvPr id="26" name="Rectangle 25">
            <a:extLst>
              <a:ext uri="{FF2B5EF4-FFF2-40B4-BE49-F238E27FC236}">
                <a16:creationId xmlns:a16="http://schemas.microsoft.com/office/drawing/2014/main" id="{8C56044C-1580-4C45-8AA3-F2A07478B4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28" name="Freeform: Shape 27">
            <a:extLst>
              <a:ext uri="{FF2B5EF4-FFF2-40B4-BE49-F238E27FC236}">
                <a16:creationId xmlns:a16="http://schemas.microsoft.com/office/drawing/2014/main" id="{51A8E3CE-561F-42BE-B6A2-FBE96F9A82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4772276"/>
            <a:ext cx="16255594" cy="4371724"/>
          </a:xfrm>
          <a:custGeom>
            <a:avLst/>
            <a:gdLst>
              <a:gd name="connsiteX0" fmla="*/ 1 w 12191696"/>
              <a:gd name="connsiteY0" fmla="*/ 0 h 3278793"/>
              <a:gd name="connsiteX1" fmla="*/ 71932 w 12191696"/>
              <a:gd name="connsiteY1" fmla="*/ 12261 h 3278793"/>
              <a:gd name="connsiteX2" fmla="*/ 282849 w 12191696"/>
              <a:gd name="connsiteY2" fmla="*/ 48343 h 3278793"/>
              <a:gd name="connsiteX3" fmla="*/ 436464 w 12191696"/>
              <a:gd name="connsiteY3" fmla="*/ 73565 h 3278793"/>
              <a:gd name="connsiteX4" fmla="*/ 619339 w 12191696"/>
              <a:gd name="connsiteY4" fmla="*/ 100188 h 3278793"/>
              <a:gd name="connsiteX5" fmla="*/ 836351 w 12191696"/>
              <a:gd name="connsiteY5" fmla="*/ 132066 h 3278793"/>
              <a:gd name="connsiteX6" fmla="*/ 1076528 w 12191696"/>
              <a:gd name="connsiteY6" fmla="*/ 165696 h 3278793"/>
              <a:gd name="connsiteX7" fmla="*/ 1347183 w 12191696"/>
              <a:gd name="connsiteY7" fmla="*/ 201077 h 3278793"/>
              <a:gd name="connsiteX8" fmla="*/ 1642223 w 12191696"/>
              <a:gd name="connsiteY8" fmla="*/ 238560 h 3278793"/>
              <a:gd name="connsiteX9" fmla="*/ 1962864 w 12191696"/>
              <a:gd name="connsiteY9" fmla="*/ 276043 h 3278793"/>
              <a:gd name="connsiteX10" fmla="*/ 2304232 w 12191696"/>
              <a:gd name="connsiteY10" fmla="*/ 314227 h 3278793"/>
              <a:gd name="connsiteX11" fmla="*/ 2672421 w 12191696"/>
              <a:gd name="connsiteY11" fmla="*/ 349608 h 3278793"/>
              <a:gd name="connsiteX12" fmla="*/ 3057678 w 12191696"/>
              <a:gd name="connsiteY12" fmla="*/ 383588 h 3278793"/>
              <a:gd name="connsiteX13" fmla="*/ 3464881 w 12191696"/>
              <a:gd name="connsiteY13" fmla="*/ 414415 h 3278793"/>
              <a:gd name="connsiteX14" fmla="*/ 3889152 w 12191696"/>
              <a:gd name="connsiteY14" fmla="*/ 443841 h 3278793"/>
              <a:gd name="connsiteX15" fmla="*/ 4331710 w 12191696"/>
              <a:gd name="connsiteY15" fmla="*/ 471515 h 3278793"/>
              <a:gd name="connsiteX16" fmla="*/ 4558476 w 12191696"/>
              <a:gd name="connsiteY16" fmla="*/ 481324 h 3278793"/>
              <a:gd name="connsiteX17" fmla="*/ 4790118 w 12191696"/>
              <a:gd name="connsiteY17" fmla="*/ 492183 h 3278793"/>
              <a:gd name="connsiteX18" fmla="*/ 5025418 w 12191696"/>
              <a:gd name="connsiteY18" fmla="*/ 502342 h 3278793"/>
              <a:gd name="connsiteX19" fmla="*/ 5261937 w 12191696"/>
              <a:gd name="connsiteY19" fmla="*/ 508998 h 3278793"/>
              <a:gd name="connsiteX20" fmla="*/ 5503333 w 12191696"/>
              <a:gd name="connsiteY20" fmla="*/ 514953 h 3278793"/>
              <a:gd name="connsiteX21" fmla="*/ 5747166 w 12191696"/>
              <a:gd name="connsiteY21" fmla="*/ 521259 h 3278793"/>
              <a:gd name="connsiteX22" fmla="*/ 5995877 w 12191696"/>
              <a:gd name="connsiteY22" fmla="*/ 525463 h 3278793"/>
              <a:gd name="connsiteX23" fmla="*/ 6247026 w 12191696"/>
              <a:gd name="connsiteY23" fmla="*/ 525463 h 3278793"/>
              <a:gd name="connsiteX24" fmla="*/ 6500613 w 12191696"/>
              <a:gd name="connsiteY24" fmla="*/ 527565 h 3278793"/>
              <a:gd name="connsiteX25" fmla="*/ 6756639 w 12191696"/>
              <a:gd name="connsiteY25" fmla="*/ 525463 h 3278793"/>
              <a:gd name="connsiteX26" fmla="*/ 7016322 w 12191696"/>
              <a:gd name="connsiteY26" fmla="*/ 521259 h 3278793"/>
              <a:gd name="connsiteX27" fmla="*/ 7276005 w 12191696"/>
              <a:gd name="connsiteY27" fmla="*/ 517406 h 3278793"/>
              <a:gd name="connsiteX28" fmla="*/ 7539345 w 12191696"/>
              <a:gd name="connsiteY28" fmla="*/ 508998 h 3278793"/>
              <a:gd name="connsiteX29" fmla="*/ 7805124 w 12191696"/>
              <a:gd name="connsiteY29" fmla="*/ 500241 h 3278793"/>
              <a:gd name="connsiteX30" fmla="*/ 8070903 w 12191696"/>
              <a:gd name="connsiteY30" fmla="*/ 490082 h 3278793"/>
              <a:gd name="connsiteX31" fmla="*/ 8339121 w 12191696"/>
              <a:gd name="connsiteY31" fmla="*/ 475719 h 3278793"/>
              <a:gd name="connsiteX32" fmla="*/ 8609776 w 12191696"/>
              <a:gd name="connsiteY32" fmla="*/ 458554 h 3278793"/>
              <a:gd name="connsiteX33" fmla="*/ 8881651 w 12191696"/>
              <a:gd name="connsiteY33" fmla="*/ 442089 h 3278793"/>
              <a:gd name="connsiteX34" fmla="*/ 9153526 w 12191696"/>
              <a:gd name="connsiteY34" fmla="*/ 421071 h 3278793"/>
              <a:gd name="connsiteX35" fmla="*/ 9429058 w 12191696"/>
              <a:gd name="connsiteY35" fmla="*/ 395849 h 3278793"/>
              <a:gd name="connsiteX36" fmla="*/ 9700933 w 12191696"/>
              <a:gd name="connsiteY36" fmla="*/ 370626 h 3278793"/>
              <a:gd name="connsiteX37" fmla="*/ 9977684 w 12191696"/>
              <a:gd name="connsiteY37" fmla="*/ 341551 h 3278793"/>
              <a:gd name="connsiteX38" fmla="*/ 10255655 w 12191696"/>
              <a:gd name="connsiteY38" fmla="*/ 309673 h 3278793"/>
              <a:gd name="connsiteX39" fmla="*/ 10529968 w 12191696"/>
              <a:gd name="connsiteY39" fmla="*/ 276043 h 3278793"/>
              <a:gd name="connsiteX40" fmla="*/ 10807939 w 12191696"/>
              <a:gd name="connsiteY40" fmla="*/ 236809 h 3278793"/>
              <a:gd name="connsiteX41" fmla="*/ 11084690 w 12191696"/>
              <a:gd name="connsiteY41" fmla="*/ 194772 h 3278793"/>
              <a:gd name="connsiteX42" fmla="*/ 11362661 w 12191696"/>
              <a:gd name="connsiteY42" fmla="*/ 153085 h 3278793"/>
              <a:gd name="connsiteX43" fmla="*/ 11639412 w 12191696"/>
              <a:gd name="connsiteY43" fmla="*/ 104392 h 3278793"/>
              <a:gd name="connsiteX44" fmla="*/ 11914945 w 12191696"/>
              <a:gd name="connsiteY44" fmla="*/ 54648 h 3278793"/>
              <a:gd name="connsiteX45" fmla="*/ 12191696 w 12191696"/>
              <a:gd name="connsiteY45" fmla="*/ 2452 h 3278793"/>
              <a:gd name="connsiteX46" fmla="*/ 12191696 w 12191696"/>
              <a:gd name="connsiteY46" fmla="*/ 2802467 h 3278793"/>
              <a:gd name="connsiteX47" fmla="*/ 12191695 w 12191696"/>
              <a:gd name="connsiteY47" fmla="*/ 2802467 h 3278793"/>
              <a:gd name="connsiteX48" fmla="*/ 12191695 w 12191696"/>
              <a:gd name="connsiteY48" fmla="*/ 3278793 h 3278793"/>
              <a:gd name="connsiteX49" fmla="*/ 0 w 12191696"/>
              <a:gd name="connsiteY49" fmla="*/ 3278793 h 3278793"/>
              <a:gd name="connsiteX50" fmla="*/ 0 w 12191696"/>
              <a:gd name="connsiteY50" fmla="*/ 2134639 h 3278793"/>
              <a:gd name="connsiteX51" fmla="*/ 1 w 12191696"/>
              <a:gd name="connsiteY51" fmla="*/ 2134639 h 3278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1696" h="3278793">
                <a:moveTo>
                  <a:pt x="1" y="0"/>
                </a:moveTo>
                <a:lnTo>
                  <a:pt x="71932" y="12261"/>
                </a:lnTo>
                <a:lnTo>
                  <a:pt x="282849" y="48343"/>
                </a:lnTo>
                <a:lnTo>
                  <a:pt x="436464" y="73565"/>
                </a:lnTo>
                <a:lnTo>
                  <a:pt x="619339" y="100188"/>
                </a:lnTo>
                <a:lnTo>
                  <a:pt x="836351" y="132066"/>
                </a:lnTo>
                <a:lnTo>
                  <a:pt x="1076528" y="165696"/>
                </a:lnTo>
                <a:lnTo>
                  <a:pt x="1347183"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3" y="514953"/>
                </a:lnTo>
                <a:lnTo>
                  <a:pt x="5747166"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802467"/>
                </a:lnTo>
                <a:lnTo>
                  <a:pt x="12191695" y="2802467"/>
                </a:lnTo>
                <a:lnTo>
                  <a:pt x="12191695" y="3278793"/>
                </a:lnTo>
                <a:lnTo>
                  <a:pt x="0" y="3278793"/>
                </a:lnTo>
                <a:lnTo>
                  <a:pt x="0" y="2134639"/>
                </a:lnTo>
                <a:lnTo>
                  <a:pt x="1" y="2134639"/>
                </a:lnTo>
                <a:close/>
              </a:path>
            </a:pathLst>
          </a:custGeom>
          <a:ln>
            <a:noFill/>
          </a:ln>
        </p:spPr>
        <p:style>
          <a:lnRef idx="0">
            <a:scrgbClr r="0" g="0" b="0"/>
          </a:lnRef>
          <a:fillRef idx="1003">
            <a:schemeClr val="dk2"/>
          </a:fillRef>
          <a:effectRef idx="0">
            <a:scrgbClr r="0" g="0" b="0"/>
          </a:effectRef>
          <a:fontRef idx="major"/>
        </p:style>
        <p:txBody>
          <a:bodyPr/>
          <a:lstStyle/>
          <a:p>
            <a:endParaRPr lang="pt-BR"/>
          </a:p>
        </p:txBody>
      </p:sp>
      <p:sp>
        <p:nvSpPr>
          <p:cNvPr id="4" name="CaixaDeTexto 3">
            <a:extLst>
              <a:ext uri="{FF2B5EF4-FFF2-40B4-BE49-F238E27FC236}">
                <a16:creationId xmlns:a16="http://schemas.microsoft.com/office/drawing/2014/main" id="{A282DD4B-2830-1044-BC98-DE52241FCFF4}"/>
              </a:ext>
            </a:extLst>
          </p:cNvPr>
          <p:cNvSpPr txBox="1"/>
          <p:nvPr/>
        </p:nvSpPr>
        <p:spPr>
          <a:xfrm>
            <a:off x="849221" y="5829132"/>
            <a:ext cx="12199133" cy="1800697"/>
          </a:xfrm>
          <a:prstGeom prst="rect">
            <a:avLst/>
          </a:prstGeom>
        </p:spPr>
        <p:txBody>
          <a:bodyPr vert="horz" lIns="91440" tIns="45720" rIns="91440" bIns="45720" rtlCol="0" anchor="b">
            <a:normAutofit/>
          </a:bodyPr>
          <a:lstStyle>
            <a:defPPr>
              <a:defRPr lang="en-US"/>
            </a:defPPr>
            <a:lvl1pPr algn="ctr" defTabSz="914400" eaLnBrk="0" fontAlgn="base" hangingPunct="0">
              <a:spcBef>
                <a:spcPct val="0"/>
              </a:spcBef>
              <a:spcAft>
                <a:spcPct val="0"/>
              </a:spcAft>
              <a:defRPr sz="4400">
                <a:solidFill>
                  <a:srgbClr val="FFC000"/>
                </a:solidFill>
                <a:latin typeface="Arial" panose="020B0604020202020204" pitchFamily="34" charset="0"/>
              </a:defRPr>
            </a:lvl1pPr>
          </a:lstStyle>
          <a:p>
            <a:pPr algn="l" defTabSz="457200" eaLnBrk="1" hangingPunct="1">
              <a:lnSpc>
                <a:spcPct val="90000"/>
              </a:lnSpc>
              <a:spcAft>
                <a:spcPts val="600"/>
              </a:spcAft>
            </a:pPr>
            <a:r>
              <a:rPr lang="en-US" sz="6200" b="0" i="0" kern="1200">
                <a:solidFill>
                  <a:srgbClr val="EBEBEB"/>
                </a:solidFill>
                <a:latin typeface="+mj-lt"/>
                <a:ea typeface="+mj-ea"/>
                <a:cs typeface="+mj-cs"/>
              </a:rPr>
              <a:t>Tratamento de Erros com try / except</a:t>
            </a:r>
          </a:p>
        </p:txBody>
      </p:sp>
      <p:sp>
        <p:nvSpPr>
          <p:cNvPr id="3" name="CaixaDeTexto 2">
            <a:extLst>
              <a:ext uri="{FF2B5EF4-FFF2-40B4-BE49-F238E27FC236}">
                <a16:creationId xmlns:a16="http://schemas.microsoft.com/office/drawing/2014/main" id="{D684EFC7-7719-B741-71A6-92236DBE312E}"/>
              </a:ext>
            </a:extLst>
          </p:cNvPr>
          <p:cNvSpPr txBox="1"/>
          <p:nvPr/>
        </p:nvSpPr>
        <p:spPr>
          <a:xfrm>
            <a:off x="849221" y="7629832"/>
            <a:ext cx="12199132" cy="650565"/>
          </a:xfrm>
          <a:prstGeom prst="rect">
            <a:avLst/>
          </a:prstGeom>
        </p:spPr>
        <p:txBody>
          <a:bodyPr vert="horz" lIns="91440" tIns="45720" rIns="91440" bIns="45720" rtlCol="0" anchor="t">
            <a:normAutofit/>
          </a:bodyPr>
          <a:lstStyle/>
          <a:p>
            <a:pPr>
              <a:spcBef>
                <a:spcPts val="1000"/>
              </a:spcBef>
              <a:buClr>
                <a:schemeClr val="bg2">
                  <a:lumMod val="40000"/>
                  <a:lumOff val="60000"/>
                </a:schemeClr>
              </a:buClr>
              <a:buSzPct val="80000"/>
            </a:pPr>
            <a:r>
              <a:rPr lang="en-US" sz="2000" cap="all">
                <a:solidFill>
                  <a:schemeClr val="tx2">
                    <a:lumMod val="40000"/>
                    <a:lumOff val="60000"/>
                  </a:schemeClr>
                </a:solidFill>
                <a:latin typeface="+mj-lt"/>
                <a:ea typeface="+mj-ea"/>
                <a:cs typeface="+mj-cs"/>
              </a:rPr>
              <a:t>Estrutura do try / except</a:t>
            </a:r>
          </a:p>
        </p:txBody>
      </p:sp>
      <p:sp>
        <p:nvSpPr>
          <p:cNvPr id="30" name="Freeform 16">
            <a:extLst>
              <a:ext uri="{FF2B5EF4-FFF2-40B4-BE49-F238E27FC236}">
                <a16:creationId xmlns:a16="http://schemas.microsoft.com/office/drawing/2014/main" id="{7DE548AA-7E1A-497C-8B79-C74F42ACFB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26586" y="4373348"/>
            <a:ext cx="4629414" cy="110124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tx2">
              <a:alpha val="20000"/>
            </a:schemeClr>
          </a:solidFill>
          <a:ln>
            <a:noFill/>
          </a:ln>
        </p:spPr>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869181208"/>
      </p:ext>
    </p:extLst>
  </p:cSld>
  <p:clrMapOvr>
    <a:overrideClrMapping bg1="lt1" tx1="dk1" bg2="lt2" tx2="dk2" accent1="accent1" accent2="accent2" accent3="accent3" accent4="accent4" accent5="accent5" accent6="accent6" hlink="hlink" folHlink="folHlink"/>
  </p:clrMapOvr>
</p:sld>
</file>

<file path=ppt/slides/slide6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14" name="Rectangle 7">
            <a:extLst>
              <a:ext uri="{FF2B5EF4-FFF2-40B4-BE49-F238E27FC236}">
                <a16:creationId xmlns:a16="http://schemas.microsoft.com/office/drawing/2014/main" id="{D85D5AA8-773B-469A-8802-9645A4DC9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Imagem 2">
            <a:extLst>
              <a:ext uri="{FF2B5EF4-FFF2-40B4-BE49-F238E27FC236}">
                <a16:creationId xmlns:a16="http://schemas.microsoft.com/office/drawing/2014/main" id="{EBC9FBB4-5398-8084-7C2C-2C10C0A02AD4}"/>
              </a:ext>
            </a:extLst>
          </p:cNvPr>
          <p:cNvPicPr>
            <a:picLocks noChangeAspect="1"/>
          </p:cNvPicPr>
          <p:nvPr/>
        </p:nvPicPr>
        <p:blipFill>
          <a:blip r:embed="rId3"/>
          <a:stretch>
            <a:fillRect/>
          </a:stretch>
        </p:blipFill>
        <p:spPr>
          <a:xfrm>
            <a:off x="857956" y="2502519"/>
            <a:ext cx="12638053" cy="4138961"/>
          </a:xfrm>
          <a:prstGeom prst="rect">
            <a:avLst/>
          </a:prstGeom>
        </p:spPr>
      </p:pic>
      <p:sp>
        <p:nvSpPr>
          <p:cNvPr id="15" name="Rectangle 9">
            <a:extLst>
              <a:ext uri="{FF2B5EF4-FFF2-40B4-BE49-F238E27FC236}">
                <a16:creationId xmlns:a16="http://schemas.microsoft.com/office/drawing/2014/main" id="{C75AF42C-C556-454E-B2D3-2C917CB812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4" name="CaixaDeTexto 3">
            <a:extLst>
              <a:ext uri="{FF2B5EF4-FFF2-40B4-BE49-F238E27FC236}">
                <a16:creationId xmlns:a16="http://schemas.microsoft.com/office/drawing/2014/main" id="{3BB89D9A-8056-D64F-A5D7-5C84BF2D87CD}"/>
              </a:ext>
            </a:extLst>
          </p:cNvPr>
          <p:cNvSpPr txBox="1"/>
          <p:nvPr/>
        </p:nvSpPr>
        <p:spPr>
          <a:xfrm>
            <a:off x="857956" y="1828800"/>
            <a:ext cx="8631936" cy="523220"/>
          </a:xfrm>
          <a:prstGeom prst="rect">
            <a:avLst/>
          </a:prstGeom>
          <a:noFill/>
        </p:spPr>
        <p:txBody>
          <a:bodyPr wrap="square">
            <a:spAutoFit/>
          </a:bodyPr>
          <a:lstStyle/>
          <a:p>
            <a:r>
              <a:rPr lang="pt-BR" sz="2800" b="1" dirty="0">
                <a:solidFill>
                  <a:srgbClr val="FFC000"/>
                </a:solidFill>
              </a:rPr>
              <a:t>Exemplo com tratamento</a:t>
            </a:r>
          </a:p>
        </p:txBody>
      </p:sp>
      <p:sp>
        <p:nvSpPr>
          <p:cNvPr id="5" name="Rectangle 1">
            <a:extLst>
              <a:ext uri="{FF2B5EF4-FFF2-40B4-BE49-F238E27FC236}">
                <a16:creationId xmlns:a16="http://schemas.microsoft.com/office/drawing/2014/main" id="{E94121D4-1EBF-613C-D7D9-B275856A00E3}"/>
              </a:ext>
            </a:extLst>
          </p:cNvPr>
          <p:cNvSpPr>
            <a:spLocks noChangeArrowheads="1"/>
          </p:cNvSpPr>
          <p:nvPr/>
        </p:nvSpPr>
        <p:spPr bwMode="auto">
          <a:xfrm>
            <a:off x="857956" y="6915089"/>
            <a:ext cx="7924800" cy="1354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pt-BR" altLang="pt-BR" sz="2800" b="0" i="0" u="none" strike="noStrike" cap="none" normalizeH="0" baseline="0" dirty="0" err="1">
                <a:ln>
                  <a:noFill/>
                </a:ln>
                <a:solidFill>
                  <a:srgbClr val="FFC000"/>
                </a:solidFill>
                <a:effectLst/>
                <a:latin typeface="Arial Unicode MS" panose="020B0604020202020204" pitchFamily="34" charset="-128"/>
              </a:rPr>
              <a:t>try</a:t>
            </a:r>
            <a:r>
              <a:rPr kumimoji="0" lang="pt-BR" altLang="pt-BR" sz="2800" b="0" i="0" u="none" strike="noStrike" cap="none" normalizeH="0" baseline="0" dirty="0">
                <a:ln>
                  <a:noFill/>
                </a:ln>
                <a:solidFill>
                  <a:schemeClr val="tx1"/>
                </a:solidFill>
                <a:effectLst/>
              </a:rPr>
              <a:t> → tenta executar </a:t>
            </a:r>
            <a:endParaRPr kumimoji="0" lang="pt-BR" altLang="pt-BR" sz="5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pt-BR" altLang="pt-BR" sz="2800" b="0" i="0" u="none" strike="noStrike" cap="none" normalizeH="0" baseline="0" dirty="0" err="1">
                <a:ln>
                  <a:noFill/>
                </a:ln>
                <a:solidFill>
                  <a:srgbClr val="FFC000"/>
                </a:solidFill>
                <a:effectLst/>
                <a:latin typeface="Arial Unicode MS" panose="020B0604020202020204" pitchFamily="34" charset="-128"/>
              </a:rPr>
              <a:t>except</a:t>
            </a:r>
            <a:r>
              <a:rPr kumimoji="0" lang="pt-BR" altLang="pt-BR" sz="2800" b="0" i="0" u="none" strike="noStrike" cap="none" normalizeH="0" baseline="0" dirty="0">
                <a:ln>
                  <a:noFill/>
                </a:ln>
                <a:solidFill>
                  <a:schemeClr val="tx1"/>
                </a:solidFill>
                <a:effectLst/>
              </a:rPr>
              <a:t> → captura erro</a:t>
            </a:r>
            <a:r>
              <a:rPr kumimoji="0" lang="pt-BR" altLang="pt-BR" sz="54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272840162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967A1919-70A3-43A5-57D1-3ECA72FDF216}"/>
            </a:ext>
          </a:extLst>
        </p:cNvPr>
        <p:cNvGrpSpPr/>
        <p:nvPr/>
      </p:nvGrpSpPr>
      <p:grpSpPr>
        <a:xfrm>
          <a:off x="0" y="0"/>
          <a:ext cx="0" cy="0"/>
          <a:chOff x="0" y="0"/>
          <a:chExt cx="0" cy="0"/>
        </a:xfrm>
      </p:grpSpPr>
      <p:sp>
        <p:nvSpPr>
          <p:cNvPr id="14" name="Rectangle 7">
            <a:extLst>
              <a:ext uri="{FF2B5EF4-FFF2-40B4-BE49-F238E27FC236}">
                <a16:creationId xmlns:a16="http://schemas.microsoft.com/office/drawing/2014/main" id="{AAA9E566-E6B7-B9E9-1324-426A64B70A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9">
            <a:extLst>
              <a:ext uri="{FF2B5EF4-FFF2-40B4-BE49-F238E27FC236}">
                <a16:creationId xmlns:a16="http://schemas.microsoft.com/office/drawing/2014/main" id="{7FCC0481-D86A-32F9-2F11-B367C99F7F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4" name="CaixaDeTexto 3">
            <a:extLst>
              <a:ext uri="{FF2B5EF4-FFF2-40B4-BE49-F238E27FC236}">
                <a16:creationId xmlns:a16="http://schemas.microsoft.com/office/drawing/2014/main" id="{6326B5BE-912B-B36E-3B44-198DA5826EBD}"/>
              </a:ext>
            </a:extLst>
          </p:cNvPr>
          <p:cNvSpPr txBox="1"/>
          <p:nvPr/>
        </p:nvSpPr>
        <p:spPr>
          <a:xfrm>
            <a:off x="857956" y="1828800"/>
            <a:ext cx="8631936" cy="523220"/>
          </a:xfrm>
          <a:prstGeom prst="rect">
            <a:avLst/>
          </a:prstGeom>
          <a:noFill/>
        </p:spPr>
        <p:txBody>
          <a:bodyPr wrap="square">
            <a:spAutoFit/>
          </a:bodyPr>
          <a:lstStyle/>
          <a:p>
            <a:r>
              <a:rPr lang="pt-BR" sz="2800" b="1" dirty="0">
                <a:solidFill>
                  <a:srgbClr val="FFC000"/>
                </a:solidFill>
              </a:rPr>
              <a:t>Exemplo com tratamento genérico</a:t>
            </a:r>
          </a:p>
        </p:txBody>
      </p:sp>
      <p:pic>
        <p:nvPicPr>
          <p:cNvPr id="6" name="Imagem 5">
            <a:extLst>
              <a:ext uri="{FF2B5EF4-FFF2-40B4-BE49-F238E27FC236}">
                <a16:creationId xmlns:a16="http://schemas.microsoft.com/office/drawing/2014/main" id="{565BF676-1352-BEAB-CE7B-02284C169679}"/>
              </a:ext>
            </a:extLst>
          </p:cNvPr>
          <p:cNvPicPr>
            <a:picLocks noChangeAspect="1"/>
          </p:cNvPicPr>
          <p:nvPr/>
        </p:nvPicPr>
        <p:blipFill>
          <a:blip r:embed="rId3"/>
          <a:stretch>
            <a:fillRect/>
          </a:stretch>
        </p:blipFill>
        <p:spPr>
          <a:xfrm>
            <a:off x="965200" y="2590800"/>
            <a:ext cx="11276075" cy="3733800"/>
          </a:xfrm>
          <a:prstGeom prst="rect">
            <a:avLst/>
          </a:prstGeom>
        </p:spPr>
      </p:pic>
      <p:sp>
        <p:nvSpPr>
          <p:cNvPr id="7" name="Rectangle 1">
            <a:extLst>
              <a:ext uri="{FF2B5EF4-FFF2-40B4-BE49-F238E27FC236}">
                <a16:creationId xmlns:a16="http://schemas.microsoft.com/office/drawing/2014/main" id="{8EBD5B77-B283-C645-4B21-66547C019EA8}"/>
              </a:ext>
            </a:extLst>
          </p:cNvPr>
          <p:cNvSpPr>
            <a:spLocks noChangeArrowheads="1"/>
          </p:cNvSpPr>
          <p:nvPr/>
        </p:nvSpPr>
        <p:spPr bwMode="auto">
          <a:xfrm>
            <a:off x="965200" y="6349304"/>
            <a:ext cx="10391648"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pt-BR" altLang="pt-BR" sz="2800" b="0" i="0" u="none" strike="noStrike" cap="none" normalizeH="0" baseline="0" dirty="0">
              <a:ln>
                <a:noFill/>
              </a:ln>
              <a:solidFill>
                <a:srgbClr val="FFC00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2800" b="0" i="0" u="none" strike="noStrike" cap="none" normalizeH="0" baseline="0" dirty="0">
                <a:ln>
                  <a:noFill/>
                </a:ln>
                <a:solidFill>
                  <a:srgbClr val="FFC000"/>
                </a:solidFill>
                <a:effectLst/>
                <a:latin typeface="Arial" panose="020B0604020202020204" pitchFamily="34" charset="0"/>
              </a:rPr>
              <a:t> </a:t>
            </a:r>
            <a:r>
              <a:rPr lang="pt-BR" altLang="pt-BR" sz="2800" dirty="0">
                <a:solidFill>
                  <a:srgbClr val="FFC000"/>
                </a:solidFill>
                <a:latin typeface="Arial" panose="020B0604020202020204" pitchFamily="34" charset="0"/>
              </a:rPr>
              <a:t>C</a:t>
            </a:r>
            <a:r>
              <a:rPr kumimoji="0" lang="pt-BR" altLang="pt-BR" sz="2800" b="0" i="0" u="none" strike="noStrike" cap="none" normalizeH="0" baseline="0" dirty="0">
                <a:ln>
                  <a:noFill/>
                </a:ln>
                <a:solidFill>
                  <a:srgbClr val="FFC000"/>
                </a:solidFill>
                <a:effectLst/>
                <a:latin typeface="Arial" panose="020B0604020202020204" pitchFamily="34" charset="0"/>
              </a:rPr>
              <a:t>aptura qualquer erro </a:t>
            </a:r>
          </a:p>
          <a:p>
            <a:pPr marL="0" marR="0" lvl="0" indent="0" algn="l" defTabSz="914400" rtl="0" eaLnBrk="0" fontAlgn="base" latinLnBrk="0" hangingPunct="0">
              <a:lnSpc>
                <a:spcPct val="100000"/>
              </a:lnSpc>
              <a:spcBef>
                <a:spcPct val="0"/>
              </a:spcBef>
              <a:spcAft>
                <a:spcPct val="0"/>
              </a:spcAft>
              <a:buClrTx/>
              <a:buSzTx/>
              <a:buFontTx/>
              <a:buChar char="•"/>
              <a:tabLst/>
            </a:pPr>
            <a:r>
              <a:rPr lang="pt-BR" altLang="pt-BR" sz="2800" dirty="0">
                <a:solidFill>
                  <a:srgbClr val="FFC000"/>
                </a:solidFill>
                <a:latin typeface="Arial" panose="020B0604020202020204" pitchFamily="34" charset="0"/>
              </a:rPr>
              <a:t> Erro guarda a mensagem </a:t>
            </a:r>
          </a:p>
        </p:txBody>
      </p:sp>
    </p:spTree>
    <p:extLst>
      <p:ext uri="{BB962C8B-B14F-4D97-AF65-F5344CB8AC3E}">
        <p14:creationId xmlns:p14="http://schemas.microsoft.com/office/powerpoint/2010/main" val="301355835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9C8311DF-57D0-EBB3-B0B4-F5BAE70F13B2}"/>
            </a:ext>
          </a:extLst>
        </p:cNvPr>
        <p:cNvGrpSpPr/>
        <p:nvPr/>
      </p:nvGrpSpPr>
      <p:grpSpPr>
        <a:xfrm>
          <a:off x="0" y="0"/>
          <a:ext cx="0" cy="0"/>
          <a:chOff x="0" y="0"/>
          <a:chExt cx="0" cy="0"/>
        </a:xfrm>
      </p:grpSpPr>
      <p:pic>
        <p:nvPicPr>
          <p:cNvPr id="20" name="Picture 19">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22" name="Picture 21">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24" name="Oval 23">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26" name="Picture 25">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28" name="Picture 27">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30" name="Rectangle 29">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4" name="CaixaDeTexto 3">
            <a:extLst>
              <a:ext uri="{FF2B5EF4-FFF2-40B4-BE49-F238E27FC236}">
                <a16:creationId xmlns:a16="http://schemas.microsoft.com/office/drawing/2014/main" id="{52A4FF84-EAB6-124F-B29F-0A3C133AAF2D}"/>
              </a:ext>
            </a:extLst>
          </p:cNvPr>
          <p:cNvSpPr txBox="1"/>
          <p:nvPr/>
        </p:nvSpPr>
        <p:spPr>
          <a:xfrm>
            <a:off x="849221" y="6056670"/>
            <a:ext cx="12246141" cy="1573160"/>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5600">
                <a:solidFill>
                  <a:schemeClr val="tx2"/>
                </a:solidFill>
                <a:latin typeface="+mj-lt"/>
                <a:ea typeface="+mj-ea"/>
                <a:cs typeface="+mj-cs"/>
              </a:rPr>
              <a:t>Exemplo com vários tratamentos</a:t>
            </a:r>
          </a:p>
        </p:txBody>
      </p:sp>
      <p:pic>
        <p:nvPicPr>
          <p:cNvPr id="9" name="Imagem 8">
            <a:extLst>
              <a:ext uri="{FF2B5EF4-FFF2-40B4-BE49-F238E27FC236}">
                <a16:creationId xmlns:a16="http://schemas.microsoft.com/office/drawing/2014/main" id="{8F1B48C5-D287-D9A1-8982-DFD0AB0E651C}"/>
              </a:ext>
            </a:extLst>
          </p:cNvPr>
          <p:cNvPicPr>
            <a:picLocks noChangeAspect="1"/>
          </p:cNvPicPr>
          <p:nvPr/>
        </p:nvPicPr>
        <p:blipFill>
          <a:blip r:embed="rId7"/>
          <a:srcRect r="4384" b="-1"/>
          <a:stretch>
            <a:fillRect/>
          </a:stretch>
        </p:blipFill>
        <p:spPr>
          <a:xfrm>
            <a:off x="847277" y="853440"/>
            <a:ext cx="12248084" cy="4803648"/>
          </a:xfrm>
          <a:prstGeom prst="rect">
            <a:avLst/>
          </a:prstGeom>
          <a:effectLst>
            <a:outerShdw blurRad="50800" dist="38100" dir="5400000" algn="t" rotWithShape="0">
              <a:prstClr val="black">
                <a:alpha val="43000"/>
              </a:prstClr>
            </a:outerShdw>
          </a:effectLst>
        </p:spPr>
      </p:pic>
    </p:spTree>
    <p:extLst>
      <p:ext uri="{BB962C8B-B14F-4D97-AF65-F5344CB8AC3E}">
        <p14:creationId xmlns:p14="http://schemas.microsoft.com/office/powerpoint/2010/main" val="264070058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ela 1">
            <a:extLst>
              <a:ext uri="{FF2B5EF4-FFF2-40B4-BE49-F238E27FC236}">
                <a16:creationId xmlns:a16="http://schemas.microsoft.com/office/drawing/2014/main" id="{543D5983-76BA-CBBC-4B3C-1CEFECF11308}"/>
              </a:ext>
            </a:extLst>
          </p:cNvPr>
          <p:cNvGraphicFramePr>
            <a:graphicFrameLocks noGrp="1"/>
          </p:cNvGraphicFramePr>
          <p:nvPr>
            <p:extLst>
              <p:ext uri="{D42A27DB-BD31-4B8C-83A1-F6EECF244321}">
                <p14:modId xmlns:p14="http://schemas.microsoft.com/office/powerpoint/2010/main" val="458216798"/>
              </p:ext>
            </p:extLst>
          </p:nvPr>
        </p:nvGraphicFramePr>
        <p:xfrm>
          <a:off x="1018032" y="1600200"/>
          <a:ext cx="9483883" cy="6971040"/>
        </p:xfrm>
        <a:graphic>
          <a:graphicData uri="http://schemas.openxmlformats.org/drawingml/2006/table">
            <a:tbl>
              <a:tblPr firstRow="1" lastRow="1" bandRow="1"/>
              <a:tblGrid>
                <a:gridCol w="4442968">
                  <a:extLst>
                    <a:ext uri="{9D8B030D-6E8A-4147-A177-3AD203B41FA5}">
                      <a16:colId xmlns:a16="http://schemas.microsoft.com/office/drawing/2014/main" val="1313226682"/>
                    </a:ext>
                  </a:extLst>
                </a:gridCol>
                <a:gridCol w="5040915">
                  <a:extLst>
                    <a:ext uri="{9D8B030D-6E8A-4147-A177-3AD203B41FA5}">
                      <a16:colId xmlns:a16="http://schemas.microsoft.com/office/drawing/2014/main" val="1413091275"/>
                    </a:ext>
                  </a:extLst>
                </a:gridCol>
              </a:tblGrid>
              <a:tr h="421482">
                <a:tc>
                  <a:txBody>
                    <a:bodyPr/>
                    <a:lstStyle/>
                    <a:p>
                      <a:pPr>
                        <a:buNone/>
                      </a:pPr>
                      <a:r>
                        <a:rPr lang="pt-BR" sz="2400" dirty="0">
                          <a:solidFill>
                            <a:srgbClr val="FFC000"/>
                          </a:solidFill>
                        </a:rPr>
                        <a:t>Erro</a:t>
                      </a:r>
                    </a:p>
                  </a:txBody>
                  <a:tcPr marL="69929" marR="69929" marT="34965" marB="34965" anchor="ctr">
                    <a:lnL>
                      <a:noFill/>
                    </a:lnL>
                    <a:lnR>
                      <a:noFill/>
                    </a:lnR>
                    <a:lnT>
                      <a:noFill/>
                    </a:lnT>
                    <a:lnB>
                      <a:noFill/>
                    </a:lnB>
                    <a:noFill/>
                  </a:tcPr>
                </a:tc>
                <a:tc>
                  <a:txBody>
                    <a:bodyPr/>
                    <a:lstStyle/>
                    <a:p>
                      <a:pPr>
                        <a:buNone/>
                      </a:pPr>
                      <a:r>
                        <a:rPr lang="pt-BR" sz="2400" dirty="0">
                          <a:solidFill>
                            <a:srgbClr val="FFC000"/>
                          </a:solidFill>
                        </a:rPr>
                        <a:t>Descrição</a:t>
                      </a:r>
                    </a:p>
                  </a:txBody>
                  <a:tcPr marL="69929" marR="69929" marT="34965" marB="34965" anchor="ctr">
                    <a:lnL>
                      <a:noFill/>
                    </a:lnL>
                    <a:lnR>
                      <a:noFill/>
                    </a:lnR>
                    <a:lnT>
                      <a:noFill/>
                    </a:lnT>
                    <a:lnB>
                      <a:noFill/>
                    </a:lnB>
                    <a:noFill/>
                  </a:tcPr>
                </a:tc>
                <a:extLst>
                  <a:ext uri="{0D108BD9-81ED-4DB2-BD59-A6C34878D82A}">
                    <a16:rowId xmlns:a16="http://schemas.microsoft.com/office/drawing/2014/main" val="2656881138"/>
                  </a:ext>
                </a:extLst>
              </a:tr>
              <a:tr h="421482">
                <a:tc>
                  <a:txBody>
                    <a:bodyPr/>
                    <a:lstStyle/>
                    <a:p>
                      <a:pPr>
                        <a:buNone/>
                      </a:pPr>
                      <a:r>
                        <a:rPr lang="pt-BR" sz="2400">
                          <a:latin typeface="Courier New" panose="02070309020205020404" pitchFamily="49" charset="0"/>
                        </a:rPr>
                        <a:t>ValueError</a:t>
                      </a:r>
                      <a:endParaRPr lang="pt-BR" sz="2400"/>
                    </a:p>
                  </a:txBody>
                  <a:tcPr marL="69929" marR="69929" marT="34965" marB="34965" anchor="ctr">
                    <a:lnL>
                      <a:noFill/>
                    </a:lnL>
                    <a:lnR>
                      <a:noFill/>
                    </a:lnR>
                    <a:lnT>
                      <a:noFill/>
                    </a:lnT>
                    <a:lnB>
                      <a:noFill/>
                    </a:lnB>
                    <a:noFill/>
                  </a:tcPr>
                </a:tc>
                <a:tc>
                  <a:txBody>
                    <a:bodyPr/>
                    <a:lstStyle/>
                    <a:p>
                      <a:pPr>
                        <a:buNone/>
                      </a:pPr>
                      <a:r>
                        <a:rPr lang="pt-BR" sz="2400"/>
                        <a:t>valor inválido</a:t>
                      </a:r>
                    </a:p>
                  </a:txBody>
                  <a:tcPr marL="69929" marR="69929" marT="34965" marB="34965" anchor="ctr">
                    <a:lnL>
                      <a:noFill/>
                    </a:lnL>
                    <a:lnR>
                      <a:noFill/>
                    </a:lnR>
                    <a:lnT>
                      <a:noFill/>
                    </a:lnT>
                    <a:lnB>
                      <a:noFill/>
                    </a:lnB>
                    <a:noFill/>
                  </a:tcPr>
                </a:tc>
                <a:extLst>
                  <a:ext uri="{0D108BD9-81ED-4DB2-BD59-A6C34878D82A}">
                    <a16:rowId xmlns:a16="http://schemas.microsoft.com/office/drawing/2014/main" val="1921813600"/>
                  </a:ext>
                </a:extLst>
              </a:tr>
              <a:tr h="421482">
                <a:tc>
                  <a:txBody>
                    <a:bodyPr/>
                    <a:lstStyle/>
                    <a:p>
                      <a:pPr>
                        <a:buNone/>
                      </a:pPr>
                      <a:r>
                        <a:rPr lang="pt-BR" sz="2400">
                          <a:latin typeface="Courier New" panose="02070309020205020404" pitchFamily="49" charset="0"/>
                        </a:rPr>
                        <a:t>TypeError</a:t>
                      </a:r>
                      <a:endParaRPr lang="pt-BR" sz="2400"/>
                    </a:p>
                  </a:txBody>
                  <a:tcPr marL="69929" marR="69929" marT="34965" marB="34965" anchor="ctr">
                    <a:lnL>
                      <a:noFill/>
                    </a:lnL>
                    <a:lnR>
                      <a:noFill/>
                    </a:lnR>
                    <a:lnT>
                      <a:noFill/>
                    </a:lnT>
                    <a:lnB>
                      <a:noFill/>
                    </a:lnB>
                    <a:noFill/>
                  </a:tcPr>
                </a:tc>
                <a:tc>
                  <a:txBody>
                    <a:bodyPr/>
                    <a:lstStyle/>
                    <a:p>
                      <a:pPr>
                        <a:buNone/>
                      </a:pPr>
                      <a:r>
                        <a:rPr lang="pt-BR" sz="2400"/>
                        <a:t>tipo de dado incompatível</a:t>
                      </a:r>
                    </a:p>
                  </a:txBody>
                  <a:tcPr marL="69929" marR="69929" marT="34965" marB="34965" anchor="ctr">
                    <a:lnL>
                      <a:noFill/>
                    </a:lnL>
                    <a:lnR>
                      <a:noFill/>
                    </a:lnR>
                    <a:lnT>
                      <a:noFill/>
                    </a:lnT>
                    <a:lnB>
                      <a:noFill/>
                    </a:lnB>
                    <a:noFill/>
                  </a:tcPr>
                </a:tc>
                <a:extLst>
                  <a:ext uri="{0D108BD9-81ED-4DB2-BD59-A6C34878D82A}">
                    <a16:rowId xmlns:a16="http://schemas.microsoft.com/office/drawing/2014/main" val="317916356"/>
                  </a:ext>
                </a:extLst>
              </a:tr>
              <a:tr h="421482">
                <a:tc>
                  <a:txBody>
                    <a:bodyPr/>
                    <a:lstStyle/>
                    <a:p>
                      <a:pPr>
                        <a:buNone/>
                      </a:pPr>
                      <a:r>
                        <a:rPr lang="pt-BR" sz="2400" dirty="0" err="1">
                          <a:latin typeface="Courier New" panose="02070309020205020404" pitchFamily="49" charset="0"/>
                        </a:rPr>
                        <a:t>NameError</a:t>
                      </a:r>
                      <a:endParaRPr lang="pt-BR" sz="2400" dirty="0"/>
                    </a:p>
                  </a:txBody>
                  <a:tcPr marL="69929" marR="69929" marT="34965" marB="34965" anchor="ctr">
                    <a:lnL>
                      <a:noFill/>
                    </a:lnL>
                    <a:lnR>
                      <a:noFill/>
                    </a:lnR>
                    <a:lnT>
                      <a:noFill/>
                    </a:lnT>
                    <a:lnB>
                      <a:noFill/>
                    </a:lnB>
                    <a:noFill/>
                  </a:tcPr>
                </a:tc>
                <a:tc>
                  <a:txBody>
                    <a:bodyPr/>
                    <a:lstStyle/>
                    <a:p>
                      <a:pPr>
                        <a:buNone/>
                      </a:pPr>
                      <a:r>
                        <a:rPr lang="pt-BR" sz="2400" dirty="0"/>
                        <a:t>variável inexistente</a:t>
                      </a:r>
                    </a:p>
                  </a:txBody>
                  <a:tcPr marL="69929" marR="69929" marT="34965" marB="34965" anchor="ctr">
                    <a:lnL>
                      <a:noFill/>
                    </a:lnL>
                    <a:lnR>
                      <a:noFill/>
                    </a:lnR>
                    <a:lnT>
                      <a:noFill/>
                    </a:lnT>
                    <a:lnB>
                      <a:noFill/>
                    </a:lnB>
                    <a:noFill/>
                  </a:tcPr>
                </a:tc>
                <a:extLst>
                  <a:ext uri="{0D108BD9-81ED-4DB2-BD59-A6C34878D82A}">
                    <a16:rowId xmlns:a16="http://schemas.microsoft.com/office/drawing/2014/main" val="1097822089"/>
                  </a:ext>
                </a:extLst>
              </a:tr>
              <a:tr h="421482">
                <a:tc>
                  <a:txBody>
                    <a:bodyPr/>
                    <a:lstStyle/>
                    <a:p>
                      <a:pPr>
                        <a:buNone/>
                      </a:pPr>
                      <a:r>
                        <a:rPr lang="pt-BR" sz="2400">
                          <a:latin typeface="Courier New" panose="02070309020205020404" pitchFamily="49" charset="0"/>
                        </a:rPr>
                        <a:t>ZeroDivisionError</a:t>
                      </a:r>
                      <a:endParaRPr lang="pt-BR" sz="2400"/>
                    </a:p>
                  </a:txBody>
                  <a:tcPr marL="69929" marR="69929" marT="34965" marB="34965" anchor="ctr">
                    <a:lnL>
                      <a:noFill/>
                    </a:lnL>
                    <a:lnR>
                      <a:noFill/>
                    </a:lnR>
                    <a:lnT>
                      <a:noFill/>
                    </a:lnT>
                    <a:lnB>
                      <a:noFill/>
                    </a:lnB>
                    <a:noFill/>
                  </a:tcPr>
                </a:tc>
                <a:tc>
                  <a:txBody>
                    <a:bodyPr/>
                    <a:lstStyle/>
                    <a:p>
                      <a:pPr>
                        <a:buNone/>
                      </a:pPr>
                      <a:r>
                        <a:rPr lang="pt-BR" sz="2400" dirty="0"/>
                        <a:t>divisão por zero</a:t>
                      </a:r>
                    </a:p>
                  </a:txBody>
                  <a:tcPr marL="69929" marR="69929" marT="34965" marB="34965" anchor="ctr">
                    <a:lnL>
                      <a:noFill/>
                    </a:lnL>
                    <a:lnR>
                      <a:noFill/>
                    </a:lnR>
                    <a:lnT>
                      <a:noFill/>
                    </a:lnT>
                    <a:lnB>
                      <a:noFill/>
                    </a:lnB>
                    <a:noFill/>
                  </a:tcPr>
                </a:tc>
                <a:extLst>
                  <a:ext uri="{0D108BD9-81ED-4DB2-BD59-A6C34878D82A}">
                    <a16:rowId xmlns:a16="http://schemas.microsoft.com/office/drawing/2014/main" val="2894678514"/>
                  </a:ext>
                </a:extLst>
              </a:tr>
              <a:tr h="421482">
                <a:tc>
                  <a:txBody>
                    <a:bodyPr/>
                    <a:lstStyle/>
                    <a:p>
                      <a:pPr>
                        <a:buNone/>
                      </a:pPr>
                      <a:r>
                        <a:rPr lang="pt-BR" sz="2400">
                          <a:latin typeface="Courier New" panose="02070309020205020404" pitchFamily="49" charset="0"/>
                        </a:rPr>
                        <a:t>IndexError</a:t>
                      </a:r>
                      <a:endParaRPr lang="pt-BR" sz="2400"/>
                    </a:p>
                  </a:txBody>
                  <a:tcPr marL="69929" marR="69929" marT="34965" marB="34965" anchor="ctr">
                    <a:lnL>
                      <a:noFill/>
                    </a:lnL>
                    <a:lnR>
                      <a:noFill/>
                    </a:lnR>
                    <a:lnT>
                      <a:noFill/>
                    </a:lnT>
                    <a:lnB>
                      <a:noFill/>
                    </a:lnB>
                    <a:noFill/>
                  </a:tcPr>
                </a:tc>
                <a:tc>
                  <a:txBody>
                    <a:bodyPr/>
                    <a:lstStyle/>
                    <a:p>
                      <a:pPr>
                        <a:buNone/>
                      </a:pPr>
                      <a:r>
                        <a:rPr lang="pt-BR" sz="2400"/>
                        <a:t>índice inexistente</a:t>
                      </a:r>
                    </a:p>
                  </a:txBody>
                  <a:tcPr marL="69929" marR="69929" marT="34965" marB="34965" anchor="ctr">
                    <a:lnL>
                      <a:noFill/>
                    </a:lnL>
                    <a:lnR>
                      <a:noFill/>
                    </a:lnR>
                    <a:lnT>
                      <a:noFill/>
                    </a:lnT>
                    <a:lnB>
                      <a:noFill/>
                    </a:lnB>
                    <a:noFill/>
                  </a:tcPr>
                </a:tc>
                <a:extLst>
                  <a:ext uri="{0D108BD9-81ED-4DB2-BD59-A6C34878D82A}">
                    <a16:rowId xmlns:a16="http://schemas.microsoft.com/office/drawing/2014/main" val="3547288425"/>
                  </a:ext>
                </a:extLst>
              </a:tr>
              <a:tr h="421482">
                <a:tc>
                  <a:txBody>
                    <a:bodyPr/>
                    <a:lstStyle/>
                    <a:p>
                      <a:pPr>
                        <a:buNone/>
                      </a:pPr>
                      <a:r>
                        <a:rPr lang="pt-BR" sz="2400">
                          <a:latin typeface="Courier New" panose="02070309020205020404" pitchFamily="49" charset="0"/>
                        </a:rPr>
                        <a:t>KeyError</a:t>
                      </a:r>
                      <a:endParaRPr lang="pt-BR" sz="2400"/>
                    </a:p>
                  </a:txBody>
                  <a:tcPr marL="69929" marR="69929" marT="34965" marB="34965" anchor="ctr">
                    <a:lnL>
                      <a:noFill/>
                    </a:lnL>
                    <a:lnR>
                      <a:noFill/>
                    </a:lnR>
                    <a:lnT>
                      <a:noFill/>
                    </a:lnT>
                    <a:lnB>
                      <a:noFill/>
                    </a:lnB>
                    <a:noFill/>
                  </a:tcPr>
                </a:tc>
                <a:tc>
                  <a:txBody>
                    <a:bodyPr/>
                    <a:lstStyle/>
                    <a:p>
                      <a:pPr>
                        <a:buNone/>
                      </a:pPr>
                      <a:r>
                        <a:rPr lang="pt-BR" sz="2400"/>
                        <a:t>chave inexistente em dicionário</a:t>
                      </a:r>
                    </a:p>
                  </a:txBody>
                  <a:tcPr marL="69929" marR="69929" marT="34965" marB="34965" anchor="ctr">
                    <a:lnL>
                      <a:noFill/>
                    </a:lnL>
                    <a:lnR>
                      <a:noFill/>
                    </a:lnR>
                    <a:lnT>
                      <a:noFill/>
                    </a:lnT>
                    <a:lnB>
                      <a:noFill/>
                    </a:lnB>
                    <a:noFill/>
                  </a:tcPr>
                </a:tc>
                <a:extLst>
                  <a:ext uri="{0D108BD9-81ED-4DB2-BD59-A6C34878D82A}">
                    <a16:rowId xmlns:a16="http://schemas.microsoft.com/office/drawing/2014/main" val="972463043"/>
                  </a:ext>
                </a:extLst>
              </a:tr>
              <a:tr h="421482">
                <a:tc>
                  <a:txBody>
                    <a:bodyPr/>
                    <a:lstStyle/>
                    <a:p>
                      <a:pPr>
                        <a:buNone/>
                      </a:pPr>
                      <a:r>
                        <a:rPr lang="pt-BR" sz="2400">
                          <a:latin typeface="Courier New" panose="02070309020205020404" pitchFamily="49" charset="0"/>
                        </a:rPr>
                        <a:t>FileNotFoundError</a:t>
                      </a:r>
                      <a:endParaRPr lang="pt-BR" sz="2400"/>
                    </a:p>
                  </a:txBody>
                  <a:tcPr marL="69929" marR="69929" marT="34965" marB="34965" anchor="ctr">
                    <a:lnL>
                      <a:noFill/>
                    </a:lnL>
                    <a:lnR>
                      <a:noFill/>
                    </a:lnR>
                    <a:lnT>
                      <a:noFill/>
                    </a:lnT>
                    <a:lnB>
                      <a:noFill/>
                    </a:lnB>
                    <a:noFill/>
                  </a:tcPr>
                </a:tc>
                <a:tc>
                  <a:txBody>
                    <a:bodyPr/>
                    <a:lstStyle/>
                    <a:p>
                      <a:pPr>
                        <a:buNone/>
                      </a:pPr>
                      <a:r>
                        <a:rPr lang="pt-BR" sz="2400"/>
                        <a:t>arquivo não encontrado</a:t>
                      </a:r>
                    </a:p>
                  </a:txBody>
                  <a:tcPr marL="69929" marR="69929" marT="34965" marB="34965" anchor="ctr">
                    <a:lnL>
                      <a:noFill/>
                    </a:lnL>
                    <a:lnR>
                      <a:noFill/>
                    </a:lnR>
                    <a:lnT>
                      <a:noFill/>
                    </a:lnT>
                    <a:lnB>
                      <a:noFill/>
                    </a:lnB>
                    <a:noFill/>
                  </a:tcPr>
                </a:tc>
                <a:extLst>
                  <a:ext uri="{0D108BD9-81ED-4DB2-BD59-A6C34878D82A}">
                    <a16:rowId xmlns:a16="http://schemas.microsoft.com/office/drawing/2014/main" val="3938950228"/>
                  </a:ext>
                </a:extLst>
              </a:tr>
              <a:tr h="421482">
                <a:tc>
                  <a:txBody>
                    <a:bodyPr/>
                    <a:lstStyle/>
                    <a:p>
                      <a:pPr>
                        <a:buNone/>
                      </a:pPr>
                      <a:r>
                        <a:rPr lang="pt-BR" sz="2400">
                          <a:latin typeface="Courier New" panose="02070309020205020404" pitchFamily="49" charset="0"/>
                        </a:rPr>
                        <a:t>AttributeError</a:t>
                      </a:r>
                      <a:endParaRPr lang="pt-BR" sz="2400"/>
                    </a:p>
                  </a:txBody>
                  <a:tcPr marL="69929" marR="69929" marT="34965" marB="34965" anchor="ctr">
                    <a:lnL>
                      <a:noFill/>
                    </a:lnL>
                    <a:lnR>
                      <a:noFill/>
                    </a:lnR>
                    <a:lnT>
                      <a:noFill/>
                    </a:lnT>
                    <a:lnB>
                      <a:noFill/>
                    </a:lnB>
                    <a:noFill/>
                  </a:tcPr>
                </a:tc>
                <a:tc>
                  <a:txBody>
                    <a:bodyPr/>
                    <a:lstStyle/>
                    <a:p>
                      <a:pPr>
                        <a:buNone/>
                      </a:pPr>
                      <a:r>
                        <a:rPr lang="pt-BR" sz="2400"/>
                        <a:t>atributo/método inexistente</a:t>
                      </a:r>
                    </a:p>
                  </a:txBody>
                  <a:tcPr marL="69929" marR="69929" marT="34965" marB="34965" anchor="ctr">
                    <a:lnL>
                      <a:noFill/>
                    </a:lnL>
                    <a:lnR>
                      <a:noFill/>
                    </a:lnR>
                    <a:lnT>
                      <a:noFill/>
                    </a:lnT>
                    <a:lnB>
                      <a:noFill/>
                    </a:lnB>
                    <a:noFill/>
                  </a:tcPr>
                </a:tc>
                <a:extLst>
                  <a:ext uri="{0D108BD9-81ED-4DB2-BD59-A6C34878D82A}">
                    <a16:rowId xmlns:a16="http://schemas.microsoft.com/office/drawing/2014/main" val="523382870"/>
                  </a:ext>
                </a:extLst>
              </a:tr>
              <a:tr h="421482">
                <a:tc>
                  <a:txBody>
                    <a:bodyPr/>
                    <a:lstStyle/>
                    <a:p>
                      <a:pPr>
                        <a:buNone/>
                      </a:pPr>
                      <a:r>
                        <a:rPr lang="pt-BR" sz="2400">
                          <a:latin typeface="Courier New" panose="02070309020205020404" pitchFamily="49" charset="0"/>
                        </a:rPr>
                        <a:t>ImportError</a:t>
                      </a:r>
                      <a:endParaRPr lang="pt-BR" sz="2400"/>
                    </a:p>
                  </a:txBody>
                  <a:tcPr marL="69929" marR="69929" marT="34965" marB="34965" anchor="ctr">
                    <a:lnL>
                      <a:noFill/>
                    </a:lnL>
                    <a:lnR>
                      <a:noFill/>
                    </a:lnR>
                    <a:lnT>
                      <a:noFill/>
                    </a:lnT>
                    <a:lnB>
                      <a:noFill/>
                    </a:lnB>
                    <a:noFill/>
                  </a:tcPr>
                </a:tc>
                <a:tc>
                  <a:txBody>
                    <a:bodyPr/>
                    <a:lstStyle/>
                    <a:p>
                      <a:pPr>
                        <a:buNone/>
                      </a:pPr>
                      <a:r>
                        <a:rPr lang="pt-BR" sz="2400"/>
                        <a:t>erro ao importar módulo</a:t>
                      </a:r>
                    </a:p>
                  </a:txBody>
                  <a:tcPr marL="69929" marR="69929" marT="34965" marB="34965" anchor="ctr">
                    <a:lnL>
                      <a:noFill/>
                    </a:lnL>
                    <a:lnR>
                      <a:noFill/>
                    </a:lnR>
                    <a:lnT>
                      <a:noFill/>
                    </a:lnT>
                    <a:lnB>
                      <a:noFill/>
                    </a:lnB>
                    <a:noFill/>
                  </a:tcPr>
                </a:tc>
                <a:extLst>
                  <a:ext uri="{0D108BD9-81ED-4DB2-BD59-A6C34878D82A}">
                    <a16:rowId xmlns:a16="http://schemas.microsoft.com/office/drawing/2014/main" val="926861428"/>
                  </a:ext>
                </a:extLst>
              </a:tr>
              <a:tr h="421482">
                <a:tc>
                  <a:txBody>
                    <a:bodyPr/>
                    <a:lstStyle/>
                    <a:p>
                      <a:pPr>
                        <a:buNone/>
                      </a:pPr>
                      <a:r>
                        <a:rPr lang="pt-BR" sz="2400">
                          <a:latin typeface="Courier New" panose="02070309020205020404" pitchFamily="49" charset="0"/>
                        </a:rPr>
                        <a:t>ModuleNotFoundError</a:t>
                      </a:r>
                      <a:endParaRPr lang="pt-BR" sz="2400"/>
                    </a:p>
                  </a:txBody>
                  <a:tcPr marL="69929" marR="69929" marT="34965" marB="34965" anchor="ctr">
                    <a:lnL>
                      <a:noFill/>
                    </a:lnL>
                    <a:lnR>
                      <a:noFill/>
                    </a:lnR>
                    <a:lnT>
                      <a:noFill/>
                    </a:lnT>
                    <a:lnB>
                      <a:noFill/>
                    </a:lnB>
                    <a:noFill/>
                  </a:tcPr>
                </a:tc>
                <a:tc>
                  <a:txBody>
                    <a:bodyPr/>
                    <a:lstStyle/>
                    <a:p>
                      <a:pPr>
                        <a:buNone/>
                      </a:pPr>
                      <a:r>
                        <a:rPr lang="pt-BR" sz="2400"/>
                        <a:t>módulo não encontrado</a:t>
                      </a:r>
                    </a:p>
                  </a:txBody>
                  <a:tcPr marL="69929" marR="69929" marT="34965" marB="34965" anchor="ctr">
                    <a:lnL>
                      <a:noFill/>
                    </a:lnL>
                    <a:lnR>
                      <a:noFill/>
                    </a:lnR>
                    <a:lnT>
                      <a:noFill/>
                    </a:lnT>
                    <a:lnB>
                      <a:noFill/>
                    </a:lnB>
                    <a:noFill/>
                  </a:tcPr>
                </a:tc>
                <a:extLst>
                  <a:ext uri="{0D108BD9-81ED-4DB2-BD59-A6C34878D82A}">
                    <a16:rowId xmlns:a16="http://schemas.microsoft.com/office/drawing/2014/main" val="3514693895"/>
                  </a:ext>
                </a:extLst>
              </a:tr>
              <a:tr h="421482">
                <a:tc>
                  <a:txBody>
                    <a:bodyPr/>
                    <a:lstStyle/>
                    <a:p>
                      <a:pPr>
                        <a:buNone/>
                      </a:pPr>
                      <a:r>
                        <a:rPr lang="pt-BR" sz="2400">
                          <a:latin typeface="Courier New" panose="02070309020205020404" pitchFamily="49" charset="0"/>
                        </a:rPr>
                        <a:t>SyntaxError</a:t>
                      </a:r>
                      <a:endParaRPr lang="pt-BR" sz="2400"/>
                    </a:p>
                  </a:txBody>
                  <a:tcPr marL="69929" marR="69929" marT="34965" marB="34965" anchor="ctr">
                    <a:lnL>
                      <a:noFill/>
                    </a:lnL>
                    <a:lnR>
                      <a:noFill/>
                    </a:lnR>
                    <a:lnT>
                      <a:noFill/>
                    </a:lnT>
                    <a:lnB>
                      <a:noFill/>
                    </a:lnB>
                    <a:noFill/>
                  </a:tcPr>
                </a:tc>
                <a:tc>
                  <a:txBody>
                    <a:bodyPr/>
                    <a:lstStyle/>
                    <a:p>
                      <a:pPr>
                        <a:buNone/>
                      </a:pPr>
                      <a:r>
                        <a:rPr lang="pt-BR" sz="2400"/>
                        <a:t>erro de sintaxe</a:t>
                      </a:r>
                    </a:p>
                  </a:txBody>
                  <a:tcPr marL="69929" marR="69929" marT="34965" marB="34965" anchor="ctr">
                    <a:lnL>
                      <a:noFill/>
                    </a:lnL>
                    <a:lnR>
                      <a:noFill/>
                    </a:lnR>
                    <a:lnT>
                      <a:noFill/>
                    </a:lnT>
                    <a:lnB>
                      <a:noFill/>
                    </a:lnB>
                    <a:noFill/>
                  </a:tcPr>
                </a:tc>
                <a:extLst>
                  <a:ext uri="{0D108BD9-81ED-4DB2-BD59-A6C34878D82A}">
                    <a16:rowId xmlns:a16="http://schemas.microsoft.com/office/drawing/2014/main" val="364566298"/>
                  </a:ext>
                </a:extLst>
              </a:tr>
              <a:tr h="421482">
                <a:tc>
                  <a:txBody>
                    <a:bodyPr/>
                    <a:lstStyle/>
                    <a:p>
                      <a:pPr>
                        <a:buNone/>
                      </a:pPr>
                      <a:r>
                        <a:rPr lang="pt-BR" sz="2400">
                          <a:latin typeface="Courier New" panose="02070309020205020404" pitchFamily="49" charset="0"/>
                        </a:rPr>
                        <a:t>IndentationError</a:t>
                      </a:r>
                      <a:endParaRPr lang="pt-BR" sz="2400"/>
                    </a:p>
                  </a:txBody>
                  <a:tcPr marL="69929" marR="69929" marT="34965" marB="34965" anchor="ctr">
                    <a:lnL>
                      <a:noFill/>
                    </a:lnL>
                    <a:lnR>
                      <a:noFill/>
                    </a:lnR>
                    <a:lnT>
                      <a:noFill/>
                    </a:lnT>
                    <a:lnB>
                      <a:noFill/>
                    </a:lnB>
                    <a:noFill/>
                  </a:tcPr>
                </a:tc>
                <a:tc>
                  <a:txBody>
                    <a:bodyPr/>
                    <a:lstStyle/>
                    <a:p>
                      <a:pPr>
                        <a:buNone/>
                      </a:pPr>
                      <a:r>
                        <a:rPr lang="pt-BR" sz="2400"/>
                        <a:t>erro de indentação</a:t>
                      </a:r>
                    </a:p>
                  </a:txBody>
                  <a:tcPr marL="69929" marR="69929" marT="34965" marB="34965" anchor="ctr">
                    <a:lnL>
                      <a:noFill/>
                    </a:lnL>
                    <a:lnR>
                      <a:noFill/>
                    </a:lnR>
                    <a:lnT>
                      <a:noFill/>
                    </a:lnT>
                    <a:lnB>
                      <a:noFill/>
                    </a:lnB>
                    <a:noFill/>
                  </a:tcPr>
                </a:tc>
                <a:extLst>
                  <a:ext uri="{0D108BD9-81ED-4DB2-BD59-A6C34878D82A}">
                    <a16:rowId xmlns:a16="http://schemas.microsoft.com/office/drawing/2014/main" val="1822980127"/>
                  </a:ext>
                </a:extLst>
              </a:tr>
              <a:tr h="421482">
                <a:tc>
                  <a:txBody>
                    <a:bodyPr/>
                    <a:lstStyle/>
                    <a:p>
                      <a:pPr>
                        <a:buNone/>
                      </a:pPr>
                      <a:r>
                        <a:rPr lang="pt-BR" sz="2400">
                          <a:latin typeface="Courier New" panose="02070309020205020404" pitchFamily="49" charset="0"/>
                        </a:rPr>
                        <a:t>OverflowError</a:t>
                      </a:r>
                      <a:endParaRPr lang="pt-BR" sz="2400"/>
                    </a:p>
                  </a:txBody>
                  <a:tcPr marL="69929" marR="69929" marT="34965" marB="34965" anchor="ctr">
                    <a:lnL>
                      <a:noFill/>
                    </a:lnL>
                    <a:lnR>
                      <a:noFill/>
                    </a:lnR>
                    <a:lnT>
                      <a:noFill/>
                    </a:lnT>
                    <a:lnB>
                      <a:noFill/>
                    </a:lnB>
                    <a:noFill/>
                  </a:tcPr>
                </a:tc>
                <a:tc>
                  <a:txBody>
                    <a:bodyPr/>
                    <a:lstStyle/>
                    <a:p>
                      <a:pPr>
                        <a:buNone/>
                      </a:pPr>
                      <a:r>
                        <a:rPr lang="pt-BR" sz="2400"/>
                        <a:t>número muito grande</a:t>
                      </a:r>
                    </a:p>
                  </a:txBody>
                  <a:tcPr marL="69929" marR="69929" marT="34965" marB="34965" anchor="ctr">
                    <a:lnL>
                      <a:noFill/>
                    </a:lnL>
                    <a:lnR>
                      <a:noFill/>
                    </a:lnR>
                    <a:lnT>
                      <a:noFill/>
                    </a:lnT>
                    <a:lnB>
                      <a:noFill/>
                    </a:lnB>
                    <a:noFill/>
                  </a:tcPr>
                </a:tc>
                <a:extLst>
                  <a:ext uri="{0D108BD9-81ED-4DB2-BD59-A6C34878D82A}">
                    <a16:rowId xmlns:a16="http://schemas.microsoft.com/office/drawing/2014/main" val="1017281725"/>
                  </a:ext>
                </a:extLst>
              </a:tr>
              <a:tr h="421482">
                <a:tc>
                  <a:txBody>
                    <a:bodyPr/>
                    <a:lstStyle/>
                    <a:p>
                      <a:pPr>
                        <a:buNone/>
                      </a:pPr>
                      <a:r>
                        <a:rPr lang="pt-BR" sz="2400">
                          <a:latin typeface="Courier New" panose="02070309020205020404" pitchFamily="49" charset="0"/>
                        </a:rPr>
                        <a:t>MemoryError</a:t>
                      </a:r>
                      <a:endParaRPr lang="pt-BR" sz="2400"/>
                    </a:p>
                  </a:txBody>
                  <a:tcPr marL="69929" marR="69929" marT="34965" marB="34965" anchor="ctr">
                    <a:lnL>
                      <a:noFill/>
                    </a:lnL>
                    <a:lnR>
                      <a:noFill/>
                    </a:lnR>
                    <a:lnT>
                      <a:noFill/>
                    </a:lnT>
                    <a:lnB>
                      <a:noFill/>
                    </a:lnB>
                    <a:noFill/>
                  </a:tcPr>
                </a:tc>
                <a:tc>
                  <a:txBody>
                    <a:bodyPr/>
                    <a:lstStyle/>
                    <a:p>
                      <a:pPr>
                        <a:buNone/>
                      </a:pPr>
                      <a:r>
                        <a:rPr lang="pt-BR" sz="2400"/>
                        <a:t>falta de memória</a:t>
                      </a:r>
                    </a:p>
                  </a:txBody>
                  <a:tcPr marL="69929" marR="69929" marT="34965" marB="34965" anchor="ctr">
                    <a:lnL>
                      <a:noFill/>
                    </a:lnL>
                    <a:lnR>
                      <a:noFill/>
                    </a:lnR>
                    <a:lnT>
                      <a:noFill/>
                    </a:lnT>
                    <a:lnB>
                      <a:noFill/>
                    </a:lnB>
                    <a:noFill/>
                  </a:tcPr>
                </a:tc>
                <a:extLst>
                  <a:ext uri="{0D108BD9-81ED-4DB2-BD59-A6C34878D82A}">
                    <a16:rowId xmlns:a16="http://schemas.microsoft.com/office/drawing/2014/main" val="1126457093"/>
                  </a:ext>
                </a:extLst>
              </a:tr>
              <a:tr h="421482">
                <a:tc>
                  <a:txBody>
                    <a:bodyPr/>
                    <a:lstStyle/>
                    <a:p>
                      <a:pPr>
                        <a:buNone/>
                      </a:pPr>
                      <a:r>
                        <a:rPr lang="pt-BR" sz="2400" dirty="0" err="1">
                          <a:latin typeface="Courier New" panose="02070309020205020404" pitchFamily="49" charset="0"/>
                        </a:rPr>
                        <a:t>RuntimeError</a:t>
                      </a:r>
                      <a:endParaRPr lang="pt-BR" sz="2400" dirty="0"/>
                    </a:p>
                  </a:txBody>
                  <a:tcPr marL="69929" marR="69929" marT="34965" marB="34965" anchor="ctr">
                    <a:lnL>
                      <a:noFill/>
                    </a:lnL>
                    <a:lnR>
                      <a:noFill/>
                    </a:lnR>
                    <a:lnT>
                      <a:noFill/>
                    </a:lnT>
                    <a:lnB>
                      <a:noFill/>
                    </a:lnB>
                    <a:noFill/>
                  </a:tcPr>
                </a:tc>
                <a:tc>
                  <a:txBody>
                    <a:bodyPr/>
                    <a:lstStyle/>
                    <a:p>
                      <a:pPr>
                        <a:buNone/>
                      </a:pPr>
                      <a:r>
                        <a:rPr lang="pt-BR" sz="2400" dirty="0"/>
                        <a:t>erro genérico de execução</a:t>
                      </a:r>
                    </a:p>
                  </a:txBody>
                  <a:tcPr marL="69929" marR="69929" marT="34965" marB="34965" anchor="ctr">
                    <a:lnL>
                      <a:noFill/>
                    </a:lnL>
                    <a:lnR>
                      <a:noFill/>
                    </a:lnR>
                    <a:lnT>
                      <a:noFill/>
                    </a:lnT>
                    <a:lnB>
                      <a:noFill/>
                    </a:lnB>
                    <a:noFill/>
                  </a:tcPr>
                </a:tc>
                <a:extLst>
                  <a:ext uri="{0D108BD9-81ED-4DB2-BD59-A6C34878D82A}">
                    <a16:rowId xmlns:a16="http://schemas.microsoft.com/office/drawing/2014/main" val="4292104017"/>
                  </a:ext>
                </a:extLst>
              </a:tr>
            </a:tbl>
          </a:graphicData>
        </a:graphic>
      </p:graphicFrame>
      <p:sp>
        <p:nvSpPr>
          <p:cNvPr id="4" name="CaixaDeTexto 3">
            <a:extLst>
              <a:ext uri="{FF2B5EF4-FFF2-40B4-BE49-F238E27FC236}">
                <a16:creationId xmlns:a16="http://schemas.microsoft.com/office/drawing/2014/main" id="{BB682B24-E4B2-5B3C-1F73-E2785D90E85E}"/>
              </a:ext>
            </a:extLst>
          </p:cNvPr>
          <p:cNvSpPr txBox="1"/>
          <p:nvPr/>
        </p:nvSpPr>
        <p:spPr>
          <a:xfrm>
            <a:off x="1018032" y="457200"/>
            <a:ext cx="8125968" cy="584775"/>
          </a:xfrm>
          <a:prstGeom prst="rect">
            <a:avLst/>
          </a:prstGeom>
          <a:noFill/>
        </p:spPr>
        <p:txBody>
          <a:bodyPr wrap="square">
            <a:spAutoFit/>
          </a:bodyPr>
          <a:lstStyle/>
          <a:p>
            <a:r>
              <a:rPr lang="pt-BR" sz="3200" b="1" dirty="0">
                <a:solidFill>
                  <a:srgbClr val="FFC000"/>
                </a:solidFill>
              </a:rPr>
              <a:t>Principais Tipos de Erros em Python</a:t>
            </a:r>
          </a:p>
        </p:txBody>
      </p:sp>
    </p:spTree>
    <p:extLst>
      <p:ext uri="{BB962C8B-B14F-4D97-AF65-F5344CB8AC3E}">
        <p14:creationId xmlns:p14="http://schemas.microsoft.com/office/powerpoint/2010/main" val="220375337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FDAC9-E206-23C8-D937-298565F62F8E}"/>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2D3FA32F-D948-220A-BEAD-4986FC696A03}"/>
              </a:ext>
            </a:extLst>
          </p:cNvPr>
          <p:cNvSpPr txBox="1"/>
          <p:nvPr/>
        </p:nvSpPr>
        <p:spPr>
          <a:xfrm>
            <a:off x="4065016" y="3602504"/>
            <a:ext cx="8125968" cy="1938992"/>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tabLst/>
            </a:pPr>
            <a:r>
              <a:rPr kumimoji="0" lang="pt-BR" altLang="pt-BR" sz="6000" b="0" i="0" u="none" strike="noStrike" cap="none" normalizeH="0" baseline="0" dirty="0">
                <a:ln>
                  <a:noFill/>
                </a:ln>
                <a:solidFill>
                  <a:srgbClr val="FFC000"/>
                </a:solidFill>
                <a:effectLst/>
                <a:latin typeface="Arial" panose="020B0604020202020204" pitchFamily="34" charset="0"/>
              </a:rPr>
              <a:t>Lista de exercícios   PYTHON</a:t>
            </a:r>
          </a:p>
        </p:txBody>
      </p:sp>
    </p:spTree>
    <p:extLst>
      <p:ext uri="{BB962C8B-B14F-4D97-AF65-F5344CB8AC3E}">
        <p14:creationId xmlns:p14="http://schemas.microsoft.com/office/powerpoint/2010/main" val="64514894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Íon">
  <a:themeElements>
    <a:clrScheme name="Integração">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Í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Í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77D5275A932D044C8B024F33477056D8" ma:contentTypeVersion="3" ma:contentTypeDescription="Crie um novo documento." ma:contentTypeScope="" ma:versionID="22ce21f9631d58af8a23c3cc16141244">
  <xsd:schema xmlns:xsd="http://www.w3.org/2001/XMLSchema" xmlns:xs="http://www.w3.org/2001/XMLSchema" xmlns:p="http://schemas.microsoft.com/office/2006/metadata/properties" xmlns:ns2="6e247a5d-6f53-43ef-9522-e2d10df2593d" targetNamespace="http://schemas.microsoft.com/office/2006/metadata/properties" ma:root="true" ma:fieldsID="4fd2929279485cbf69a5bb9e5e100924" ns2:_="">
    <xsd:import namespace="6e247a5d-6f53-43ef-9522-e2d10df2593d"/>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247a5d-6f53-43ef-9522-e2d10df2593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564AA6A-EA96-4A15-AC34-819D40526BB9}"/>
</file>

<file path=customXml/itemProps2.xml><?xml version="1.0" encoding="utf-8"?>
<ds:datastoreItem xmlns:ds="http://schemas.openxmlformats.org/officeDocument/2006/customXml" ds:itemID="{925DA287-00B8-474A-A014-9C529CD1B416}"/>
</file>

<file path=customXml/itemProps3.xml><?xml version="1.0" encoding="utf-8"?>
<ds:datastoreItem xmlns:ds="http://schemas.openxmlformats.org/officeDocument/2006/customXml" ds:itemID="{FD87EE32-8AD6-400F-82B3-8972C2190D11}"/>
</file>

<file path=docProps/app.xml><?xml version="1.0" encoding="utf-8"?>
<Properties xmlns="http://schemas.openxmlformats.org/officeDocument/2006/extended-properties" xmlns:vt="http://schemas.openxmlformats.org/officeDocument/2006/docPropsVTypes">
  <Template>Ion</Template>
  <TotalTime>540</TotalTime>
  <Words>2613</Words>
  <Application>Microsoft Office PowerPoint</Application>
  <PresentationFormat>Personalizar</PresentationFormat>
  <Paragraphs>486</Paragraphs>
  <Slides>70</Slides>
  <Notes>1</Notes>
  <HiddenSlides>0</HiddenSlides>
  <MMClips>0</MMClips>
  <ScaleCrop>false</ScaleCrop>
  <HeadingPairs>
    <vt:vector size="6" baseType="variant">
      <vt:variant>
        <vt:lpstr>Fontes usadas</vt:lpstr>
      </vt:variant>
      <vt:variant>
        <vt:i4>7</vt:i4>
      </vt:variant>
      <vt:variant>
        <vt:lpstr>Tema</vt:lpstr>
      </vt:variant>
      <vt:variant>
        <vt:i4>1</vt:i4>
      </vt:variant>
      <vt:variant>
        <vt:lpstr>Títulos de slides</vt:lpstr>
      </vt:variant>
      <vt:variant>
        <vt:i4>70</vt:i4>
      </vt:variant>
    </vt:vector>
  </HeadingPairs>
  <TitlesOfParts>
    <vt:vector size="78" baseType="lpstr">
      <vt:lpstr>Arial Unicode MS</vt:lpstr>
      <vt:lpstr>Aptos</vt:lpstr>
      <vt:lpstr>Arial</vt:lpstr>
      <vt:lpstr>Century Gothic</vt:lpstr>
      <vt:lpstr>Consolas</vt:lpstr>
      <vt:lpstr>Courier New</vt:lpstr>
      <vt:lpstr>Wingdings 3</vt:lpstr>
      <vt:lpstr>Íon</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WANDERSON NUNES DE OLIVEIRA JUNIOR</dc:creator>
  <cp:lastModifiedBy>WANDERSON NUNES DE OLIVEIRA JUNIOR</cp:lastModifiedBy>
  <cp:revision>146</cp:revision>
  <dcterms:created xsi:type="dcterms:W3CDTF">2006-08-16T00:00:00Z</dcterms:created>
  <dcterms:modified xsi:type="dcterms:W3CDTF">2026-05-14T19:42:57Z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0x01010077D5275A932D044C8B024F33477056D8</vt:lpwstr>
  </property>
</Properties>
</file>