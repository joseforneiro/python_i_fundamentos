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8" r:id="rId3"/>
    <p:sldId id="257" r:id="rId4"/>
    <p:sldId id="267" r:id="rId5"/>
    <p:sldId id="258" r:id="rId6"/>
    <p:sldId id="259" r:id="rId7"/>
    <p:sldId id="268" r:id="rId8"/>
    <p:sldId id="275" r:id="rId9"/>
    <p:sldId id="274" r:id="rId10"/>
    <p:sldId id="276" r:id="rId11"/>
    <p:sldId id="284" r:id="rId12"/>
    <p:sldId id="285" r:id="rId13"/>
    <p:sldId id="270" r:id="rId14"/>
    <p:sldId id="282" r:id="rId15"/>
    <p:sldId id="283" r:id="rId16"/>
    <p:sldId id="272" r:id="rId17"/>
    <p:sldId id="273" r:id="rId18"/>
    <p:sldId id="281" r:id="rId19"/>
    <p:sldId id="269" r:id="rId20"/>
    <p:sldId id="278" r:id="rId21"/>
    <p:sldId id="271" r:id="rId22"/>
    <p:sldId id="280" r:id="rId23"/>
    <p:sldId id="286" r:id="rId24"/>
    <p:sldId id="260" r:id="rId25"/>
    <p:sldId id="289" r:id="rId26"/>
    <p:sldId id="290" r:id="rId27"/>
    <p:sldId id="292" r:id="rId28"/>
    <p:sldId id="293" r:id="rId29"/>
    <p:sldId id="294" r:id="rId30"/>
    <p:sldId id="296" r:id="rId31"/>
    <p:sldId id="297" r:id="rId32"/>
    <p:sldId id="295" r:id="rId33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9940" y="1930401"/>
            <a:ext cx="11767544" cy="4439441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39940" y="6369840"/>
            <a:ext cx="11767544" cy="114856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44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756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9942" y="3815645"/>
            <a:ext cx="11767543" cy="2554196"/>
          </a:xfrm>
        </p:spPr>
        <p:txBody>
          <a:bodyPr anchor="b"/>
          <a:lstStyle>
            <a:lvl1pPr algn="l">
              <a:defRPr sz="5333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9940" y="6369841"/>
            <a:ext cx="11767544" cy="1147200"/>
          </a:xfrm>
        </p:spPr>
        <p:txBody>
          <a:bodyPr anchor="t"/>
          <a:lstStyle>
            <a:lvl1pPr marL="0" indent="0" algn="l">
              <a:buNone/>
              <a:defRPr sz="2667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026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1084" y="2747434"/>
            <a:ext cx="5861785" cy="559435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39325" y="2741457"/>
            <a:ext cx="5861788" cy="560032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717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1084" y="2540000"/>
            <a:ext cx="5861784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1084" y="3352800"/>
            <a:ext cx="5861785" cy="498898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39328" y="2540000"/>
            <a:ext cx="5861785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39328" y="3352800"/>
            <a:ext cx="5861785" cy="498898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258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77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941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9937" y="1930400"/>
            <a:ext cx="4534752" cy="1930400"/>
          </a:xfrm>
        </p:spPr>
        <p:txBody>
          <a:bodyPr anchor="b"/>
          <a:lstStyle>
            <a:lvl1pPr algn="l"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79489" y="1930400"/>
            <a:ext cx="6927996" cy="6096000"/>
          </a:xfrm>
        </p:spPr>
        <p:txBody>
          <a:bodyPr anchor="ctr"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1867"/>
            </a:lvl6pPr>
            <a:lvl7pPr>
              <a:defRPr sz="1867"/>
            </a:lvl7pPr>
            <a:lvl8pPr>
              <a:defRPr sz="1867"/>
            </a:lvl8pPr>
            <a:lvl9pPr>
              <a:defRPr sz="1867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938" y="4172374"/>
            <a:ext cx="4534751" cy="3860799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400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8543" y="2472256"/>
            <a:ext cx="6790541" cy="2099744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6061" y="1524000"/>
            <a:ext cx="4267200" cy="6096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  <a:lvl6pPr marL="3047924" indent="0">
              <a:buNone/>
              <a:defRPr sz="2133"/>
            </a:lvl6pPr>
            <a:lvl7pPr marL="3657509" indent="0">
              <a:buNone/>
              <a:defRPr sz="2133"/>
            </a:lvl7pPr>
            <a:lvl8pPr marL="4267093" indent="0">
              <a:buNone/>
              <a:defRPr sz="2133"/>
            </a:lvl8pPr>
            <a:lvl9pPr marL="4876678" indent="0">
              <a:buNone/>
              <a:defRPr sz="2133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939" y="4876800"/>
            <a:ext cx="6779972" cy="1828800"/>
          </a:xfrm>
        </p:spPr>
        <p:txBody>
          <a:bodyPr>
            <a:normAutofit/>
          </a:bodyPr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657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9942" y="6400783"/>
            <a:ext cx="11767543" cy="755651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9940" y="914400"/>
            <a:ext cx="11767544" cy="485422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  <a:lvl6pPr marL="3047924" indent="0">
              <a:buNone/>
              <a:defRPr sz="2133"/>
            </a:lvl6pPr>
            <a:lvl7pPr marL="3657509" indent="0">
              <a:buNone/>
              <a:defRPr sz="2133"/>
            </a:lvl7pPr>
            <a:lvl8pPr marL="4267093" indent="0">
              <a:buNone/>
              <a:defRPr sz="2133"/>
            </a:lvl8pPr>
            <a:lvl9pPr marL="4876678" indent="0">
              <a:buNone/>
              <a:defRPr sz="2133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942" y="7156433"/>
            <a:ext cx="11767541" cy="65828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50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9940" y="1930400"/>
            <a:ext cx="11767545" cy="2641600"/>
          </a:xfrm>
        </p:spPr>
        <p:txBody>
          <a:bodyPr/>
          <a:lstStyle>
            <a:lvl1pPr>
              <a:defRPr sz="6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940" y="4876800"/>
            <a:ext cx="11767545" cy="3149600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20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9736" y="1930400"/>
            <a:ext cx="10665753" cy="3097832"/>
          </a:xfrm>
        </p:spPr>
        <p:txBody>
          <a:bodyPr/>
          <a:lstStyle>
            <a:lvl1pPr>
              <a:defRPr sz="6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2573867" y="5028232"/>
            <a:ext cx="9706199" cy="45623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67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940" y="5800876"/>
            <a:ext cx="11767545" cy="2235200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197727" y="1295004"/>
            <a:ext cx="1069216" cy="259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6266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40653" y="3485050"/>
            <a:ext cx="1069216" cy="259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6266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67403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9939" y="4165601"/>
            <a:ext cx="11767547" cy="2204240"/>
          </a:xfrm>
        </p:spPr>
        <p:txBody>
          <a:bodyPr anchor="b"/>
          <a:lstStyle>
            <a:lvl1pPr algn="l">
              <a:defRPr sz="5333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9940" y="6369841"/>
            <a:ext cx="11767545" cy="1147200"/>
          </a:xfrm>
        </p:spPr>
        <p:txBody>
          <a:bodyPr anchor="t"/>
          <a:lstStyle>
            <a:lvl1pPr marL="0" indent="0" algn="l">
              <a:buNone/>
              <a:defRPr sz="2667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8829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3929" y="2641600"/>
            <a:ext cx="3929155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9951" y="3556000"/>
            <a:ext cx="3903133" cy="4785784"/>
          </a:xfrm>
        </p:spPr>
        <p:txBody>
          <a:bodyPr anchor="t">
            <a:normAutofit/>
          </a:bodyPr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78213" y="2641600"/>
            <a:ext cx="3914988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5164141" y="3556000"/>
            <a:ext cx="3929059" cy="4785784"/>
          </a:xfrm>
        </p:spPr>
        <p:txBody>
          <a:bodyPr anchor="t">
            <a:normAutofit/>
          </a:bodyPr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499601" y="2641600"/>
            <a:ext cx="3909484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9499601" y="3556000"/>
            <a:ext cx="3909484" cy="4785784"/>
          </a:xfrm>
        </p:spPr>
        <p:txBody>
          <a:bodyPr anchor="t">
            <a:normAutofit/>
          </a:bodyPr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968189" y="2844800"/>
            <a:ext cx="0" cy="52832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9282969" y="2844800"/>
            <a:ext cx="0" cy="5289176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067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51" y="5667932"/>
            <a:ext cx="3920067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69951" y="2946400"/>
            <a:ext cx="3920067" cy="203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  <a:lvl6pPr marL="3047924" indent="0">
              <a:buNone/>
              <a:defRPr sz="2133"/>
            </a:lvl6pPr>
            <a:lvl7pPr marL="3657509" indent="0">
              <a:buNone/>
              <a:defRPr sz="2133"/>
            </a:lvl7pPr>
            <a:lvl8pPr marL="4267093" indent="0">
              <a:buNone/>
              <a:defRPr sz="2133"/>
            </a:lvl8pPr>
            <a:lvl9pPr marL="4876678" indent="0">
              <a:buNone/>
              <a:defRPr sz="2133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9951" y="6436282"/>
            <a:ext cx="3920067" cy="878919"/>
          </a:xfrm>
        </p:spPr>
        <p:txBody>
          <a:bodyPr anchor="t">
            <a:normAutofit/>
          </a:bodyPr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85834" y="5667932"/>
            <a:ext cx="3907367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185833" y="2946400"/>
            <a:ext cx="3907367" cy="203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  <a:lvl6pPr marL="3047924" indent="0">
              <a:buNone/>
              <a:defRPr sz="2133"/>
            </a:lvl6pPr>
            <a:lvl7pPr marL="3657509" indent="0">
              <a:buNone/>
              <a:defRPr sz="2133"/>
            </a:lvl7pPr>
            <a:lvl8pPr marL="4267093" indent="0">
              <a:buNone/>
              <a:defRPr sz="2133"/>
            </a:lvl8pPr>
            <a:lvl9pPr marL="4876678" indent="0">
              <a:buNone/>
              <a:defRPr sz="2133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5184030" y="6436281"/>
            <a:ext cx="3912541" cy="878919"/>
          </a:xfrm>
        </p:spPr>
        <p:txBody>
          <a:bodyPr anchor="t">
            <a:normAutofit/>
          </a:bodyPr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499601" y="5667932"/>
            <a:ext cx="3909484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499599" y="2946400"/>
            <a:ext cx="3909484" cy="203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  <a:lvl6pPr marL="3047924" indent="0">
              <a:buNone/>
              <a:defRPr sz="2133"/>
            </a:lvl6pPr>
            <a:lvl7pPr marL="3657509" indent="0">
              <a:buNone/>
              <a:defRPr sz="2133"/>
            </a:lvl7pPr>
            <a:lvl8pPr marL="4267093" indent="0">
              <a:buNone/>
              <a:defRPr sz="2133"/>
            </a:lvl8pPr>
            <a:lvl9pPr marL="4876678" indent="0">
              <a:buNone/>
              <a:defRPr sz="2133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9499434" y="6436278"/>
            <a:ext cx="3914663" cy="878919"/>
          </a:xfrm>
        </p:spPr>
        <p:txBody>
          <a:bodyPr anchor="t">
            <a:normAutofit/>
          </a:bodyPr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4968189" y="2844800"/>
            <a:ext cx="0" cy="52832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9282969" y="2844800"/>
            <a:ext cx="0" cy="5289176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0071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6172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072284" y="573618"/>
            <a:ext cx="2336801" cy="7768167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9951" y="1183219"/>
            <a:ext cx="9897532" cy="715856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911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559581"/>
            <a:ext cx="5382683" cy="55844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856464"/>
            <a:ext cx="2029883" cy="3153937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1478683" y="2235200"/>
            <a:ext cx="3759200" cy="3759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0665884" y="1"/>
            <a:ext cx="2137849" cy="152187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1474504" y="8128000"/>
            <a:ext cx="1324979" cy="1016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3917083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1482" y="603624"/>
            <a:ext cx="12539631" cy="18673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1084" y="2737225"/>
            <a:ext cx="11928721" cy="5593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3540853" y="2387602"/>
            <a:ext cx="1320799" cy="4063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467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11935432" y="4300397"/>
            <a:ext cx="5146393" cy="4064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467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3803387" y="394306"/>
            <a:ext cx="1117599" cy="102358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3733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3595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609585" rtl="0" eaLnBrk="1" latinLnBrk="0" hangingPunct="1">
        <a:spcBef>
          <a:spcPct val="0"/>
        </a:spcBef>
        <a:buNone/>
        <a:defRPr sz="56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57189" indent="-457189" algn="l" defTabSz="609585" rtl="0" eaLnBrk="1" latinLnBrk="0" hangingPunct="1">
        <a:spcBef>
          <a:spcPts val="133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667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990575" indent="-380990" algn="l" defTabSz="609585" rtl="0" eaLnBrk="1" latinLnBrk="0" hangingPunct="1">
        <a:spcBef>
          <a:spcPts val="133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4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523962" indent="-304792" algn="l" defTabSz="609585" rtl="0" eaLnBrk="1" latinLnBrk="0" hangingPunct="1">
        <a:spcBef>
          <a:spcPts val="133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33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2133547" indent="-304792" algn="l" defTabSz="609585" rtl="0" eaLnBrk="1" latinLnBrk="0" hangingPunct="1">
        <a:spcBef>
          <a:spcPts val="133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67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743131" indent="-304792" algn="l" defTabSz="609585" rtl="0" eaLnBrk="1" latinLnBrk="0" hangingPunct="1">
        <a:spcBef>
          <a:spcPts val="133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67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3341250" indent="-304792" algn="l" defTabSz="609585" rtl="0" eaLnBrk="1" latinLnBrk="0" hangingPunct="1">
        <a:spcBef>
          <a:spcPts val="133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67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3962301" indent="-304792" algn="l" defTabSz="609585" rtl="0" eaLnBrk="1" latinLnBrk="0" hangingPunct="1">
        <a:spcBef>
          <a:spcPts val="133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67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4571886" indent="-304792" algn="l" defTabSz="609585" rtl="0" eaLnBrk="1" latinLnBrk="0" hangingPunct="1">
        <a:spcBef>
          <a:spcPts val="133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67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5181470" indent="-304792" algn="l" defTabSz="609585" rtl="0" eaLnBrk="1" latinLnBrk="0" hangingPunct="1">
        <a:spcBef>
          <a:spcPts val="1333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67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r="871"/>
          <a:stretch>
            <a:fillRect/>
          </a:stretch>
        </p:blipFill>
        <p:spPr>
          <a:xfrm>
            <a:off x="20" y="1709"/>
            <a:ext cx="16255980" cy="91422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7F5EF03-23EF-3B4C-AA4C-218966E08D68}"/>
              </a:ext>
            </a:extLst>
          </p:cNvPr>
          <p:cNvSpPr txBox="1"/>
          <p:nvPr/>
        </p:nvSpPr>
        <p:spPr>
          <a:xfrm>
            <a:off x="1193800" y="1295400"/>
            <a:ext cx="11811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dirty="0">
                <a:solidFill>
                  <a:srgbClr val="FFC000"/>
                </a:solidFill>
              </a:rPr>
              <a:t>ATENÇÃO – CONTROLE DE FREQUÊNCIA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B2EDAC6-F105-1128-3C6A-A66959D8BFF7}"/>
              </a:ext>
            </a:extLst>
          </p:cNvPr>
          <p:cNvSpPr txBox="1"/>
          <p:nvPr/>
        </p:nvSpPr>
        <p:spPr>
          <a:xfrm>
            <a:off x="1346200" y="2743200"/>
            <a:ext cx="122682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dirty="0"/>
              <a:t> O curso possui carga horária total de 36 horas.</a:t>
            </a:r>
          </a:p>
          <a:p>
            <a:pPr>
              <a:buNone/>
            </a:pPr>
            <a:endParaRPr lang="pt-BR" sz="2800" dirty="0"/>
          </a:p>
          <a:p>
            <a:pPr>
              <a:buNone/>
            </a:pPr>
            <a:r>
              <a:rPr lang="pt-BR" sz="2800" dirty="0"/>
              <a:t> O limite máximo de faltas permitido é de </a:t>
            </a:r>
            <a:r>
              <a:rPr lang="pt-BR" sz="2800" dirty="0">
                <a:solidFill>
                  <a:srgbClr val="FFC000"/>
                </a:solidFill>
              </a:rPr>
              <a:t>25% </a:t>
            </a:r>
            <a:r>
              <a:rPr lang="pt-BR" sz="2800" dirty="0"/>
              <a:t>da carga horária, o que corresponde a:</a:t>
            </a:r>
            <a:br>
              <a:rPr lang="pt-BR" sz="2800" dirty="0"/>
            </a:br>
            <a:r>
              <a:rPr lang="pt-BR" sz="2800" dirty="0"/>
              <a:t> até </a:t>
            </a:r>
            <a:r>
              <a:rPr lang="pt-BR" sz="2800" dirty="0">
                <a:solidFill>
                  <a:srgbClr val="FFC000"/>
                </a:solidFill>
              </a:rPr>
              <a:t>9 horas </a:t>
            </a:r>
            <a:r>
              <a:rPr lang="pt-BR" sz="2800" dirty="0"/>
              <a:t>de ausência no total</a:t>
            </a:r>
          </a:p>
          <a:p>
            <a:pPr>
              <a:buNone/>
            </a:pPr>
            <a:endParaRPr lang="pt-BR" sz="2800" dirty="0"/>
          </a:p>
          <a:p>
            <a:pPr>
              <a:buNone/>
            </a:pPr>
            <a:r>
              <a:rPr lang="pt-BR" sz="2800" dirty="0"/>
              <a:t> Isso equivale a </a:t>
            </a:r>
            <a:r>
              <a:rPr lang="pt-BR" sz="2800" dirty="0">
                <a:solidFill>
                  <a:srgbClr val="FFC000"/>
                </a:solidFill>
              </a:rPr>
              <a:t>2</a:t>
            </a:r>
            <a:r>
              <a:rPr lang="pt-BR" sz="2800" dirty="0"/>
              <a:t> dias de aula apenas.</a:t>
            </a:r>
          </a:p>
          <a:p>
            <a:pPr>
              <a:buNone/>
            </a:pPr>
            <a:endParaRPr lang="pt-BR" sz="2800" dirty="0"/>
          </a:p>
          <a:p>
            <a:pPr>
              <a:buNone/>
            </a:pPr>
            <a:r>
              <a:rPr lang="pt-BR" sz="2800" dirty="0"/>
              <a:t> Ultrapassar esse limite resulta em reprovação automática por falta</a:t>
            </a:r>
          </a:p>
          <a:p>
            <a:pPr>
              <a:buNone/>
            </a:pPr>
            <a:endParaRPr lang="pt-BR" sz="2800" dirty="0"/>
          </a:p>
          <a:p>
            <a:pPr>
              <a:buNone/>
            </a:pPr>
            <a:r>
              <a:rPr lang="pt-BR" sz="2800" dirty="0">
                <a:solidFill>
                  <a:srgbClr val="FFC000"/>
                </a:solidFill>
              </a:rPr>
              <a:t> Mantenha sua frequência e acompanhe todas as aulas com atenção.</a:t>
            </a:r>
          </a:p>
        </p:txBody>
      </p:sp>
    </p:spTree>
    <p:extLst>
      <p:ext uri="{BB962C8B-B14F-4D97-AF65-F5344CB8AC3E}">
        <p14:creationId xmlns:p14="http://schemas.microsoft.com/office/powerpoint/2010/main" val="4206635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293DE365-550F-D965-CBCD-24ED51303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7000" y="8077200"/>
            <a:ext cx="3913632" cy="1154521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120D92-3E8F-70FD-C04C-6F1B81F13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1031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559580"/>
            <a:ext cx="5382682" cy="5584420"/>
          </a:xfrm>
          <a:prstGeom prst="rect">
            <a:avLst/>
          </a:prstGeom>
        </p:spPr>
      </p:pic>
      <p:pic>
        <p:nvPicPr>
          <p:cNvPr id="1034" name="Picture 1033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856462"/>
            <a:ext cx="2029882" cy="3153938"/>
          </a:xfrm>
          <a:prstGeom prst="rect">
            <a:avLst/>
          </a:prstGeom>
        </p:spPr>
      </p:pic>
      <p:sp>
        <p:nvSpPr>
          <p:cNvPr id="1036" name="Oval 1035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78682" y="2235200"/>
            <a:ext cx="3759200" cy="3759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1038" name="Picture 1037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0665882" y="0"/>
            <a:ext cx="2137850" cy="1521876"/>
          </a:xfrm>
          <a:prstGeom prst="rect">
            <a:avLst/>
          </a:prstGeom>
        </p:spPr>
      </p:pic>
      <p:pic>
        <p:nvPicPr>
          <p:cNvPr id="1040" name="Picture 1039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1474504" y="8128000"/>
            <a:ext cx="1324978" cy="1016000"/>
          </a:xfrm>
          <a:prstGeom prst="rect">
            <a:avLst/>
          </a:prstGeom>
        </p:spPr>
      </p:pic>
      <p:sp>
        <p:nvSpPr>
          <p:cNvPr id="1042" name="Rectangle 1041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71166" y="-2097"/>
            <a:ext cx="745963" cy="4946189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 descr="Python Programming Language - 10B@sic">
            <a:extLst>
              <a:ext uri="{FF2B5EF4-FFF2-40B4-BE49-F238E27FC236}">
                <a16:creationId xmlns:a16="http://schemas.microsoft.com/office/drawing/2014/main" id="{DCBB5D24-3F42-D1CD-1576-B3882F478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01" r="30713"/>
          <a:stretch>
            <a:fillRect/>
          </a:stretch>
        </p:blipFill>
        <p:spPr bwMode="auto">
          <a:xfrm>
            <a:off x="4" y="10"/>
            <a:ext cx="6630798" cy="9143991"/>
          </a:xfrm>
          <a:custGeom>
            <a:avLst/>
            <a:gdLst/>
            <a:ahLst/>
            <a:cxnLst/>
            <a:rect l="l" t="t" r="r" b="b"/>
            <a:pathLst>
              <a:path w="4973099" h="6858001">
                <a:moveTo>
                  <a:pt x="3628384" y="0"/>
                </a:moveTo>
                <a:lnTo>
                  <a:pt x="4971922" y="0"/>
                </a:lnTo>
                <a:lnTo>
                  <a:pt x="4946877" y="155677"/>
                </a:lnTo>
                <a:lnTo>
                  <a:pt x="4923008" y="310668"/>
                </a:lnTo>
                <a:lnTo>
                  <a:pt x="4899644" y="466344"/>
                </a:lnTo>
                <a:lnTo>
                  <a:pt x="4879641" y="622707"/>
                </a:lnTo>
                <a:lnTo>
                  <a:pt x="4859470" y="778383"/>
                </a:lnTo>
                <a:lnTo>
                  <a:pt x="4840644" y="934746"/>
                </a:lnTo>
                <a:lnTo>
                  <a:pt x="4824508" y="1089051"/>
                </a:lnTo>
                <a:lnTo>
                  <a:pt x="4809212" y="1245413"/>
                </a:lnTo>
                <a:lnTo>
                  <a:pt x="4795260" y="1401090"/>
                </a:lnTo>
                <a:lnTo>
                  <a:pt x="4783158" y="1554023"/>
                </a:lnTo>
                <a:lnTo>
                  <a:pt x="4771055" y="1709014"/>
                </a:lnTo>
                <a:lnTo>
                  <a:pt x="4760970" y="1861947"/>
                </a:lnTo>
                <a:lnTo>
                  <a:pt x="4753070" y="2014881"/>
                </a:lnTo>
                <a:lnTo>
                  <a:pt x="4744833" y="2167128"/>
                </a:lnTo>
                <a:lnTo>
                  <a:pt x="4737942" y="2318004"/>
                </a:lnTo>
                <a:lnTo>
                  <a:pt x="4733067" y="2467509"/>
                </a:lnTo>
                <a:lnTo>
                  <a:pt x="4728865" y="2617013"/>
                </a:lnTo>
                <a:lnTo>
                  <a:pt x="4724831" y="2765146"/>
                </a:lnTo>
                <a:lnTo>
                  <a:pt x="4722982" y="2911221"/>
                </a:lnTo>
                <a:lnTo>
                  <a:pt x="4720965" y="3057297"/>
                </a:lnTo>
                <a:lnTo>
                  <a:pt x="4719956" y="3201315"/>
                </a:lnTo>
                <a:lnTo>
                  <a:pt x="4720965" y="3343961"/>
                </a:lnTo>
                <a:lnTo>
                  <a:pt x="4720965" y="3485236"/>
                </a:lnTo>
                <a:lnTo>
                  <a:pt x="4722982" y="3625139"/>
                </a:lnTo>
                <a:lnTo>
                  <a:pt x="4726007" y="3762299"/>
                </a:lnTo>
                <a:lnTo>
                  <a:pt x="4728865" y="3898087"/>
                </a:lnTo>
                <a:lnTo>
                  <a:pt x="4732059" y="4031133"/>
                </a:lnTo>
                <a:lnTo>
                  <a:pt x="4736933" y="4163492"/>
                </a:lnTo>
                <a:lnTo>
                  <a:pt x="4742144" y="4293793"/>
                </a:lnTo>
                <a:lnTo>
                  <a:pt x="4746850" y="4421352"/>
                </a:lnTo>
                <a:lnTo>
                  <a:pt x="4760130" y="4670298"/>
                </a:lnTo>
                <a:lnTo>
                  <a:pt x="4774249" y="4908956"/>
                </a:lnTo>
                <a:lnTo>
                  <a:pt x="4789041" y="5138013"/>
                </a:lnTo>
                <a:lnTo>
                  <a:pt x="4805346" y="5354726"/>
                </a:lnTo>
                <a:lnTo>
                  <a:pt x="4822323" y="5561838"/>
                </a:lnTo>
                <a:lnTo>
                  <a:pt x="4840644" y="5753862"/>
                </a:lnTo>
                <a:lnTo>
                  <a:pt x="4858630" y="5934227"/>
                </a:lnTo>
                <a:lnTo>
                  <a:pt x="4876615" y="6100191"/>
                </a:lnTo>
                <a:lnTo>
                  <a:pt x="4893592" y="6252438"/>
                </a:lnTo>
                <a:lnTo>
                  <a:pt x="4909729" y="6387541"/>
                </a:lnTo>
                <a:lnTo>
                  <a:pt x="4925025" y="6509613"/>
                </a:lnTo>
                <a:lnTo>
                  <a:pt x="4937800" y="6612483"/>
                </a:lnTo>
                <a:lnTo>
                  <a:pt x="4949902" y="6698894"/>
                </a:lnTo>
                <a:lnTo>
                  <a:pt x="4967216" y="6817538"/>
                </a:lnTo>
                <a:lnTo>
                  <a:pt x="4973099" y="6858000"/>
                </a:lnTo>
                <a:lnTo>
                  <a:pt x="4075210" y="6858000"/>
                </a:lnTo>
                <a:lnTo>
                  <a:pt x="4075210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28384" y="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8" name="Rectangle 1047">
            <a:extLst>
              <a:ext uri="{FF2B5EF4-FFF2-40B4-BE49-F238E27FC236}">
                <a16:creationId xmlns:a16="http://schemas.microsoft.com/office/drawing/2014/main" id="{D6F18ACE-6E82-4ADC-8A2F-A1771B30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23264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1D926B7-BA56-8379-55F2-F9AEACA65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6400" y="1775013"/>
            <a:ext cx="8762000" cy="559397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tabLst/>
            </a:pPr>
            <a:r>
              <a:rPr kumimoji="0" lang="en-US" altLang="pt-BR" sz="2800" u="none" strike="noStrike" cap="none" normalizeH="0" baseline="0" dirty="0">
                <a:ln>
                  <a:noFill/>
                </a:ln>
                <a:effectLst/>
                <a:latin typeface="+mj-lt"/>
                <a:ea typeface="+mj-ea"/>
                <a:cs typeface="+mj-cs"/>
              </a:rPr>
              <a:t> </a:t>
            </a:r>
          </a:p>
          <a:p>
            <a:pPr marL="342900" marR="0" lvl="0" indent="-342900" fontAlgn="base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kumimoji="0" lang="en-US" altLang="pt-BR" sz="2400" b="1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Linguagem</a:t>
            </a:r>
            <a:r>
              <a:rPr kumimoji="0" lang="en-US" altLang="pt-BR" sz="2400" b="1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kumimoji="0" lang="en-US" altLang="pt-BR" sz="2400" b="1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interpretada</a:t>
            </a:r>
            <a:r>
              <a:rPr kumimoji="0" lang="en-US" altLang="pt-BR" sz="2400" b="1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 e </a:t>
            </a:r>
            <a:r>
              <a:rPr kumimoji="0" lang="en-US" altLang="pt-BR" sz="2400" b="1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fracamente</a:t>
            </a:r>
            <a:r>
              <a:rPr kumimoji="0" lang="en-US" altLang="pt-BR" sz="2400" b="1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kumimoji="0" lang="en-US" altLang="pt-BR" sz="2400" b="1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tipada</a:t>
            </a:r>
            <a:r>
              <a:rPr kumimoji="0" lang="en-US" altLang="pt-BR" sz="2400" b="1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 </a:t>
            </a:r>
          </a:p>
          <a:p>
            <a:pPr marL="342900" marR="0" lvl="0" indent="-342900" fontAlgn="base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  <a:tabLst/>
            </a:pPr>
            <a:endParaRPr kumimoji="0" lang="en-US" altLang="pt-BR" sz="2400" b="1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+mj-lt"/>
              <a:ea typeface="+mj-ea"/>
              <a:cs typeface="+mj-cs"/>
            </a:endParaRPr>
          </a:p>
          <a:p>
            <a:pPr marL="342900" marR="0" lvl="0" indent="-342900" fontAlgn="base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kumimoji="0" lang="en-US" altLang="pt-BR" sz="2400" b="1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Multiplataforma</a:t>
            </a:r>
            <a:r>
              <a:rPr kumimoji="0" lang="en-US" altLang="pt-BR" sz="2400" b="1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: Web, Mobile e Desktop </a:t>
            </a:r>
          </a:p>
          <a:p>
            <a:pPr marL="342900" marR="0" lvl="0" indent="-342900" fontAlgn="base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  <a:tabLst/>
            </a:pPr>
            <a:endParaRPr kumimoji="0" lang="en-US" altLang="pt-BR" sz="2400" b="1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+mj-lt"/>
              <a:ea typeface="+mj-ea"/>
              <a:cs typeface="+mj-cs"/>
            </a:endParaRPr>
          </a:p>
          <a:p>
            <a:pPr marL="342900" marR="0" lvl="0" indent="-342900" fontAlgn="base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kumimoji="0" lang="en-US" altLang="pt-BR" sz="2400" b="1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Pode ser </a:t>
            </a:r>
            <a:r>
              <a:rPr kumimoji="0" lang="en-US" altLang="pt-BR" sz="2400" b="1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executada</a:t>
            </a:r>
            <a:r>
              <a:rPr kumimoji="0" lang="en-US" altLang="pt-BR" sz="2400" b="1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 via terminal </a:t>
            </a:r>
            <a:r>
              <a:rPr kumimoji="0" lang="en-US" altLang="pt-BR" sz="2400" b="1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ou</a:t>
            </a:r>
            <a:r>
              <a:rPr kumimoji="0" lang="en-US" altLang="pt-BR" sz="2400" b="1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kumimoji="0" lang="en-US" altLang="pt-BR" sz="2400" b="1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servidores</a:t>
            </a:r>
            <a:r>
              <a:rPr kumimoji="0" lang="en-US" altLang="pt-BR" sz="2400" b="1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 web </a:t>
            </a:r>
          </a:p>
          <a:p>
            <a:pPr marL="342900" marR="0" lvl="0" indent="-342900" fontAlgn="base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  <a:tabLst/>
            </a:pPr>
            <a:endParaRPr kumimoji="0" lang="en-US" altLang="pt-BR" sz="2400" b="1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+mj-lt"/>
              <a:ea typeface="+mj-ea"/>
              <a:cs typeface="+mj-cs"/>
            </a:endParaRPr>
          </a:p>
          <a:p>
            <a:pPr marL="342900" marR="0" lvl="0" indent="-342900" fontAlgn="base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kumimoji="0" lang="en-US" altLang="pt-BR" sz="2400" b="1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Grande </a:t>
            </a:r>
            <a:r>
              <a:rPr kumimoji="0" lang="en-US" altLang="pt-BR" sz="2400" b="1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comunidade</a:t>
            </a:r>
            <a:r>
              <a:rPr kumimoji="0" lang="en-US" altLang="pt-BR" sz="2400" b="1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 de </a:t>
            </a:r>
            <a:r>
              <a:rPr kumimoji="0" lang="en-US" altLang="pt-BR" sz="2400" b="1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desenvolvedores</a:t>
            </a:r>
            <a:r>
              <a:rPr kumimoji="0" lang="en-US" altLang="pt-BR" sz="2400" b="1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+mj-lt"/>
                <a:ea typeface="+mj-ea"/>
                <a:cs typeface="+mj-cs"/>
              </a:rPr>
              <a:t> </a:t>
            </a:r>
          </a:p>
          <a:p>
            <a:pPr marL="342900" marR="0" lvl="0" indent="-342900" fontAlgn="base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  <a:tabLst/>
            </a:pPr>
            <a:endParaRPr kumimoji="0" lang="en-US" altLang="pt-BR" sz="2400" b="1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+mj-lt"/>
              <a:ea typeface="+mj-ea"/>
              <a:cs typeface="+mj-cs"/>
            </a:endParaRPr>
          </a:p>
          <a:p>
            <a:pPr marL="342900" indent="-342900" fontAlgn="base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Compatível com Windows, Linux, Unix e Mac</a:t>
            </a:r>
            <a:endParaRPr lang="en-US" altLang="pt-BR" sz="2400" b="1" dirty="0">
              <a:solidFill>
                <a:srgbClr val="FFC0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73B2EF49-C8DA-A4BB-58F7-2A48E97E5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56600" y="580268"/>
            <a:ext cx="3913632" cy="1154521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2645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4E2F3B-E34D-F642-D4DF-A6EC91463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2" name="Picture 2101">
            <a:extLst>
              <a:ext uri="{FF2B5EF4-FFF2-40B4-BE49-F238E27FC236}">
                <a16:creationId xmlns:a16="http://schemas.microsoft.com/office/drawing/2014/main" id="{0F7302AF-86B9-441B-8D24-AC382E2A4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559580"/>
            <a:ext cx="5382682" cy="5584420"/>
          </a:xfrm>
          <a:prstGeom prst="rect">
            <a:avLst/>
          </a:prstGeom>
        </p:spPr>
      </p:pic>
      <p:pic>
        <p:nvPicPr>
          <p:cNvPr id="2104" name="Picture 2103">
            <a:extLst>
              <a:ext uri="{FF2B5EF4-FFF2-40B4-BE49-F238E27FC236}">
                <a16:creationId xmlns:a16="http://schemas.microsoft.com/office/drawing/2014/main" id="{99A2A6C2-D371-4C6B-B50F-CC71C6D01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856462"/>
            <a:ext cx="2029882" cy="3153938"/>
          </a:xfrm>
          <a:prstGeom prst="rect">
            <a:avLst/>
          </a:prstGeom>
        </p:spPr>
      </p:pic>
      <p:sp>
        <p:nvSpPr>
          <p:cNvPr id="2106" name="Oval 2105">
            <a:extLst>
              <a:ext uri="{FF2B5EF4-FFF2-40B4-BE49-F238E27FC236}">
                <a16:creationId xmlns:a16="http://schemas.microsoft.com/office/drawing/2014/main" id="{5F07A6A6-E44B-411E-AA18-65E481136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78682" y="2235200"/>
            <a:ext cx="3759200" cy="3759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2108" name="Picture 2107">
            <a:extLst>
              <a:ext uri="{FF2B5EF4-FFF2-40B4-BE49-F238E27FC236}">
                <a16:creationId xmlns:a16="http://schemas.microsoft.com/office/drawing/2014/main" id="{8CC3468F-5EED-42B0-8507-F30360E1D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0665882" y="0"/>
            <a:ext cx="2137850" cy="1521876"/>
          </a:xfrm>
          <a:prstGeom prst="rect">
            <a:avLst/>
          </a:prstGeom>
        </p:spPr>
      </p:pic>
      <p:pic>
        <p:nvPicPr>
          <p:cNvPr id="2110" name="Picture 2109">
            <a:extLst>
              <a:ext uri="{FF2B5EF4-FFF2-40B4-BE49-F238E27FC236}">
                <a16:creationId xmlns:a16="http://schemas.microsoft.com/office/drawing/2014/main" id="{591711EE-029D-453C-9AE9-E87829F1D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1474504" y="8128000"/>
            <a:ext cx="1324978" cy="1016000"/>
          </a:xfrm>
          <a:prstGeom prst="rect">
            <a:avLst/>
          </a:prstGeom>
        </p:spPr>
      </p:pic>
      <p:sp>
        <p:nvSpPr>
          <p:cNvPr id="2112" name="Rectangle 2111">
            <a:extLst>
              <a:ext uri="{FF2B5EF4-FFF2-40B4-BE49-F238E27FC236}">
                <a16:creationId xmlns:a16="http://schemas.microsoft.com/office/drawing/2014/main" id="{5D5A8E14-301B-40C0-A174-D2232EF95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C438859-0D92-A0E4-0B0A-DE829DA2B94F}"/>
              </a:ext>
            </a:extLst>
          </p:cNvPr>
          <p:cNvSpPr txBox="1"/>
          <p:nvPr/>
        </p:nvSpPr>
        <p:spPr>
          <a:xfrm>
            <a:off x="229673" y="109393"/>
            <a:ext cx="7655020" cy="263317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67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Configurando</a:t>
            </a:r>
            <a:r>
              <a:rPr lang="en-US" sz="67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o </a:t>
            </a:r>
            <a:r>
              <a:rPr lang="en-US" sz="67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Ambiente</a:t>
            </a:r>
            <a:r>
              <a:rPr lang="en-US" sz="67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67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Desenvolvimento</a:t>
            </a:r>
            <a:endParaRPr lang="en-US" sz="67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14" name="Freeform: Shape 2113">
            <a:extLst>
              <a:ext uri="{FF2B5EF4-FFF2-40B4-BE49-F238E27FC236}">
                <a16:creationId xmlns:a16="http://schemas.microsoft.com/office/drawing/2014/main" id="{BC9CB508-FF90-4201-B852-19409B06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7753100" y="641099"/>
            <a:ext cx="9144001" cy="7861804"/>
          </a:xfrm>
          <a:custGeom>
            <a:avLst/>
            <a:gdLst>
              <a:gd name="connsiteX0" fmla="*/ 6858001 w 6858001"/>
              <a:gd name="connsiteY0" fmla="*/ 1177 h 5896353"/>
              <a:gd name="connsiteX1" fmla="*/ 6858001 w 6858001"/>
              <a:gd name="connsiteY1" fmla="*/ 1344715 h 5896353"/>
              <a:gd name="connsiteX2" fmla="*/ 6858000 w 6858001"/>
              <a:gd name="connsiteY2" fmla="*/ 1344715 h 5896353"/>
              <a:gd name="connsiteX3" fmla="*/ 6858000 w 6858001"/>
              <a:gd name="connsiteY3" fmla="*/ 5896353 h 5896353"/>
              <a:gd name="connsiteX4" fmla="*/ 0 w 6858001"/>
              <a:gd name="connsiteY4" fmla="*/ 5896352 h 5896353"/>
              <a:gd name="connsiteX5" fmla="*/ 0 w 6858001"/>
              <a:gd name="connsiteY5" fmla="*/ 904460 h 5896353"/>
              <a:gd name="connsiteX6" fmla="*/ 1 w 6858001"/>
              <a:gd name="connsiteY6" fmla="*/ 904460 h 5896353"/>
              <a:gd name="connsiteX7" fmla="*/ 1 w 6858001"/>
              <a:gd name="connsiteY7" fmla="*/ 0 h 5896353"/>
              <a:gd name="connsiteX8" fmla="*/ 40463 w 6858001"/>
              <a:gd name="connsiteY8" fmla="*/ 5883 h 5896353"/>
              <a:gd name="connsiteX9" fmla="*/ 159107 w 6858001"/>
              <a:gd name="connsiteY9" fmla="*/ 23196 h 5896353"/>
              <a:gd name="connsiteX10" fmla="*/ 245518 w 6858001"/>
              <a:gd name="connsiteY10" fmla="*/ 35299 h 5896353"/>
              <a:gd name="connsiteX11" fmla="*/ 348388 w 6858001"/>
              <a:gd name="connsiteY11" fmla="*/ 48073 h 5896353"/>
              <a:gd name="connsiteX12" fmla="*/ 470460 w 6858001"/>
              <a:gd name="connsiteY12" fmla="*/ 63369 h 5896353"/>
              <a:gd name="connsiteX13" fmla="*/ 605563 w 6858001"/>
              <a:gd name="connsiteY13" fmla="*/ 79506 h 5896353"/>
              <a:gd name="connsiteX14" fmla="*/ 757810 w 6858001"/>
              <a:gd name="connsiteY14" fmla="*/ 96483 h 5896353"/>
              <a:gd name="connsiteX15" fmla="*/ 923774 w 6858001"/>
              <a:gd name="connsiteY15" fmla="*/ 114469 h 5896353"/>
              <a:gd name="connsiteX16" fmla="*/ 1104139 w 6858001"/>
              <a:gd name="connsiteY16" fmla="*/ 132454 h 5896353"/>
              <a:gd name="connsiteX17" fmla="*/ 1296163 w 6858001"/>
              <a:gd name="connsiteY17" fmla="*/ 150776 h 5896353"/>
              <a:gd name="connsiteX18" fmla="*/ 1503275 w 6858001"/>
              <a:gd name="connsiteY18" fmla="*/ 167753 h 5896353"/>
              <a:gd name="connsiteX19" fmla="*/ 1719988 w 6858001"/>
              <a:gd name="connsiteY19" fmla="*/ 184058 h 5896353"/>
              <a:gd name="connsiteX20" fmla="*/ 1949045 w 6858001"/>
              <a:gd name="connsiteY20" fmla="*/ 198849 h 5896353"/>
              <a:gd name="connsiteX21" fmla="*/ 2187703 w 6858001"/>
              <a:gd name="connsiteY21" fmla="*/ 212969 h 5896353"/>
              <a:gd name="connsiteX22" fmla="*/ 2436649 w 6858001"/>
              <a:gd name="connsiteY22" fmla="*/ 226248 h 5896353"/>
              <a:gd name="connsiteX23" fmla="*/ 2564208 w 6858001"/>
              <a:gd name="connsiteY23" fmla="*/ 230955 h 5896353"/>
              <a:gd name="connsiteX24" fmla="*/ 2694509 w 6858001"/>
              <a:gd name="connsiteY24" fmla="*/ 236165 h 5896353"/>
              <a:gd name="connsiteX25" fmla="*/ 2826868 w 6858001"/>
              <a:gd name="connsiteY25" fmla="*/ 241040 h 5896353"/>
              <a:gd name="connsiteX26" fmla="*/ 2959914 w 6858001"/>
              <a:gd name="connsiteY26" fmla="*/ 244234 h 5896353"/>
              <a:gd name="connsiteX27" fmla="*/ 3095702 w 6858001"/>
              <a:gd name="connsiteY27" fmla="*/ 247091 h 5896353"/>
              <a:gd name="connsiteX28" fmla="*/ 3232862 w 6858001"/>
              <a:gd name="connsiteY28" fmla="*/ 250117 h 5896353"/>
              <a:gd name="connsiteX29" fmla="*/ 3372765 w 6858001"/>
              <a:gd name="connsiteY29" fmla="*/ 252134 h 5896353"/>
              <a:gd name="connsiteX30" fmla="*/ 3514040 w 6858001"/>
              <a:gd name="connsiteY30" fmla="*/ 252134 h 5896353"/>
              <a:gd name="connsiteX31" fmla="*/ 3656686 w 6858001"/>
              <a:gd name="connsiteY31" fmla="*/ 253142 h 5896353"/>
              <a:gd name="connsiteX32" fmla="*/ 3800704 w 6858001"/>
              <a:gd name="connsiteY32" fmla="*/ 252134 h 5896353"/>
              <a:gd name="connsiteX33" fmla="*/ 3946780 w 6858001"/>
              <a:gd name="connsiteY33" fmla="*/ 250117 h 5896353"/>
              <a:gd name="connsiteX34" fmla="*/ 4092855 w 6858001"/>
              <a:gd name="connsiteY34" fmla="*/ 248268 h 5896353"/>
              <a:gd name="connsiteX35" fmla="*/ 4240988 w 6858001"/>
              <a:gd name="connsiteY35" fmla="*/ 244234 h 5896353"/>
              <a:gd name="connsiteX36" fmla="*/ 4390492 w 6858001"/>
              <a:gd name="connsiteY36" fmla="*/ 240032 h 5896353"/>
              <a:gd name="connsiteX37" fmla="*/ 4539997 w 6858001"/>
              <a:gd name="connsiteY37" fmla="*/ 235157 h 5896353"/>
              <a:gd name="connsiteX38" fmla="*/ 4690873 w 6858001"/>
              <a:gd name="connsiteY38" fmla="*/ 228266 h 5896353"/>
              <a:gd name="connsiteX39" fmla="*/ 4843120 w 6858001"/>
              <a:gd name="connsiteY39" fmla="*/ 220029 h 5896353"/>
              <a:gd name="connsiteX40" fmla="*/ 4996054 w 6858001"/>
              <a:gd name="connsiteY40" fmla="*/ 212129 h 5896353"/>
              <a:gd name="connsiteX41" fmla="*/ 5148987 w 6858001"/>
              <a:gd name="connsiteY41" fmla="*/ 202044 h 5896353"/>
              <a:gd name="connsiteX42" fmla="*/ 5303978 w 6858001"/>
              <a:gd name="connsiteY42" fmla="*/ 189941 h 5896353"/>
              <a:gd name="connsiteX43" fmla="*/ 5456911 w 6858001"/>
              <a:gd name="connsiteY43" fmla="*/ 177839 h 5896353"/>
              <a:gd name="connsiteX44" fmla="*/ 5612588 w 6858001"/>
              <a:gd name="connsiteY44" fmla="*/ 163887 h 5896353"/>
              <a:gd name="connsiteX45" fmla="*/ 5768950 w 6858001"/>
              <a:gd name="connsiteY45" fmla="*/ 148591 h 5896353"/>
              <a:gd name="connsiteX46" fmla="*/ 5923255 w 6858001"/>
              <a:gd name="connsiteY46" fmla="*/ 132455 h 5896353"/>
              <a:gd name="connsiteX47" fmla="*/ 6079618 w 6858001"/>
              <a:gd name="connsiteY47" fmla="*/ 113629 h 5896353"/>
              <a:gd name="connsiteX48" fmla="*/ 6235294 w 6858001"/>
              <a:gd name="connsiteY48" fmla="*/ 93458 h 5896353"/>
              <a:gd name="connsiteX49" fmla="*/ 6391657 w 6858001"/>
              <a:gd name="connsiteY49" fmla="*/ 73455 h 5896353"/>
              <a:gd name="connsiteX50" fmla="*/ 6547333 w 6858001"/>
              <a:gd name="connsiteY50" fmla="*/ 50091 h 5896353"/>
              <a:gd name="connsiteX51" fmla="*/ 6702324 w 6858001"/>
              <a:gd name="connsiteY51" fmla="*/ 26222 h 589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5896353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5896353"/>
                </a:lnTo>
                <a:lnTo>
                  <a:pt x="0" y="5896352"/>
                </a:lnTo>
                <a:lnTo>
                  <a:pt x="0" y="904460"/>
                </a:lnTo>
                <a:lnTo>
                  <a:pt x="1" y="904460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16" name="Freeform 8">
            <a:extLst>
              <a:ext uri="{FF2B5EF4-FFF2-40B4-BE49-F238E27FC236}">
                <a16:creationId xmlns:a16="http://schemas.microsoft.com/office/drawing/2014/main" id="{67B72EB2-444A-42B0-BE12-6EA274B22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09932" y="-1"/>
            <a:ext cx="745962" cy="4946189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8" name="Rectangle 2117">
            <a:extLst>
              <a:ext uri="{FF2B5EF4-FFF2-40B4-BE49-F238E27FC236}">
                <a16:creationId xmlns:a16="http://schemas.microsoft.com/office/drawing/2014/main" id="{769CD228-D5CA-4C29-A9D1-4C919760B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2052" name="Picture 4" descr="Setup Python Development Environment in Visual Studio Code | Knowledge  Kitchen">
            <a:extLst>
              <a:ext uri="{FF2B5EF4-FFF2-40B4-BE49-F238E27FC236}">
                <a16:creationId xmlns:a16="http://schemas.microsoft.com/office/drawing/2014/main" id="{6D137CC4-B7F5-37C6-E652-A2FB1C3BA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80844" y="1930400"/>
            <a:ext cx="3560887" cy="171812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Visual Studio Code: um poderoso editor de código para qualquer ambiente |  by Marco Paulo Ollivier | Coder Club | Medium">
            <a:extLst>
              <a:ext uri="{FF2B5EF4-FFF2-40B4-BE49-F238E27FC236}">
                <a16:creationId xmlns:a16="http://schemas.microsoft.com/office/drawing/2014/main" id="{75ED00AB-5B7A-136C-E33F-12E6CFA7B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43163" y="3871782"/>
            <a:ext cx="3636249" cy="171812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CD6F71B4-AA46-A8F6-D2F2-D7B3D80BCC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97982" y="6082073"/>
            <a:ext cx="3913632" cy="1154521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4B7D137C-F26F-9A3B-CED3-5F7C9EAB8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6400" y="1775013"/>
            <a:ext cx="8762000" cy="559397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tabLst/>
            </a:pPr>
            <a:r>
              <a:rPr kumimoji="0" lang="en-US" altLang="pt-BR" sz="2800" u="none" strike="noStrike" cap="none" normalizeH="0" baseline="0" dirty="0">
                <a:ln>
                  <a:noFill/>
                </a:ln>
                <a:effectLst/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9114B84-DCDD-BF85-9AFE-2419FDDA84E9}"/>
              </a:ext>
            </a:extLst>
          </p:cNvPr>
          <p:cNvSpPr txBox="1"/>
          <p:nvPr/>
        </p:nvSpPr>
        <p:spPr>
          <a:xfrm>
            <a:off x="400720" y="3370189"/>
            <a:ext cx="7655020" cy="44394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z="3600" b="1" dirty="0"/>
              <a:t>Aula 01: Ambiente e comandos básicos</a:t>
            </a:r>
          </a:p>
          <a:p>
            <a:endParaRPr lang="pt-BR" sz="3600" b="1" dirty="0"/>
          </a:p>
          <a:p>
            <a:r>
              <a:rPr lang="pt-BR" sz="3600" dirty="0"/>
              <a:t>Configuração do Python e </a:t>
            </a:r>
            <a:r>
              <a:rPr lang="pt-BR" sz="3600" dirty="0" err="1"/>
              <a:t>VSCode</a:t>
            </a:r>
            <a:r>
              <a:rPr lang="pt-BR" sz="3600" dirty="0"/>
              <a:t> </a:t>
            </a:r>
          </a:p>
          <a:p>
            <a:endParaRPr lang="pt-BR" sz="3600" dirty="0"/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3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08113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9049EA8-DD6C-CF74-4FF6-842E9A46FE32}"/>
              </a:ext>
            </a:extLst>
          </p:cNvPr>
          <p:cNvSpPr txBox="1"/>
          <p:nvPr/>
        </p:nvSpPr>
        <p:spPr>
          <a:xfrm>
            <a:off x="965200" y="2057400"/>
            <a:ext cx="138684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rgbClr val="FFC000"/>
                </a:solidFill>
              </a:rPr>
              <a:t>O QUE É </a:t>
            </a:r>
          </a:p>
          <a:p>
            <a:pPr algn="ctr"/>
            <a:r>
              <a:rPr lang="pt-BR" sz="8800" b="1" dirty="0">
                <a:solidFill>
                  <a:srgbClr val="FFC000"/>
                </a:solidFill>
              </a:rPr>
              <a:t>LÓGICA DE PROGRAMAÇÃO???</a:t>
            </a:r>
          </a:p>
        </p:txBody>
      </p:sp>
    </p:spTree>
    <p:extLst>
      <p:ext uri="{BB962C8B-B14F-4D97-AF65-F5344CB8AC3E}">
        <p14:creationId xmlns:p14="http://schemas.microsoft.com/office/powerpoint/2010/main" val="1461666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4">
            <a:extLst>
              <a:ext uri="{FF2B5EF4-FFF2-40B4-BE49-F238E27FC236}">
                <a16:creationId xmlns:a16="http://schemas.microsoft.com/office/drawing/2014/main" id="{7B0A5210-2F29-4D85-A400-9C79B13FC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B0611BBE-2B4A-4DA2-B8A9-CD877B876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016" y="640080"/>
            <a:ext cx="14983968" cy="7863840"/>
          </a:xfrm>
          <a:prstGeom prst="rect">
            <a:avLst/>
          </a:prstGeom>
          <a:noFill/>
          <a:ln w="22225">
            <a:solidFill>
              <a:srgbClr val="F290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CD5031D-2313-F547-30E2-5889C26681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29" r="-1" b="17835"/>
          <a:stretch>
            <a:fillRect/>
          </a:stretch>
        </p:blipFill>
        <p:spPr>
          <a:xfrm>
            <a:off x="857956" y="857956"/>
            <a:ext cx="14540088" cy="742808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1091950-5655-45D2-858E-FE8CBE0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8736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BA51B6-1531-28A4-B9A1-8BC230FA5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5">
            <a:extLst>
              <a:ext uri="{FF2B5EF4-FFF2-40B4-BE49-F238E27FC236}">
                <a16:creationId xmlns:a16="http://schemas.microsoft.com/office/drawing/2014/main" id="{DFB3CEA1-88D9-42FB-88ED-1E9807FE6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016" y="640080"/>
            <a:ext cx="14983968" cy="786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5C0229B-9BA9-BAFB-3F4C-86EAC8D97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429" y="857956"/>
            <a:ext cx="13089141" cy="7428088"/>
          </a:xfrm>
          <a:prstGeom prst="rect">
            <a:avLst/>
          </a:prstGeom>
        </p:spPr>
      </p:pic>
      <p:sp>
        <p:nvSpPr>
          <p:cNvPr id="31" name="Rectangle 27">
            <a:extLst>
              <a:ext uri="{FF2B5EF4-FFF2-40B4-BE49-F238E27FC236}">
                <a16:creationId xmlns:a16="http://schemas.microsoft.com/office/drawing/2014/main" id="{9A6C928E-4252-4F33-8C34-E50A12A31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2296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8E791D81-1466-1A15-EC65-2B4D429B21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520117"/>
              </p:ext>
            </p:extLst>
          </p:nvPr>
        </p:nvGraphicFramePr>
        <p:xfrm>
          <a:off x="1471613" y="4208145"/>
          <a:ext cx="11928474" cy="3017520"/>
        </p:xfrm>
        <a:graphic>
          <a:graphicData uri="http://schemas.openxmlformats.org/drawingml/2006/table">
            <a:tbl>
              <a:tblPr/>
              <a:tblGrid>
                <a:gridCol w="5964237">
                  <a:extLst>
                    <a:ext uri="{9D8B030D-6E8A-4147-A177-3AD203B41FA5}">
                      <a16:colId xmlns:a16="http://schemas.microsoft.com/office/drawing/2014/main" val="211511605"/>
                    </a:ext>
                  </a:extLst>
                </a:gridCol>
                <a:gridCol w="5964237">
                  <a:extLst>
                    <a:ext uri="{9D8B030D-6E8A-4147-A177-3AD203B41FA5}">
                      <a16:colId xmlns:a16="http://schemas.microsoft.com/office/drawing/2014/main" val="34995038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>
                          <a:solidFill>
                            <a:srgbClr val="FFC000"/>
                          </a:solidFill>
                          <a:latin typeface="Courier New" panose="02070309020205020404" pitchFamily="49" charset="0"/>
                        </a:rPr>
                        <a:t>+</a:t>
                      </a:r>
                      <a:endParaRPr lang="pt-BR" sz="280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dirty="0">
                          <a:solidFill>
                            <a:srgbClr val="FFC000"/>
                          </a:solidFill>
                          <a:latin typeface="Courier New" panose="02070309020205020404" pitchFamily="49" charset="0"/>
                        </a:rPr>
                        <a:t>,</a:t>
                      </a:r>
                      <a:endParaRPr lang="pt-BR" sz="2800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27601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Junta strings (concatena)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Passa vários valores para o print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4213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Precisa converter números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Não precisa converter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53972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Não adiciona espaços automaticamente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Adiciona espaços automaticamente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787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Mais rígido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dirty="0"/>
                        <a:t>Mais flexível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721396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B3A21BFE-8400-20B6-9E7C-819D0CE5D77F}"/>
              </a:ext>
            </a:extLst>
          </p:cNvPr>
          <p:cNvSpPr txBox="1"/>
          <p:nvPr/>
        </p:nvSpPr>
        <p:spPr>
          <a:xfrm>
            <a:off x="1471613" y="2286000"/>
            <a:ext cx="125999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Em Python, </a:t>
            </a:r>
            <a:r>
              <a:rPr lang="pt-BR" sz="2800" b="1" dirty="0">
                <a:solidFill>
                  <a:srgbClr val="FFC000"/>
                </a:solidFill>
                <a:latin typeface="Courier New" panose="02070309020205020404" pitchFamily="49" charset="0"/>
              </a:rPr>
              <a:t>,</a:t>
            </a:r>
            <a:r>
              <a:rPr lang="pt-BR" sz="2800" b="1" dirty="0">
                <a:solidFill>
                  <a:srgbClr val="FFC000"/>
                </a:solidFill>
              </a:rPr>
              <a:t> (vírgula)</a:t>
            </a:r>
            <a:r>
              <a:rPr lang="pt-BR" sz="2800" dirty="0">
                <a:solidFill>
                  <a:srgbClr val="FFC000"/>
                </a:solidFill>
              </a:rPr>
              <a:t> </a:t>
            </a:r>
            <a:r>
              <a:rPr lang="pt-BR" sz="2800" dirty="0"/>
              <a:t>e </a:t>
            </a:r>
            <a:r>
              <a:rPr lang="pt-BR" sz="2800" b="1" dirty="0">
                <a:solidFill>
                  <a:srgbClr val="FFC000"/>
                </a:solidFill>
                <a:latin typeface="Courier New" panose="02070309020205020404" pitchFamily="49" charset="0"/>
              </a:rPr>
              <a:t>+</a:t>
            </a:r>
            <a:r>
              <a:rPr lang="pt-BR" sz="2800" b="1" dirty="0">
                <a:solidFill>
                  <a:srgbClr val="FFC000"/>
                </a:solidFill>
              </a:rPr>
              <a:t> (mais)</a:t>
            </a:r>
            <a:r>
              <a:rPr lang="pt-BR" sz="2800" dirty="0">
                <a:solidFill>
                  <a:srgbClr val="FFC000"/>
                </a:solidFill>
              </a:rPr>
              <a:t> </a:t>
            </a:r>
            <a:r>
              <a:rPr lang="pt-BR" sz="2800" dirty="0"/>
              <a:t>podem ser usados para “juntar” informações no </a:t>
            </a:r>
            <a:r>
              <a:rPr lang="pt-BR" sz="2800" dirty="0">
                <a:latin typeface="Courier New" panose="02070309020205020404" pitchFamily="49" charset="0"/>
              </a:rPr>
              <a:t>print()</a:t>
            </a:r>
            <a:r>
              <a:rPr lang="pt-BR" sz="2800" dirty="0"/>
              <a:t>, mas funcionam de formas bem diferentes.</a:t>
            </a:r>
          </a:p>
        </p:txBody>
      </p:sp>
    </p:spTree>
    <p:extLst>
      <p:ext uri="{BB962C8B-B14F-4D97-AF65-F5344CB8AC3E}">
        <p14:creationId xmlns:p14="http://schemas.microsoft.com/office/powerpoint/2010/main" val="3609634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24B4F6D-FED0-F303-8A94-1CB15AED0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2057400"/>
            <a:ext cx="12496800" cy="536742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445DE67-623F-A914-F42C-33646F5EF7F2}"/>
              </a:ext>
            </a:extLst>
          </p:cNvPr>
          <p:cNvSpPr txBox="1"/>
          <p:nvPr/>
        </p:nvSpPr>
        <p:spPr>
          <a:xfrm>
            <a:off x="938213" y="1192908"/>
            <a:ext cx="125999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Criar esse arquivo </a:t>
            </a:r>
            <a:r>
              <a:rPr lang="pt-BR" sz="2800" dirty="0">
                <a:solidFill>
                  <a:srgbClr val="FFC000"/>
                </a:solidFill>
              </a:rPr>
              <a:t>concatenação.py </a:t>
            </a:r>
            <a:r>
              <a:rPr lang="pt-BR" sz="2800" dirty="0"/>
              <a:t>e testar esse código...</a:t>
            </a:r>
          </a:p>
        </p:txBody>
      </p:sp>
    </p:spTree>
    <p:extLst>
      <p:ext uri="{BB962C8B-B14F-4D97-AF65-F5344CB8AC3E}">
        <p14:creationId xmlns:p14="http://schemas.microsoft.com/office/powerpoint/2010/main" val="4041543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559580"/>
            <a:ext cx="5382682" cy="55844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856462"/>
            <a:ext cx="2029882" cy="3153938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78682" y="2235200"/>
            <a:ext cx="3759200" cy="3759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0665882" y="0"/>
            <a:ext cx="2137850" cy="152187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1474504" y="8128000"/>
            <a:ext cx="1324978" cy="1016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17F4E21-4252-34F2-584E-C691C404CC81}"/>
              </a:ext>
            </a:extLst>
          </p:cNvPr>
          <p:cNvSpPr txBox="1"/>
          <p:nvPr/>
        </p:nvSpPr>
        <p:spPr>
          <a:xfrm>
            <a:off x="8989477" y="839021"/>
            <a:ext cx="4410325" cy="21893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Variáveis</a:t>
            </a:r>
            <a:r>
              <a:rPr lang="en-US" sz="4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em</a:t>
            </a:r>
            <a:r>
              <a:rPr lang="en-US" sz="4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Python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A4C304C-27D4-B45D-E6DC-5C7C909E5C4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2244" b="-1"/>
          <a:stretch>
            <a:fillRect/>
          </a:stretch>
        </p:blipFill>
        <p:spPr>
          <a:xfrm>
            <a:off x="-2" y="10"/>
            <a:ext cx="8125875" cy="914399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355376F-32E5-A0D6-B7AA-86FB6B51C6B6}"/>
              </a:ext>
            </a:extLst>
          </p:cNvPr>
          <p:cNvSpPr txBox="1"/>
          <p:nvPr/>
        </p:nvSpPr>
        <p:spPr>
          <a:xfrm>
            <a:off x="8403193" y="2621263"/>
            <a:ext cx="7467600" cy="5079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2000" b="1" dirty="0">
                <a:latin typeface="+mj-lt"/>
                <a:ea typeface="+mj-ea"/>
                <a:cs typeface="+mj-cs"/>
              </a:rPr>
              <a:t>O </a:t>
            </a:r>
            <a:r>
              <a:rPr lang="en-US" sz="2000" b="1" dirty="0" err="1">
                <a:latin typeface="+mj-lt"/>
                <a:ea typeface="+mj-ea"/>
                <a:cs typeface="+mj-cs"/>
              </a:rPr>
              <a:t>que</a:t>
            </a:r>
            <a:r>
              <a:rPr lang="en-US" sz="2000" b="1" dirty="0">
                <a:latin typeface="+mj-lt"/>
                <a:ea typeface="+mj-ea"/>
                <a:cs typeface="+mj-cs"/>
              </a:rPr>
              <a:t> </a:t>
            </a:r>
            <a:r>
              <a:rPr lang="en-US" sz="2000" b="1" dirty="0" err="1">
                <a:latin typeface="+mj-lt"/>
                <a:ea typeface="+mj-ea"/>
                <a:cs typeface="+mj-cs"/>
              </a:rPr>
              <a:t>são</a:t>
            </a:r>
            <a:r>
              <a:rPr lang="en-US" sz="2000" b="1" dirty="0">
                <a:latin typeface="+mj-lt"/>
                <a:ea typeface="+mj-ea"/>
                <a:cs typeface="+mj-cs"/>
              </a:rPr>
              <a:t> </a:t>
            </a:r>
            <a:r>
              <a:rPr lang="en-US" sz="2000" b="1" dirty="0" err="1">
                <a:latin typeface="+mj-lt"/>
                <a:ea typeface="+mj-ea"/>
                <a:cs typeface="+mj-cs"/>
              </a:rPr>
              <a:t>Variáveis</a:t>
            </a:r>
            <a:r>
              <a:rPr lang="en-US" sz="2000" b="1" dirty="0">
                <a:latin typeface="+mj-lt"/>
                <a:ea typeface="+mj-ea"/>
                <a:cs typeface="+mj-cs"/>
              </a:rPr>
              <a:t>?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en-US" b="1" dirty="0">
              <a:solidFill>
                <a:srgbClr val="FFC000"/>
              </a:solidFill>
              <a:latin typeface="+mj-lt"/>
              <a:ea typeface="+mj-ea"/>
              <a:cs typeface="+mj-cs"/>
            </a:endParaRP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São </a:t>
            </a:r>
            <a:r>
              <a:rPr lang="en-US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espaços</a:t>
            </a:r>
            <a:r>
              <a:rPr lang="en-US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na</a:t>
            </a:r>
            <a:r>
              <a:rPr lang="en-US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memória</a:t>
            </a:r>
            <a:r>
              <a:rPr lang="en-US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do </a:t>
            </a:r>
            <a:r>
              <a:rPr lang="en-US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computador</a:t>
            </a:r>
            <a:r>
              <a:rPr lang="en-US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</a:t>
            </a: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Usadas para </a:t>
            </a:r>
            <a:r>
              <a:rPr lang="en-US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armazenar</a:t>
            </a:r>
            <a:r>
              <a:rPr lang="en-US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dados </a:t>
            </a: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Podem</a:t>
            </a:r>
            <a:r>
              <a:rPr lang="en-US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mudar </a:t>
            </a:r>
            <a:r>
              <a:rPr lang="en-US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durante</a:t>
            </a:r>
            <a:r>
              <a:rPr lang="en-US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a </a:t>
            </a:r>
            <a:r>
              <a:rPr lang="en-US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execução</a:t>
            </a:r>
            <a:r>
              <a:rPr lang="en-US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do </a:t>
            </a:r>
            <a:r>
              <a:rPr lang="en-US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programa</a:t>
            </a:r>
            <a:r>
              <a:rPr lang="en-US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</a:t>
            </a: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Cada </a:t>
            </a:r>
            <a:r>
              <a:rPr lang="en-US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variável</a:t>
            </a:r>
            <a:r>
              <a:rPr lang="en-US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possui</a:t>
            </a:r>
            <a:r>
              <a:rPr lang="en-US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um </a:t>
            </a:r>
            <a:r>
              <a:rPr lang="en-US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nome</a:t>
            </a:r>
            <a:endParaRPr lang="pt-BR" altLang="pt-BR" dirty="0">
              <a:solidFill>
                <a:srgbClr val="FFC000"/>
              </a:solidFill>
              <a:latin typeface="Arial" panose="020B0604020202020204" pitchFamily="34" charset="0"/>
            </a:endParaRPr>
          </a:p>
          <a:p>
            <a:pPr marL="285750" lvl="0" indent="-285750" fontAlgn="base">
              <a:spcBef>
                <a:spcPts val="1000"/>
              </a:spcBef>
              <a:spcAft>
                <a:spcPct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pt-BR" altLang="pt-BR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Python é dinamicamente </a:t>
            </a:r>
            <a:r>
              <a:rPr lang="pt-BR" altLang="pt-BR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tipado</a:t>
            </a:r>
            <a:r>
              <a:rPr lang="pt-BR" altLang="pt-BR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(não precisa declarar tipo) 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b="1" dirty="0">
              <a:latin typeface="+mj-lt"/>
              <a:ea typeface="+mj-ea"/>
              <a:cs typeface="+mj-cs"/>
            </a:endParaRP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b="1" dirty="0">
              <a:latin typeface="+mj-lt"/>
              <a:ea typeface="+mj-ea"/>
              <a:cs typeface="+mj-cs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5743203-850E-1B3D-4FAE-FE81EEBAEDFE}"/>
              </a:ext>
            </a:extLst>
          </p:cNvPr>
          <p:cNvSpPr txBox="1"/>
          <p:nvPr/>
        </p:nvSpPr>
        <p:spPr>
          <a:xfrm>
            <a:off x="8408273" y="6049903"/>
            <a:ext cx="8125968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1" dirty="0"/>
              <a:t>Regras de nomenclatura (nomes de variáveis)</a:t>
            </a:r>
          </a:p>
          <a:p>
            <a:pPr>
              <a:buNone/>
            </a:pPr>
            <a:endParaRPr lang="pt-BR" sz="2000" b="1" dirty="0"/>
          </a:p>
          <a:p>
            <a:pPr>
              <a:buNone/>
            </a:pPr>
            <a:r>
              <a:rPr lang="pt-BR" dirty="0"/>
              <a:t>✔ Devem começar com letra ou </a:t>
            </a:r>
            <a:r>
              <a:rPr lang="pt-BR" dirty="0">
                <a:latin typeface="Courier New" panose="02070309020205020404" pitchFamily="49" charset="0"/>
              </a:rPr>
              <a:t>_</a:t>
            </a:r>
            <a:br>
              <a:rPr lang="pt-BR" dirty="0"/>
            </a:br>
            <a:r>
              <a:rPr lang="pt-BR" dirty="0"/>
              <a:t>✔ Não podem começar com números</a:t>
            </a:r>
            <a:br>
              <a:rPr lang="pt-BR" dirty="0"/>
            </a:br>
            <a:r>
              <a:rPr lang="pt-BR" dirty="0"/>
              <a:t>✔ Não podem conter espaços</a:t>
            </a:r>
            <a:br>
              <a:rPr lang="pt-BR" dirty="0"/>
            </a:br>
            <a:r>
              <a:rPr lang="pt-BR" dirty="0"/>
              <a:t>✔ Não podem usar caracteres especiais (@, !, %, etc.)</a:t>
            </a:r>
            <a:br>
              <a:rPr lang="pt-BR" dirty="0"/>
            </a:br>
            <a:r>
              <a:rPr lang="pt-BR" dirty="0"/>
              <a:t>✔ Python diferencia maiúsculas e minúsculas</a:t>
            </a:r>
            <a:br>
              <a:rPr lang="pt-BR" dirty="0"/>
            </a:br>
            <a:r>
              <a:rPr lang="pt-BR" dirty="0"/>
              <a:t>✔ Não podem ser palavras reservadas (</a:t>
            </a:r>
            <a:r>
              <a:rPr lang="pt-BR" dirty="0" err="1"/>
              <a:t>ex</a:t>
            </a:r>
            <a:r>
              <a:rPr lang="pt-BR" dirty="0"/>
              <a:t>: </a:t>
            </a:r>
            <a:r>
              <a:rPr lang="pt-BR" dirty="0" err="1"/>
              <a:t>if</a:t>
            </a:r>
            <a:r>
              <a:rPr lang="pt-BR" dirty="0"/>
              <a:t>, </a:t>
            </a:r>
            <a:r>
              <a:rPr lang="pt-BR" dirty="0" err="1"/>
              <a:t>while</a:t>
            </a:r>
            <a:r>
              <a:rPr lang="pt-BR" dirty="0"/>
              <a:t>, print)</a:t>
            </a:r>
          </a:p>
        </p:txBody>
      </p:sp>
    </p:spTree>
    <p:extLst>
      <p:ext uri="{BB962C8B-B14F-4D97-AF65-F5344CB8AC3E}">
        <p14:creationId xmlns:p14="http://schemas.microsoft.com/office/powerpoint/2010/main" val="891947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5088EA60-2B23-BA9D-78A2-6486B684B1DC}"/>
              </a:ext>
            </a:extLst>
          </p:cNvPr>
          <p:cNvSpPr txBox="1"/>
          <p:nvPr/>
        </p:nvSpPr>
        <p:spPr>
          <a:xfrm>
            <a:off x="508000" y="1066800"/>
            <a:ext cx="8128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Tipos de Dados em Python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E24FBE1-1C08-FFC5-5F8B-BDB3DB41CA5E}"/>
              </a:ext>
            </a:extLst>
          </p:cNvPr>
          <p:cNvSpPr txBox="1"/>
          <p:nvPr/>
        </p:nvSpPr>
        <p:spPr>
          <a:xfrm>
            <a:off x="510032" y="2208091"/>
            <a:ext cx="1135176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1" dirty="0"/>
              <a:t>Tipos Numéricos</a:t>
            </a:r>
          </a:p>
          <a:p>
            <a:pPr>
              <a:buNone/>
            </a:pPr>
            <a:endParaRPr lang="pt-BR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 err="1">
                <a:solidFill>
                  <a:srgbClr val="FFC000"/>
                </a:solidFill>
                <a:latin typeface="Courier New" panose="02070309020205020404" pitchFamily="49" charset="0"/>
              </a:rPr>
              <a:t>int</a:t>
            </a:r>
            <a:r>
              <a:rPr lang="pt-BR" sz="2000" b="1" dirty="0"/>
              <a:t> → números inteiros (</a:t>
            </a:r>
            <a:r>
              <a:rPr lang="pt-BR" sz="2000" b="1" dirty="0" err="1">
                <a:solidFill>
                  <a:srgbClr val="FFC000"/>
                </a:solidFill>
              </a:rPr>
              <a:t>ex</a:t>
            </a:r>
            <a:r>
              <a:rPr lang="pt-BR" sz="2000" b="1" dirty="0">
                <a:solidFill>
                  <a:srgbClr val="FFC000"/>
                </a:solidFill>
              </a:rPr>
              <a:t>: 10, -5</a:t>
            </a:r>
            <a:r>
              <a:rPr lang="pt-BR" sz="2000" b="1" dirty="0"/>
              <a:t>) - </a:t>
            </a:r>
            <a:r>
              <a:rPr lang="pt-BR" sz="2000" dirty="0"/>
              <a:t>Não tem limite fixo definido</a:t>
            </a:r>
            <a:endParaRPr lang="pt-BR" sz="2000" b="1" dirty="0"/>
          </a:p>
          <a:p>
            <a:pPr>
              <a:buFont typeface="Arial" panose="020B0604020202020204" pitchFamily="34" charset="0"/>
              <a:buChar char="•"/>
            </a:pPr>
            <a:endParaRPr lang="pt-BR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 err="1">
                <a:solidFill>
                  <a:srgbClr val="FFC000"/>
                </a:solidFill>
                <a:latin typeface="Courier New" panose="02070309020205020404" pitchFamily="49" charset="0"/>
              </a:rPr>
              <a:t>float</a:t>
            </a:r>
            <a:r>
              <a:rPr lang="pt-BR" sz="2000" b="1" dirty="0"/>
              <a:t> → números decimais (</a:t>
            </a:r>
            <a:r>
              <a:rPr lang="pt-BR" sz="2000" b="1" dirty="0" err="1">
                <a:solidFill>
                  <a:srgbClr val="FFC000"/>
                </a:solidFill>
              </a:rPr>
              <a:t>ex</a:t>
            </a:r>
            <a:r>
              <a:rPr lang="pt-BR" sz="2000" b="1" dirty="0">
                <a:solidFill>
                  <a:srgbClr val="FFC000"/>
                </a:solidFill>
              </a:rPr>
              <a:t>: 3.14</a:t>
            </a:r>
            <a:r>
              <a:rPr lang="pt-BR" sz="2000" b="1" dirty="0"/>
              <a:t>) - </a:t>
            </a:r>
            <a:r>
              <a:rPr lang="pt-BR" sz="2000" dirty="0"/>
              <a:t>Precisão: cerca de </a:t>
            </a:r>
            <a:r>
              <a:rPr lang="pt-BR" sz="2000" b="1" dirty="0"/>
              <a:t>15 a 17 dígitos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 err="1">
                <a:solidFill>
                  <a:srgbClr val="FFC000"/>
                </a:solidFill>
                <a:latin typeface="Courier New" panose="02070309020205020404" pitchFamily="49" charset="0"/>
              </a:rPr>
              <a:t>complex</a:t>
            </a:r>
            <a:r>
              <a:rPr lang="pt-BR" sz="2000" b="1" dirty="0"/>
              <a:t> → números complexos (</a:t>
            </a:r>
            <a:r>
              <a:rPr lang="pt-BR" sz="2000" b="1" dirty="0" err="1">
                <a:solidFill>
                  <a:srgbClr val="FFC000"/>
                </a:solidFill>
              </a:rPr>
              <a:t>ex</a:t>
            </a:r>
            <a:r>
              <a:rPr lang="pt-BR" sz="2000" b="1" dirty="0">
                <a:solidFill>
                  <a:srgbClr val="FFC000"/>
                </a:solidFill>
              </a:rPr>
              <a:t>: 2 + 3j</a:t>
            </a:r>
            <a:r>
              <a:rPr lang="pt-BR" sz="2000" b="1" dirty="0"/>
              <a:t>)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120FAFF-0020-2BCF-F427-D0590D7A6D16}"/>
              </a:ext>
            </a:extLst>
          </p:cNvPr>
          <p:cNvSpPr txBox="1"/>
          <p:nvPr/>
        </p:nvSpPr>
        <p:spPr>
          <a:xfrm>
            <a:off x="7975600" y="5968663"/>
            <a:ext cx="812596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1" dirty="0"/>
              <a:t>Quando usar </a:t>
            </a:r>
            <a:r>
              <a:rPr lang="pt-BR" sz="2000" b="1" dirty="0" err="1">
                <a:solidFill>
                  <a:srgbClr val="FFC000"/>
                </a:solidFill>
                <a:latin typeface="Courier New" panose="02070309020205020404" pitchFamily="49" charset="0"/>
              </a:rPr>
              <a:t>complex</a:t>
            </a:r>
            <a:r>
              <a:rPr lang="pt-BR" sz="2000" b="1" dirty="0"/>
              <a:t>?</a:t>
            </a:r>
          </a:p>
          <a:p>
            <a:pPr>
              <a:buNone/>
            </a:pPr>
            <a:r>
              <a:rPr lang="pt-BR" sz="2000" b="1" dirty="0"/>
              <a:t>Você usa números complexos quando trabalha com cálculos mais avançados, como:</a:t>
            </a:r>
          </a:p>
          <a:p>
            <a:pPr>
              <a:buNone/>
            </a:pPr>
            <a:endParaRPr lang="pt-BR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 Engenharia elétrica </a:t>
            </a:r>
            <a:r>
              <a:rPr lang="pt-BR" sz="2000" b="1" dirty="0">
                <a:solidFill>
                  <a:srgbClr val="FFC000"/>
                </a:solidFill>
              </a:rPr>
              <a:t>(análise de circuitos)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 Sinais e ondas </a:t>
            </a:r>
            <a:r>
              <a:rPr lang="pt-BR" sz="2000" b="1" dirty="0">
                <a:solidFill>
                  <a:srgbClr val="FFC000"/>
                </a:solidFill>
              </a:rPr>
              <a:t>(frequência)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 Matemática avançada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 Algumas áreas de gráficos e simulações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6A9DDF18-C212-354C-6F07-37F9410AB671}"/>
              </a:ext>
            </a:extLst>
          </p:cNvPr>
          <p:cNvCxnSpPr>
            <a:cxnSpLocks/>
          </p:cNvCxnSpPr>
          <p:nvPr/>
        </p:nvCxnSpPr>
        <p:spPr>
          <a:xfrm>
            <a:off x="5994400" y="4330550"/>
            <a:ext cx="3962400" cy="163811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m 18">
            <a:extLst>
              <a:ext uri="{FF2B5EF4-FFF2-40B4-BE49-F238E27FC236}">
                <a16:creationId xmlns:a16="http://schemas.microsoft.com/office/drawing/2014/main" id="{0D111549-EE8E-DD43-4629-D9E5BD843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26" y="5486400"/>
            <a:ext cx="656087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183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92D91-E2B8-102B-F1EC-09F16B9FD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89BB3624-03BE-2A41-623A-169FCE95F548}"/>
              </a:ext>
            </a:extLst>
          </p:cNvPr>
          <p:cNvSpPr txBox="1"/>
          <p:nvPr/>
        </p:nvSpPr>
        <p:spPr>
          <a:xfrm>
            <a:off x="508000" y="1066800"/>
            <a:ext cx="8128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Tipos de Dados em Python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B8EFAD2-E4D4-EEF9-D98D-65A99114B886}"/>
              </a:ext>
            </a:extLst>
          </p:cNvPr>
          <p:cNvSpPr txBox="1"/>
          <p:nvPr/>
        </p:nvSpPr>
        <p:spPr>
          <a:xfrm>
            <a:off x="584200" y="2667000"/>
            <a:ext cx="81259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1" dirty="0"/>
              <a:t>Tipo Texto</a:t>
            </a:r>
          </a:p>
          <a:p>
            <a:pPr>
              <a:buNone/>
            </a:pPr>
            <a:endParaRPr lang="pt-BR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 err="1">
                <a:solidFill>
                  <a:srgbClr val="FFC000"/>
                </a:solidFill>
                <a:latin typeface="Courier New" panose="02070309020205020404" pitchFamily="49" charset="0"/>
              </a:rPr>
              <a:t>str</a:t>
            </a:r>
            <a:r>
              <a:rPr lang="pt-BR" sz="2000" b="1" dirty="0"/>
              <a:t> → cadeias de caracteres </a:t>
            </a:r>
            <a:r>
              <a:rPr lang="pt-BR" sz="2000" b="1" dirty="0">
                <a:solidFill>
                  <a:srgbClr val="FFC000"/>
                </a:solidFill>
              </a:rPr>
              <a:t>(</a:t>
            </a:r>
            <a:r>
              <a:rPr lang="pt-BR" sz="2000" b="1" dirty="0" err="1">
                <a:solidFill>
                  <a:srgbClr val="FFC000"/>
                </a:solidFill>
              </a:rPr>
              <a:t>ex</a:t>
            </a:r>
            <a:r>
              <a:rPr lang="pt-BR" sz="2000" b="1" dirty="0">
                <a:solidFill>
                  <a:srgbClr val="FFC000"/>
                </a:solidFill>
              </a:rPr>
              <a:t>: "Olá")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EC5AA34-2123-A2C3-D5D6-552B052DB6FC}"/>
              </a:ext>
            </a:extLst>
          </p:cNvPr>
          <p:cNvSpPr txBox="1"/>
          <p:nvPr/>
        </p:nvSpPr>
        <p:spPr>
          <a:xfrm>
            <a:off x="7508240" y="2564993"/>
            <a:ext cx="812596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1" dirty="0"/>
              <a:t>Tipo Booleano</a:t>
            </a:r>
          </a:p>
          <a:p>
            <a:pPr>
              <a:buNone/>
            </a:pPr>
            <a:endParaRPr lang="pt-BR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 err="1">
                <a:solidFill>
                  <a:srgbClr val="FFC000"/>
                </a:solidFill>
                <a:latin typeface="Courier New" panose="02070309020205020404" pitchFamily="49" charset="0"/>
              </a:rPr>
              <a:t>bool</a:t>
            </a:r>
            <a:r>
              <a:rPr lang="pt-BR" sz="2000" b="1" dirty="0"/>
              <a:t> → valores lógicos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b="1" dirty="0" err="1">
                <a:solidFill>
                  <a:srgbClr val="FFC000"/>
                </a:solidFill>
                <a:latin typeface="Courier New" panose="02070309020205020404" pitchFamily="49" charset="0"/>
              </a:rPr>
              <a:t>True</a:t>
            </a:r>
            <a:r>
              <a:rPr lang="pt-BR" sz="2000" b="1" dirty="0">
                <a:solidFill>
                  <a:srgbClr val="FFC000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FFC000"/>
                </a:solidFill>
                <a:latin typeface="Courier New" panose="02070309020205020404" pitchFamily="49" charset="0"/>
              </a:rPr>
              <a:t>False</a:t>
            </a:r>
            <a:endParaRPr lang="pt-BR" sz="2000" b="1" dirty="0">
              <a:solidFill>
                <a:srgbClr val="FFC000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99D1B08-0667-CAA4-5CD9-04CADDCFE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76" y="4919162"/>
            <a:ext cx="10439400" cy="374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096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00960A-368C-8A53-977C-7E32C673C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559580"/>
            <a:ext cx="5382682" cy="558442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856462"/>
            <a:ext cx="2029882" cy="3153938"/>
          </a:xfrm>
          <a:prstGeom prst="rect">
            <a:avLst/>
          </a:prstGeom>
        </p:spPr>
      </p:pic>
      <p:sp>
        <p:nvSpPr>
          <p:cNvPr id="48" name="Oval 47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78682" y="2235200"/>
            <a:ext cx="3759200" cy="3759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0665882" y="0"/>
            <a:ext cx="2137850" cy="1521876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1474504" y="8128000"/>
            <a:ext cx="1324978" cy="1016000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0B13FF8-2B3C-4BC1-B3E4-254B3F8C3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FB78228-B47D-6050-C552-B52FC70D8312}"/>
              </a:ext>
            </a:extLst>
          </p:cNvPr>
          <p:cNvSpPr txBox="1"/>
          <p:nvPr/>
        </p:nvSpPr>
        <p:spPr>
          <a:xfrm>
            <a:off x="846964" y="839021"/>
            <a:ext cx="4155586" cy="74594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6400" b="0" i="0" kern="1200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Variáveis</a:t>
            </a:r>
            <a:endParaRPr lang="en-US" sz="6400" b="0" i="0" kern="1200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8" name="Freeform 7">
            <a:extLst>
              <a:ext uri="{FF2B5EF4-FFF2-40B4-BE49-F238E27FC236}">
                <a16:creationId xmlns:a16="http://schemas.microsoft.com/office/drawing/2014/main" id="{B9C1207E-FFD8-4821-AFE6-71C724360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64146" y="-1"/>
            <a:ext cx="745963" cy="4946189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0" name="Freeform: Shape 59">
            <a:extLst>
              <a:ext uri="{FF2B5EF4-FFF2-40B4-BE49-F238E27FC236}">
                <a16:creationId xmlns:a16="http://schemas.microsoft.com/office/drawing/2014/main" id="{2B199503-2632-490F-8EB2-759D88708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6330207" y="-781793"/>
            <a:ext cx="9144001" cy="10707588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11C7CB4-0228-486A-931A-262ABB670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DFAFD16-AAA9-D70F-970A-57F3E534471C}"/>
              </a:ext>
            </a:extLst>
          </p:cNvPr>
          <p:cNvSpPr txBox="1"/>
          <p:nvPr/>
        </p:nvSpPr>
        <p:spPr>
          <a:xfrm>
            <a:off x="6731269" y="1880612"/>
            <a:ext cx="8661129" cy="2513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2400" b="1" dirty="0">
                <a:latin typeface="+mj-lt"/>
                <a:ea typeface="+mj-ea"/>
                <a:cs typeface="+mj-cs"/>
              </a:rPr>
              <a:t>Boas práticas de nomes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b="1" dirty="0">
                <a:latin typeface="+mj-lt"/>
                <a:ea typeface="+mj-ea"/>
                <a:cs typeface="+mj-cs"/>
              </a:rPr>
              <a:t>✔ Usar nomes descritivos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br>
              <a:rPr lang="en-US" b="1" dirty="0">
                <a:latin typeface="+mj-lt"/>
                <a:ea typeface="+mj-ea"/>
                <a:cs typeface="+mj-cs"/>
              </a:rPr>
            </a:br>
            <a:r>
              <a:rPr lang="en-US" b="1" dirty="0">
                <a:latin typeface="+mj-lt"/>
                <a:ea typeface="+mj-ea"/>
                <a:cs typeface="+mj-cs"/>
              </a:rPr>
              <a:t>✔ Usar </a:t>
            </a:r>
            <a:r>
              <a:rPr lang="en-US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snake_case </a:t>
            </a:r>
            <a:r>
              <a:rPr lang="en-US" b="1" dirty="0">
                <a:latin typeface="+mj-lt"/>
                <a:ea typeface="+mj-ea"/>
                <a:cs typeface="+mj-cs"/>
              </a:rPr>
              <a:t>(padrão Python)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br>
              <a:rPr lang="en-US" b="1" dirty="0">
                <a:latin typeface="+mj-lt"/>
                <a:ea typeface="+mj-ea"/>
                <a:cs typeface="+mj-cs"/>
              </a:rPr>
            </a:br>
            <a:r>
              <a:rPr lang="en-US" b="1" dirty="0">
                <a:latin typeface="+mj-lt"/>
                <a:ea typeface="+mj-ea"/>
                <a:cs typeface="+mj-cs"/>
              </a:rPr>
              <a:t>✔ Evitar abreviações confusas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0BB7675-CDF7-CB61-7C6B-FA2816734F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269" y="4749860"/>
            <a:ext cx="8661129" cy="322627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494476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B4485E-99E9-6C0F-77E7-251F3DE00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21EA20D-57C7-C0B1-9A3A-7934AAFF7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559580"/>
            <a:ext cx="5382682" cy="55844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F4AD721-22FE-8296-7AFB-6DE042427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856462"/>
            <a:ext cx="2029882" cy="3153938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08BB9411-21A1-D076-7272-61D0B3D09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78682" y="2235200"/>
            <a:ext cx="3759200" cy="3759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CCF79B4-5017-8054-2A16-C37D104EB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0665882" y="0"/>
            <a:ext cx="2137850" cy="152187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A42EF07-66EC-A70C-AEF6-EACED835E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1474504" y="8128000"/>
            <a:ext cx="1324978" cy="1016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5C25B32-EB48-A9C4-9260-8573A1DA0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D1C19FA-079C-E892-36C3-D5A86949CED5}"/>
              </a:ext>
            </a:extLst>
          </p:cNvPr>
          <p:cNvSpPr txBox="1"/>
          <p:nvPr/>
        </p:nvSpPr>
        <p:spPr>
          <a:xfrm>
            <a:off x="385207" y="1382965"/>
            <a:ext cx="7183797" cy="21893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Constantes</a:t>
            </a:r>
            <a:r>
              <a:rPr lang="en-US" sz="4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em</a:t>
            </a:r>
            <a:r>
              <a:rPr lang="en-US" sz="4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Python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588D673-2D1E-C655-1B7E-35DDEBC82E15}"/>
              </a:ext>
            </a:extLst>
          </p:cNvPr>
          <p:cNvSpPr txBox="1"/>
          <p:nvPr/>
        </p:nvSpPr>
        <p:spPr>
          <a:xfrm>
            <a:off x="7954211" y="3454401"/>
            <a:ext cx="8058300" cy="5079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2000" b="1" dirty="0">
                <a:latin typeface="+mj-lt"/>
                <a:ea typeface="+mj-ea"/>
                <a:cs typeface="+mj-cs"/>
              </a:rPr>
              <a:t>O </a:t>
            </a:r>
            <a:r>
              <a:rPr lang="en-US" sz="2000" b="1" dirty="0" err="1">
                <a:latin typeface="+mj-lt"/>
                <a:ea typeface="+mj-ea"/>
                <a:cs typeface="+mj-cs"/>
              </a:rPr>
              <a:t>que</a:t>
            </a:r>
            <a:r>
              <a:rPr lang="en-US" sz="2000" b="1" dirty="0">
                <a:latin typeface="+mj-lt"/>
                <a:ea typeface="+mj-ea"/>
                <a:cs typeface="+mj-cs"/>
              </a:rPr>
              <a:t> </a:t>
            </a:r>
            <a:r>
              <a:rPr lang="en-US" sz="2000" b="1" dirty="0" err="1">
                <a:latin typeface="+mj-lt"/>
                <a:ea typeface="+mj-ea"/>
                <a:cs typeface="+mj-cs"/>
              </a:rPr>
              <a:t>são</a:t>
            </a:r>
            <a:r>
              <a:rPr lang="en-US" sz="2000" b="1" dirty="0">
                <a:latin typeface="+mj-lt"/>
                <a:ea typeface="+mj-ea"/>
                <a:cs typeface="+mj-cs"/>
              </a:rPr>
              <a:t> </a:t>
            </a:r>
            <a:r>
              <a:rPr lang="en-US" sz="2000" b="1" dirty="0" err="1">
                <a:latin typeface="+mj-lt"/>
                <a:ea typeface="+mj-ea"/>
                <a:cs typeface="+mj-cs"/>
              </a:rPr>
              <a:t>Constantes</a:t>
            </a:r>
            <a:r>
              <a:rPr lang="en-US" sz="2000" b="1" dirty="0">
                <a:latin typeface="+mj-lt"/>
                <a:ea typeface="+mj-ea"/>
                <a:cs typeface="+mj-cs"/>
              </a:rPr>
              <a:t>?</a:t>
            </a: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endParaRPr lang="en-US" b="1" dirty="0">
              <a:solidFill>
                <a:srgbClr val="FFC000"/>
              </a:solidFill>
              <a:latin typeface="+mj-lt"/>
              <a:ea typeface="+mj-ea"/>
              <a:cs typeface="+mj-cs"/>
            </a:endParaRP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FFC000"/>
                </a:solidFill>
              </a:rPr>
              <a:t>São valores que não deveriam ser alterados durante o programa</a:t>
            </a: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FFC000"/>
                </a:solidFill>
              </a:rPr>
              <a:t>Python não possui constantes reais (apenas por convenção)</a:t>
            </a: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FFC000"/>
                </a:solidFill>
              </a:rPr>
              <a:t>Usa-se letras maiúsculas para indicar constantes</a:t>
            </a: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FFC000"/>
                </a:solidFill>
              </a:rPr>
              <a:t>Exemplo: </a:t>
            </a:r>
            <a:r>
              <a:rPr lang="pt-BR" b="1" dirty="0"/>
              <a:t>PI = 3.14, MAX_USUARIOS = 100</a:t>
            </a: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FFC000"/>
                </a:solidFill>
              </a:rPr>
              <a:t>O Python permite alterar esses valores mesmo assim</a:t>
            </a: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FFC000"/>
                </a:solidFill>
              </a:rPr>
              <a:t>São usadas para representar dados fixos no programa</a:t>
            </a:r>
            <a:endParaRPr lang="en-US" b="1" dirty="0">
              <a:solidFill>
                <a:srgbClr val="FFC0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EA69811-7DCC-A86D-8B85-373618E7BE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797" y="4923262"/>
            <a:ext cx="7286239" cy="315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861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85D5AA8-773B-469A-8802-9645A4DC9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64534E1-9354-C852-BB47-F4E7F4378C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871" y="857956"/>
            <a:ext cx="11128222" cy="74280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75AF42C-C556-454E-B2D3-2C917CB81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9094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57B9B4-C7C9-D633-89B7-E67204C85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9" name="Picture 307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559580"/>
            <a:ext cx="5382682" cy="5584420"/>
          </a:xfrm>
          <a:prstGeom prst="rect">
            <a:avLst/>
          </a:prstGeom>
        </p:spPr>
      </p:pic>
      <p:pic>
        <p:nvPicPr>
          <p:cNvPr id="3081" name="Picture 308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856462"/>
            <a:ext cx="2029882" cy="3153938"/>
          </a:xfrm>
          <a:prstGeom prst="rect">
            <a:avLst/>
          </a:prstGeom>
        </p:spPr>
      </p:pic>
      <p:sp>
        <p:nvSpPr>
          <p:cNvPr id="3083" name="Oval 308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78682" y="2235200"/>
            <a:ext cx="3759200" cy="3759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3085" name="Picture 308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0665882" y="0"/>
            <a:ext cx="2137850" cy="1521876"/>
          </a:xfrm>
          <a:prstGeom prst="rect">
            <a:avLst/>
          </a:prstGeom>
        </p:spPr>
      </p:pic>
      <p:pic>
        <p:nvPicPr>
          <p:cNvPr id="3087" name="Picture 308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1474504" y="8128000"/>
            <a:ext cx="1324978" cy="1016000"/>
          </a:xfrm>
          <a:prstGeom prst="rect">
            <a:avLst/>
          </a:prstGeom>
        </p:spPr>
      </p:pic>
      <p:sp>
        <p:nvSpPr>
          <p:cNvPr id="3089" name="Rectangle 308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091" name="Rectangle 3090">
            <a:extLst>
              <a:ext uri="{FF2B5EF4-FFF2-40B4-BE49-F238E27FC236}">
                <a16:creationId xmlns:a16="http://schemas.microsoft.com/office/drawing/2014/main" id="{49076D5E-68ED-4CD1-A04F-E7934EBFA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3" name="Rectangle 3092">
            <a:extLst>
              <a:ext uri="{FF2B5EF4-FFF2-40B4-BE49-F238E27FC236}">
                <a16:creationId xmlns:a16="http://schemas.microsoft.com/office/drawing/2014/main" id="{21BE0A6B-EBF8-4301-B1AE-F6A1C4003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408" y="0"/>
            <a:ext cx="10070592" cy="914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95" name="Rounded Rectangle 9">
            <a:extLst>
              <a:ext uri="{FF2B5EF4-FFF2-40B4-BE49-F238E27FC236}">
                <a16:creationId xmlns:a16="http://schemas.microsoft.com/office/drawing/2014/main" id="{03C06118-B3FE-4B51-80A1-B82C2E9F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31584" y="646176"/>
            <a:ext cx="8778797" cy="7652249"/>
          </a:xfrm>
          <a:prstGeom prst="roundRect">
            <a:avLst>
              <a:gd name="adj" fmla="val 0"/>
            </a:avLst>
          </a:prstGeom>
          <a:ln w="12700">
            <a:solidFill>
              <a:schemeClr val="bg2"/>
            </a:solidFill>
          </a:ln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GitHub - rbolsoni/Resolucao-exercicios-python-Udemy: Resolução dos  exercícios do curso de programação em Python - Do básico ao avançado - Geek  Academy - Udemy · GitHub">
            <a:extLst>
              <a:ext uri="{FF2B5EF4-FFF2-40B4-BE49-F238E27FC236}">
                <a16:creationId xmlns:a16="http://schemas.microsoft.com/office/drawing/2014/main" id="{740D4CEE-0CCD-69AA-FA37-F49E77926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77758" y="2354933"/>
            <a:ext cx="7486447" cy="422984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97" name="Rectangle 3096">
            <a:extLst>
              <a:ext uri="{FF2B5EF4-FFF2-40B4-BE49-F238E27FC236}">
                <a16:creationId xmlns:a16="http://schemas.microsoft.com/office/drawing/2014/main" id="{172BE3F8-96D6-4535-9AE4-694DC4F5B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23264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FC9D4DE-C96C-6351-25B8-A5CAEC030CB4}"/>
              </a:ext>
            </a:extLst>
          </p:cNvPr>
          <p:cNvSpPr txBox="1"/>
          <p:nvPr/>
        </p:nvSpPr>
        <p:spPr>
          <a:xfrm>
            <a:off x="328358" y="646176"/>
            <a:ext cx="6036050" cy="8108033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80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Capítulo</a:t>
            </a:r>
            <a:r>
              <a:rPr lang="en-US" sz="8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1: </a:t>
            </a:r>
            <a: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Atividade01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en-US" sz="8000" b="1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80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Crie</a:t>
            </a:r>
            <a:r>
              <a:rPr lang="en-US" sz="8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um </a:t>
            </a:r>
            <a:r>
              <a:rPr lang="en-US" sz="80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programa</a:t>
            </a:r>
            <a:r>
              <a:rPr lang="en-US" sz="8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</a:t>
            </a:r>
            <a:r>
              <a:rPr lang="en-US" sz="8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en-US" sz="8000" b="1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80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Pergunte</a:t>
            </a:r>
            <a:r>
              <a:rPr lang="en-US" sz="8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ao</a:t>
            </a:r>
            <a:r>
              <a:rPr lang="en-US" sz="8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usuário</a:t>
            </a:r>
            <a:r>
              <a:rPr lang="en-US" sz="8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 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Nome 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8000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Idade</a:t>
            </a:r>
            <a: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8000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Cidade</a:t>
            </a:r>
            <a: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en-US" sz="8000" b="1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8000" b="1" dirty="0">
                <a:solidFill>
                  <a:srgbClr val="FFFFFF"/>
                </a:solidFill>
              </a:rPr>
              <a:t> - </a:t>
            </a:r>
            <a:r>
              <a:rPr lang="en-US" sz="8000" b="1" dirty="0">
                <a:solidFill>
                  <a:srgbClr val="FFC000"/>
                </a:solidFill>
              </a:rPr>
              <a:t>Salve o </a:t>
            </a:r>
            <a:r>
              <a:rPr lang="en-US" sz="8000" b="1" dirty="0" err="1">
                <a:solidFill>
                  <a:srgbClr val="FFC000"/>
                </a:solidFill>
              </a:rPr>
              <a:t>arquivo</a:t>
            </a:r>
            <a:r>
              <a:rPr lang="en-US" sz="8000" b="1" dirty="0">
                <a:solidFill>
                  <a:srgbClr val="FFC000"/>
                </a:solidFill>
              </a:rPr>
              <a:t> com o </a:t>
            </a:r>
            <a:r>
              <a:rPr lang="en-US" sz="8000" b="1" dirty="0" err="1">
                <a:solidFill>
                  <a:srgbClr val="FFC000"/>
                </a:solidFill>
              </a:rPr>
              <a:t>nome</a:t>
            </a:r>
            <a:r>
              <a:rPr lang="en-US" sz="8000" b="1" dirty="0">
                <a:solidFill>
                  <a:srgbClr val="FFC000"/>
                </a:solidFill>
              </a:rPr>
              <a:t> </a:t>
            </a:r>
            <a:r>
              <a:rPr lang="en-US" sz="8000" b="1" dirty="0">
                <a:solidFill>
                  <a:schemeClr val="bg1"/>
                </a:solidFill>
              </a:rPr>
              <a:t>cap1_atv01.py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8000" b="1" dirty="0">
                <a:solidFill>
                  <a:srgbClr val="FFFFFF"/>
                </a:solidFill>
              </a:rPr>
              <a:t> - </a:t>
            </a:r>
            <a:r>
              <a:rPr lang="en-US" sz="8000" b="1" dirty="0" err="1">
                <a:solidFill>
                  <a:srgbClr val="FFC000"/>
                </a:solidFill>
              </a:rPr>
              <a:t>Exiba</a:t>
            </a:r>
            <a:r>
              <a:rPr lang="en-US" sz="8000" b="1" dirty="0">
                <a:solidFill>
                  <a:srgbClr val="FFC000"/>
                </a:solidFill>
              </a:rPr>
              <a:t> </a:t>
            </a:r>
            <a:r>
              <a:rPr lang="en-US" sz="8000" b="1" dirty="0" err="1">
                <a:solidFill>
                  <a:srgbClr val="FFC000"/>
                </a:solidFill>
              </a:rPr>
              <a:t>uma</a:t>
            </a:r>
            <a:r>
              <a:rPr lang="en-US" sz="8000" b="1" dirty="0">
                <a:solidFill>
                  <a:srgbClr val="FFC000"/>
                </a:solidFill>
              </a:rPr>
              <a:t> </a:t>
            </a:r>
            <a:r>
              <a:rPr lang="en-US" sz="8000" b="1" dirty="0" err="1">
                <a:solidFill>
                  <a:srgbClr val="FFC000"/>
                </a:solidFill>
              </a:rPr>
              <a:t>mensagem</a:t>
            </a:r>
            <a:r>
              <a:rPr lang="en-US" sz="8000" b="1" dirty="0">
                <a:solidFill>
                  <a:srgbClr val="FFC000"/>
                </a:solidFill>
              </a:rPr>
              <a:t> final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8000" b="1" dirty="0">
                <a:solidFill>
                  <a:srgbClr val="FFC000"/>
                </a:solidFill>
              </a:rPr>
              <a:t> - Use </a:t>
            </a:r>
            <a:r>
              <a:rPr lang="en-US" sz="8000" b="1" dirty="0" err="1">
                <a:solidFill>
                  <a:srgbClr val="FFC000"/>
                </a:solidFill>
              </a:rPr>
              <a:t>comentários</a:t>
            </a:r>
            <a:r>
              <a:rPr lang="en-US" sz="8000" b="1" dirty="0">
                <a:solidFill>
                  <a:srgbClr val="FFC000"/>
                </a:solidFill>
              </a:rPr>
              <a:t> </a:t>
            </a:r>
            <a:r>
              <a:rPr lang="en-US" sz="8000" b="1" dirty="0" err="1">
                <a:solidFill>
                  <a:srgbClr val="FFC000"/>
                </a:solidFill>
              </a:rPr>
              <a:t>explicando</a:t>
            </a:r>
            <a:r>
              <a:rPr lang="en-US" sz="8000" b="1" dirty="0">
                <a:solidFill>
                  <a:srgbClr val="FFC000"/>
                </a:solidFill>
              </a:rPr>
              <a:t> </a:t>
            </a:r>
            <a:r>
              <a:rPr lang="en-US" sz="8000" b="1" dirty="0" err="1">
                <a:solidFill>
                  <a:srgbClr val="FFC000"/>
                </a:solidFill>
              </a:rPr>
              <a:t>cada</a:t>
            </a:r>
            <a:r>
              <a:rPr lang="en-US" sz="8000" b="1" dirty="0">
                <a:solidFill>
                  <a:srgbClr val="FFC000"/>
                </a:solidFill>
              </a:rPr>
              <a:t> </a:t>
            </a:r>
            <a:r>
              <a:rPr lang="en-US" sz="8000" b="1" dirty="0" err="1">
                <a:solidFill>
                  <a:srgbClr val="FFC000"/>
                </a:solidFill>
              </a:rPr>
              <a:t>parte</a:t>
            </a:r>
            <a:r>
              <a:rPr lang="en-US" sz="8000" b="1" dirty="0">
                <a:solidFill>
                  <a:srgbClr val="FFC000"/>
                </a:solidFill>
              </a:rPr>
              <a:t> 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en-US" sz="8000" b="1" dirty="0">
              <a:solidFill>
                <a:srgbClr val="FFC000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en-US" sz="8000" b="1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80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Exemplo</a:t>
            </a:r>
            <a:r>
              <a:rPr lang="en-US" sz="8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esperado</a:t>
            </a:r>
            <a:r>
              <a:rPr lang="en-US" sz="8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en-US" sz="80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Olá João!</a:t>
            </a:r>
            <a:b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</a:br>
            <a:r>
              <a:rPr lang="en-US" sz="8000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Você</a:t>
            </a:r>
            <a: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tem</a:t>
            </a:r>
            <a: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20 </a:t>
            </a:r>
            <a:r>
              <a:rPr lang="en-US" sz="8000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anos</a:t>
            </a:r>
            <a: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e mora </a:t>
            </a:r>
            <a:r>
              <a:rPr lang="en-US" sz="8000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em</a:t>
            </a:r>
            <a: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São Paulo.</a:t>
            </a:r>
            <a:b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</a:br>
            <a: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Bem-</a:t>
            </a:r>
            <a:r>
              <a:rPr lang="en-US" sz="8000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vindo</a:t>
            </a:r>
            <a: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ao</a:t>
            </a:r>
            <a: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mundo</a:t>
            </a:r>
            <a: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da </a:t>
            </a:r>
            <a:r>
              <a:rPr lang="en-US" sz="8000" b="1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programação</a:t>
            </a:r>
            <a:r>
              <a:rPr lang="en-US" sz="80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Python!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en-US" sz="80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en-US" sz="80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sz="14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B226ECD-DCBE-3F3E-6582-648FA8F20087}"/>
              </a:ext>
            </a:extLst>
          </p:cNvPr>
          <p:cNvSpPr txBox="1"/>
          <p:nvPr/>
        </p:nvSpPr>
        <p:spPr>
          <a:xfrm>
            <a:off x="194714" y="760938"/>
            <a:ext cx="7655020" cy="44394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67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8512E9D-47E9-2AA4-721A-CA381EB09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6400" y="1775013"/>
            <a:ext cx="8762000" cy="559397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tabLst/>
            </a:pPr>
            <a:r>
              <a:rPr kumimoji="0" lang="en-US" altLang="pt-BR" sz="2800" u="none" strike="noStrike" cap="none" normalizeH="0" baseline="0" dirty="0">
                <a:ln>
                  <a:noFill/>
                </a:ln>
                <a:effectLst/>
                <a:latin typeface="+mj-lt"/>
                <a:ea typeface="+mj-ea"/>
                <a:cs typeface="+mj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783116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559580"/>
            <a:ext cx="5382682" cy="55844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856462"/>
            <a:ext cx="2029882" cy="3153938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78682" y="2235200"/>
            <a:ext cx="3759200" cy="3759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0665882" y="0"/>
            <a:ext cx="2137850" cy="15218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1474504" y="8128000"/>
            <a:ext cx="1324978" cy="1016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F4807A-5068-4492-8025-D75F320E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6256000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A09ED3A-F973-7826-5B48-A275B115C943}"/>
              </a:ext>
            </a:extLst>
          </p:cNvPr>
          <p:cNvSpPr txBox="1"/>
          <p:nvPr/>
        </p:nvSpPr>
        <p:spPr>
          <a:xfrm>
            <a:off x="9357630" y="3434442"/>
            <a:ext cx="6128644" cy="13607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7200" b="0" i="0" kern="1200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Atividade</a:t>
            </a:r>
            <a:r>
              <a:rPr lang="en-US" sz="72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01</a:t>
            </a:r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B24996F8-180C-4DCB-8A26-DFA336CDE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66194" y="-1"/>
            <a:ext cx="745963" cy="4946189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7" name="Freeform: Shape 25">
            <a:extLst>
              <a:ext uri="{FF2B5EF4-FFF2-40B4-BE49-F238E27FC236}">
                <a16:creationId xmlns:a16="http://schemas.microsoft.com/office/drawing/2014/main" id="{D8B22DE2-C518-4F77-BE90-E1B6B1909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91947" y="-91947"/>
            <a:ext cx="9144001" cy="9327891"/>
          </a:xfrm>
          <a:custGeom>
            <a:avLst/>
            <a:gdLst>
              <a:gd name="connsiteX0" fmla="*/ 6858001 w 6858001"/>
              <a:gd name="connsiteY0" fmla="*/ 1344715 h 6995918"/>
              <a:gd name="connsiteX1" fmla="*/ 6858001 w 6858001"/>
              <a:gd name="connsiteY1" fmla="*/ 1177 h 6995918"/>
              <a:gd name="connsiteX2" fmla="*/ 6702324 w 6858001"/>
              <a:gd name="connsiteY2" fmla="*/ 26222 h 6995918"/>
              <a:gd name="connsiteX3" fmla="*/ 6547333 w 6858001"/>
              <a:gd name="connsiteY3" fmla="*/ 50091 h 6995918"/>
              <a:gd name="connsiteX4" fmla="*/ 6391657 w 6858001"/>
              <a:gd name="connsiteY4" fmla="*/ 73455 h 6995918"/>
              <a:gd name="connsiteX5" fmla="*/ 6235294 w 6858001"/>
              <a:gd name="connsiteY5" fmla="*/ 93458 h 6995918"/>
              <a:gd name="connsiteX6" fmla="*/ 6079618 w 6858001"/>
              <a:gd name="connsiteY6" fmla="*/ 113629 h 6995918"/>
              <a:gd name="connsiteX7" fmla="*/ 5923255 w 6858001"/>
              <a:gd name="connsiteY7" fmla="*/ 132455 h 6995918"/>
              <a:gd name="connsiteX8" fmla="*/ 5768950 w 6858001"/>
              <a:gd name="connsiteY8" fmla="*/ 148591 h 6995918"/>
              <a:gd name="connsiteX9" fmla="*/ 5612588 w 6858001"/>
              <a:gd name="connsiteY9" fmla="*/ 163887 h 6995918"/>
              <a:gd name="connsiteX10" fmla="*/ 5456911 w 6858001"/>
              <a:gd name="connsiteY10" fmla="*/ 177839 h 6995918"/>
              <a:gd name="connsiteX11" fmla="*/ 5303978 w 6858001"/>
              <a:gd name="connsiteY11" fmla="*/ 189941 h 6995918"/>
              <a:gd name="connsiteX12" fmla="*/ 5148987 w 6858001"/>
              <a:gd name="connsiteY12" fmla="*/ 202044 h 6995918"/>
              <a:gd name="connsiteX13" fmla="*/ 4996054 w 6858001"/>
              <a:gd name="connsiteY13" fmla="*/ 212129 h 6995918"/>
              <a:gd name="connsiteX14" fmla="*/ 4843120 w 6858001"/>
              <a:gd name="connsiteY14" fmla="*/ 220029 h 6995918"/>
              <a:gd name="connsiteX15" fmla="*/ 4690873 w 6858001"/>
              <a:gd name="connsiteY15" fmla="*/ 228266 h 6995918"/>
              <a:gd name="connsiteX16" fmla="*/ 4539997 w 6858001"/>
              <a:gd name="connsiteY16" fmla="*/ 235157 h 6995918"/>
              <a:gd name="connsiteX17" fmla="*/ 4390492 w 6858001"/>
              <a:gd name="connsiteY17" fmla="*/ 240032 h 6995918"/>
              <a:gd name="connsiteX18" fmla="*/ 4240988 w 6858001"/>
              <a:gd name="connsiteY18" fmla="*/ 244234 h 6995918"/>
              <a:gd name="connsiteX19" fmla="*/ 4092855 w 6858001"/>
              <a:gd name="connsiteY19" fmla="*/ 248268 h 6995918"/>
              <a:gd name="connsiteX20" fmla="*/ 3946780 w 6858001"/>
              <a:gd name="connsiteY20" fmla="*/ 250117 h 6995918"/>
              <a:gd name="connsiteX21" fmla="*/ 3800704 w 6858001"/>
              <a:gd name="connsiteY21" fmla="*/ 252134 h 6995918"/>
              <a:gd name="connsiteX22" fmla="*/ 3656686 w 6858001"/>
              <a:gd name="connsiteY22" fmla="*/ 253143 h 6995918"/>
              <a:gd name="connsiteX23" fmla="*/ 3514040 w 6858001"/>
              <a:gd name="connsiteY23" fmla="*/ 252134 h 6995918"/>
              <a:gd name="connsiteX24" fmla="*/ 3372765 w 6858001"/>
              <a:gd name="connsiteY24" fmla="*/ 252134 h 6995918"/>
              <a:gd name="connsiteX25" fmla="*/ 3232862 w 6858001"/>
              <a:gd name="connsiteY25" fmla="*/ 250117 h 6995918"/>
              <a:gd name="connsiteX26" fmla="*/ 3095702 w 6858001"/>
              <a:gd name="connsiteY26" fmla="*/ 247092 h 6995918"/>
              <a:gd name="connsiteX27" fmla="*/ 2959914 w 6858001"/>
              <a:gd name="connsiteY27" fmla="*/ 244234 h 6995918"/>
              <a:gd name="connsiteX28" fmla="*/ 2826868 w 6858001"/>
              <a:gd name="connsiteY28" fmla="*/ 241040 h 6995918"/>
              <a:gd name="connsiteX29" fmla="*/ 2694509 w 6858001"/>
              <a:gd name="connsiteY29" fmla="*/ 236166 h 6995918"/>
              <a:gd name="connsiteX30" fmla="*/ 2564208 w 6858001"/>
              <a:gd name="connsiteY30" fmla="*/ 230955 h 6995918"/>
              <a:gd name="connsiteX31" fmla="*/ 2436649 w 6858001"/>
              <a:gd name="connsiteY31" fmla="*/ 226249 h 6995918"/>
              <a:gd name="connsiteX32" fmla="*/ 2187703 w 6858001"/>
              <a:gd name="connsiteY32" fmla="*/ 212969 h 6995918"/>
              <a:gd name="connsiteX33" fmla="*/ 1949045 w 6858001"/>
              <a:gd name="connsiteY33" fmla="*/ 198850 h 6995918"/>
              <a:gd name="connsiteX34" fmla="*/ 1719988 w 6858001"/>
              <a:gd name="connsiteY34" fmla="*/ 184058 h 6995918"/>
              <a:gd name="connsiteX35" fmla="*/ 1503275 w 6858001"/>
              <a:gd name="connsiteY35" fmla="*/ 167753 h 6995918"/>
              <a:gd name="connsiteX36" fmla="*/ 1296163 w 6858001"/>
              <a:gd name="connsiteY36" fmla="*/ 150776 h 6995918"/>
              <a:gd name="connsiteX37" fmla="*/ 1104139 w 6858001"/>
              <a:gd name="connsiteY37" fmla="*/ 132455 h 6995918"/>
              <a:gd name="connsiteX38" fmla="*/ 923774 w 6858001"/>
              <a:gd name="connsiteY38" fmla="*/ 114469 h 6995918"/>
              <a:gd name="connsiteX39" fmla="*/ 757810 w 6858001"/>
              <a:gd name="connsiteY39" fmla="*/ 96484 h 6995918"/>
              <a:gd name="connsiteX40" fmla="*/ 605563 w 6858001"/>
              <a:gd name="connsiteY40" fmla="*/ 79507 h 6995918"/>
              <a:gd name="connsiteX41" fmla="*/ 470460 w 6858001"/>
              <a:gd name="connsiteY41" fmla="*/ 63370 h 6995918"/>
              <a:gd name="connsiteX42" fmla="*/ 348388 w 6858001"/>
              <a:gd name="connsiteY42" fmla="*/ 48074 h 6995918"/>
              <a:gd name="connsiteX43" fmla="*/ 245518 w 6858001"/>
              <a:gd name="connsiteY43" fmla="*/ 35299 h 6995918"/>
              <a:gd name="connsiteX44" fmla="*/ 159107 w 6858001"/>
              <a:gd name="connsiteY44" fmla="*/ 23197 h 6995918"/>
              <a:gd name="connsiteX45" fmla="*/ 40463 w 6858001"/>
              <a:gd name="connsiteY45" fmla="*/ 5883 h 6995918"/>
              <a:gd name="connsiteX46" fmla="*/ 1 w 6858001"/>
              <a:gd name="connsiteY46" fmla="*/ 0 h 6995918"/>
              <a:gd name="connsiteX47" fmla="*/ 1 w 6858001"/>
              <a:gd name="connsiteY47" fmla="*/ 905354 h 6995918"/>
              <a:gd name="connsiteX48" fmla="*/ 0 w 6858001"/>
              <a:gd name="connsiteY48" fmla="*/ 905354 h 6995918"/>
              <a:gd name="connsiteX49" fmla="*/ 0 w 6858001"/>
              <a:gd name="connsiteY49" fmla="*/ 6995918 h 6995918"/>
              <a:gd name="connsiteX50" fmla="*/ 6858000 w 6858001"/>
              <a:gd name="connsiteY50" fmla="*/ 6995918 h 6995918"/>
              <a:gd name="connsiteX51" fmla="*/ 6858000 w 6858001"/>
              <a:gd name="connsiteY51" fmla="*/ 1344715 h 6995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95918">
                <a:moveTo>
                  <a:pt x="6858001" y="1344715"/>
                </a:moveTo>
                <a:lnTo>
                  <a:pt x="6858001" y="1177"/>
                </a:lnTo>
                <a:lnTo>
                  <a:pt x="6702324" y="26222"/>
                </a:lnTo>
                <a:lnTo>
                  <a:pt x="6547333" y="50091"/>
                </a:lnTo>
                <a:lnTo>
                  <a:pt x="6391657" y="73455"/>
                </a:lnTo>
                <a:lnTo>
                  <a:pt x="6235294" y="93458"/>
                </a:lnTo>
                <a:lnTo>
                  <a:pt x="6079618" y="113629"/>
                </a:lnTo>
                <a:lnTo>
                  <a:pt x="5923255" y="132455"/>
                </a:lnTo>
                <a:lnTo>
                  <a:pt x="5768950" y="148591"/>
                </a:lnTo>
                <a:lnTo>
                  <a:pt x="5612588" y="163887"/>
                </a:lnTo>
                <a:lnTo>
                  <a:pt x="5456911" y="177839"/>
                </a:lnTo>
                <a:lnTo>
                  <a:pt x="5303978" y="189941"/>
                </a:lnTo>
                <a:lnTo>
                  <a:pt x="5148987" y="202044"/>
                </a:lnTo>
                <a:lnTo>
                  <a:pt x="4996054" y="212129"/>
                </a:lnTo>
                <a:lnTo>
                  <a:pt x="4843120" y="220029"/>
                </a:lnTo>
                <a:lnTo>
                  <a:pt x="4690873" y="228266"/>
                </a:lnTo>
                <a:lnTo>
                  <a:pt x="4539997" y="235157"/>
                </a:lnTo>
                <a:lnTo>
                  <a:pt x="4390492" y="240032"/>
                </a:lnTo>
                <a:lnTo>
                  <a:pt x="4240988" y="244234"/>
                </a:lnTo>
                <a:lnTo>
                  <a:pt x="4092855" y="248268"/>
                </a:lnTo>
                <a:lnTo>
                  <a:pt x="3946780" y="250117"/>
                </a:lnTo>
                <a:lnTo>
                  <a:pt x="3800704" y="252134"/>
                </a:lnTo>
                <a:lnTo>
                  <a:pt x="3656686" y="253143"/>
                </a:lnTo>
                <a:lnTo>
                  <a:pt x="3514040" y="252134"/>
                </a:lnTo>
                <a:lnTo>
                  <a:pt x="3372765" y="252134"/>
                </a:lnTo>
                <a:lnTo>
                  <a:pt x="3232862" y="250117"/>
                </a:lnTo>
                <a:lnTo>
                  <a:pt x="3095702" y="247092"/>
                </a:lnTo>
                <a:lnTo>
                  <a:pt x="2959914" y="244234"/>
                </a:lnTo>
                <a:lnTo>
                  <a:pt x="2826868" y="241040"/>
                </a:lnTo>
                <a:lnTo>
                  <a:pt x="2694509" y="236166"/>
                </a:lnTo>
                <a:lnTo>
                  <a:pt x="2564208" y="230955"/>
                </a:lnTo>
                <a:lnTo>
                  <a:pt x="2436649" y="226249"/>
                </a:lnTo>
                <a:lnTo>
                  <a:pt x="2187703" y="212969"/>
                </a:lnTo>
                <a:lnTo>
                  <a:pt x="1949045" y="198850"/>
                </a:lnTo>
                <a:lnTo>
                  <a:pt x="1719988" y="184058"/>
                </a:lnTo>
                <a:lnTo>
                  <a:pt x="1503275" y="167753"/>
                </a:lnTo>
                <a:lnTo>
                  <a:pt x="1296163" y="150776"/>
                </a:lnTo>
                <a:lnTo>
                  <a:pt x="1104139" y="132455"/>
                </a:lnTo>
                <a:lnTo>
                  <a:pt x="923774" y="114469"/>
                </a:lnTo>
                <a:lnTo>
                  <a:pt x="757810" y="96484"/>
                </a:lnTo>
                <a:lnTo>
                  <a:pt x="605563" y="79507"/>
                </a:lnTo>
                <a:lnTo>
                  <a:pt x="470460" y="63370"/>
                </a:lnTo>
                <a:lnTo>
                  <a:pt x="348388" y="48074"/>
                </a:lnTo>
                <a:lnTo>
                  <a:pt x="245518" y="35299"/>
                </a:lnTo>
                <a:lnTo>
                  <a:pt x="159107" y="23197"/>
                </a:lnTo>
                <a:lnTo>
                  <a:pt x="40463" y="5883"/>
                </a:lnTo>
                <a:lnTo>
                  <a:pt x="1" y="0"/>
                </a:lnTo>
                <a:lnTo>
                  <a:pt x="1" y="905354"/>
                </a:lnTo>
                <a:lnTo>
                  <a:pt x="0" y="905354"/>
                </a:lnTo>
                <a:lnTo>
                  <a:pt x="0" y="6995918"/>
                </a:lnTo>
                <a:lnTo>
                  <a:pt x="6858000" y="6995918"/>
                </a:lnTo>
                <a:lnTo>
                  <a:pt x="6858000" y="1344715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8" name="Rectangle 27">
            <a:extLst>
              <a:ext uri="{FF2B5EF4-FFF2-40B4-BE49-F238E27FC236}">
                <a16:creationId xmlns:a16="http://schemas.microsoft.com/office/drawing/2014/main" id="{630182B0-3559-41D5-9EBC-0BD86BEDA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7BABB47-BC8C-A5F8-2884-2BA120C217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691" y="2159000"/>
            <a:ext cx="7267409" cy="485099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6875922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A1C2ED-A286-7F9E-1641-E303A3D8F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9" name="Picture 3078">
            <a:extLst>
              <a:ext uri="{FF2B5EF4-FFF2-40B4-BE49-F238E27FC236}">
                <a16:creationId xmlns:a16="http://schemas.microsoft.com/office/drawing/2014/main" id="{75549318-7EFA-F472-ED6A-51A1B9687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559580"/>
            <a:ext cx="5382682" cy="5584420"/>
          </a:xfrm>
          <a:prstGeom prst="rect">
            <a:avLst/>
          </a:prstGeom>
        </p:spPr>
      </p:pic>
      <p:pic>
        <p:nvPicPr>
          <p:cNvPr id="3081" name="Picture 3080">
            <a:extLst>
              <a:ext uri="{FF2B5EF4-FFF2-40B4-BE49-F238E27FC236}">
                <a16:creationId xmlns:a16="http://schemas.microsoft.com/office/drawing/2014/main" id="{21C68C59-9A9F-1748-8AB1-D246FE4B5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856462"/>
            <a:ext cx="2029882" cy="3153938"/>
          </a:xfrm>
          <a:prstGeom prst="rect">
            <a:avLst/>
          </a:prstGeom>
        </p:spPr>
      </p:pic>
      <p:sp>
        <p:nvSpPr>
          <p:cNvPr id="3083" name="Oval 3082">
            <a:extLst>
              <a:ext uri="{FF2B5EF4-FFF2-40B4-BE49-F238E27FC236}">
                <a16:creationId xmlns:a16="http://schemas.microsoft.com/office/drawing/2014/main" id="{DFF9001F-F3BE-03FE-EDE4-CD855C439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78682" y="2235200"/>
            <a:ext cx="3759200" cy="3759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3085" name="Picture 3084">
            <a:extLst>
              <a:ext uri="{FF2B5EF4-FFF2-40B4-BE49-F238E27FC236}">
                <a16:creationId xmlns:a16="http://schemas.microsoft.com/office/drawing/2014/main" id="{7ACB3C2A-F074-A7C4-BD04-C617BC59D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0665882" y="0"/>
            <a:ext cx="2137850" cy="1521876"/>
          </a:xfrm>
          <a:prstGeom prst="rect">
            <a:avLst/>
          </a:prstGeom>
        </p:spPr>
      </p:pic>
      <p:pic>
        <p:nvPicPr>
          <p:cNvPr id="3087" name="Picture 3086">
            <a:extLst>
              <a:ext uri="{FF2B5EF4-FFF2-40B4-BE49-F238E27FC236}">
                <a16:creationId xmlns:a16="http://schemas.microsoft.com/office/drawing/2014/main" id="{66482DCB-DE19-C0B8-2A13-8F4562A93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1474504" y="8128000"/>
            <a:ext cx="1324978" cy="1016000"/>
          </a:xfrm>
          <a:prstGeom prst="rect">
            <a:avLst/>
          </a:prstGeom>
        </p:spPr>
      </p:pic>
      <p:sp>
        <p:nvSpPr>
          <p:cNvPr id="3089" name="Rectangle 3088">
            <a:extLst>
              <a:ext uri="{FF2B5EF4-FFF2-40B4-BE49-F238E27FC236}">
                <a16:creationId xmlns:a16="http://schemas.microsoft.com/office/drawing/2014/main" id="{B0E38C02-9CA1-662D-996F-22153A59D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091" name="Rectangle 3090">
            <a:extLst>
              <a:ext uri="{FF2B5EF4-FFF2-40B4-BE49-F238E27FC236}">
                <a16:creationId xmlns:a16="http://schemas.microsoft.com/office/drawing/2014/main" id="{90EBE168-55F3-9706-D92E-22FE6A1733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3" name="Rectangle 3092">
            <a:extLst>
              <a:ext uri="{FF2B5EF4-FFF2-40B4-BE49-F238E27FC236}">
                <a16:creationId xmlns:a16="http://schemas.microsoft.com/office/drawing/2014/main" id="{25B21A62-1946-875A-DF65-BF6C7E19A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408" y="0"/>
            <a:ext cx="10070592" cy="914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95" name="Rounded Rectangle 9">
            <a:extLst>
              <a:ext uri="{FF2B5EF4-FFF2-40B4-BE49-F238E27FC236}">
                <a16:creationId xmlns:a16="http://schemas.microsoft.com/office/drawing/2014/main" id="{590C26AA-23A4-FDAE-7C81-83A8B8E75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31584" y="646176"/>
            <a:ext cx="8778797" cy="7652249"/>
          </a:xfrm>
          <a:prstGeom prst="roundRect">
            <a:avLst>
              <a:gd name="adj" fmla="val 0"/>
            </a:avLst>
          </a:prstGeom>
          <a:ln w="12700">
            <a:solidFill>
              <a:schemeClr val="bg2"/>
            </a:solidFill>
          </a:ln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GitHub - rbolsoni/Resolucao-exercicios-python-Udemy: Resolução dos  exercícios do curso de programação em Python - Do básico ao avançado - Geek  Academy - Udemy · GitHub">
            <a:extLst>
              <a:ext uri="{FF2B5EF4-FFF2-40B4-BE49-F238E27FC236}">
                <a16:creationId xmlns:a16="http://schemas.microsoft.com/office/drawing/2014/main" id="{90E276CA-D3DC-2630-8B77-8DF9F5185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77758" y="2354933"/>
            <a:ext cx="7486447" cy="422984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97" name="Rectangle 3096">
            <a:extLst>
              <a:ext uri="{FF2B5EF4-FFF2-40B4-BE49-F238E27FC236}">
                <a16:creationId xmlns:a16="http://schemas.microsoft.com/office/drawing/2014/main" id="{8BBF0B65-CE32-EA97-9752-B9A344BA4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23264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018FD31-70A1-569C-0C72-DD0C1064C543}"/>
              </a:ext>
            </a:extLst>
          </p:cNvPr>
          <p:cNvSpPr txBox="1"/>
          <p:nvPr/>
        </p:nvSpPr>
        <p:spPr>
          <a:xfrm>
            <a:off x="215939" y="760938"/>
            <a:ext cx="5969469" cy="8108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pt-BR" sz="2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Capítulo 1: </a:t>
            </a:r>
            <a:r>
              <a:rPr lang="pt-BR" sz="24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Atividade 02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pt-BR" sz="2400" b="1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pt-BR" sz="2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Crie um programa que: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pt-BR" sz="2000" b="1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pt-BR" sz="24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Solicite ao usuário dois números 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pt-BR" sz="24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Realize a soma desses números 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pt-BR" sz="2400" b="1" dirty="0">
                <a:solidFill>
                  <a:srgbClr val="FFC000"/>
                </a:solidFill>
              </a:rPr>
              <a:t>Utilize variáveis para armazenar os valores informados 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pt-BR" sz="24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Exiba o resultado da soma 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pt-BR" sz="2400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Salve o arquivo com o nome </a:t>
            </a:r>
            <a:r>
              <a:rPr lang="pt-BR" sz="24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cap02_atv01.py 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pt-BR" sz="24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en-US" sz="40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en-US" sz="40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sz="6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AA755B3-C4AB-BFB7-5127-F16C34ADD288}"/>
              </a:ext>
            </a:extLst>
          </p:cNvPr>
          <p:cNvSpPr txBox="1"/>
          <p:nvPr/>
        </p:nvSpPr>
        <p:spPr>
          <a:xfrm>
            <a:off x="194714" y="760938"/>
            <a:ext cx="7655020" cy="44394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67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55D91EE-DF4B-A8B7-5500-65F86B7A4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6400" y="1775013"/>
            <a:ext cx="8762000" cy="559397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tabLst/>
            </a:pPr>
            <a:r>
              <a:rPr kumimoji="0" lang="en-US" altLang="pt-BR" sz="2800" u="none" strike="noStrike" cap="none" normalizeH="0" baseline="0" dirty="0">
                <a:ln>
                  <a:noFill/>
                </a:ln>
                <a:effectLst/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74FD64A-425C-1C63-7C3D-E7B86B83EA36}"/>
              </a:ext>
            </a:extLst>
          </p:cNvPr>
          <p:cNvSpPr txBox="1"/>
          <p:nvPr/>
        </p:nvSpPr>
        <p:spPr>
          <a:xfrm>
            <a:off x="208938" y="6360835"/>
            <a:ext cx="812596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1" dirty="0">
                <a:solidFill>
                  <a:schemeClr val="bg1"/>
                </a:solidFill>
              </a:rPr>
              <a:t>Exemplo esperado:</a:t>
            </a:r>
          </a:p>
          <a:p>
            <a:pPr>
              <a:buNone/>
            </a:pPr>
            <a:endParaRPr lang="pt-BR" sz="2000" b="1" dirty="0">
              <a:solidFill>
                <a:srgbClr val="FFC000"/>
              </a:solidFill>
            </a:endParaRPr>
          </a:p>
          <a:p>
            <a:pPr>
              <a:buNone/>
            </a:pPr>
            <a:r>
              <a:rPr lang="pt-BR" sz="2000" b="1" dirty="0">
                <a:solidFill>
                  <a:srgbClr val="FFC000"/>
                </a:solidFill>
              </a:rPr>
              <a:t>Informe o primeiro número: 10</a:t>
            </a:r>
            <a:br>
              <a:rPr lang="pt-BR" sz="2000" b="1" dirty="0">
                <a:solidFill>
                  <a:srgbClr val="FFC000"/>
                </a:solidFill>
              </a:rPr>
            </a:br>
            <a:r>
              <a:rPr lang="pt-BR" sz="2000" b="1" dirty="0">
                <a:solidFill>
                  <a:srgbClr val="FFC000"/>
                </a:solidFill>
              </a:rPr>
              <a:t>Informe o segundo número: 5</a:t>
            </a:r>
          </a:p>
          <a:p>
            <a:pPr>
              <a:buNone/>
            </a:pPr>
            <a:endParaRPr lang="pt-BR" sz="2000" b="1" dirty="0">
              <a:solidFill>
                <a:srgbClr val="FFC000"/>
              </a:solidFill>
            </a:endParaRPr>
          </a:p>
          <a:p>
            <a:pPr>
              <a:buNone/>
            </a:pPr>
            <a:r>
              <a:rPr lang="pt-BR" sz="2000" b="1" dirty="0">
                <a:solidFill>
                  <a:srgbClr val="FFC000"/>
                </a:solidFill>
              </a:rPr>
              <a:t>A soma é = 15</a:t>
            </a:r>
          </a:p>
        </p:txBody>
      </p:sp>
    </p:spTree>
    <p:extLst>
      <p:ext uri="{BB962C8B-B14F-4D97-AF65-F5344CB8AC3E}">
        <p14:creationId xmlns:p14="http://schemas.microsoft.com/office/powerpoint/2010/main" val="18074751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5BAC11-7858-278C-D091-4E5C9CF77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CE9F2B9-6D36-5D11-1A42-AD3F0003E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559580"/>
            <a:ext cx="5382682" cy="55844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B0E5FA9-4585-92FB-1520-FDB8FBFB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856462"/>
            <a:ext cx="2029882" cy="3153938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157F028F-C7E1-62E3-7193-06E8063D7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78682" y="2235200"/>
            <a:ext cx="3759200" cy="3759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86EB21E-FD51-DC99-794A-833B570B1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0665882" y="0"/>
            <a:ext cx="2137850" cy="15218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A9A3EA3-BA52-4CA8-A4A3-5941970A8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1474504" y="8128000"/>
            <a:ext cx="1324978" cy="1016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A055EAF-80CC-088B-AE79-04754BFF8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DF37A0-0182-D329-008F-570B9DBAA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6256000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314C983-7E7F-9CD8-79DA-A15B7E7F1148}"/>
              </a:ext>
            </a:extLst>
          </p:cNvPr>
          <p:cNvSpPr txBox="1"/>
          <p:nvPr/>
        </p:nvSpPr>
        <p:spPr>
          <a:xfrm>
            <a:off x="9357630" y="3434442"/>
            <a:ext cx="6128644" cy="13607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7200" b="0" i="0" kern="1200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Atividade</a:t>
            </a:r>
            <a:r>
              <a:rPr lang="en-US" sz="72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02</a:t>
            </a:r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0B3F6608-DA5C-2DF6-32DA-76ADEF6D3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66194" y="-1"/>
            <a:ext cx="745963" cy="4946189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7" name="Freeform: Shape 25">
            <a:extLst>
              <a:ext uri="{FF2B5EF4-FFF2-40B4-BE49-F238E27FC236}">
                <a16:creationId xmlns:a16="http://schemas.microsoft.com/office/drawing/2014/main" id="{49B7C135-9C1F-40A1-09D3-BEBC07E30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91947" y="-91947"/>
            <a:ext cx="9144001" cy="9327891"/>
          </a:xfrm>
          <a:custGeom>
            <a:avLst/>
            <a:gdLst>
              <a:gd name="connsiteX0" fmla="*/ 6858001 w 6858001"/>
              <a:gd name="connsiteY0" fmla="*/ 1344715 h 6995918"/>
              <a:gd name="connsiteX1" fmla="*/ 6858001 w 6858001"/>
              <a:gd name="connsiteY1" fmla="*/ 1177 h 6995918"/>
              <a:gd name="connsiteX2" fmla="*/ 6702324 w 6858001"/>
              <a:gd name="connsiteY2" fmla="*/ 26222 h 6995918"/>
              <a:gd name="connsiteX3" fmla="*/ 6547333 w 6858001"/>
              <a:gd name="connsiteY3" fmla="*/ 50091 h 6995918"/>
              <a:gd name="connsiteX4" fmla="*/ 6391657 w 6858001"/>
              <a:gd name="connsiteY4" fmla="*/ 73455 h 6995918"/>
              <a:gd name="connsiteX5" fmla="*/ 6235294 w 6858001"/>
              <a:gd name="connsiteY5" fmla="*/ 93458 h 6995918"/>
              <a:gd name="connsiteX6" fmla="*/ 6079618 w 6858001"/>
              <a:gd name="connsiteY6" fmla="*/ 113629 h 6995918"/>
              <a:gd name="connsiteX7" fmla="*/ 5923255 w 6858001"/>
              <a:gd name="connsiteY7" fmla="*/ 132455 h 6995918"/>
              <a:gd name="connsiteX8" fmla="*/ 5768950 w 6858001"/>
              <a:gd name="connsiteY8" fmla="*/ 148591 h 6995918"/>
              <a:gd name="connsiteX9" fmla="*/ 5612588 w 6858001"/>
              <a:gd name="connsiteY9" fmla="*/ 163887 h 6995918"/>
              <a:gd name="connsiteX10" fmla="*/ 5456911 w 6858001"/>
              <a:gd name="connsiteY10" fmla="*/ 177839 h 6995918"/>
              <a:gd name="connsiteX11" fmla="*/ 5303978 w 6858001"/>
              <a:gd name="connsiteY11" fmla="*/ 189941 h 6995918"/>
              <a:gd name="connsiteX12" fmla="*/ 5148987 w 6858001"/>
              <a:gd name="connsiteY12" fmla="*/ 202044 h 6995918"/>
              <a:gd name="connsiteX13" fmla="*/ 4996054 w 6858001"/>
              <a:gd name="connsiteY13" fmla="*/ 212129 h 6995918"/>
              <a:gd name="connsiteX14" fmla="*/ 4843120 w 6858001"/>
              <a:gd name="connsiteY14" fmla="*/ 220029 h 6995918"/>
              <a:gd name="connsiteX15" fmla="*/ 4690873 w 6858001"/>
              <a:gd name="connsiteY15" fmla="*/ 228266 h 6995918"/>
              <a:gd name="connsiteX16" fmla="*/ 4539997 w 6858001"/>
              <a:gd name="connsiteY16" fmla="*/ 235157 h 6995918"/>
              <a:gd name="connsiteX17" fmla="*/ 4390492 w 6858001"/>
              <a:gd name="connsiteY17" fmla="*/ 240032 h 6995918"/>
              <a:gd name="connsiteX18" fmla="*/ 4240988 w 6858001"/>
              <a:gd name="connsiteY18" fmla="*/ 244234 h 6995918"/>
              <a:gd name="connsiteX19" fmla="*/ 4092855 w 6858001"/>
              <a:gd name="connsiteY19" fmla="*/ 248268 h 6995918"/>
              <a:gd name="connsiteX20" fmla="*/ 3946780 w 6858001"/>
              <a:gd name="connsiteY20" fmla="*/ 250117 h 6995918"/>
              <a:gd name="connsiteX21" fmla="*/ 3800704 w 6858001"/>
              <a:gd name="connsiteY21" fmla="*/ 252134 h 6995918"/>
              <a:gd name="connsiteX22" fmla="*/ 3656686 w 6858001"/>
              <a:gd name="connsiteY22" fmla="*/ 253143 h 6995918"/>
              <a:gd name="connsiteX23" fmla="*/ 3514040 w 6858001"/>
              <a:gd name="connsiteY23" fmla="*/ 252134 h 6995918"/>
              <a:gd name="connsiteX24" fmla="*/ 3372765 w 6858001"/>
              <a:gd name="connsiteY24" fmla="*/ 252134 h 6995918"/>
              <a:gd name="connsiteX25" fmla="*/ 3232862 w 6858001"/>
              <a:gd name="connsiteY25" fmla="*/ 250117 h 6995918"/>
              <a:gd name="connsiteX26" fmla="*/ 3095702 w 6858001"/>
              <a:gd name="connsiteY26" fmla="*/ 247092 h 6995918"/>
              <a:gd name="connsiteX27" fmla="*/ 2959914 w 6858001"/>
              <a:gd name="connsiteY27" fmla="*/ 244234 h 6995918"/>
              <a:gd name="connsiteX28" fmla="*/ 2826868 w 6858001"/>
              <a:gd name="connsiteY28" fmla="*/ 241040 h 6995918"/>
              <a:gd name="connsiteX29" fmla="*/ 2694509 w 6858001"/>
              <a:gd name="connsiteY29" fmla="*/ 236166 h 6995918"/>
              <a:gd name="connsiteX30" fmla="*/ 2564208 w 6858001"/>
              <a:gd name="connsiteY30" fmla="*/ 230955 h 6995918"/>
              <a:gd name="connsiteX31" fmla="*/ 2436649 w 6858001"/>
              <a:gd name="connsiteY31" fmla="*/ 226249 h 6995918"/>
              <a:gd name="connsiteX32" fmla="*/ 2187703 w 6858001"/>
              <a:gd name="connsiteY32" fmla="*/ 212969 h 6995918"/>
              <a:gd name="connsiteX33" fmla="*/ 1949045 w 6858001"/>
              <a:gd name="connsiteY33" fmla="*/ 198850 h 6995918"/>
              <a:gd name="connsiteX34" fmla="*/ 1719988 w 6858001"/>
              <a:gd name="connsiteY34" fmla="*/ 184058 h 6995918"/>
              <a:gd name="connsiteX35" fmla="*/ 1503275 w 6858001"/>
              <a:gd name="connsiteY35" fmla="*/ 167753 h 6995918"/>
              <a:gd name="connsiteX36" fmla="*/ 1296163 w 6858001"/>
              <a:gd name="connsiteY36" fmla="*/ 150776 h 6995918"/>
              <a:gd name="connsiteX37" fmla="*/ 1104139 w 6858001"/>
              <a:gd name="connsiteY37" fmla="*/ 132455 h 6995918"/>
              <a:gd name="connsiteX38" fmla="*/ 923774 w 6858001"/>
              <a:gd name="connsiteY38" fmla="*/ 114469 h 6995918"/>
              <a:gd name="connsiteX39" fmla="*/ 757810 w 6858001"/>
              <a:gd name="connsiteY39" fmla="*/ 96484 h 6995918"/>
              <a:gd name="connsiteX40" fmla="*/ 605563 w 6858001"/>
              <a:gd name="connsiteY40" fmla="*/ 79507 h 6995918"/>
              <a:gd name="connsiteX41" fmla="*/ 470460 w 6858001"/>
              <a:gd name="connsiteY41" fmla="*/ 63370 h 6995918"/>
              <a:gd name="connsiteX42" fmla="*/ 348388 w 6858001"/>
              <a:gd name="connsiteY42" fmla="*/ 48074 h 6995918"/>
              <a:gd name="connsiteX43" fmla="*/ 245518 w 6858001"/>
              <a:gd name="connsiteY43" fmla="*/ 35299 h 6995918"/>
              <a:gd name="connsiteX44" fmla="*/ 159107 w 6858001"/>
              <a:gd name="connsiteY44" fmla="*/ 23197 h 6995918"/>
              <a:gd name="connsiteX45" fmla="*/ 40463 w 6858001"/>
              <a:gd name="connsiteY45" fmla="*/ 5883 h 6995918"/>
              <a:gd name="connsiteX46" fmla="*/ 1 w 6858001"/>
              <a:gd name="connsiteY46" fmla="*/ 0 h 6995918"/>
              <a:gd name="connsiteX47" fmla="*/ 1 w 6858001"/>
              <a:gd name="connsiteY47" fmla="*/ 905354 h 6995918"/>
              <a:gd name="connsiteX48" fmla="*/ 0 w 6858001"/>
              <a:gd name="connsiteY48" fmla="*/ 905354 h 6995918"/>
              <a:gd name="connsiteX49" fmla="*/ 0 w 6858001"/>
              <a:gd name="connsiteY49" fmla="*/ 6995918 h 6995918"/>
              <a:gd name="connsiteX50" fmla="*/ 6858000 w 6858001"/>
              <a:gd name="connsiteY50" fmla="*/ 6995918 h 6995918"/>
              <a:gd name="connsiteX51" fmla="*/ 6858000 w 6858001"/>
              <a:gd name="connsiteY51" fmla="*/ 1344715 h 6995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95918">
                <a:moveTo>
                  <a:pt x="6858001" y="1344715"/>
                </a:moveTo>
                <a:lnTo>
                  <a:pt x="6858001" y="1177"/>
                </a:lnTo>
                <a:lnTo>
                  <a:pt x="6702324" y="26222"/>
                </a:lnTo>
                <a:lnTo>
                  <a:pt x="6547333" y="50091"/>
                </a:lnTo>
                <a:lnTo>
                  <a:pt x="6391657" y="73455"/>
                </a:lnTo>
                <a:lnTo>
                  <a:pt x="6235294" y="93458"/>
                </a:lnTo>
                <a:lnTo>
                  <a:pt x="6079618" y="113629"/>
                </a:lnTo>
                <a:lnTo>
                  <a:pt x="5923255" y="132455"/>
                </a:lnTo>
                <a:lnTo>
                  <a:pt x="5768950" y="148591"/>
                </a:lnTo>
                <a:lnTo>
                  <a:pt x="5612588" y="163887"/>
                </a:lnTo>
                <a:lnTo>
                  <a:pt x="5456911" y="177839"/>
                </a:lnTo>
                <a:lnTo>
                  <a:pt x="5303978" y="189941"/>
                </a:lnTo>
                <a:lnTo>
                  <a:pt x="5148987" y="202044"/>
                </a:lnTo>
                <a:lnTo>
                  <a:pt x="4996054" y="212129"/>
                </a:lnTo>
                <a:lnTo>
                  <a:pt x="4843120" y="220029"/>
                </a:lnTo>
                <a:lnTo>
                  <a:pt x="4690873" y="228266"/>
                </a:lnTo>
                <a:lnTo>
                  <a:pt x="4539997" y="235157"/>
                </a:lnTo>
                <a:lnTo>
                  <a:pt x="4390492" y="240032"/>
                </a:lnTo>
                <a:lnTo>
                  <a:pt x="4240988" y="244234"/>
                </a:lnTo>
                <a:lnTo>
                  <a:pt x="4092855" y="248268"/>
                </a:lnTo>
                <a:lnTo>
                  <a:pt x="3946780" y="250117"/>
                </a:lnTo>
                <a:lnTo>
                  <a:pt x="3800704" y="252134"/>
                </a:lnTo>
                <a:lnTo>
                  <a:pt x="3656686" y="253143"/>
                </a:lnTo>
                <a:lnTo>
                  <a:pt x="3514040" y="252134"/>
                </a:lnTo>
                <a:lnTo>
                  <a:pt x="3372765" y="252134"/>
                </a:lnTo>
                <a:lnTo>
                  <a:pt x="3232862" y="250117"/>
                </a:lnTo>
                <a:lnTo>
                  <a:pt x="3095702" y="247092"/>
                </a:lnTo>
                <a:lnTo>
                  <a:pt x="2959914" y="244234"/>
                </a:lnTo>
                <a:lnTo>
                  <a:pt x="2826868" y="241040"/>
                </a:lnTo>
                <a:lnTo>
                  <a:pt x="2694509" y="236166"/>
                </a:lnTo>
                <a:lnTo>
                  <a:pt x="2564208" y="230955"/>
                </a:lnTo>
                <a:lnTo>
                  <a:pt x="2436649" y="226249"/>
                </a:lnTo>
                <a:lnTo>
                  <a:pt x="2187703" y="212969"/>
                </a:lnTo>
                <a:lnTo>
                  <a:pt x="1949045" y="198850"/>
                </a:lnTo>
                <a:lnTo>
                  <a:pt x="1719988" y="184058"/>
                </a:lnTo>
                <a:lnTo>
                  <a:pt x="1503275" y="167753"/>
                </a:lnTo>
                <a:lnTo>
                  <a:pt x="1296163" y="150776"/>
                </a:lnTo>
                <a:lnTo>
                  <a:pt x="1104139" y="132455"/>
                </a:lnTo>
                <a:lnTo>
                  <a:pt x="923774" y="114469"/>
                </a:lnTo>
                <a:lnTo>
                  <a:pt x="757810" y="96484"/>
                </a:lnTo>
                <a:lnTo>
                  <a:pt x="605563" y="79507"/>
                </a:lnTo>
                <a:lnTo>
                  <a:pt x="470460" y="63370"/>
                </a:lnTo>
                <a:lnTo>
                  <a:pt x="348388" y="48074"/>
                </a:lnTo>
                <a:lnTo>
                  <a:pt x="245518" y="35299"/>
                </a:lnTo>
                <a:lnTo>
                  <a:pt x="159107" y="23197"/>
                </a:lnTo>
                <a:lnTo>
                  <a:pt x="40463" y="5883"/>
                </a:lnTo>
                <a:lnTo>
                  <a:pt x="1" y="0"/>
                </a:lnTo>
                <a:lnTo>
                  <a:pt x="1" y="905354"/>
                </a:lnTo>
                <a:lnTo>
                  <a:pt x="0" y="905354"/>
                </a:lnTo>
                <a:lnTo>
                  <a:pt x="0" y="6995918"/>
                </a:lnTo>
                <a:lnTo>
                  <a:pt x="6858000" y="6995918"/>
                </a:lnTo>
                <a:lnTo>
                  <a:pt x="6858000" y="1344715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8" name="Rectangle 27">
            <a:extLst>
              <a:ext uri="{FF2B5EF4-FFF2-40B4-BE49-F238E27FC236}">
                <a16:creationId xmlns:a16="http://schemas.microsoft.com/office/drawing/2014/main" id="{17378C1B-0CBA-21C7-5D54-37196E715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42ADE68-D089-4AB5-76D0-249CB5F023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691" y="2159000"/>
            <a:ext cx="7267409" cy="485099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7902129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D5ABF9C-A102-5CB8-9349-EA96BF21372D}"/>
              </a:ext>
            </a:extLst>
          </p:cNvPr>
          <p:cNvSpPr txBox="1"/>
          <p:nvPr/>
        </p:nvSpPr>
        <p:spPr>
          <a:xfrm>
            <a:off x="660400" y="914400"/>
            <a:ext cx="81259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CONVERSÃO DE TIPOS EM PYTHON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70D5C9D-6350-D908-8C06-7461D8EA59E9}"/>
              </a:ext>
            </a:extLst>
          </p:cNvPr>
          <p:cNvSpPr txBox="1"/>
          <p:nvPr/>
        </p:nvSpPr>
        <p:spPr>
          <a:xfrm>
            <a:off x="660400" y="1773703"/>
            <a:ext cx="5943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O que é conversão de dados?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dirty="0"/>
              <a:t>É quando transformamos um tipo de dado em outro (</a:t>
            </a:r>
            <a:r>
              <a:rPr lang="pt-BR" dirty="0" err="1"/>
              <a:t>ex</a:t>
            </a:r>
            <a:r>
              <a:rPr lang="pt-BR" dirty="0"/>
              <a:t>: texto → número).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B1A4AB2-E424-4F64-1121-61BD07E9A5DC}"/>
              </a:ext>
            </a:extLst>
          </p:cNvPr>
          <p:cNvSpPr txBox="1"/>
          <p:nvPr/>
        </p:nvSpPr>
        <p:spPr>
          <a:xfrm>
            <a:off x="6832600" y="1728233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Importante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dirty="0"/>
              <a:t>O </a:t>
            </a:r>
            <a:r>
              <a:rPr lang="pt-BR" dirty="0">
                <a:latin typeface="Courier New" panose="02070309020205020404" pitchFamily="49" charset="0"/>
              </a:rPr>
              <a:t>input()</a:t>
            </a:r>
            <a:r>
              <a:rPr lang="pt-BR" dirty="0"/>
              <a:t> sempre retorna </a:t>
            </a:r>
            <a:r>
              <a:rPr lang="pt-BR" b="1" dirty="0"/>
              <a:t>texto (</a:t>
            </a:r>
            <a:r>
              <a:rPr lang="pt-BR" b="1" dirty="0" err="1"/>
              <a:t>str</a:t>
            </a:r>
            <a:r>
              <a:rPr lang="pt-BR" b="1" dirty="0"/>
              <a:t>)</a:t>
            </a:r>
            <a:r>
              <a:rPr lang="pt-BR" dirty="0"/>
              <a:t>, mesmo que o usuário digite números.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E2A822A-AAF4-2377-C164-93B3CA0D2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212" y="6019800"/>
            <a:ext cx="144018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int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()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</a:rPr>
              <a:t>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inteiro </a:t>
            </a:r>
            <a:endParaRPr kumimoji="0" lang="pt-BR" altLang="pt-BR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float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()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</a:rPr>
              <a:t>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decimal </a:t>
            </a:r>
            <a:endParaRPr kumimoji="0" lang="pt-BR" altLang="pt-BR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str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()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</a:rPr>
              <a:t>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texto </a:t>
            </a:r>
            <a:endParaRPr kumimoji="0" lang="pt-BR" altLang="pt-BR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bool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()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</a:rPr>
              <a:t>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verdadeiro/falso </a:t>
            </a:r>
            <a:endParaRPr lang="pt-BR" altLang="pt-BR" sz="3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Conversão é essencial para cálculos com entrada de dados 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1089BD3-9031-ECD5-CDE6-21C6E1219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3186011"/>
            <a:ext cx="8326012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997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57E09-C045-69ED-901A-D9FA5FE20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2C99884-8FA6-2606-C478-E9D72A380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533400"/>
            <a:ext cx="7010400" cy="2151029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11A9001-CAFD-F6C3-FCF1-CD76432C23C2}"/>
              </a:ext>
            </a:extLst>
          </p:cNvPr>
          <p:cNvSpPr txBox="1"/>
          <p:nvPr/>
        </p:nvSpPr>
        <p:spPr>
          <a:xfrm>
            <a:off x="584200" y="3657600"/>
            <a:ext cx="1531620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/>
              <a:t>Estruturas Condicionais </a:t>
            </a:r>
          </a:p>
          <a:p>
            <a:endParaRPr lang="pt-BR" dirty="0"/>
          </a:p>
          <a:p>
            <a:pPr algn="just"/>
            <a:r>
              <a:rPr lang="pt-BR" sz="2400" b="1" dirty="0"/>
              <a:t>Neste capítulo você vai aprender a usar </a:t>
            </a:r>
            <a:r>
              <a:rPr lang="pt-BR" sz="2400" b="1" dirty="0">
                <a:solidFill>
                  <a:srgbClr val="FFC000"/>
                </a:solidFill>
              </a:rPr>
              <a:t>estruturas</a:t>
            </a:r>
            <a:r>
              <a:rPr lang="pt-BR" sz="2400" b="1" dirty="0"/>
              <a:t> </a:t>
            </a:r>
            <a:r>
              <a:rPr lang="pt-BR" sz="2400" b="1" dirty="0">
                <a:solidFill>
                  <a:srgbClr val="FFC000"/>
                </a:solidFill>
              </a:rPr>
              <a:t>condicionais</a:t>
            </a:r>
            <a:r>
              <a:rPr lang="pt-BR" sz="2400" b="1" dirty="0"/>
              <a:t> para tomadas de decisão, toda tomada de decisão parte de uma condição lógica. </a:t>
            </a:r>
          </a:p>
          <a:p>
            <a:pPr algn="just"/>
            <a:endParaRPr lang="pt-BR" sz="2400" b="1" dirty="0"/>
          </a:p>
          <a:p>
            <a:pPr algn="just"/>
            <a:r>
              <a:rPr lang="pt-BR" sz="2400" b="1" dirty="0"/>
              <a:t>No Python a decisão simples que seria apenas verdadeiro ou falso usamos o comando </a:t>
            </a:r>
            <a:r>
              <a:rPr lang="pt-BR" sz="2400" b="1" dirty="0" err="1">
                <a:solidFill>
                  <a:srgbClr val="FFC000"/>
                </a:solidFill>
              </a:rPr>
              <a:t>if</a:t>
            </a:r>
            <a:r>
              <a:rPr lang="pt-BR" sz="2400" b="1" dirty="0">
                <a:solidFill>
                  <a:srgbClr val="FFC000"/>
                </a:solidFill>
              </a:rPr>
              <a:t> /</a:t>
            </a:r>
            <a:r>
              <a:rPr lang="pt-BR" sz="2400" b="1" dirty="0" err="1">
                <a:solidFill>
                  <a:srgbClr val="FFC000"/>
                </a:solidFill>
              </a:rPr>
              <a:t>else</a:t>
            </a:r>
            <a:r>
              <a:rPr lang="pt-BR" sz="2400" b="1" dirty="0">
                <a:solidFill>
                  <a:srgbClr val="FFC000"/>
                </a:solidFill>
              </a:rPr>
              <a:t> </a:t>
            </a:r>
            <a:r>
              <a:rPr lang="pt-BR" sz="2400" b="1" dirty="0"/>
              <a:t>e para quando precisamos de mais que duas opções de decisão podemos usar o </a:t>
            </a:r>
            <a:r>
              <a:rPr lang="pt-BR" sz="2400" b="1" dirty="0" err="1">
                <a:solidFill>
                  <a:srgbClr val="FFC000"/>
                </a:solidFill>
              </a:rPr>
              <a:t>if</a:t>
            </a:r>
            <a:r>
              <a:rPr lang="pt-BR" sz="2400" b="1" dirty="0">
                <a:solidFill>
                  <a:srgbClr val="FFC000"/>
                </a:solidFill>
              </a:rPr>
              <a:t> / </a:t>
            </a:r>
            <a:r>
              <a:rPr lang="pt-BR" sz="2400" b="1" dirty="0" err="1">
                <a:solidFill>
                  <a:srgbClr val="FFC000"/>
                </a:solidFill>
              </a:rPr>
              <a:t>elif</a:t>
            </a:r>
            <a:r>
              <a:rPr lang="pt-BR" sz="2400" b="1" dirty="0">
                <a:solidFill>
                  <a:srgbClr val="FFC000"/>
                </a:solidFill>
              </a:rPr>
              <a:t> / </a:t>
            </a:r>
            <a:r>
              <a:rPr lang="pt-BR" sz="2400" b="1" dirty="0" err="1">
                <a:solidFill>
                  <a:srgbClr val="FFC000"/>
                </a:solidFill>
              </a:rPr>
              <a:t>else</a:t>
            </a:r>
            <a:r>
              <a:rPr lang="pt-BR" sz="24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40799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2F5F3-223D-36A3-583C-CD19EDEC6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D03ADBF-1ED5-132E-E849-738CC0E87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533400"/>
            <a:ext cx="7010400" cy="2151029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BD318BE-63A1-8A9A-7B21-A4305F2E50FF}"/>
              </a:ext>
            </a:extLst>
          </p:cNvPr>
          <p:cNvSpPr txBox="1"/>
          <p:nvPr/>
        </p:nvSpPr>
        <p:spPr>
          <a:xfrm>
            <a:off x="584200" y="3657600"/>
            <a:ext cx="153162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/>
              <a:t>Objetivos: </a:t>
            </a:r>
          </a:p>
          <a:p>
            <a:endParaRPr lang="pt-BR" sz="2800" b="1" dirty="0"/>
          </a:p>
          <a:p>
            <a:r>
              <a:rPr lang="pt-BR" sz="2800" b="1" dirty="0"/>
              <a:t> Criar estruturas condicionais de decisão simples e complexas usando </a:t>
            </a:r>
            <a:r>
              <a:rPr lang="pt-BR" sz="2800" b="1" dirty="0" err="1"/>
              <a:t>if</a:t>
            </a:r>
            <a:r>
              <a:rPr lang="pt-BR" sz="2800" b="1" dirty="0"/>
              <a:t> / </a:t>
            </a:r>
            <a:r>
              <a:rPr lang="pt-BR" sz="2800" b="1" dirty="0" err="1"/>
              <a:t>elif</a:t>
            </a:r>
            <a:r>
              <a:rPr lang="pt-BR" sz="2800" b="1" dirty="0"/>
              <a:t> / </a:t>
            </a:r>
            <a:r>
              <a:rPr lang="pt-BR" sz="2800" b="1" dirty="0" err="1"/>
              <a:t>else</a:t>
            </a:r>
            <a:r>
              <a:rPr lang="pt-BR" sz="2800" b="1" dirty="0"/>
              <a:t>.</a:t>
            </a:r>
          </a:p>
          <a:p>
            <a:r>
              <a:rPr lang="pt-BR" sz="2800" b="1" dirty="0"/>
              <a:t> </a:t>
            </a:r>
          </a:p>
          <a:p>
            <a:r>
              <a:rPr lang="pt-BR" sz="2800" b="1" dirty="0"/>
              <a:t> Conhecer os operadores básicos de comparação do teste lógico de um </a:t>
            </a:r>
            <a:r>
              <a:rPr lang="pt-BR" sz="2800" b="1" dirty="0" err="1"/>
              <a:t>if</a:t>
            </a:r>
            <a:r>
              <a:rPr lang="pt-BR" sz="2800" b="1" dirty="0"/>
              <a:t>. </a:t>
            </a:r>
          </a:p>
          <a:p>
            <a:endParaRPr lang="pt-BR" sz="2800" b="1" dirty="0"/>
          </a:p>
          <a:p>
            <a:r>
              <a:rPr lang="pt-BR" sz="2800" b="1" dirty="0"/>
              <a:t> Utilizar um </a:t>
            </a:r>
            <a:r>
              <a:rPr lang="pt-BR" sz="2800" b="1" dirty="0" err="1"/>
              <a:t>if</a:t>
            </a:r>
            <a:r>
              <a:rPr lang="pt-BR" sz="2800" b="1" dirty="0"/>
              <a:t> aninhado. </a:t>
            </a:r>
          </a:p>
          <a:p>
            <a:endParaRPr lang="pt-BR" sz="2800" b="1" dirty="0"/>
          </a:p>
          <a:p>
            <a:r>
              <a:rPr lang="pt-BR" sz="2800" b="1" dirty="0"/>
              <a:t> Saber construir um </a:t>
            </a:r>
            <a:r>
              <a:rPr lang="pt-BR" sz="2800" b="1" dirty="0" err="1"/>
              <a:t>if</a:t>
            </a:r>
            <a:r>
              <a:rPr lang="pt-BR" sz="2800" b="1" dirty="0"/>
              <a:t> ternário, </a:t>
            </a:r>
            <a:r>
              <a:rPr lang="pt-BR" sz="2800" b="1" dirty="0" err="1"/>
              <a:t>if</a:t>
            </a:r>
            <a:r>
              <a:rPr lang="pt-BR" sz="2800" b="1" dirty="0"/>
              <a:t> escrito em uma linha apenas.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34282807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C92B2-02F5-3D7D-F84F-5C2F97CCF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B75A34E6-C06C-6F7B-E883-5085CC0FE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533400"/>
            <a:ext cx="7010400" cy="2151029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7C0379A-A1CD-7DAC-0903-2CF295AAFE0B}"/>
              </a:ext>
            </a:extLst>
          </p:cNvPr>
          <p:cNvSpPr txBox="1"/>
          <p:nvPr/>
        </p:nvSpPr>
        <p:spPr>
          <a:xfrm>
            <a:off x="610616" y="2971800"/>
            <a:ext cx="10363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>
                <a:solidFill>
                  <a:srgbClr val="FFC000"/>
                </a:solidFill>
              </a:rPr>
              <a:t>Vamos praticar...</a:t>
            </a:r>
          </a:p>
          <a:p>
            <a:endParaRPr lang="pt-BR" sz="3600" b="1" dirty="0">
              <a:solidFill>
                <a:srgbClr val="FFC000"/>
              </a:solidFill>
            </a:endParaRPr>
          </a:p>
          <a:p>
            <a:r>
              <a:rPr lang="pt-BR" sz="3600" b="1" dirty="0">
                <a:solidFill>
                  <a:srgbClr val="FFC000"/>
                </a:solidFill>
              </a:rPr>
              <a:t>Atividade 1 – Verificar Número Par e Ímpar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0E4EC3B-36E0-ABEF-DF65-ABFEA321E0C6}"/>
              </a:ext>
            </a:extLst>
          </p:cNvPr>
          <p:cNvSpPr txBox="1"/>
          <p:nvPr/>
        </p:nvSpPr>
        <p:spPr>
          <a:xfrm>
            <a:off x="584200" y="5022641"/>
            <a:ext cx="14908784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Objetivo: Nesta atividade você vai usar uma estrutura de decisão (</a:t>
            </a:r>
            <a:r>
              <a:rPr lang="pt-BR" b="1" dirty="0" err="1"/>
              <a:t>if</a:t>
            </a:r>
            <a:r>
              <a:rPr lang="pt-BR" b="1" dirty="0"/>
              <a:t> / </a:t>
            </a:r>
            <a:r>
              <a:rPr lang="pt-BR" b="1" dirty="0" err="1"/>
              <a:t>else</a:t>
            </a:r>
            <a:r>
              <a:rPr lang="pt-BR" b="1" dirty="0"/>
              <a:t>) para verificar se um número é par ou ímpar. </a:t>
            </a:r>
          </a:p>
          <a:p>
            <a:endParaRPr lang="pt-BR" b="1" dirty="0"/>
          </a:p>
          <a:p>
            <a:r>
              <a:rPr lang="pt-BR" b="1" dirty="0"/>
              <a:t>Comandos utilizados: Comando </a:t>
            </a:r>
            <a:r>
              <a:rPr lang="pt-BR" b="1" dirty="0" err="1">
                <a:solidFill>
                  <a:srgbClr val="FFC000"/>
                </a:solidFill>
              </a:rPr>
              <a:t>If</a:t>
            </a:r>
            <a:r>
              <a:rPr lang="pt-BR" b="1" dirty="0"/>
              <a:t>, operador </a:t>
            </a:r>
            <a:r>
              <a:rPr lang="pt-BR" b="1" dirty="0">
                <a:solidFill>
                  <a:srgbClr val="FFC000"/>
                </a:solidFill>
              </a:rPr>
              <a:t>%</a:t>
            </a:r>
            <a:r>
              <a:rPr lang="pt-BR" b="1" dirty="0"/>
              <a:t> (retorna o resto da divisão entre operandos) </a:t>
            </a:r>
            <a:r>
              <a:rPr lang="pt-BR" b="1" dirty="0" err="1">
                <a:solidFill>
                  <a:srgbClr val="FFC000"/>
                </a:solidFill>
              </a:rPr>
              <a:t>If</a:t>
            </a:r>
            <a:r>
              <a:rPr lang="pt-BR" b="1" dirty="0">
                <a:solidFill>
                  <a:srgbClr val="FFC000"/>
                </a:solidFill>
              </a:rPr>
              <a:t> / </a:t>
            </a:r>
            <a:r>
              <a:rPr lang="pt-BR" b="1" dirty="0" err="1">
                <a:solidFill>
                  <a:srgbClr val="FFC000"/>
                </a:solidFill>
              </a:rPr>
              <a:t>else</a:t>
            </a:r>
            <a:r>
              <a:rPr lang="pt-BR" b="1" dirty="0">
                <a:solidFill>
                  <a:srgbClr val="FFC000"/>
                </a:solidFill>
              </a:rPr>
              <a:t> </a:t>
            </a:r>
          </a:p>
          <a:p>
            <a:endParaRPr lang="pt-BR" b="1" dirty="0"/>
          </a:p>
          <a:p>
            <a:r>
              <a:rPr lang="pt-BR" sz="2400" b="1" dirty="0">
                <a:solidFill>
                  <a:srgbClr val="FFC000"/>
                </a:solidFill>
              </a:rPr>
              <a:t>  </a:t>
            </a:r>
            <a:r>
              <a:rPr lang="pt-BR" sz="2400" b="1" dirty="0" err="1">
                <a:solidFill>
                  <a:srgbClr val="FFC000"/>
                </a:solidFill>
              </a:rPr>
              <a:t>If</a:t>
            </a:r>
            <a:r>
              <a:rPr lang="pt-BR" sz="2400" b="1" dirty="0">
                <a:solidFill>
                  <a:srgbClr val="FFC000"/>
                </a:solidFill>
              </a:rPr>
              <a:t> (teste lógico): </a:t>
            </a:r>
          </a:p>
          <a:p>
            <a:r>
              <a:rPr lang="pt-BR" sz="2400" b="1" dirty="0">
                <a:solidFill>
                  <a:srgbClr val="FFC000"/>
                </a:solidFill>
              </a:rPr>
              <a:t>     #código para condição verdadeira do teste, tem que ser indentado.</a:t>
            </a:r>
          </a:p>
          <a:p>
            <a:r>
              <a:rPr lang="pt-BR" sz="2400" b="1" dirty="0">
                <a:solidFill>
                  <a:srgbClr val="FFC000"/>
                </a:solidFill>
              </a:rPr>
              <a:t>  </a:t>
            </a:r>
            <a:r>
              <a:rPr lang="pt-BR" sz="2400" b="1" dirty="0" err="1">
                <a:solidFill>
                  <a:srgbClr val="FFC000"/>
                </a:solidFill>
              </a:rPr>
              <a:t>else</a:t>
            </a:r>
            <a:r>
              <a:rPr lang="pt-BR" sz="2400" b="1" dirty="0">
                <a:solidFill>
                  <a:srgbClr val="FFC000"/>
                </a:solidFill>
              </a:rPr>
              <a:t>: </a:t>
            </a:r>
          </a:p>
          <a:p>
            <a:r>
              <a:rPr lang="pt-BR" sz="2400" b="1" dirty="0">
                <a:solidFill>
                  <a:srgbClr val="FFC000"/>
                </a:solidFill>
              </a:rPr>
              <a:t>     #código para condição falsa do teste, tem que ser indentado.</a:t>
            </a:r>
          </a:p>
          <a:p>
            <a:endParaRPr lang="pt-BR" b="1" dirty="0"/>
          </a:p>
          <a:p>
            <a:r>
              <a:rPr lang="pt-BR" b="1" dirty="0"/>
              <a:t> O texto lógico normalmente é a comparação entre duas informações.</a:t>
            </a:r>
          </a:p>
        </p:txBody>
      </p:sp>
    </p:spTree>
    <p:extLst>
      <p:ext uri="{BB962C8B-B14F-4D97-AF65-F5344CB8AC3E}">
        <p14:creationId xmlns:p14="http://schemas.microsoft.com/office/powerpoint/2010/main" val="10257442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01022-AABD-9B39-1B77-29C1B264B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56EF033-7230-56C2-9538-8AE19AEDB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533400"/>
            <a:ext cx="7010400" cy="215102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1850489-541E-CB32-4A23-1083EB704BBE}"/>
              </a:ext>
            </a:extLst>
          </p:cNvPr>
          <p:cNvSpPr txBox="1"/>
          <p:nvPr/>
        </p:nvSpPr>
        <p:spPr>
          <a:xfrm>
            <a:off x="610616" y="3886200"/>
            <a:ext cx="1224178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/>
              <a:t>Operadores de teste lógico que são:</a:t>
            </a:r>
          </a:p>
          <a:p>
            <a:endParaRPr lang="pt-BR" sz="3200" b="1" dirty="0"/>
          </a:p>
          <a:p>
            <a:r>
              <a:rPr lang="pt-BR" sz="3200" b="1" dirty="0">
                <a:solidFill>
                  <a:srgbClr val="FFC000"/>
                </a:solidFill>
              </a:rPr>
              <a:t>==</a:t>
            </a:r>
            <a:r>
              <a:rPr lang="pt-BR" sz="3200" b="1" dirty="0"/>
              <a:t>  igualdade</a:t>
            </a:r>
          </a:p>
          <a:p>
            <a:r>
              <a:rPr lang="pt-BR" sz="3200" b="1" dirty="0">
                <a:solidFill>
                  <a:srgbClr val="FFC000"/>
                </a:solidFill>
              </a:rPr>
              <a:t>!=</a:t>
            </a:r>
            <a:r>
              <a:rPr lang="pt-BR" sz="3200" b="1" dirty="0"/>
              <a:t>   diferente </a:t>
            </a:r>
          </a:p>
          <a:p>
            <a:r>
              <a:rPr lang="pt-BR" sz="3200" b="1" dirty="0">
                <a:solidFill>
                  <a:srgbClr val="FFC000"/>
                </a:solidFill>
              </a:rPr>
              <a:t>&gt;=</a:t>
            </a:r>
            <a:r>
              <a:rPr lang="pt-BR" sz="3200" b="1" dirty="0"/>
              <a:t>  maior igual </a:t>
            </a:r>
          </a:p>
          <a:p>
            <a:r>
              <a:rPr lang="pt-BR" sz="3200" b="1" dirty="0">
                <a:solidFill>
                  <a:srgbClr val="FFC000"/>
                </a:solidFill>
              </a:rPr>
              <a:t>&gt;</a:t>
            </a:r>
            <a:r>
              <a:rPr lang="pt-BR" sz="3200" b="1" dirty="0"/>
              <a:t>    maior </a:t>
            </a:r>
          </a:p>
          <a:p>
            <a:r>
              <a:rPr lang="pt-BR" sz="3200" b="1" dirty="0">
                <a:solidFill>
                  <a:srgbClr val="FFC000"/>
                </a:solidFill>
              </a:rPr>
              <a:t>&lt;=</a:t>
            </a:r>
            <a:r>
              <a:rPr lang="pt-BR" sz="3200" b="1" dirty="0"/>
              <a:t>  menor igual </a:t>
            </a:r>
          </a:p>
          <a:p>
            <a:r>
              <a:rPr lang="pt-BR" sz="3200" b="1" dirty="0">
                <a:solidFill>
                  <a:srgbClr val="FFC000"/>
                </a:solidFill>
              </a:rPr>
              <a:t>&lt;</a:t>
            </a:r>
            <a:r>
              <a:rPr lang="pt-BR" sz="3200" b="1" dirty="0"/>
              <a:t>    menor</a:t>
            </a:r>
          </a:p>
        </p:txBody>
      </p:sp>
    </p:spTree>
    <p:extLst>
      <p:ext uri="{BB962C8B-B14F-4D97-AF65-F5344CB8AC3E}">
        <p14:creationId xmlns:p14="http://schemas.microsoft.com/office/powerpoint/2010/main" val="4310855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48894-3263-369D-BCA5-ACFD9D79A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B4F7BEB-2651-3A1B-E24A-325A1AA96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533400"/>
            <a:ext cx="7010400" cy="2151029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5D8E233-5249-B8A3-04E3-23F6CD65EABA}"/>
              </a:ext>
            </a:extLst>
          </p:cNvPr>
          <p:cNvSpPr txBox="1"/>
          <p:nvPr/>
        </p:nvSpPr>
        <p:spPr>
          <a:xfrm>
            <a:off x="610616" y="2971800"/>
            <a:ext cx="10363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>
                <a:solidFill>
                  <a:srgbClr val="FFC000"/>
                </a:solidFill>
              </a:rPr>
              <a:t>Vamos praticar...</a:t>
            </a:r>
          </a:p>
          <a:p>
            <a:endParaRPr lang="pt-BR" sz="3600" b="1" dirty="0">
              <a:solidFill>
                <a:srgbClr val="FFC000"/>
              </a:solidFill>
            </a:endParaRPr>
          </a:p>
          <a:p>
            <a:r>
              <a:rPr lang="pt-BR" sz="3600" b="1" dirty="0">
                <a:solidFill>
                  <a:srgbClr val="FFC000"/>
                </a:solidFill>
              </a:rPr>
              <a:t>Atividade 2 – Conversor de Medidas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4456030-C70F-32F9-92B5-E74787ADF370}"/>
              </a:ext>
            </a:extLst>
          </p:cNvPr>
          <p:cNvSpPr txBox="1"/>
          <p:nvPr/>
        </p:nvSpPr>
        <p:spPr>
          <a:xfrm>
            <a:off x="610616" y="4800600"/>
            <a:ext cx="14908784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Objetivo: Nesta atividade você vai converter um número em centímetros para Polegada, Pé ou Jarda. Será necessário usar o comando </a:t>
            </a:r>
            <a:r>
              <a:rPr lang="pt-BR" b="1" dirty="0" err="1"/>
              <a:t>if</a:t>
            </a:r>
            <a:r>
              <a:rPr lang="pt-BR" b="1" dirty="0"/>
              <a:t> / </a:t>
            </a:r>
            <a:r>
              <a:rPr lang="pt-BR" b="1" dirty="0" err="1"/>
              <a:t>elif</a:t>
            </a:r>
            <a:r>
              <a:rPr lang="pt-BR" b="1" dirty="0"/>
              <a:t> / </a:t>
            </a:r>
            <a:r>
              <a:rPr lang="pt-BR" b="1" dirty="0" err="1"/>
              <a:t>else</a:t>
            </a:r>
            <a:r>
              <a:rPr lang="pt-BR" b="1" dirty="0"/>
              <a:t>. </a:t>
            </a:r>
          </a:p>
          <a:p>
            <a:endParaRPr lang="pt-BR" b="1" dirty="0"/>
          </a:p>
          <a:p>
            <a:r>
              <a:rPr lang="pt-BR" b="1" dirty="0"/>
              <a:t>Comandos utilizados: </a:t>
            </a:r>
            <a:r>
              <a:rPr lang="pt-BR" b="1" dirty="0" err="1"/>
              <a:t>If</a:t>
            </a:r>
            <a:r>
              <a:rPr lang="pt-BR" b="1" dirty="0"/>
              <a:t> / </a:t>
            </a:r>
            <a:r>
              <a:rPr lang="pt-BR" b="1" dirty="0" err="1"/>
              <a:t>elif</a:t>
            </a:r>
            <a:r>
              <a:rPr lang="pt-BR" b="1" dirty="0"/>
              <a:t> / </a:t>
            </a:r>
            <a:r>
              <a:rPr lang="pt-BR" b="1" dirty="0" err="1"/>
              <a:t>else</a:t>
            </a:r>
            <a:endParaRPr lang="pt-BR" b="1" dirty="0"/>
          </a:p>
          <a:p>
            <a:endParaRPr lang="pt-BR" sz="2000" dirty="0">
              <a:solidFill>
                <a:srgbClr val="FFC000"/>
              </a:solidFill>
            </a:endParaRPr>
          </a:p>
          <a:p>
            <a:r>
              <a:rPr lang="pt-BR" sz="2000" b="1" dirty="0" err="1">
                <a:solidFill>
                  <a:srgbClr val="FFC000"/>
                </a:solidFill>
              </a:rPr>
              <a:t>If</a:t>
            </a:r>
            <a:r>
              <a:rPr lang="pt-BR" sz="2000" b="1" dirty="0">
                <a:solidFill>
                  <a:srgbClr val="FFC000"/>
                </a:solidFill>
              </a:rPr>
              <a:t> (teste lógico): </a:t>
            </a:r>
          </a:p>
          <a:p>
            <a:r>
              <a:rPr lang="pt-BR" sz="2000" b="1" dirty="0">
                <a:solidFill>
                  <a:srgbClr val="FFC000"/>
                </a:solidFill>
              </a:rPr>
              <a:t>	</a:t>
            </a:r>
            <a:r>
              <a:rPr lang="pt-BR" sz="2000" b="1" dirty="0"/>
              <a:t>#código para condição verdadeira do teste, tem que ser indentado. </a:t>
            </a:r>
            <a:r>
              <a:rPr lang="pt-BR" sz="2000" dirty="0"/>
              <a:t>polegadas = medida / 2.54 </a:t>
            </a:r>
            <a:endParaRPr lang="pt-BR" sz="2000" b="1" dirty="0"/>
          </a:p>
          <a:p>
            <a:r>
              <a:rPr lang="pt-BR" sz="2000" b="1" dirty="0" err="1">
                <a:solidFill>
                  <a:srgbClr val="FFC000"/>
                </a:solidFill>
              </a:rPr>
              <a:t>elif</a:t>
            </a:r>
            <a:r>
              <a:rPr lang="pt-BR" sz="2000" b="1" dirty="0">
                <a:solidFill>
                  <a:srgbClr val="FFC000"/>
                </a:solidFill>
              </a:rPr>
              <a:t> (novo teste lógico): </a:t>
            </a:r>
          </a:p>
          <a:p>
            <a:r>
              <a:rPr lang="pt-BR" sz="2000" b="1" dirty="0">
                <a:solidFill>
                  <a:srgbClr val="FFC000"/>
                </a:solidFill>
              </a:rPr>
              <a:t>	</a:t>
            </a:r>
            <a:r>
              <a:rPr lang="pt-BR" sz="2000" b="1" dirty="0"/>
              <a:t>#código para condição verdadeira do teste, tem que ser indentado </a:t>
            </a:r>
            <a:r>
              <a:rPr lang="pt-BR" sz="2000" dirty="0" err="1"/>
              <a:t>pes</a:t>
            </a:r>
            <a:r>
              <a:rPr lang="pt-BR" sz="2000" dirty="0"/>
              <a:t> = medida / 30.48 </a:t>
            </a:r>
            <a:endParaRPr lang="pt-BR" sz="2000" b="1" dirty="0"/>
          </a:p>
          <a:p>
            <a:r>
              <a:rPr lang="pt-BR" sz="2000" b="1" dirty="0" err="1">
                <a:solidFill>
                  <a:srgbClr val="FFC000"/>
                </a:solidFill>
              </a:rPr>
              <a:t>else</a:t>
            </a:r>
            <a:r>
              <a:rPr lang="pt-BR" sz="2000" b="1" dirty="0">
                <a:solidFill>
                  <a:srgbClr val="FFC000"/>
                </a:solidFill>
              </a:rPr>
              <a:t>: </a:t>
            </a:r>
          </a:p>
          <a:p>
            <a:r>
              <a:rPr lang="pt-BR" sz="2000" b="1" dirty="0">
                <a:solidFill>
                  <a:srgbClr val="FFC000"/>
                </a:solidFill>
              </a:rPr>
              <a:t>	</a:t>
            </a:r>
            <a:r>
              <a:rPr lang="pt-BR" sz="2000" b="1" dirty="0"/>
              <a:t>#código para condição falsa dos testes, tem que ser indentado. </a:t>
            </a:r>
            <a:r>
              <a:rPr lang="pt-BR" sz="2000" dirty="0"/>
              <a:t>jardas = medida / 91.44 </a:t>
            </a:r>
            <a:endParaRPr lang="pt-BR" sz="2000" b="1" dirty="0"/>
          </a:p>
          <a:p>
            <a:endParaRPr lang="pt-BR" b="1" dirty="0"/>
          </a:p>
          <a:p>
            <a:r>
              <a:rPr lang="pt-BR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97810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CC6E5B-9607-5B0D-E987-EA8AB35D8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0F7302AF-86B9-441B-8D24-AC382E2A4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559580"/>
            <a:ext cx="5382682" cy="558442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9A2A6C2-D371-4C6B-B50F-CC71C6D01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856462"/>
            <a:ext cx="2029882" cy="3153938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5F07A6A6-E44B-411E-AA18-65E481136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78682" y="2235200"/>
            <a:ext cx="3759200" cy="3759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CC3468F-5EED-42B0-8507-F30360E1D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0665882" y="0"/>
            <a:ext cx="2137850" cy="152187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91711EE-029D-453C-9AE9-E87829F1D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1474504" y="8128000"/>
            <a:ext cx="1324978" cy="1016000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5D5A8E14-301B-40C0-A174-D2232EF95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03DA32F-32DF-792E-EC2C-CE731E0B6275}"/>
              </a:ext>
            </a:extLst>
          </p:cNvPr>
          <p:cNvSpPr txBox="1"/>
          <p:nvPr/>
        </p:nvSpPr>
        <p:spPr>
          <a:xfrm>
            <a:off x="861482" y="603624"/>
            <a:ext cx="5554107" cy="18673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dirty="0" err="1">
                <a:solidFill>
                  <a:schemeClr val="tx2"/>
                </a:solidFill>
              </a:rPr>
              <a:t>Atividade</a:t>
            </a:r>
            <a:r>
              <a:rPr lang="en-US" sz="4200" dirty="0">
                <a:solidFill>
                  <a:schemeClr val="tx2"/>
                </a:solidFill>
              </a:rPr>
              <a:t> 01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dirty="0" err="1">
                <a:solidFill>
                  <a:schemeClr val="tx2"/>
                </a:solidFill>
              </a:rPr>
              <a:t>Calcular</a:t>
            </a:r>
            <a:r>
              <a:rPr lang="en-US" sz="4200" dirty="0">
                <a:solidFill>
                  <a:schemeClr val="tx2"/>
                </a:solidFill>
              </a:rPr>
              <a:t> IMC</a:t>
            </a: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475CE30D-8C95-4716-A3AB-29EC9A5F1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7027199" y="-84800"/>
            <a:ext cx="9144001" cy="93136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7191 h 6985200"/>
              <a:gd name="connsiteX6" fmla="*/ 1 w 6858001"/>
              <a:gd name="connsiteY6" fmla="*/ 887191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7191"/>
                </a:lnTo>
                <a:lnTo>
                  <a:pt x="1" y="887191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7" name="Freeform 23">
            <a:extLst>
              <a:ext uri="{FF2B5EF4-FFF2-40B4-BE49-F238E27FC236}">
                <a16:creationId xmlns:a16="http://schemas.microsoft.com/office/drawing/2014/main" id="{5262E9D7-B5C1-4E6C-B3EF-2F4807705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58693" y="-1"/>
            <a:ext cx="745963" cy="4946189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6E2E8A-1A64-DCE5-669C-042A361229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2043" y="1349038"/>
            <a:ext cx="5606157" cy="3952866"/>
          </a:xfrm>
          <a:prstGeom prst="rect">
            <a:avLst/>
          </a:prstGeom>
          <a:effectLst/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C8C7DA03-3808-49BC-946F-ECACEAE88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22704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B4B1F89-B77E-7AD6-B473-E38CD5C2FD23}"/>
              </a:ext>
            </a:extLst>
          </p:cNvPr>
          <p:cNvSpPr txBox="1"/>
          <p:nvPr/>
        </p:nvSpPr>
        <p:spPr>
          <a:xfrm>
            <a:off x="720661" y="2106168"/>
            <a:ext cx="5553528" cy="5593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b="1" dirty="0" err="1">
                <a:latin typeface="+mj-lt"/>
                <a:ea typeface="+mj-ea"/>
                <a:cs typeface="+mj-cs"/>
              </a:rPr>
              <a:t>Objetivo</a:t>
            </a:r>
            <a:r>
              <a:rPr lang="en-US" b="1" dirty="0">
                <a:latin typeface="+mj-lt"/>
                <a:ea typeface="+mj-ea"/>
                <a:cs typeface="+mj-cs"/>
              </a:rPr>
              <a:t>: Nesta </a:t>
            </a:r>
            <a:r>
              <a:rPr lang="en-US" b="1" dirty="0" err="1">
                <a:latin typeface="+mj-lt"/>
                <a:ea typeface="+mj-ea"/>
                <a:cs typeface="+mj-cs"/>
              </a:rPr>
              <a:t>atividade</a:t>
            </a:r>
            <a:r>
              <a:rPr lang="en-US" b="1" dirty="0">
                <a:latin typeface="+mj-lt"/>
                <a:ea typeface="+mj-ea"/>
                <a:cs typeface="+mj-cs"/>
              </a:rPr>
              <a:t> </a:t>
            </a:r>
            <a:r>
              <a:rPr lang="en-US" b="1" dirty="0" err="1">
                <a:latin typeface="+mj-lt"/>
                <a:ea typeface="+mj-ea"/>
                <a:cs typeface="+mj-cs"/>
              </a:rPr>
              <a:t>você</a:t>
            </a:r>
            <a:r>
              <a:rPr lang="en-US" b="1" dirty="0">
                <a:latin typeface="+mj-lt"/>
                <a:ea typeface="+mj-ea"/>
                <a:cs typeface="+mj-cs"/>
              </a:rPr>
              <a:t> </a:t>
            </a:r>
            <a:r>
              <a:rPr lang="en-US" b="1" dirty="0" err="1">
                <a:latin typeface="+mj-lt"/>
                <a:ea typeface="+mj-ea"/>
                <a:cs typeface="+mj-cs"/>
              </a:rPr>
              <a:t>vai</a:t>
            </a:r>
            <a:r>
              <a:rPr lang="en-US" b="1" dirty="0">
                <a:latin typeface="+mj-lt"/>
                <a:ea typeface="+mj-ea"/>
                <a:cs typeface="+mj-cs"/>
              </a:rPr>
              <a:t> </a:t>
            </a:r>
            <a:r>
              <a:rPr lang="en-US" b="1" dirty="0" err="1">
                <a:latin typeface="+mj-lt"/>
                <a:ea typeface="+mj-ea"/>
                <a:cs typeface="+mj-cs"/>
              </a:rPr>
              <a:t>calcular</a:t>
            </a:r>
            <a:r>
              <a:rPr lang="en-US" b="1" dirty="0">
                <a:latin typeface="+mj-lt"/>
                <a:ea typeface="+mj-ea"/>
                <a:cs typeface="+mj-cs"/>
              </a:rPr>
              <a:t> o IMC a </a:t>
            </a:r>
            <a:r>
              <a:rPr lang="en-US" b="1" dirty="0" err="1">
                <a:latin typeface="+mj-lt"/>
                <a:ea typeface="+mj-ea"/>
                <a:cs typeface="+mj-cs"/>
              </a:rPr>
              <a:t>partir</a:t>
            </a:r>
            <a:r>
              <a:rPr lang="en-US" b="1" dirty="0">
                <a:latin typeface="+mj-lt"/>
                <a:ea typeface="+mj-ea"/>
                <a:cs typeface="+mj-cs"/>
              </a:rPr>
              <a:t> de um peso e </a:t>
            </a:r>
            <a:r>
              <a:rPr lang="en-US" b="1" dirty="0" err="1">
                <a:latin typeface="+mj-lt"/>
                <a:ea typeface="+mj-ea"/>
                <a:cs typeface="+mj-cs"/>
              </a:rPr>
              <a:t>uma</a:t>
            </a:r>
            <a:r>
              <a:rPr lang="en-US" b="1" dirty="0">
                <a:latin typeface="+mj-lt"/>
                <a:ea typeface="+mj-ea"/>
                <a:cs typeface="+mj-cs"/>
              </a:rPr>
              <a:t> </a:t>
            </a:r>
            <a:r>
              <a:rPr lang="en-US" b="1" dirty="0" err="1">
                <a:latin typeface="+mj-lt"/>
                <a:ea typeface="+mj-ea"/>
                <a:cs typeface="+mj-cs"/>
              </a:rPr>
              <a:t>altura</a:t>
            </a:r>
            <a:r>
              <a:rPr lang="en-US" b="1" dirty="0">
                <a:latin typeface="+mj-lt"/>
                <a:ea typeface="+mj-ea"/>
                <a:cs typeface="+mj-cs"/>
              </a:rPr>
              <a:t>, </a:t>
            </a:r>
            <a:r>
              <a:rPr lang="en-US" b="1" dirty="0" err="1">
                <a:latin typeface="+mj-lt"/>
                <a:ea typeface="+mj-ea"/>
                <a:cs typeface="+mj-cs"/>
              </a:rPr>
              <a:t>usará</a:t>
            </a:r>
            <a:r>
              <a:rPr lang="en-US" b="1" dirty="0">
                <a:latin typeface="+mj-lt"/>
                <a:ea typeface="+mj-ea"/>
                <a:cs typeface="+mj-cs"/>
              </a:rPr>
              <a:t> a </a:t>
            </a:r>
            <a:r>
              <a:rPr lang="en-US" b="1" dirty="0" err="1">
                <a:latin typeface="+mj-lt"/>
                <a:ea typeface="+mj-ea"/>
                <a:cs typeface="+mj-cs"/>
              </a:rPr>
              <a:t>comando</a:t>
            </a:r>
            <a:r>
              <a:rPr lang="en-US" b="1" dirty="0">
                <a:latin typeface="+mj-lt"/>
                <a:ea typeface="+mj-ea"/>
                <a:cs typeface="+mj-cs"/>
              </a:rPr>
              <a:t> if para </a:t>
            </a:r>
            <a:r>
              <a:rPr lang="en-US" b="1" dirty="0" err="1">
                <a:latin typeface="+mj-lt"/>
                <a:ea typeface="+mj-ea"/>
                <a:cs typeface="+mj-cs"/>
              </a:rPr>
              <a:t>mostrar</a:t>
            </a:r>
            <a:r>
              <a:rPr lang="en-US" b="1" dirty="0">
                <a:latin typeface="+mj-lt"/>
                <a:ea typeface="+mj-ea"/>
                <a:cs typeface="+mj-cs"/>
              </a:rPr>
              <a:t> o </a:t>
            </a:r>
            <a:r>
              <a:rPr lang="en-US" b="1" dirty="0" err="1">
                <a:latin typeface="+mj-lt"/>
                <a:ea typeface="+mj-ea"/>
                <a:cs typeface="+mj-cs"/>
              </a:rPr>
              <a:t>resultado</a:t>
            </a:r>
            <a:r>
              <a:rPr lang="en-US" b="1" dirty="0">
                <a:latin typeface="+mj-lt"/>
                <a:ea typeface="+mj-ea"/>
                <a:cs typeface="+mj-cs"/>
              </a:rPr>
              <a:t> do </a:t>
            </a:r>
            <a:r>
              <a:rPr lang="en-US" b="1" dirty="0" err="1">
                <a:latin typeface="+mj-lt"/>
                <a:ea typeface="+mj-ea"/>
                <a:cs typeface="+mj-cs"/>
              </a:rPr>
              <a:t>cálculo</a:t>
            </a:r>
            <a:r>
              <a:rPr lang="en-US" b="1" dirty="0">
                <a:latin typeface="+mj-lt"/>
                <a:ea typeface="+mj-ea"/>
                <a:cs typeface="+mj-cs"/>
              </a:rPr>
              <a:t> do IMC. 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b="1" dirty="0">
              <a:latin typeface="+mj-lt"/>
              <a:ea typeface="+mj-ea"/>
              <a:cs typeface="+mj-cs"/>
            </a:endParaRP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b="1" dirty="0" err="1">
                <a:latin typeface="+mj-lt"/>
                <a:ea typeface="+mj-ea"/>
                <a:cs typeface="+mj-cs"/>
              </a:rPr>
              <a:t>Comandos</a:t>
            </a:r>
            <a:r>
              <a:rPr lang="en-US" b="1" dirty="0">
                <a:latin typeface="+mj-lt"/>
                <a:ea typeface="+mj-ea"/>
                <a:cs typeface="+mj-cs"/>
              </a:rPr>
              <a:t> </a:t>
            </a:r>
            <a:r>
              <a:rPr lang="en-US" b="1" dirty="0" err="1">
                <a:latin typeface="+mj-lt"/>
                <a:ea typeface="+mj-ea"/>
                <a:cs typeface="+mj-cs"/>
              </a:rPr>
              <a:t>utilizados</a:t>
            </a:r>
            <a:r>
              <a:rPr lang="en-US" b="1" dirty="0">
                <a:latin typeface="+mj-lt"/>
                <a:ea typeface="+mj-ea"/>
                <a:cs typeface="+mj-cs"/>
              </a:rPr>
              <a:t>: </a:t>
            </a:r>
            <a:r>
              <a:rPr lang="en-US" b="1" dirty="0" err="1">
                <a:latin typeface="+mj-lt"/>
                <a:ea typeface="+mj-ea"/>
                <a:cs typeface="+mj-cs"/>
              </a:rPr>
              <a:t>Variáveis</a:t>
            </a:r>
            <a:r>
              <a:rPr lang="en-US" b="1" dirty="0">
                <a:latin typeface="+mj-lt"/>
                <a:ea typeface="+mj-ea"/>
                <a:cs typeface="+mj-cs"/>
              </a:rPr>
              <a:t>, if / </a:t>
            </a:r>
            <a:r>
              <a:rPr lang="en-US" b="1" dirty="0" err="1">
                <a:latin typeface="+mj-lt"/>
                <a:ea typeface="+mj-ea"/>
                <a:cs typeface="+mj-cs"/>
              </a:rPr>
              <a:t>elif</a:t>
            </a:r>
            <a:r>
              <a:rPr lang="en-US" b="1" dirty="0">
                <a:latin typeface="+mj-lt"/>
                <a:ea typeface="+mj-ea"/>
                <a:cs typeface="+mj-cs"/>
              </a:rPr>
              <a:t> / else. 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E4F85AB-70C8-BB3C-4163-3A52138821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482" y="6014210"/>
            <a:ext cx="13974801" cy="213115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0461711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03BCF-8803-76CB-B7F7-6F422A50B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662D4A6-43EF-04E3-0EDF-F777C2A871CF}"/>
              </a:ext>
            </a:extLst>
          </p:cNvPr>
          <p:cNvSpPr txBox="1"/>
          <p:nvPr/>
        </p:nvSpPr>
        <p:spPr>
          <a:xfrm>
            <a:off x="4165600" y="3602504"/>
            <a:ext cx="812596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60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Lista de exercícios   PYTHON</a:t>
            </a:r>
          </a:p>
        </p:txBody>
      </p:sp>
    </p:spTree>
    <p:extLst>
      <p:ext uri="{BB962C8B-B14F-4D97-AF65-F5344CB8AC3E}">
        <p14:creationId xmlns:p14="http://schemas.microsoft.com/office/powerpoint/2010/main" val="38174822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526F47-4E05-7884-AE73-F8B2EAC14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0F7302AF-86B9-441B-8D24-AC382E2A4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559580"/>
            <a:ext cx="5382682" cy="558442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9A2A6C2-D371-4C6B-B50F-CC71C6D01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856462"/>
            <a:ext cx="2029882" cy="3153938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5F07A6A6-E44B-411E-AA18-65E481136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78682" y="2235200"/>
            <a:ext cx="3759200" cy="3759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CC3468F-5EED-42B0-8507-F30360E1D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0665882" y="0"/>
            <a:ext cx="2137850" cy="1521876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91711EE-029D-453C-9AE9-E87829F1D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1474504" y="8128000"/>
            <a:ext cx="1324978" cy="101600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5D5A8E14-301B-40C0-A174-D2232EF95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17082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8E8A59B-12CB-D481-498A-F9755F041F2C}"/>
              </a:ext>
            </a:extLst>
          </p:cNvPr>
          <p:cNvSpPr txBox="1"/>
          <p:nvPr/>
        </p:nvSpPr>
        <p:spPr>
          <a:xfrm>
            <a:off x="861482" y="603624"/>
            <a:ext cx="5791589" cy="18673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Atividade</a:t>
            </a:r>
            <a:r>
              <a:rPr lang="en-US" sz="4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02  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Folha de </a:t>
            </a:r>
            <a:r>
              <a:rPr lang="en-US" sz="4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Pagamento</a:t>
            </a:r>
            <a:r>
              <a:rPr lang="en-US" sz="4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475CE30D-8C95-4716-A3AB-29EC9A5F1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7027199" y="-84800"/>
            <a:ext cx="9144001" cy="93136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7191 h 6985200"/>
              <a:gd name="connsiteX6" fmla="*/ 1 w 6858001"/>
              <a:gd name="connsiteY6" fmla="*/ 887191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7191"/>
                </a:lnTo>
                <a:lnTo>
                  <a:pt x="1" y="887191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6" name="Freeform 23">
            <a:extLst>
              <a:ext uri="{FF2B5EF4-FFF2-40B4-BE49-F238E27FC236}">
                <a16:creationId xmlns:a16="http://schemas.microsoft.com/office/drawing/2014/main" id="{5262E9D7-B5C1-4E6C-B3EF-2F4807705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58693" y="-1"/>
            <a:ext cx="745963" cy="4946189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31AC620-0FBB-540B-71EC-3F01940C2E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9235" y="441954"/>
            <a:ext cx="6046183" cy="2631569"/>
          </a:xfrm>
          <a:prstGeom prst="rect">
            <a:avLst/>
          </a:prstGeom>
          <a:effectLst/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C8C7DA03-3808-49BC-946F-ECACEAE88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22704" y="0"/>
            <a:ext cx="9144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3ED9D51-CDD2-87AF-3D8E-39E8380FFFFF}"/>
              </a:ext>
            </a:extLst>
          </p:cNvPr>
          <p:cNvSpPr txBox="1"/>
          <p:nvPr/>
        </p:nvSpPr>
        <p:spPr>
          <a:xfrm>
            <a:off x="861484" y="2737224"/>
            <a:ext cx="5553528" cy="5593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b="1" dirty="0" err="1">
                <a:latin typeface="+mj-lt"/>
                <a:ea typeface="+mj-ea"/>
                <a:cs typeface="+mj-cs"/>
              </a:rPr>
              <a:t>Objetivo</a:t>
            </a:r>
            <a:r>
              <a:rPr lang="en-US" b="1" dirty="0">
                <a:latin typeface="+mj-lt"/>
                <a:ea typeface="+mj-ea"/>
                <a:cs typeface="+mj-cs"/>
              </a:rPr>
              <a:t>: Nesta </a:t>
            </a:r>
            <a:r>
              <a:rPr lang="en-US" b="1" dirty="0" err="1">
                <a:latin typeface="+mj-lt"/>
                <a:ea typeface="+mj-ea"/>
                <a:cs typeface="+mj-cs"/>
              </a:rPr>
              <a:t>atividade</a:t>
            </a:r>
            <a:r>
              <a:rPr lang="en-US" b="1" dirty="0">
                <a:latin typeface="+mj-lt"/>
                <a:ea typeface="+mj-ea"/>
                <a:cs typeface="+mj-cs"/>
              </a:rPr>
              <a:t> </a:t>
            </a:r>
            <a:r>
              <a:rPr lang="en-US" b="1" dirty="0" err="1">
                <a:latin typeface="+mj-lt"/>
                <a:ea typeface="+mj-ea"/>
                <a:cs typeface="+mj-cs"/>
              </a:rPr>
              <a:t>você</a:t>
            </a:r>
            <a:r>
              <a:rPr lang="en-US" b="1" dirty="0">
                <a:latin typeface="+mj-lt"/>
                <a:ea typeface="+mj-ea"/>
                <a:cs typeface="+mj-cs"/>
              </a:rPr>
              <a:t> </a:t>
            </a:r>
            <a:r>
              <a:rPr lang="en-US" b="1" dirty="0" err="1">
                <a:latin typeface="+mj-lt"/>
                <a:ea typeface="+mj-ea"/>
                <a:cs typeface="+mj-cs"/>
              </a:rPr>
              <a:t>vai</a:t>
            </a:r>
            <a:r>
              <a:rPr lang="en-US" b="1" dirty="0">
                <a:latin typeface="+mj-lt"/>
                <a:ea typeface="+mj-ea"/>
                <a:cs typeface="+mj-cs"/>
              </a:rPr>
              <a:t> </a:t>
            </a:r>
            <a:r>
              <a:rPr lang="en-US" b="1" dirty="0" err="1">
                <a:latin typeface="+mj-lt"/>
                <a:ea typeface="+mj-ea"/>
                <a:cs typeface="+mj-cs"/>
              </a:rPr>
              <a:t>calcular</a:t>
            </a:r>
            <a:r>
              <a:rPr lang="en-US" b="1" dirty="0">
                <a:latin typeface="+mj-lt"/>
                <a:ea typeface="+mj-ea"/>
                <a:cs typeface="+mj-cs"/>
              </a:rPr>
              <a:t> </a:t>
            </a:r>
            <a:r>
              <a:rPr lang="en-US" b="1" dirty="0" err="1">
                <a:latin typeface="+mj-lt"/>
                <a:ea typeface="+mj-ea"/>
                <a:cs typeface="+mj-cs"/>
              </a:rPr>
              <a:t>uma</a:t>
            </a:r>
            <a:r>
              <a:rPr lang="en-US" b="1" dirty="0">
                <a:latin typeface="+mj-lt"/>
                <a:ea typeface="+mj-ea"/>
                <a:cs typeface="+mj-cs"/>
              </a:rPr>
              <a:t> </a:t>
            </a:r>
            <a:r>
              <a:rPr lang="en-US" b="1" dirty="0" err="1">
                <a:latin typeface="+mj-lt"/>
                <a:ea typeface="+mj-ea"/>
                <a:cs typeface="+mj-cs"/>
              </a:rPr>
              <a:t>folha</a:t>
            </a:r>
            <a:r>
              <a:rPr lang="en-US" b="1" dirty="0">
                <a:latin typeface="+mj-lt"/>
                <a:ea typeface="+mj-ea"/>
                <a:cs typeface="+mj-cs"/>
              </a:rPr>
              <a:t> de </a:t>
            </a:r>
            <a:r>
              <a:rPr lang="en-US" b="1" dirty="0" err="1">
                <a:latin typeface="+mj-lt"/>
                <a:ea typeface="+mj-ea"/>
                <a:cs typeface="+mj-cs"/>
              </a:rPr>
              <a:t>pagamento</a:t>
            </a:r>
            <a:r>
              <a:rPr lang="en-US" b="1" dirty="0">
                <a:latin typeface="+mj-lt"/>
                <a:ea typeface="+mj-ea"/>
                <a:cs typeface="+mj-cs"/>
              </a:rPr>
              <a:t> </a:t>
            </a:r>
            <a:r>
              <a:rPr lang="en-US" b="1" dirty="0" err="1">
                <a:latin typeface="+mj-lt"/>
                <a:ea typeface="+mj-ea"/>
                <a:cs typeface="+mj-cs"/>
              </a:rPr>
              <a:t>usando</a:t>
            </a:r>
            <a:r>
              <a:rPr lang="en-US" b="1" dirty="0">
                <a:latin typeface="+mj-lt"/>
                <a:ea typeface="+mj-ea"/>
                <a:cs typeface="+mj-cs"/>
              </a:rPr>
              <a:t> o </a:t>
            </a:r>
            <a:r>
              <a:rPr lang="en-US" b="1" dirty="0" err="1">
                <a:latin typeface="+mj-lt"/>
                <a:ea typeface="+mj-ea"/>
                <a:cs typeface="+mj-cs"/>
              </a:rPr>
              <a:t>comando</a:t>
            </a:r>
            <a:r>
              <a:rPr lang="en-US" b="1" dirty="0">
                <a:latin typeface="+mj-lt"/>
                <a:ea typeface="+mj-ea"/>
                <a:cs typeface="+mj-cs"/>
              </a:rPr>
              <a:t> if e </a:t>
            </a:r>
            <a:r>
              <a:rPr lang="en-US" b="1" dirty="0" err="1">
                <a:latin typeface="+mj-lt"/>
                <a:ea typeface="+mj-ea"/>
                <a:cs typeface="+mj-cs"/>
              </a:rPr>
              <a:t>mostrando</a:t>
            </a:r>
            <a:r>
              <a:rPr lang="en-US" b="1" dirty="0">
                <a:latin typeface="+mj-lt"/>
                <a:ea typeface="+mj-ea"/>
                <a:cs typeface="+mj-cs"/>
              </a:rPr>
              <a:t> o </a:t>
            </a:r>
            <a:r>
              <a:rPr lang="en-US" b="1" dirty="0" err="1">
                <a:latin typeface="+mj-lt"/>
                <a:ea typeface="+mj-ea"/>
                <a:cs typeface="+mj-cs"/>
              </a:rPr>
              <a:t>resultado</a:t>
            </a:r>
            <a:r>
              <a:rPr lang="en-US" b="1" dirty="0">
                <a:latin typeface="+mj-lt"/>
                <a:ea typeface="+mj-ea"/>
                <a:cs typeface="+mj-cs"/>
              </a:rPr>
              <a:t> dos </a:t>
            </a:r>
            <a:r>
              <a:rPr lang="en-US" b="1" dirty="0" err="1">
                <a:latin typeface="+mj-lt"/>
                <a:ea typeface="+mj-ea"/>
                <a:cs typeface="+mj-cs"/>
              </a:rPr>
              <a:t>valores</a:t>
            </a:r>
            <a:r>
              <a:rPr lang="en-US" b="1" dirty="0">
                <a:latin typeface="+mj-lt"/>
                <a:ea typeface="+mj-ea"/>
                <a:cs typeface="+mj-cs"/>
              </a:rPr>
              <a:t> de </a:t>
            </a:r>
            <a:r>
              <a:rPr lang="en-US" b="1" dirty="0" err="1">
                <a:latin typeface="+mj-lt"/>
                <a:ea typeface="+mj-ea"/>
                <a:cs typeface="+mj-cs"/>
              </a:rPr>
              <a:t>Imposto</a:t>
            </a:r>
            <a:r>
              <a:rPr lang="en-US" b="1" dirty="0">
                <a:latin typeface="+mj-lt"/>
                <a:ea typeface="+mj-ea"/>
                <a:cs typeface="+mj-cs"/>
              </a:rPr>
              <a:t> de Renda e INSS a </a:t>
            </a:r>
            <a:r>
              <a:rPr lang="en-US" b="1" dirty="0" err="1">
                <a:latin typeface="+mj-lt"/>
                <a:ea typeface="+mj-ea"/>
                <a:cs typeface="+mj-cs"/>
              </a:rPr>
              <a:t>serem</a:t>
            </a:r>
            <a:r>
              <a:rPr lang="en-US" b="1" dirty="0">
                <a:latin typeface="+mj-lt"/>
                <a:ea typeface="+mj-ea"/>
                <a:cs typeface="+mj-cs"/>
              </a:rPr>
              <a:t> </a:t>
            </a:r>
            <a:r>
              <a:rPr lang="en-US" b="1" dirty="0" err="1">
                <a:latin typeface="+mj-lt"/>
                <a:ea typeface="+mj-ea"/>
                <a:cs typeface="+mj-cs"/>
              </a:rPr>
              <a:t>pagos</a:t>
            </a:r>
            <a:r>
              <a:rPr lang="en-US" b="1" dirty="0">
                <a:latin typeface="+mj-lt"/>
                <a:ea typeface="+mj-ea"/>
                <a:cs typeface="+mj-cs"/>
              </a:rPr>
              <a:t>. 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b="1" dirty="0">
              <a:latin typeface="+mj-lt"/>
              <a:ea typeface="+mj-ea"/>
              <a:cs typeface="+mj-cs"/>
            </a:endParaRP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b="1" dirty="0" err="1">
                <a:latin typeface="+mj-lt"/>
                <a:ea typeface="+mj-ea"/>
                <a:cs typeface="+mj-cs"/>
              </a:rPr>
              <a:t>Comandos</a:t>
            </a:r>
            <a:r>
              <a:rPr lang="en-US" b="1" dirty="0">
                <a:latin typeface="+mj-lt"/>
                <a:ea typeface="+mj-ea"/>
                <a:cs typeface="+mj-cs"/>
              </a:rPr>
              <a:t> </a:t>
            </a:r>
            <a:r>
              <a:rPr lang="en-US" b="1" dirty="0" err="1">
                <a:latin typeface="+mj-lt"/>
                <a:ea typeface="+mj-ea"/>
                <a:cs typeface="+mj-cs"/>
              </a:rPr>
              <a:t>utilizados</a:t>
            </a:r>
            <a:r>
              <a:rPr lang="en-US" b="1" dirty="0">
                <a:latin typeface="+mj-lt"/>
                <a:ea typeface="+mj-ea"/>
                <a:cs typeface="+mj-cs"/>
              </a:rPr>
              <a:t>: </a:t>
            </a:r>
            <a:r>
              <a:rPr lang="en-US" b="1" dirty="0" err="1">
                <a:latin typeface="+mj-lt"/>
                <a:ea typeface="+mj-ea"/>
                <a:cs typeface="+mj-cs"/>
              </a:rPr>
              <a:t>Variáveis</a:t>
            </a:r>
            <a:r>
              <a:rPr lang="en-US" b="1" dirty="0">
                <a:latin typeface="+mj-lt"/>
                <a:ea typeface="+mj-ea"/>
                <a:cs typeface="+mj-cs"/>
              </a:rPr>
              <a:t>, if, </a:t>
            </a:r>
            <a:r>
              <a:rPr lang="en-US" b="1" dirty="0" err="1">
                <a:latin typeface="+mj-lt"/>
                <a:ea typeface="+mj-ea"/>
                <a:cs typeface="+mj-cs"/>
              </a:rPr>
              <a:t>operadores</a:t>
            </a:r>
            <a:r>
              <a:rPr lang="en-US" b="1" dirty="0">
                <a:latin typeface="+mj-lt"/>
                <a:ea typeface="+mj-ea"/>
                <a:cs typeface="+mj-cs"/>
              </a:rPr>
              <a:t> </a:t>
            </a:r>
            <a:r>
              <a:rPr lang="en-US" b="1" dirty="0" err="1">
                <a:latin typeface="+mj-lt"/>
                <a:ea typeface="+mj-ea"/>
                <a:cs typeface="+mj-cs"/>
              </a:rPr>
              <a:t>matemáticos</a:t>
            </a:r>
            <a:r>
              <a:rPr lang="en-US" b="1" dirty="0">
                <a:latin typeface="+mj-lt"/>
                <a:ea typeface="+mj-ea"/>
                <a:cs typeface="+mj-cs"/>
              </a:rPr>
              <a:t> e </a:t>
            </a:r>
            <a:r>
              <a:rPr lang="en-US" b="1" dirty="0" err="1">
                <a:latin typeface="+mj-lt"/>
                <a:ea typeface="+mj-ea"/>
                <a:cs typeface="+mj-cs"/>
              </a:rPr>
              <a:t>formatação</a:t>
            </a:r>
            <a:r>
              <a:rPr lang="en-US" b="1" dirty="0">
                <a:latin typeface="+mj-lt"/>
                <a:ea typeface="+mj-ea"/>
                <a:cs typeface="+mj-cs"/>
              </a:rPr>
              <a:t> com </a:t>
            </a:r>
            <a:r>
              <a:rPr lang="en-US" b="1" dirty="0" err="1">
                <a:latin typeface="+mj-lt"/>
                <a:ea typeface="+mj-ea"/>
                <a:cs typeface="+mj-cs"/>
              </a:rPr>
              <a:t>posição</a:t>
            </a:r>
            <a:r>
              <a:rPr lang="en-US" b="1" dirty="0">
                <a:latin typeface="+mj-lt"/>
                <a:ea typeface="+mj-ea"/>
                <a:cs typeface="+mj-cs"/>
              </a:rPr>
              <a:t> de </a:t>
            </a:r>
            <a:r>
              <a:rPr lang="en-US" b="1" dirty="0" err="1">
                <a:latin typeface="+mj-lt"/>
                <a:ea typeface="+mj-ea"/>
                <a:cs typeface="+mj-cs"/>
              </a:rPr>
              <a:t>substituição</a:t>
            </a:r>
            <a:r>
              <a:rPr lang="en-US" b="1" dirty="0">
                <a:latin typeface="+mj-lt"/>
                <a:ea typeface="+mj-ea"/>
                <a:cs typeface="+mj-cs"/>
              </a:rPr>
              <a:t>.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b="1" dirty="0">
              <a:latin typeface="+mj-lt"/>
              <a:ea typeface="+mj-ea"/>
              <a:cs typeface="+mj-cs"/>
            </a:endParaRP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b="1" dirty="0">
              <a:latin typeface="+mj-lt"/>
              <a:ea typeface="+mj-ea"/>
              <a:cs typeface="+mj-cs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2BD9C5B-30CE-BE5C-362C-0A7BBEEFA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34637" y="6145140"/>
            <a:ext cx="12639645" cy="2780721"/>
          </a:xfrm>
          <a:prstGeom prst="rect">
            <a:avLst/>
          </a:prstGeom>
          <a:effectLst/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6BC6EC05-B551-D333-6E80-EBB6E1BE60F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9235" y="3224263"/>
            <a:ext cx="6046183" cy="283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4498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Integração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7D5275A932D044C8B024F33477056D8" ma:contentTypeVersion="3" ma:contentTypeDescription="Crie um novo documento." ma:contentTypeScope="" ma:versionID="22ce21f9631d58af8a23c3cc16141244">
  <xsd:schema xmlns:xsd="http://www.w3.org/2001/XMLSchema" xmlns:xs="http://www.w3.org/2001/XMLSchema" xmlns:p="http://schemas.microsoft.com/office/2006/metadata/properties" xmlns:ns2="6e247a5d-6f53-43ef-9522-e2d10df2593d" targetNamespace="http://schemas.microsoft.com/office/2006/metadata/properties" ma:root="true" ma:fieldsID="4fd2929279485cbf69a5bb9e5e100924" ns2:_="">
    <xsd:import namespace="6e247a5d-6f53-43ef-9522-e2d10df2593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247a5d-6f53-43ef-9522-e2d10df259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117358B-B8E5-46AE-9C27-656CC25B96F7}"/>
</file>

<file path=customXml/itemProps2.xml><?xml version="1.0" encoding="utf-8"?>
<ds:datastoreItem xmlns:ds="http://schemas.openxmlformats.org/officeDocument/2006/customXml" ds:itemID="{E4C6BC7C-F9C5-43D4-9803-3E3BDE1350CC}"/>
</file>

<file path=customXml/itemProps3.xml><?xml version="1.0" encoding="utf-8"?>
<ds:datastoreItem xmlns:ds="http://schemas.openxmlformats.org/officeDocument/2006/customXml" ds:itemID="{F8B7D188-5EAB-4622-8603-6D374DA78EAF}"/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243</TotalTime>
  <Words>1187</Words>
  <Application>Microsoft Office PowerPoint</Application>
  <PresentationFormat>Personalizar</PresentationFormat>
  <Paragraphs>201</Paragraphs>
  <Slides>32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8" baseType="lpstr">
      <vt:lpstr>Arial Unicode MS</vt:lpstr>
      <vt:lpstr>Arial</vt:lpstr>
      <vt:lpstr>Century Gothic</vt:lpstr>
      <vt:lpstr>Courier New</vt:lpstr>
      <vt:lpstr>Wingdings 3</vt:lpstr>
      <vt:lpstr>Íon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WANDERSON NUNES DE OLIVEIRA JUNIOR</dc:creator>
  <cp:lastModifiedBy>WANDERSON NUNES DE OLIVEIRA JUNIOR</cp:lastModifiedBy>
  <cp:revision>69</cp:revision>
  <dcterms:created xsi:type="dcterms:W3CDTF">2006-08-16T00:00:00Z</dcterms:created>
  <dcterms:modified xsi:type="dcterms:W3CDTF">2026-05-06T18:31:02Z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0x01010077D5275A932D044C8B024F33477056D8</vt:lpwstr>
  </property>
</Properties>
</file>